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90" r:id="rId5"/>
    <p:sldId id="259" r:id="rId6"/>
    <p:sldId id="260" r:id="rId7"/>
    <p:sldId id="294" r:id="rId8"/>
    <p:sldId id="295" r:id="rId9"/>
    <p:sldId id="296" r:id="rId10"/>
    <p:sldId id="297" r:id="rId11"/>
    <p:sldId id="298" r:id="rId12"/>
    <p:sldId id="287" r:id="rId13"/>
    <p:sldId id="288" r:id="rId14"/>
    <p:sldId id="261" r:id="rId15"/>
    <p:sldId id="324" r:id="rId16"/>
    <p:sldId id="266" r:id="rId17"/>
    <p:sldId id="310" r:id="rId18"/>
    <p:sldId id="311" r:id="rId19"/>
    <p:sldId id="335" r:id="rId20"/>
    <p:sldId id="312" r:id="rId21"/>
    <p:sldId id="313" r:id="rId22"/>
    <p:sldId id="314" r:id="rId23"/>
    <p:sldId id="334" r:id="rId24"/>
    <p:sldId id="333" r:id="rId25"/>
    <p:sldId id="315" r:id="rId26"/>
    <p:sldId id="316" r:id="rId27"/>
    <p:sldId id="317" r:id="rId28"/>
    <p:sldId id="319" r:id="rId29"/>
    <p:sldId id="318" r:id="rId30"/>
    <p:sldId id="320" r:id="rId31"/>
    <p:sldId id="321" r:id="rId32"/>
    <p:sldId id="322" r:id="rId33"/>
    <p:sldId id="325" r:id="rId34"/>
    <p:sldId id="326" r:id="rId35"/>
    <p:sldId id="329" r:id="rId36"/>
    <p:sldId id="328" r:id="rId37"/>
    <p:sldId id="332" r:id="rId38"/>
    <p:sldId id="284" r:id="rId3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834"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E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s-ES"/>
          </a:p>
        </p:txBody>
      </p:sp>
      <p:sp>
        <p:nvSpPr>
          <p:cNvPr id="4" name="Marcador de fecha 3"/>
          <p:cNvSpPr>
            <a:spLocks noGrp="1"/>
          </p:cNvSpPr>
          <p:nvPr>
            <p:ph type="dt" sz="half" idx="10"/>
          </p:nvPr>
        </p:nvSpPr>
        <p:spPr/>
        <p:txBody>
          <a:bodyPr/>
          <a:lstStyle/>
          <a:p>
            <a:fld id="{1181459E-D01E-4238-8395-CE41F44A5171}" type="datetimeFigureOut">
              <a:rPr lang="es-ES" smtClean="0"/>
              <a:t>02/05/2019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3762902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1181459E-D01E-4238-8395-CE41F44A5171}" type="datetimeFigureOut">
              <a:rPr lang="es-ES" smtClean="0"/>
              <a:t>02/05/2019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347061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1181459E-D01E-4238-8395-CE41F44A5171}" type="datetimeFigureOut">
              <a:rPr lang="es-ES" smtClean="0"/>
              <a:t>02/05/2019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2162723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sz="half" idx="1"/>
          </p:nvPr>
        </p:nvSpPr>
        <p:spPr>
          <a:xfrm>
            <a:off x="838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contenido 3"/>
          <p:cNvSpPr>
            <a:spLocks noGrp="1"/>
          </p:cNvSpPr>
          <p:nvPr>
            <p:ph sz="half" idx="2"/>
          </p:nvPr>
        </p:nvSpPr>
        <p:spPr>
          <a:xfrm>
            <a:off x="6172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fecha 4"/>
          <p:cNvSpPr>
            <a:spLocks noGrp="1"/>
          </p:cNvSpPr>
          <p:nvPr>
            <p:ph type="dt" sz="half" idx="10"/>
          </p:nvPr>
        </p:nvSpPr>
        <p:spPr/>
        <p:txBody>
          <a:bodyPr/>
          <a:lstStyle/>
          <a:p>
            <a:fld id="{1181459E-D01E-4238-8395-CE41F44A5171}" type="datetimeFigureOut">
              <a:rPr lang="es-ES" smtClean="0"/>
              <a:t>02/05/2019</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2189834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Marcador de fecha 6"/>
          <p:cNvSpPr>
            <a:spLocks noGrp="1"/>
          </p:cNvSpPr>
          <p:nvPr>
            <p:ph type="dt" sz="half" idx="10"/>
          </p:nvPr>
        </p:nvSpPr>
        <p:spPr/>
        <p:txBody>
          <a:bodyPr/>
          <a:lstStyle/>
          <a:p>
            <a:fld id="{1181459E-D01E-4238-8395-CE41F44A5171}" type="datetimeFigureOut">
              <a:rPr lang="es-ES" smtClean="0"/>
              <a:t>02/05/2019</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664677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fecha 2"/>
          <p:cNvSpPr>
            <a:spLocks noGrp="1"/>
          </p:cNvSpPr>
          <p:nvPr>
            <p:ph type="dt" sz="half" idx="10"/>
          </p:nvPr>
        </p:nvSpPr>
        <p:spPr/>
        <p:txBody>
          <a:bodyPr/>
          <a:lstStyle/>
          <a:p>
            <a:fld id="{1181459E-D01E-4238-8395-CE41F44A5171}" type="datetimeFigureOut">
              <a:rPr lang="es-ES" smtClean="0"/>
              <a:t>02/05/2019</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4247430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1181459E-D01E-4238-8395-CE41F44A5171}" type="datetimeFigureOut">
              <a:rPr lang="es-ES" smtClean="0"/>
              <a:t>02/05/2019</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2645477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1181459E-D01E-4238-8395-CE41F44A5171}" type="datetimeFigureOut">
              <a:rPr lang="es-ES" smtClean="0"/>
              <a:t>02/05/2019</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3824705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1181459E-D01E-4238-8395-CE41F44A5171}" type="datetimeFigureOut">
              <a:rPr lang="es-ES" smtClean="0"/>
              <a:t>02/05/2019</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803854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1181459E-D01E-4238-8395-CE41F44A5171}" type="datetimeFigureOut">
              <a:rPr lang="es-ES" smtClean="0"/>
              <a:t>02/05/2019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533614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1181459E-D01E-4238-8395-CE41F44A5171}" type="datetimeFigureOut">
              <a:rPr lang="es-ES" smtClean="0"/>
              <a:t>02/05/2019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4034801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1459E-D01E-4238-8395-CE41F44A5171}" type="datetimeFigureOut">
              <a:rPr lang="es-ES" smtClean="0"/>
              <a:t>02/05/2019</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A9EB13-9092-4665-8356-F4356E804152}" type="slidenum">
              <a:rPr lang="es-ES" smtClean="0"/>
              <a:t>‹Nº›</a:t>
            </a:fld>
            <a:endParaRPr lang="es-ES"/>
          </a:p>
        </p:txBody>
      </p:sp>
    </p:spTree>
    <p:extLst>
      <p:ext uri="{BB962C8B-B14F-4D97-AF65-F5344CB8AC3E}">
        <p14:creationId xmlns:p14="http://schemas.microsoft.com/office/powerpoint/2010/main" val="2071569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emf"/><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emf"/><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2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836023" y="286341"/>
            <a:ext cx="10737668" cy="1481500"/>
          </a:xfrm>
        </p:spPr>
        <p:txBody>
          <a:bodyPr>
            <a:normAutofit fontScale="90000"/>
          </a:bodyPr>
          <a:lstStyle/>
          <a:p>
            <a:r>
              <a:rPr lang="es-CR" dirty="0" smtClean="0"/>
              <a:t>Análisis de frecuencia: las tablas de contingencia </a:t>
            </a:r>
            <a:endParaRPr lang="es-ES" dirty="0"/>
          </a:p>
        </p:txBody>
      </p:sp>
      <p:sp>
        <p:nvSpPr>
          <p:cNvPr id="3" name="Subtítulo 2"/>
          <p:cNvSpPr>
            <a:spLocks noGrp="1"/>
          </p:cNvSpPr>
          <p:nvPr>
            <p:ph type="subTitle" idx="1"/>
          </p:nvPr>
        </p:nvSpPr>
        <p:spPr>
          <a:xfrm>
            <a:off x="2879678" y="6061687"/>
            <a:ext cx="9144000" cy="571126"/>
          </a:xfrm>
        </p:spPr>
        <p:txBody>
          <a:bodyPr>
            <a:normAutofit/>
          </a:bodyPr>
          <a:lstStyle/>
          <a:p>
            <a:pPr algn="r"/>
            <a:r>
              <a:rPr lang="es-CR" sz="3200" dirty="0" smtClean="0"/>
              <a:t>Oscar Centeno Mora</a:t>
            </a:r>
            <a:endParaRPr lang="es-ES" sz="3200" dirty="0"/>
          </a:p>
        </p:txBody>
      </p:sp>
      <p:pic>
        <p:nvPicPr>
          <p:cNvPr id="1026" name="Picture 2" descr="Resultado de imagen para tablas de contingenc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071338"/>
            <a:ext cx="6258874" cy="3494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986238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24988" y="112577"/>
            <a:ext cx="10515600" cy="836658"/>
          </a:xfrm>
        </p:spPr>
        <p:txBody>
          <a:bodyPr/>
          <a:lstStyle/>
          <a:p>
            <a:pPr algn="ctr"/>
            <a:r>
              <a:rPr lang="es-CR" dirty="0" smtClean="0"/>
              <a:t>Introducción</a:t>
            </a:r>
            <a:endParaRPr lang="es-ES" dirty="0"/>
          </a:p>
        </p:txBody>
      </p:sp>
      <p:sp>
        <p:nvSpPr>
          <p:cNvPr id="3" name="Marcador de contenido 2"/>
          <p:cNvSpPr>
            <a:spLocks noGrp="1"/>
          </p:cNvSpPr>
          <p:nvPr>
            <p:ph idx="1"/>
          </p:nvPr>
        </p:nvSpPr>
        <p:spPr>
          <a:xfrm>
            <a:off x="220684" y="1241359"/>
            <a:ext cx="8992589" cy="5158649"/>
          </a:xfrm>
        </p:spPr>
        <p:txBody>
          <a:bodyPr>
            <a:normAutofit/>
          </a:bodyPr>
          <a:lstStyle/>
          <a:p>
            <a:pPr algn="just"/>
            <a:r>
              <a:rPr lang="es-CR" sz="2400" dirty="0" smtClean="0"/>
              <a:t>Hasta ahora hemos realizado análisis de más de dos variables con la presencia de por lo menos una variable cuantitativa.</a:t>
            </a:r>
          </a:p>
          <a:p>
            <a:pPr algn="just"/>
            <a:endParaRPr lang="es-CR" sz="2400" dirty="0"/>
          </a:p>
          <a:p>
            <a:pPr algn="just"/>
            <a:r>
              <a:rPr lang="es-CR" sz="2400" dirty="0" smtClean="0"/>
              <a:t>¿Podemos someter a una hipótesis a dos o más variables cualitativas?</a:t>
            </a:r>
          </a:p>
          <a:p>
            <a:pPr algn="just"/>
            <a:endParaRPr lang="es-CR" sz="2400" dirty="0"/>
          </a:p>
          <a:p>
            <a:pPr algn="just"/>
            <a:r>
              <a:rPr lang="es-CR" sz="2400" dirty="0" smtClean="0"/>
              <a:t>El análisis de  frecuencia por las tablas de contingencia nos permite lo anterior.</a:t>
            </a:r>
          </a:p>
          <a:p>
            <a:pPr algn="just"/>
            <a:endParaRPr lang="es-CR" sz="2400" dirty="0" smtClean="0"/>
          </a:p>
          <a:p>
            <a:pPr algn="just"/>
            <a:r>
              <a:rPr lang="es-CR" sz="2400" dirty="0" smtClean="0"/>
              <a:t>En este capítulo utilizaremos una nueva función de probabilidad: la Chi-cuadrado </a:t>
            </a:r>
            <a:r>
              <a:rPr lang="es-CR" sz="2400" dirty="0"/>
              <a:t>(Ji-cuadrado), </a:t>
            </a:r>
            <a:r>
              <a:rPr lang="es-CR" sz="2400" dirty="0" smtClean="0"/>
              <a:t>con tal de procesar el análisis de una tabla de frecuencias.</a:t>
            </a:r>
            <a:endParaRPr lang="es-CR" sz="2400" dirty="0"/>
          </a:p>
          <a:p>
            <a:endParaRPr lang="es-ES" sz="2400" dirty="0"/>
          </a:p>
        </p:txBody>
      </p:sp>
      <p:pic>
        <p:nvPicPr>
          <p:cNvPr id="1026" name="Picture 2" descr="Image result for analytic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90520" y="1686792"/>
            <a:ext cx="2276763" cy="170757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alytics"/>
          <p:cNvPicPr>
            <a:picLocks noChangeAspect="1" noChangeArrowheads="1"/>
          </p:cNvPicPr>
          <p:nvPr/>
        </p:nvPicPr>
        <p:blipFill rotWithShape="1">
          <a:blip r:embed="rId3">
            <a:extLst>
              <a:ext uri="{28A0092B-C50C-407E-A947-70E740481C1C}">
                <a14:useLocalDpi xmlns:a14="http://schemas.microsoft.com/office/drawing/2010/main" val="0"/>
              </a:ext>
            </a:extLst>
          </a:blip>
          <a:srcRect l="11296" r="12496"/>
          <a:stretch/>
        </p:blipFill>
        <p:spPr bwMode="auto">
          <a:xfrm>
            <a:off x="9776877" y="4550352"/>
            <a:ext cx="1904048" cy="1573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1796724"/>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156120"/>
            <a:ext cx="10515600" cy="810532"/>
          </a:xfrm>
        </p:spPr>
        <p:txBody>
          <a:bodyPr/>
          <a:lstStyle/>
          <a:p>
            <a:pPr algn="ctr"/>
            <a:r>
              <a:rPr lang="es-CR" dirty="0" smtClean="0"/>
              <a:t>Índice</a:t>
            </a:r>
            <a:endParaRPr lang="es-ES" dirty="0"/>
          </a:p>
        </p:txBody>
      </p:sp>
      <p:sp>
        <p:nvSpPr>
          <p:cNvPr id="4" name="Elipse 3"/>
          <p:cNvSpPr/>
          <p:nvPr/>
        </p:nvSpPr>
        <p:spPr>
          <a:xfrm>
            <a:off x="838200"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838199" y="3383281"/>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endParaRPr lang="es-ES" dirty="0"/>
          </a:p>
        </p:txBody>
      </p:sp>
      <p:sp>
        <p:nvSpPr>
          <p:cNvPr id="6" name="Elipse 5"/>
          <p:cNvSpPr/>
          <p:nvPr/>
        </p:nvSpPr>
        <p:spPr>
          <a:xfrm>
            <a:off x="838199" y="5225144"/>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ES" dirty="0"/>
          </a:p>
        </p:txBody>
      </p:sp>
      <p:sp>
        <p:nvSpPr>
          <p:cNvPr id="7" name="Rectángulo redondeado 6"/>
          <p:cNvSpPr/>
          <p:nvPr/>
        </p:nvSpPr>
        <p:spPr>
          <a:xfrm>
            <a:off x="3021874"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La Chi Cuadrada</a:t>
            </a:r>
            <a:endParaRPr lang="es-ES" dirty="0"/>
          </a:p>
        </p:txBody>
      </p:sp>
      <p:sp>
        <p:nvSpPr>
          <p:cNvPr id="8" name="Rectángulo redondeado 7"/>
          <p:cNvSpPr/>
          <p:nvPr/>
        </p:nvSpPr>
        <p:spPr>
          <a:xfrm>
            <a:off x="3021874" y="3419203"/>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independencia</a:t>
            </a:r>
            <a:endParaRPr lang="es-ES" dirty="0"/>
          </a:p>
        </p:txBody>
      </p:sp>
      <p:sp>
        <p:nvSpPr>
          <p:cNvPr id="9" name="Rectángulo redondeado 8"/>
          <p:cNvSpPr/>
          <p:nvPr/>
        </p:nvSpPr>
        <p:spPr>
          <a:xfrm>
            <a:off x="3021874" y="5261066"/>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homogeneidad</a:t>
            </a:r>
            <a:endParaRPr lang="es-ES" dirty="0"/>
          </a:p>
        </p:txBody>
      </p:sp>
      <p:sp>
        <p:nvSpPr>
          <p:cNvPr id="12" name="Elipse 11"/>
          <p:cNvSpPr/>
          <p:nvPr/>
        </p:nvSpPr>
        <p:spPr>
          <a:xfrm>
            <a:off x="6709012"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4</a:t>
            </a:r>
            <a:endParaRPr lang="es-ES" dirty="0"/>
          </a:p>
        </p:txBody>
      </p:sp>
      <p:sp>
        <p:nvSpPr>
          <p:cNvPr id="13" name="Rectángulo redondeado 12"/>
          <p:cNvSpPr/>
          <p:nvPr/>
        </p:nvSpPr>
        <p:spPr>
          <a:xfrm>
            <a:off x="8892686"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Otros análisis de frecuencias</a:t>
            </a:r>
            <a:endParaRPr lang="es-ES" dirty="0"/>
          </a:p>
        </p:txBody>
      </p:sp>
    </p:spTree>
    <p:extLst>
      <p:ext uri="{BB962C8B-B14F-4D97-AF65-F5344CB8AC3E}">
        <p14:creationId xmlns:p14="http://schemas.microsoft.com/office/powerpoint/2010/main" val="41960266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156120"/>
            <a:ext cx="10515600" cy="810532"/>
          </a:xfrm>
        </p:spPr>
        <p:txBody>
          <a:bodyPr/>
          <a:lstStyle/>
          <a:p>
            <a:pPr algn="ctr"/>
            <a:r>
              <a:rPr lang="es-CR" dirty="0" smtClean="0"/>
              <a:t>Índice</a:t>
            </a:r>
            <a:endParaRPr lang="es-ES" dirty="0"/>
          </a:p>
        </p:txBody>
      </p:sp>
      <p:sp>
        <p:nvSpPr>
          <p:cNvPr id="4" name="Elipse 3"/>
          <p:cNvSpPr/>
          <p:nvPr/>
        </p:nvSpPr>
        <p:spPr>
          <a:xfrm>
            <a:off x="838200"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7" name="Rectángulo redondeado 6"/>
          <p:cNvSpPr/>
          <p:nvPr/>
        </p:nvSpPr>
        <p:spPr>
          <a:xfrm>
            <a:off x="3021874"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La Chi Cuadrada</a:t>
            </a:r>
            <a:endParaRPr lang="es-ES" dirty="0"/>
          </a:p>
        </p:txBody>
      </p:sp>
    </p:spTree>
    <p:extLst>
      <p:ext uri="{BB962C8B-B14F-4D97-AF65-F5344CB8AC3E}">
        <p14:creationId xmlns:p14="http://schemas.microsoft.com/office/powerpoint/2010/main" val="26856916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46909" y="95161"/>
            <a:ext cx="10515600" cy="827948"/>
          </a:xfrm>
        </p:spPr>
        <p:txBody>
          <a:bodyPr/>
          <a:lstStyle/>
          <a:p>
            <a:pPr algn="ctr"/>
            <a:r>
              <a:rPr lang="es-CR" dirty="0" smtClean="0"/>
              <a:t>Propiedades de la Chi-Cuadrado</a:t>
            </a:r>
            <a:endParaRPr lang="es-ES" dirty="0"/>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131618" y="1068374"/>
                <a:ext cx="9716589" cy="5263153"/>
              </a:xfrm>
            </p:spPr>
            <p:txBody>
              <a:bodyPr>
                <a:normAutofit/>
              </a:bodyPr>
              <a:lstStyle/>
              <a:p>
                <a:pPr algn="just"/>
                <a:r>
                  <a:rPr lang="es-CR" sz="2400" dirty="0" smtClean="0"/>
                  <a:t>La distribución Chi-cuadrada </a:t>
                </a:r>
                <a:r>
                  <a:rPr lang="es-CR" sz="2400" dirty="0"/>
                  <a:t>es la </a:t>
                </a:r>
                <a:r>
                  <a:rPr lang="es-CR" sz="2400" dirty="0" smtClean="0"/>
                  <a:t>técnica estadística </a:t>
                </a:r>
                <a:r>
                  <a:rPr lang="es-CR" sz="2400" dirty="0"/>
                  <a:t>utilizada con mayor frecuencia para el </a:t>
                </a:r>
                <a:r>
                  <a:rPr lang="es-CR" sz="2400" dirty="0" smtClean="0"/>
                  <a:t>análisis </a:t>
                </a:r>
                <a:r>
                  <a:rPr lang="es-CR" sz="2400" dirty="0"/>
                  <a:t>de conteo </a:t>
                </a:r>
                <a:r>
                  <a:rPr lang="es-CR" sz="2400" dirty="0" smtClean="0"/>
                  <a:t>de </a:t>
                </a:r>
                <a:r>
                  <a:rPr lang="es-ES" sz="2400" dirty="0" smtClean="0"/>
                  <a:t>datos provenientes por frecuencias. </a:t>
                </a:r>
              </a:p>
              <a:p>
                <a:pPr marL="0" indent="0" algn="just">
                  <a:buNone/>
                </a:pPr>
                <a:endParaRPr lang="es-ES" sz="2400" dirty="0"/>
              </a:p>
              <a:p>
                <a:pPr algn="just"/>
                <a:r>
                  <a:rPr lang="es-CR" sz="2400" dirty="0"/>
                  <a:t>La </a:t>
                </a:r>
                <a:r>
                  <a:rPr lang="es-CR" sz="2400" dirty="0" smtClean="0"/>
                  <a:t>distribución Chi-cuadrada </a:t>
                </a:r>
                <a:r>
                  <a:rPr lang="es-CR" sz="2400" dirty="0"/>
                  <a:t>puede deducirse a partir de la </a:t>
                </a:r>
                <a:r>
                  <a:rPr lang="es-CR" sz="2400" dirty="0" smtClean="0"/>
                  <a:t>distribución </a:t>
                </a:r>
                <a:r>
                  <a:rPr lang="es-CR" sz="2400" dirty="0"/>
                  <a:t>normal. Suponga que a partir de una variable aleatoria </a:t>
                </a:r>
                <a:r>
                  <a:rPr lang="es-CR" sz="2400" i="1" dirty="0"/>
                  <a:t>Y </a:t>
                </a:r>
                <a:r>
                  <a:rPr lang="es-CR" sz="2400" dirty="0"/>
                  <a:t>que sigue una </a:t>
                </a:r>
                <a:r>
                  <a:rPr lang="es-CR" sz="2400" dirty="0" smtClean="0"/>
                  <a:t>distribución </a:t>
                </a:r>
                <a:r>
                  <a:rPr lang="es-CR" sz="2400" dirty="0"/>
                  <a:t>normal, con media </a:t>
                </a:r>
                <a14:m>
                  <m:oMath xmlns:m="http://schemas.openxmlformats.org/officeDocument/2006/math">
                    <m:r>
                      <a:rPr lang="es-CR" sz="2400" i="1">
                        <a:latin typeface="Cambria Math" panose="02040503050406030204" pitchFamily="18" charset="0"/>
                        <a:ea typeface="Cambria Math" panose="02040503050406030204" pitchFamily="18" charset="0"/>
                      </a:rPr>
                      <m:t>𝜇</m:t>
                    </m:r>
                  </m:oMath>
                </a14:m>
                <a:r>
                  <a:rPr lang="es-CR" sz="2400" dirty="0" smtClean="0"/>
                  <a:t> </a:t>
                </a:r>
                <a:r>
                  <a:rPr lang="es-CR" sz="2400" dirty="0"/>
                  <a:t>y </a:t>
                </a:r>
                <a:r>
                  <a:rPr lang="es-CR" sz="2400" dirty="0" smtClean="0"/>
                  <a:t>desviación estándar</a:t>
                </a:r>
                <a14:m>
                  <m:oMath xmlns:m="http://schemas.openxmlformats.org/officeDocument/2006/math">
                    <m:r>
                      <a:rPr lang="es-CR" sz="2400">
                        <a:latin typeface="Cambria Math" panose="02040503050406030204" pitchFamily="18" charset="0"/>
                        <a:ea typeface="Cambria Math" panose="02040503050406030204" pitchFamily="18" charset="0"/>
                      </a:rPr>
                      <m:t> </m:t>
                    </m:r>
                    <m:r>
                      <a:rPr lang="es-CR" sz="2400" i="1" smtClean="0">
                        <a:latin typeface="Cambria Math" panose="02040503050406030204" pitchFamily="18" charset="0"/>
                        <a:ea typeface="Cambria Math" panose="02040503050406030204" pitchFamily="18" charset="0"/>
                      </a:rPr>
                      <m:t>𝜎</m:t>
                    </m:r>
                  </m:oMath>
                </a14:m>
                <a:r>
                  <a:rPr lang="es-ES" sz="2400" dirty="0" smtClean="0"/>
                  <a:t>, </a:t>
                </a:r>
                <a:r>
                  <a:rPr lang="es-ES" sz="2400" dirty="0"/>
                  <a:t> </a:t>
                </a:r>
                <a:r>
                  <a:rPr lang="es-ES" sz="2400" dirty="0" smtClean="0"/>
                  <a:t>eligen </a:t>
                </a:r>
                <a:r>
                  <a:rPr lang="es-ES" sz="2400" dirty="0"/>
                  <a:t>muestras aleatorias e independientes de </a:t>
                </a:r>
                <a:r>
                  <a:rPr lang="es-ES" sz="2400" dirty="0" smtClean="0"/>
                  <a:t>tamaño </a:t>
                </a:r>
                <a:r>
                  <a:rPr lang="es-ES" sz="2400" i="1" dirty="0"/>
                  <a:t>n </a:t>
                </a:r>
                <a:r>
                  <a:rPr lang="es-ES" sz="2400" dirty="0" smtClean="0"/>
                  <a:t>=1.</a:t>
                </a:r>
              </a:p>
              <a:p>
                <a:pPr marL="0" indent="0" algn="just">
                  <a:buNone/>
                </a:pPr>
                <a:endParaRPr lang="es-ES" sz="2400" dirty="0"/>
              </a:p>
              <a:p>
                <a:pPr algn="just"/>
                <a:r>
                  <a:rPr lang="es-CR" sz="2400" dirty="0"/>
                  <a:t>Cada valor seleccionado puede transformarse en la variable normal </a:t>
                </a:r>
                <a:r>
                  <a:rPr lang="es-CR" sz="2400" dirty="0" smtClean="0"/>
                  <a:t>estándar a través </a:t>
                </a:r>
                <a:r>
                  <a:rPr lang="es-CR" sz="2400" dirty="0"/>
                  <a:t>de la </a:t>
                </a:r>
                <a:r>
                  <a:rPr lang="es-CR" sz="2400" dirty="0" smtClean="0"/>
                  <a:t>formula:</a:t>
                </a:r>
                <a:endParaRPr lang="es-ES" sz="24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131618" y="1068374"/>
                <a:ext cx="9716589" cy="5263153"/>
              </a:xfrm>
              <a:blipFill rotWithShape="1">
                <a:blip r:embed="rId2"/>
                <a:stretch>
                  <a:fillRect l="-878" t="-1620" r="-941"/>
                </a:stretch>
              </a:blipFill>
            </p:spPr>
            <p:txBody>
              <a:bodyPr/>
              <a:lstStyle/>
              <a:p>
                <a:r>
                  <a:rPr lang="es-CR">
                    <a:noFill/>
                  </a:rPr>
                  <a:t> </a:t>
                </a:r>
              </a:p>
            </p:txBody>
          </p:sp>
        </mc:Fallback>
      </mc:AlternateContent>
      <p:pic>
        <p:nvPicPr>
          <p:cNvPr id="4" name="Imagen 3"/>
          <p:cNvPicPr>
            <a:picLocks noChangeAspect="1"/>
          </p:cNvPicPr>
          <p:nvPr/>
        </p:nvPicPr>
        <p:blipFill>
          <a:blip r:embed="rId3"/>
          <a:stretch>
            <a:fillRect/>
          </a:stretch>
        </p:blipFill>
        <p:spPr>
          <a:xfrm>
            <a:off x="4598610" y="5614338"/>
            <a:ext cx="2142350" cy="1050503"/>
          </a:xfrm>
          <a:prstGeom prst="rect">
            <a:avLst/>
          </a:prstGeom>
        </p:spPr>
      </p:pic>
      <p:pic>
        <p:nvPicPr>
          <p:cNvPr id="2050" name="Picture 2" descr="Image result for chi squar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43340" y="1754622"/>
            <a:ext cx="1494358" cy="114097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chi squar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79050" y="3934691"/>
            <a:ext cx="1822937" cy="1780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89768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0" y="1006913"/>
            <a:ext cx="9215031" cy="5503223"/>
          </a:xfrm>
        </p:spPr>
        <p:txBody>
          <a:bodyPr>
            <a:normAutofit/>
          </a:bodyPr>
          <a:lstStyle/>
          <a:p>
            <a:pPr algn="just"/>
            <a:r>
              <a:rPr lang="es-CR" sz="2400" dirty="0" smtClean="0"/>
              <a:t>Cada valor de z puede elevarse al cuadrado para obtener una z</a:t>
            </a:r>
            <a:r>
              <a:rPr lang="es-CR" sz="2400" baseline="30000" dirty="0" smtClean="0"/>
              <a:t>2</a:t>
            </a:r>
            <a:r>
              <a:rPr lang="es-CR" sz="2400" dirty="0" smtClean="0"/>
              <a:t>. Cuando se estudia la distribución </a:t>
            </a:r>
            <a:r>
              <a:rPr lang="es-CR" sz="2400" dirty="0"/>
              <a:t>muestral de </a:t>
            </a:r>
            <a:r>
              <a:rPr lang="es-CR" sz="2400" dirty="0" smtClean="0"/>
              <a:t>z</a:t>
            </a:r>
            <a:r>
              <a:rPr lang="es-CR" sz="2400" baseline="30000" dirty="0" smtClean="0"/>
              <a:t>2</a:t>
            </a:r>
            <a:r>
              <a:rPr lang="es-CR" sz="2400" dirty="0" smtClean="0"/>
              <a:t>, se obtiene que sigue una distribución Ji o Chi-Cuadrada con 1 grado de libertad. Eso es:</a:t>
            </a:r>
          </a:p>
          <a:p>
            <a:pPr algn="just"/>
            <a:endParaRPr lang="es-CR" sz="2400" dirty="0"/>
          </a:p>
          <a:p>
            <a:pPr algn="just"/>
            <a:endParaRPr lang="es-CR" sz="2400" dirty="0" smtClean="0"/>
          </a:p>
          <a:p>
            <a:pPr algn="just"/>
            <a:endParaRPr lang="es-CR" sz="2400" dirty="0"/>
          </a:p>
          <a:p>
            <a:pPr algn="just"/>
            <a:endParaRPr lang="es-CR" sz="2400" dirty="0" smtClean="0"/>
          </a:p>
          <a:p>
            <a:pPr algn="just"/>
            <a:r>
              <a:rPr lang="es-CR" sz="2400" dirty="0" smtClean="0"/>
              <a:t>Una Chi cuadrada es un caso especial de una Z elevada al cuadrado. Existen muchas propiedades y teoremas sobre esta distribución, pero esto no será abordado en este curso, lastimosamente…</a:t>
            </a:r>
          </a:p>
          <a:p>
            <a:pPr algn="just"/>
            <a:endParaRPr lang="es-CR" sz="2400" dirty="0"/>
          </a:p>
          <a:p>
            <a:pPr algn="just"/>
            <a:r>
              <a:rPr lang="es-CR" sz="2400" dirty="0" smtClean="0"/>
              <a:t>Ahora, ¿qué tipos de pruebas se llevan a cabo mediante la presente distribución?</a:t>
            </a:r>
            <a:endParaRPr lang="es-CR" sz="2400" dirty="0"/>
          </a:p>
          <a:p>
            <a:pPr algn="just"/>
            <a:endParaRPr lang="es-ES" sz="2400" dirty="0"/>
          </a:p>
        </p:txBody>
      </p:sp>
      <p:sp>
        <p:nvSpPr>
          <p:cNvPr id="4" name="Título 1"/>
          <p:cNvSpPr>
            <a:spLocks noGrp="1"/>
          </p:cNvSpPr>
          <p:nvPr>
            <p:ph type="title"/>
          </p:nvPr>
        </p:nvSpPr>
        <p:spPr>
          <a:xfrm>
            <a:off x="846909" y="95161"/>
            <a:ext cx="10515600" cy="827948"/>
          </a:xfrm>
        </p:spPr>
        <p:txBody>
          <a:bodyPr/>
          <a:lstStyle/>
          <a:p>
            <a:pPr algn="ctr"/>
            <a:r>
              <a:rPr lang="es-CR" dirty="0" smtClean="0"/>
              <a:t>Propiedades de la Chi-Cuadrado</a:t>
            </a:r>
            <a:endParaRPr lang="es-ES" dirty="0"/>
          </a:p>
        </p:txBody>
      </p:sp>
      <p:pic>
        <p:nvPicPr>
          <p:cNvPr id="5" name="Imagen 4"/>
          <p:cNvPicPr>
            <a:picLocks noChangeAspect="1"/>
          </p:cNvPicPr>
          <p:nvPr/>
        </p:nvPicPr>
        <p:blipFill>
          <a:blip r:embed="rId2"/>
          <a:stretch>
            <a:fillRect/>
          </a:stretch>
        </p:blipFill>
        <p:spPr>
          <a:xfrm>
            <a:off x="4808878" y="2616380"/>
            <a:ext cx="2428815" cy="1142145"/>
          </a:xfrm>
          <a:prstGeom prst="rect">
            <a:avLst/>
          </a:prstGeom>
        </p:spPr>
      </p:pic>
      <p:pic>
        <p:nvPicPr>
          <p:cNvPr id="3074" name="Picture 2" descr="Image result for Math"/>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91841" y="1521434"/>
            <a:ext cx="2533906" cy="166601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Related im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38825" y="4779817"/>
            <a:ext cx="2239938" cy="1275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8314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50227" y="1240423"/>
            <a:ext cx="9215445" cy="5475927"/>
          </a:xfrm>
        </p:spPr>
        <p:txBody>
          <a:bodyPr>
            <a:normAutofit lnSpcReduction="10000"/>
          </a:bodyPr>
          <a:lstStyle/>
          <a:p>
            <a:pPr algn="just"/>
            <a:r>
              <a:rPr lang="es-CR" sz="2400" dirty="0" smtClean="0"/>
              <a:t>Hacemos uso de la presente distribución para las siguientes pruebas:</a:t>
            </a:r>
          </a:p>
          <a:p>
            <a:pPr algn="just"/>
            <a:endParaRPr lang="es-CR" sz="2400" dirty="0"/>
          </a:p>
          <a:p>
            <a:pPr marL="457200" indent="-457200" algn="just">
              <a:buAutoNum type="arabicPeriod"/>
            </a:pPr>
            <a:r>
              <a:rPr lang="es-CR" sz="2400" dirty="0" smtClean="0"/>
              <a:t>Prueba de bondad de ajuste.</a:t>
            </a:r>
          </a:p>
          <a:p>
            <a:pPr marL="457200" indent="-457200" algn="just">
              <a:buAutoNum type="arabicPeriod"/>
            </a:pPr>
            <a:endParaRPr lang="es-CR" sz="2400" dirty="0"/>
          </a:p>
          <a:p>
            <a:pPr marL="457200" indent="-457200" algn="just">
              <a:buAutoNum type="arabicPeriod"/>
            </a:pPr>
            <a:r>
              <a:rPr lang="es-CR" sz="2400" dirty="0" smtClean="0"/>
              <a:t>Prueba de independencia</a:t>
            </a:r>
          </a:p>
          <a:p>
            <a:pPr marL="457200" indent="-457200" algn="just">
              <a:buAutoNum type="arabicPeriod"/>
            </a:pPr>
            <a:endParaRPr lang="es-CR" sz="2400" dirty="0"/>
          </a:p>
          <a:p>
            <a:pPr marL="457200" indent="-457200" algn="just">
              <a:buAutoNum type="arabicPeriod"/>
            </a:pPr>
            <a:r>
              <a:rPr lang="es-CR" sz="2400" dirty="0" smtClean="0"/>
              <a:t>Prueba de homogeneidad</a:t>
            </a:r>
          </a:p>
          <a:p>
            <a:pPr marL="457200" indent="-457200" algn="just">
              <a:buAutoNum type="arabicPeriod"/>
            </a:pPr>
            <a:endParaRPr lang="es-CR" sz="2400" dirty="0"/>
          </a:p>
          <a:p>
            <a:pPr algn="just"/>
            <a:r>
              <a:rPr lang="es-CR" sz="2400" dirty="0"/>
              <a:t>Se pone de manifiesto que, en cierto sentido, todas las pruebas de </a:t>
            </a:r>
            <a:r>
              <a:rPr lang="es-CR" sz="2400" dirty="0" smtClean="0"/>
              <a:t>Ji-cuadrada </a:t>
            </a:r>
            <a:r>
              <a:rPr lang="es-CR" sz="2400" dirty="0"/>
              <a:t>que se utilizan pueden ser consideradas como pruebas de bondad de ajuste con las que se prueba precisamente la bondad de ajuste en las frecuencias observadas con respecto a las frecuencias que se </a:t>
            </a:r>
            <a:r>
              <a:rPr lang="es-CR" sz="2400" dirty="0" smtClean="0"/>
              <a:t>esperarían </a:t>
            </a:r>
            <a:r>
              <a:rPr lang="es-CR" sz="2400" dirty="0"/>
              <a:t>si los datos se obtuvieran bajo alguna </a:t>
            </a:r>
            <a:r>
              <a:rPr lang="es-CR" sz="2400" dirty="0" smtClean="0"/>
              <a:t>hipótesis o teoría </a:t>
            </a:r>
            <a:r>
              <a:rPr lang="es-CR" sz="2400" dirty="0"/>
              <a:t>en </a:t>
            </a:r>
            <a:r>
              <a:rPr lang="es-CR" sz="2400" dirty="0" smtClean="0"/>
              <a:t>particular.</a:t>
            </a:r>
            <a:endParaRPr lang="es-ES" sz="2400" dirty="0"/>
          </a:p>
        </p:txBody>
      </p:sp>
      <p:sp>
        <p:nvSpPr>
          <p:cNvPr id="4" name="Título 1"/>
          <p:cNvSpPr>
            <a:spLocks noGrp="1"/>
          </p:cNvSpPr>
          <p:nvPr>
            <p:ph type="title"/>
          </p:nvPr>
        </p:nvSpPr>
        <p:spPr>
          <a:xfrm>
            <a:off x="846909" y="95161"/>
            <a:ext cx="10515600" cy="827948"/>
          </a:xfrm>
        </p:spPr>
        <p:txBody>
          <a:bodyPr/>
          <a:lstStyle/>
          <a:p>
            <a:pPr algn="ctr"/>
            <a:r>
              <a:rPr lang="es-CR" dirty="0" smtClean="0"/>
              <a:t>Propiedades de la Chi-Cuadrado</a:t>
            </a:r>
            <a:endParaRPr lang="es-ES" dirty="0"/>
          </a:p>
        </p:txBody>
      </p:sp>
      <p:pic>
        <p:nvPicPr>
          <p:cNvPr id="4098" name="Picture 2" descr="Image result for test of independence formul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0109" y="1579418"/>
            <a:ext cx="2644288" cy="148243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Image result for think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06421" y="3879273"/>
            <a:ext cx="2211664" cy="2616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763580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67387" y="1101879"/>
            <a:ext cx="8782645" cy="5557814"/>
          </a:xfrm>
        </p:spPr>
        <p:txBody>
          <a:bodyPr>
            <a:normAutofit/>
          </a:bodyPr>
          <a:lstStyle/>
          <a:p>
            <a:pPr algn="just"/>
            <a:r>
              <a:rPr lang="es-CR" sz="2400" dirty="0"/>
              <a:t>Sin embargo, se reserva la </a:t>
            </a:r>
            <a:r>
              <a:rPr lang="es-CR" sz="2400" dirty="0" smtClean="0"/>
              <a:t>expresión </a:t>
            </a:r>
            <a:r>
              <a:rPr lang="es-CR" sz="2400" dirty="0"/>
              <a:t>"bondad de ajuste" para utilizarla en un sentido </a:t>
            </a:r>
            <a:r>
              <a:rPr lang="es-CR" sz="2400" dirty="0" smtClean="0"/>
              <a:t>más </a:t>
            </a:r>
            <a:r>
              <a:rPr lang="es-CR" sz="2400" dirty="0"/>
              <a:t>estricto, es decir para referirse a la </a:t>
            </a:r>
            <a:r>
              <a:rPr lang="es-CR" sz="2400" dirty="0" smtClean="0"/>
              <a:t>comparación </a:t>
            </a:r>
            <a:r>
              <a:rPr lang="es-CR" sz="2400" dirty="0"/>
              <a:t>de la </a:t>
            </a:r>
            <a:r>
              <a:rPr lang="es-CR" sz="2400" dirty="0" smtClean="0"/>
              <a:t>distribución </a:t>
            </a:r>
            <a:r>
              <a:rPr lang="es-CR" sz="2400" dirty="0"/>
              <a:t>de una muestra con alguna </a:t>
            </a:r>
            <a:r>
              <a:rPr lang="es-CR" sz="2400" dirty="0" smtClean="0"/>
              <a:t>distribución teórica </a:t>
            </a:r>
            <a:r>
              <a:rPr lang="es-CR" sz="2400" dirty="0"/>
              <a:t>que se supone describe a la </a:t>
            </a:r>
            <a:r>
              <a:rPr lang="es-CR" sz="2400" dirty="0" smtClean="0"/>
              <a:t>población </a:t>
            </a:r>
            <a:r>
              <a:rPr lang="es-CR" sz="2400" dirty="0"/>
              <a:t>de la </a:t>
            </a:r>
            <a:r>
              <a:rPr lang="es-CR" sz="2400" dirty="0" smtClean="0"/>
              <a:t>cual </a:t>
            </a:r>
            <a:r>
              <a:rPr lang="es-CR" sz="2400" dirty="0"/>
              <a:t>se extrajo</a:t>
            </a:r>
            <a:r>
              <a:rPr lang="es-CR" sz="2400" dirty="0" smtClean="0"/>
              <a:t>.</a:t>
            </a:r>
          </a:p>
          <a:p>
            <a:pPr algn="just"/>
            <a:endParaRPr lang="es-CR" sz="2400" dirty="0"/>
          </a:p>
          <a:p>
            <a:pPr algn="just"/>
            <a:r>
              <a:rPr lang="es-CR" sz="2400" dirty="0" smtClean="0"/>
              <a:t>El fundamento de la Ji o Chi-Cuadrado es para ser utilizada con datos cualitativos.</a:t>
            </a:r>
          </a:p>
          <a:p>
            <a:pPr algn="just"/>
            <a:endParaRPr lang="es-CR" sz="2400" dirty="0"/>
          </a:p>
          <a:p>
            <a:pPr algn="just"/>
            <a:endParaRPr lang="es-ES" sz="2400" dirty="0"/>
          </a:p>
          <a:p>
            <a:pPr algn="just"/>
            <a:r>
              <a:rPr lang="es-CR" sz="2400" dirty="0"/>
              <a:t>Existen dos tipos de frecuencias en las que se centra el </a:t>
            </a:r>
            <a:r>
              <a:rPr lang="es-CR" sz="2400" dirty="0" smtClean="0"/>
              <a:t>interés </a:t>
            </a:r>
            <a:r>
              <a:rPr lang="es-CR" sz="2400" dirty="0"/>
              <a:t>de esta parte </a:t>
            </a:r>
            <a:r>
              <a:rPr lang="es-CR" sz="2400" dirty="0" smtClean="0"/>
              <a:t>de: frecuencias observadas y frecuencias esperadas.  </a:t>
            </a:r>
            <a:endParaRPr lang="es-ES" sz="2400" dirty="0"/>
          </a:p>
        </p:txBody>
      </p:sp>
      <p:sp>
        <p:nvSpPr>
          <p:cNvPr id="4" name="Título 1"/>
          <p:cNvSpPr>
            <a:spLocks noGrp="1"/>
          </p:cNvSpPr>
          <p:nvPr>
            <p:ph type="title"/>
          </p:nvPr>
        </p:nvSpPr>
        <p:spPr>
          <a:xfrm>
            <a:off x="846909" y="95161"/>
            <a:ext cx="10515600" cy="827948"/>
          </a:xfrm>
        </p:spPr>
        <p:txBody>
          <a:bodyPr/>
          <a:lstStyle/>
          <a:p>
            <a:pPr algn="ctr"/>
            <a:r>
              <a:rPr lang="es-CR" dirty="0" smtClean="0"/>
              <a:t>Propiedades de la Chi-Cuadrado</a:t>
            </a:r>
            <a:endParaRPr lang="es-ES" dirty="0"/>
          </a:p>
        </p:txBody>
      </p:sp>
      <p:pic>
        <p:nvPicPr>
          <p:cNvPr id="5122" name="Picture 2" descr="Image result for goodness of fit"/>
          <p:cNvPicPr>
            <a:picLocks noChangeAspect="1" noChangeArrowheads="1"/>
          </p:cNvPicPr>
          <p:nvPr/>
        </p:nvPicPr>
        <p:blipFill rotWithShape="1">
          <a:blip r:embed="rId2">
            <a:extLst>
              <a:ext uri="{28A0092B-C50C-407E-A947-70E740481C1C}">
                <a14:useLocalDpi xmlns:a14="http://schemas.microsoft.com/office/drawing/2010/main" val="0"/>
              </a:ext>
            </a:extLst>
          </a:blip>
          <a:srcRect l="6821" t="2370" r="12044" b="6325"/>
          <a:stretch/>
        </p:blipFill>
        <p:spPr bwMode="auto">
          <a:xfrm>
            <a:off x="9207910" y="1094509"/>
            <a:ext cx="2720854" cy="250767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Image result for qualitative dat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49475" y="4114801"/>
            <a:ext cx="2762561" cy="2358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66271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25828" y="991249"/>
            <a:ext cx="9115154" cy="5421337"/>
          </a:xfrm>
        </p:spPr>
        <p:txBody>
          <a:bodyPr>
            <a:normAutofit/>
          </a:bodyPr>
          <a:lstStyle/>
          <a:p>
            <a:pPr algn="just"/>
            <a:r>
              <a:rPr lang="es-CR" sz="2400" dirty="0" smtClean="0"/>
              <a:t>Las </a:t>
            </a:r>
            <a:r>
              <a:rPr lang="es-CR" sz="2400" dirty="0"/>
              <a:t>frecuencias observadas son el </a:t>
            </a:r>
            <a:r>
              <a:rPr lang="es-CR" sz="2400" dirty="0" smtClean="0"/>
              <a:t>número </a:t>
            </a:r>
            <a:r>
              <a:rPr lang="es-CR" sz="2400" dirty="0"/>
              <a:t>de objetos </a:t>
            </a:r>
            <a:r>
              <a:rPr lang="es-CR" sz="2400" dirty="0" smtClean="0"/>
              <a:t>o </a:t>
            </a:r>
            <a:r>
              <a:rPr lang="es-CR" sz="2400" dirty="0"/>
              <a:t>individuos en la muestra que caen dentro de las diversas </a:t>
            </a:r>
            <a:r>
              <a:rPr lang="es-CR" sz="2400" dirty="0" smtClean="0"/>
              <a:t>categorías </a:t>
            </a:r>
            <a:r>
              <a:rPr lang="es-CR" sz="2400" dirty="0"/>
              <a:t>de la variable de </a:t>
            </a:r>
            <a:r>
              <a:rPr lang="es-CR" sz="2400" dirty="0" smtClean="0"/>
              <a:t>interés. </a:t>
            </a:r>
            <a:r>
              <a:rPr lang="es-CR" sz="2400" dirty="0"/>
              <a:t>Por ejemplo, si se tiene una muestra de 100 pacientes hospitalizados se puede observar que 50 son casados, 30 son solteros, 15 son viudos y cinco </a:t>
            </a:r>
            <a:r>
              <a:rPr lang="es-CR" sz="2400" dirty="0" smtClean="0"/>
              <a:t> son divorciados</a:t>
            </a:r>
            <a:r>
              <a:rPr lang="es-CR" sz="2400" dirty="0"/>
              <a:t>. </a:t>
            </a:r>
            <a:endParaRPr lang="es-CR" sz="2400" dirty="0" smtClean="0"/>
          </a:p>
          <a:p>
            <a:pPr algn="just"/>
            <a:endParaRPr lang="es-CR" sz="2400" dirty="0" smtClean="0"/>
          </a:p>
          <a:p>
            <a:pPr algn="just"/>
            <a:endParaRPr lang="es-CR" sz="2400" dirty="0" smtClean="0"/>
          </a:p>
          <a:p>
            <a:pPr algn="just"/>
            <a:r>
              <a:rPr lang="es-CR" sz="2400" dirty="0" smtClean="0"/>
              <a:t>Las </a:t>
            </a:r>
            <a:r>
              <a:rPr lang="es-CR" sz="2400" dirty="0"/>
              <a:t>frecuencias esperadas son el </a:t>
            </a:r>
            <a:r>
              <a:rPr lang="es-CR" sz="2400" dirty="0" smtClean="0"/>
              <a:t>número de </a:t>
            </a:r>
            <a:r>
              <a:rPr lang="es-CR" sz="2400" dirty="0"/>
              <a:t>individuos u objetos en la muestra que se </a:t>
            </a:r>
            <a:r>
              <a:rPr lang="es-CR" sz="2400" dirty="0" smtClean="0"/>
              <a:t>esperaría </a:t>
            </a:r>
            <a:r>
              <a:rPr lang="es-CR" sz="2400" dirty="0"/>
              <a:t>observar </a:t>
            </a:r>
            <a:r>
              <a:rPr lang="es-CR" sz="2400" dirty="0" smtClean="0"/>
              <a:t>en alguna hipótesis </a:t>
            </a:r>
            <a:r>
              <a:rPr lang="es-CR" sz="2400" dirty="0"/>
              <a:t>nula respecto a la variable es verdadera. </a:t>
            </a:r>
            <a:r>
              <a:rPr lang="es-CR" sz="2400" dirty="0" smtClean="0"/>
              <a:t>Por ejemplo</a:t>
            </a:r>
            <a:r>
              <a:rPr lang="es-CR" sz="2400" dirty="0"/>
              <a:t>, la </a:t>
            </a:r>
            <a:r>
              <a:rPr lang="es-CR" sz="2400" dirty="0" smtClean="0"/>
              <a:t>hipótesis </a:t>
            </a:r>
            <a:r>
              <a:rPr lang="es-CR" sz="2400" dirty="0"/>
              <a:t>nula puede ser que las cuatro </a:t>
            </a:r>
            <a:r>
              <a:rPr lang="es-CR" sz="2400" dirty="0" smtClean="0"/>
              <a:t>categorías </a:t>
            </a:r>
            <a:r>
              <a:rPr lang="es-CR" sz="2400" dirty="0"/>
              <a:t>de estado civil tienen igual </a:t>
            </a:r>
            <a:r>
              <a:rPr lang="es-CR" sz="2400" dirty="0" smtClean="0"/>
              <a:t>representación </a:t>
            </a:r>
            <a:r>
              <a:rPr lang="es-CR" sz="2400" dirty="0"/>
              <a:t>dentro de la </a:t>
            </a:r>
            <a:r>
              <a:rPr lang="es-CR" sz="2400" dirty="0" smtClean="0"/>
              <a:t>población </a:t>
            </a:r>
            <a:r>
              <a:rPr lang="es-CR" sz="2400" dirty="0"/>
              <a:t>de la que se </a:t>
            </a:r>
            <a:r>
              <a:rPr lang="es-CR" sz="2400" dirty="0" smtClean="0"/>
              <a:t>extrajo </a:t>
            </a:r>
            <a:r>
              <a:rPr lang="es-CR" sz="2400" dirty="0"/>
              <a:t>la muestra. En este caso se </a:t>
            </a:r>
            <a:r>
              <a:rPr lang="es-CR" sz="2400" dirty="0" smtClean="0"/>
              <a:t>esperaría que en este ejemplo </a:t>
            </a:r>
            <a:r>
              <a:rPr lang="es-CR" sz="2400" dirty="0"/>
              <a:t>hubiera 25 casados, 25 solteros, 25 viudos y 25 divorciados.</a:t>
            </a:r>
            <a:endParaRPr lang="es-ES" sz="2400" dirty="0"/>
          </a:p>
        </p:txBody>
      </p:sp>
      <p:sp>
        <p:nvSpPr>
          <p:cNvPr id="4" name="Título 1"/>
          <p:cNvSpPr>
            <a:spLocks noGrp="1"/>
          </p:cNvSpPr>
          <p:nvPr>
            <p:ph type="title"/>
          </p:nvPr>
        </p:nvSpPr>
        <p:spPr>
          <a:xfrm>
            <a:off x="846909" y="95161"/>
            <a:ext cx="10515600" cy="827948"/>
          </a:xfrm>
        </p:spPr>
        <p:txBody>
          <a:bodyPr/>
          <a:lstStyle/>
          <a:p>
            <a:pPr algn="ctr"/>
            <a:r>
              <a:rPr lang="es-CR" dirty="0" smtClean="0"/>
              <a:t>Propiedades de la Chi-Cuadrado</a:t>
            </a:r>
            <a:endParaRPr lang="es-ES" dirty="0"/>
          </a:p>
        </p:txBody>
      </p:sp>
      <p:pic>
        <p:nvPicPr>
          <p:cNvPr id="6146" name="Picture 2" descr="Image result for expected and observed"/>
          <p:cNvPicPr>
            <a:picLocks noChangeAspect="1" noChangeArrowheads="1"/>
          </p:cNvPicPr>
          <p:nvPr/>
        </p:nvPicPr>
        <p:blipFill rotWithShape="1">
          <a:blip r:embed="rId2">
            <a:extLst>
              <a:ext uri="{28A0092B-C50C-407E-A947-70E740481C1C}">
                <a14:useLocalDpi xmlns:a14="http://schemas.microsoft.com/office/drawing/2010/main" val="0"/>
              </a:ext>
            </a:extLst>
          </a:blip>
          <a:srcRect t="10291" r="11217" b="8144"/>
          <a:stretch/>
        </p:blipFill>
        <p:spPr bwMode="auto">
          <a:xfrm>
            <a:off x="9698182" y="1177637"/>
            <a:ext cx="2313709" cy="211974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Image result for expected"/>
          <p:cNvPicPr>
            <a:picLocks noChangeAspect="1" noChangeArrowheads="1"/>
          </p:cNvPicPr>
          <p:nvPr/>
        </p:nvPicPr>
        <p:blipFill rotWithShape="1">
          <a:blip r:embed="rId3">
            <a:extLst>
              <a:ext uri="{28A0092B-C50C-407E-A947-70E740481C1C}">
                <a14:useLocalDpi xmlns:a14="http://schemas.microsoft.com/office/drawing/2010/main" val="0"/>
              </a:ext>
            </a:extLst>
          </a:blip>
          <a:srcRect l="4467" t="17786" r="4511" b="18445"/>
          <a:stretch/>
        </p:blipFill>
        <p:spPr bwMode="auto">
          <a:xfrm>
            <a:off x="9635836" y="4281054"/>
            <a:ext cx="2438400" cy="2206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169302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63877" y="1042533"/>
            <a:ext cx="10515600" cy="5704631"/>
          </a:xfrm>
        </p:spPr>
        <p:txBody>
          <a:bodyPr>
            <a:normAutofit/>
          </a:bodyPr>
          <a:lstStyle/>
          <a:p>
            <a:r>
              <a:rPr lang="es-CR" sz="2400" dirty="0" smtClean="0"/>
              <a:t>El estadístico para cualquier tipo de las pruebas de antes, es el siguiente:</a:t>
            </a:r>
          </a:p>
          <a:p>
            <a:endParaRPr lang="es-CR" sz="2400" dirty="0"/>
          </a:p>
          <a:p>
            <a:endParaRPr lang="es-CR" sz="2400" dirty="0" smtClean="0"/>
          </a:p>
          <a:p>
            <a:endParaRPr lang="es-CR" sz="2400" dirty="0" smtClean="0"/>
          </a:p>
          <a:p>
            <a:pPr algn="just"/>
            <a:r>
              <a:rPr lang="es-CR" sz="2400" dirty="0" smtClean="0"/>
              <a:t>Cuando la hipótesis </a:t>
            </a:r>
            <a:r>
              <a:rPr lang="es-CR" sz="2400" dirty="0"/>
              <a:t>nula es verdadera, </a:t>
            </a:r>
            <a:r>
              <a:rPr lang="es-CR" sz="2400" i="1" dirty="0" smtClean="0"/>
              <a:t>X</a:t>
            </a:r>
            <a:r>
              <a:rPr lang="es-CR" sz="2400" i="1" baseline="30000" dirty="0" smtClean="0"/>
              <a:t>2</a:t>
            </a:r>
            <a:r>
              <a:rPr lang="es-CR" sz="2400" i="1" dirty="0" smtClean="0"/>
              <a:t> </a:t>
            </a:r>
            <a:r>
              <a:rPr lang="es-CR" sz="2400" dirty="0"/>
              <a:t>sigue una </a:t>
            </a:r>
            <a:r>
              <a:rPr lang="es-CR" sz="2400" dirty="0" smtClean="0"/>
              <a:t>distribución </a:t>
            </a:r>
            <a:r>
              <a:rPr lang="es-CR" sz="2400" dirty="0"/>
              <a:t>casi como </a:t>
            </a:r>
            <a:r>
              <a:rPr lang="es-CR" sz="2400" i="1" dirty="0"/>
              <a:t>X</a:t>
            </a:r>
            <a:r>
              <a:rPr lang="es-CR" sz="2400" i="1" baseline="30000" dirty="0"/>
              <a:t>2</a:t>
            </a:r>
            <a:r>
              <a:rPr lang="es-CR" sz="2400" i="1" dirty="0" smtClean="0"/>
              <a:t> </a:t>
            </a:r>
            <a:r>
              <a:rPr lang="es-CR" sz="2400" dirty="0"/>
              <a:t>con </a:t>
            </a:r>
            <a:r>
              <a:rPr lang="es-CR" sz="2400" i="1" dirty="0"/>
              <a:t>k </a:t>
            </a:r>
            <a:r>
              <a:rPr lang="es-CR" sz="2400" dirty="0"/>
              <a:t>- </a:t>
            </a:r>
            <a:r>
              <a:rPr lang="es-CR" sz="2400" i="1" dirty="0"/>
              <a:t>r </a:t>
            </a:r>
            <a:r>
              <a:rPr lang="es-CR" sz="2400" dirty="0"/>
              <a:t>grados de libertad. En la </a:t>
            </a:r>
            <a:r>
              <a:rPr lang="es-CR" sz="2400" dirty="0" smtClean="0"/>
              <a:t>determinación </a:t>
            </a:r>
            <a:r>
              <a:rPr lang="es-CR" sz="2400" dirty="0"/>
              <a:t>de los grados de libertad, </a:t>
            </a:r>
            <a:r>
              <a:rPr lang="es-CR" sz="2400" i="1" dirty="0"/>
              <a:t>k </a:t>
            </a:r>
            <a:r>
              <a:rPr lang="es-CR" sz="2400" dirty="0"/>
              <a:t>es igual al numero de grupos para los que las frecuencias observadas y esperadas </a:t>
            </a:r>
            <a:r>
              <a:rPr lang="es-CR" sz="2400" dirty="0" smtClean="0"/>
              <a:t>están </a:t>
            </a:r>
            <a:r>
              <a:rPr lang="es-CR" sz="2400" dirty="0"/>
              <a:t>disponibles, y </a:t>
            </a:r>
            <a:r>
              <a:rPr lang="es-CR" sz="2400" i="1" dirty="0" smtClean="0"/>
              <a:t>r </a:t>
            </a:r>
            <a:r>
              <a:rPr lang="es-CR" sz="2400" dirty="0"/>
              <a:t>es el numero de restricciones impuestas sobre las comparaciones dadas</a:t>
            </a:r>
            <a:r>
              <a:rPr lang="es-CR" sz="2400" dirty="0" smtClean="0"/>
              <a:t>.</a:t>
            </a:r>
          </a:p>
          <a:p>
            <a:endParaRPr lang="es-CR" sz="2400" dirty="0"/>
          </a:p>
          <a:p>
            <a:pPr algn="just"/>
            <a:r>
              <a:rPr lang="es-CR" sz="2400" dirty="0"/>
              <a:t>Una </a:t>
            </a:r>
            <a:r>
              <a:rPr lang="es-CR" sz="2400" dirty="0" smtClean="0"/>
              <a:t>restricción </a:t>
            </a:r>
            <a:r>
              <a:rPr lang="es-CR" sz="2400" dirty="0"/>
              <a:t>es impuesta cuando se </a:t>
            </a:r>
            <a:r>
              <a:rPr lang="es-CR" sz="2400" dirty="0" smtClean="0"/>
              <a:t>fuerza </a:t>
            </a:r>
            <a:r>
              <a:rPr lang="es-CR" sz="2400" dirty="0"/>
              <a:t>la suma de las frecuencias esperadas para que sea igual a la suma de frecuencias observadas, y la </a:t>
            </a:r>
            <a:r>
              <a:rPr lang="es-CR" sz="2400" dirty="0" smtClean="0"/>
              <a:t>restricción </a:t>
            </a:r>
            <a:r>
              <a:rPr lang="es-CR" sz="2400" dirty="0"/>
              <a:t>adicional es impuesta para cada </a:t>
            </a:r>
            <a:r>
              <a:rPr lang="es-CR" sz="2400" dirty="0" smtClean="0"/>
              <a:t>parámetro </a:t>
            </a:r>
            <a:r>
              <a:rPr lang="es-CR" sz="2400" dirty="0"/>
              <a:t>que sea </a:t>
            </a:r>
            <a:r>
              <a:rPr lang="es-CR" sz="2400" dirty="0" smtClean="0"/>
              <a:t>estimado a </a:t>
            </a:r>
            <a:r>
              <a:rPr lang="es-CR" sz="2400" dirty="0"/>
              <a:t>partir de la muestra.</a:t>
            </a:r>
            <a:r>
              <a:rPr lang="es-CR" sz="2400" dirty="0" smtClean="0"/>
              <a:t> </a:t>
            </a:r>
            <a:endParaRPr lang="es-ES" sz="2400" dirty="0"/>
          </a:p>
        </p:txBody>
      </p:sp>
      <p:sp>
        <p:nvSpPr>
          <p:cNvPr id="4" name="Título 1"/>
          <p:cNvSpPr>
            <a:spLocks noGrp="1"/>
          </p:cNvSpPr>
          <p:nvPr>
            <p:ph type="title"/>
          </p:nvPr>
        </p:nvSpPr>
        <p:spPr>
          <a:xfrm>
            <a:off x="846909" y="95161"/>
            <a:ext cx="10515600" cy="827948"/>
          </a:xfrm>
        </p:spPr>
        <p:txBody>
          <a:bodyPr/>
          <a:lstStyle/>
          <a:p>
            <a:pPr algn="ctr"/>
            <a:r>
              <a:rPr lang="es-CR" dirty="0" smtClean="0"/>
              <a:t>Propiedades de la Chi-Cuadrado</a:t>
            </a:r>
            <a:endParaRPr lang="es-ES" dirty="0"/>
          </a:p>
        </p:txBody>
      </p:sp>
      <p:pic>
        <p:nvPicPr>
          <p:cNvPr id="5" name="Imagen 4"/>
          <p:cNvPicPr>
            <a:picLocks noChangeAspect="1"/>
          </p:cNvPicPr>
          <p:nvPr/>
        </p:nvPicPr>
        <p:blipFill>
          <a:blip r:embed="rId2"/>
          <a:stretch>
            <a:fillRect/>
          </a:stretch>
        </p:blipFill>
        <p:spPr>
          <a:xfrm>
            <a:off x="4587216" y="1558952"/>
            <a:ext cx="2833933" cy="1231594"/>
          </a:xfrm>
          <a:prstGeom prst="rect">
            <a:avLst/>
          </a:prstGeom>
        </p:spPr>
      </p:pic>
    </p:spTree>
    <p:extLst>
      <p:ext uri="{BB962C8B-B14F-4D97-AF65-F5344CB8AC3E}">
        <p14:creationId xmlns:p14="http://schemas.microsoft.com/office/powerpoint/2010/main" val="155305962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07630" y="1073344"/>
            <a:ext cx="9313461" cy="5535274"/>
          </a:xfrm>
        </p:spPr>
        <p:txBody>
          <a:bodyPr>
            <a:normAutofit/>
          </a:bodyPr>
          <a:lstStyle/>
          <a:p>
            <a:pPr algn="just"/>
            <a:r>
              <a:rPr lang="es-CR" dirty="0" smtClean="0"/>
              <a:t>Bajo la cantidad o el estadístico:</a:t>
            </a:r>
          </a:p>
          <a:p>
            <a:pPr algn="just"/>
            <a:endParaRPr lang="es-CR" dirty="0" smtClean="0"/>
          </a:p>
          <a:p>
            <a:pPr algn="just"/>
            <a:endParaRPr lang="es-CR" dirty="0"/>
          </a:p>
          <a:p>
            <a:pPr algn="just"/>
            <a:r>
              <a:rPr lang="es-CR" dirty="0" smtClean="0"/>
              <a:t> Si dicho estadístico es pequeño si </a:t>
            </a:r>
            <a:r>
              <a:rPr lang="es-ES" dirty="0" smtClean="0"/>
              <a:t>las </a:t>
            </a:r>
            <a:r>
              <a:rPr lang="es-ES" dirty="0"/>
              <a:t>frecuencias </a:t>
            </a:r>
            <a:r>
              <a:rPr lang="es-CR" dirty="0" smtClean="0"/>
              <a:t>observadas y esperadas están </a:t>
            </a:r>
            <a:r>
              <a:rPr lang="es-CR" dirty="0"/>
              <a:t>muy cerca y </a:t>
            </a:r>
            <a:r>
              <a:rPr lang="es-CR" dirty="0" smtClean="0"/>
              <a:t>será </a:t>
            </a:r>
            <a:r>
              <a:rPr lang="es-CR" dirty="0"/>
              <a:t>muy grande si las diferencias </a:t>
            </a:r>
            <a:r>
              <a:rPr lang="es-CR" dirty="0" smtClean="0"/>
              <a:t>son </a:t>
            </a:r>
            <a:r>
              <a:rPr lang="es-ES" dirty="0" smtClean="0"/>
              <a:t>muy grandes.</a:t>
            </a:r>
          </a:p>
          <a:p>
            <a:pPr marL="0" indent="0" algn="just">
              <a:buNone/>
            </a:pPr>
            <a:endParaRPr lang="es-ES" dirty="0"/>
          </a:p>
          <a:p>
            <a:pPr algn="just"/>
            <a:r>
              <a:rPr lang="es-CR" dirty="0"/>
              <a:t>EI valor calculado de </a:t>
            </a:r>
            <a:r>
              <a:rPr lang="es-CR" i="1" dirty="0"/>
              <a:t>X</a:t>
            </a:r>
            <a:r>
              <a:rPr lang="es-CR" i="1" baseline="30000" dirty="0"/>
              <a:t>2</a:t>
            </a:r>
            <a:r>
              <a:rPr lang="es-CR" dirty="0" smtClean="0"/>
              <a:t> </a:t>
            </a:r>
            <a:r>
              <a:rPr lang="es-CR" dirty="0"/>
              <a:t>se compara contra el valor tabulado de </a:t>
            </a:r>
            <a:r>
              <a:rPr lang="es-CR" i="1" dirty="0"/>
              <a:t>X</a:t>
            </a:r>
            <a:r>
              <a:rPr lang="es-CR" i="1" baseline="30000" dirty="0"/>
              <a:t>2</a:t>
            </a:r>
            <a:r>
              <a:rPr lang="es-CR" i="1" dirty="0" smtClean="0"/>
              <a:t> </a:t>
            </a:r>
            <a:r>
              <a:rPr lang="es-CR" dirty="0"/>
              <a:t>con </a:t>
            </a:r>
            <a:r>
              <a:rPr lang="es-CR" i="1" dirty="0"/>
              <a:t>k </a:t>
            </a:r>
            <a:r>
              <a:rPr lang="es-CR" dirty="0"/>
              <a:t>- </a:t>
            </a:r>
            <a:r>
              <a:rPr lang="es-CR" i="1" dirty="0"/>
              <a:t>r </a:t>
            </a:r>
            <a:r>
              <a:rPr lang="es-CR" dirty="0"/>
              <a:t>grados </a:t>
            </a:r>
            <a:r>
              <a:rPr lang="es-CR" dirty="0" smtClean="0"/>
              <a:t>de </a:t>
            </a:r>
            <a:r>
              <a:rPr lang="es-CR" dirty="0"/>
              <a:t>libertad. La </a:t>
            </a:r>
            <a:r>
              <a:rPr lang="es-CR" dirty="0" smtClean="0"/>
              <a:t>regla </a:t>
            </a:r>
            <a:r>
              <a:rPr lang="es-CR" dirty="0"/>
              <a:t>de </a:t>
            </a:r>
            <a:r>
              <a:rPr lang="es-CR" dirty="0" smtClean="0"/>
              <a:t>decisión, </a:t>
            </a:r>
            <a:r>
              <a:rPr lang="es-CR" dirty="0"/>
              <a:t>entonces, es: rechazar </a:t>
            </a:r>
            <a:r>
              <a:rPr lang="es-CR" i="1" dirty="0"/>
              <a:t>Ho </a:t>
            </a:r>
            <a:r>
              <a:rPr lang="es-CR" dirty="0"/>
              <a:t>si </a:t>
            </a:r>
            <a:r>
              <a:rPr lang="es-CR" i="1" dirty="0"/>
              <a:t>X</a:t>
            </a:r>
            <a:r>
              <a:rPr lang="es-CR" i="1" baseline="30000" dirty="0"/>
              <a:t>2</a:t>
            </a:r>
            <a:r>
              <a:rPr lang="es-CR" dirty="0" smtClean="0"/>
              <a:t> </a:t>
            </a:r>
            <a:r>
              <a:rPr lang="es-CR" dirty="0"/>
              <a:t>es mayor </a:t>
            </a:r>
            <a:r>
              <a:rPr lang="es-CR" dirty="0" smtClean="0"/>
              <a:t>o </a:t>
            </a:r>
            <a:r>
              <a:rPr lang="es-CR" dirty="0"/>
              <a:t>igual que </a:t>
            </a:r>
            <a:r>
              <a:rPr lang="es-CR" dirty="0" smtClean="0"/>
              <a:t>el valor </a:t>
            </a:r>
            <a:r>
              <a:rPr lang="es-CR" dirty="0"/>
              <a:t>tabulado </a:t>
            </a:r>
            <a:r>
              <a:rPr lang="es-CR" dirty="0" smtClean="0"/>
              <a:t>de </a:t>
            </a:r>
            <a:r>
              <a:rPr lang="es-CR" i="1" dirty="0"/>
              <a:t>X</a:t>
            </a:r>
            <a:r>
              <a:rPr lang="es-CR" i="1" baseline="30000" dirty="0"/>
              <a:t>2</a:t>
            </a:r>
            <a:r>
              <a:rPr lang="es-CR" dirty="0" smtClean="0"/>
              <a:t> </a:t>
            </a:r>
            <a:r>
              <a:rPr lang="es-CR" dirty="0"/>
              <a:t>para el valor seleccionado de </a:t>
            </a:r>
            <a:r>
              <a:rPr lang="es-CR" dirty="0">
                <a:latin typeface="Times New Roman" panose="02020603050405020304" pitchFamily="18" charset="0"/>
                <a:cs typeface="Times New Roman" panose="02020603050405020304" pitchFamily="18" charset="0"/>
              </a:rPr>
              <a:t>α</a:t>
            </a:r>
            <a:r>
              <a:rPr lang="es-CR" dirty="0" smtClean="0"/>
              <a:t>.  Bajo la prueba de independencia es un tanto distinto.</a:t>
            </a:r>
            <a:r>
              <a:rPr lang="es-ES" dirty="0" smtClean="0"/>
              <a:t> </a:t>
            </a:r>
            <a:endParaRPr lang="es-ES" dirty="0"/>
          </a:p>
        </p:txBody>
      </p:sp>
      <p:sp>
        <p:nvSpPr>
          <p:cNvPr id="4" name="Título 1"/>
          <p:cNvSpPr>
            <a:spLocks noGrp="1"/>
          </p:cNvSpPr>
          <p:nvPr>
            <p:ph type="title"/>
          </p:nvPr>
        </p:nvSpPr>
        <p:spPr>
          <a:xfrm>
            <a:off x="846909" y="95161"/>
            <a:ext cx="10515600" cy="827948"/>
          </a:xfrm>
        </p:spPr>
        <p:txBody>
          <a:bodyPr/>
          <a:lstStyle/>
          <a:p>
            <a:pPr algn="ctr"/>
            <a:r>
              <a:rPr lang="es-CR" dirty="0" smtClean="0"/>
              <a:t>Propiedades de la Chi-Cuadrado</a:t>
            </a:r>
            <a:endParaRPr lang="es-ES" dirty="0"/>
          </a:p>
        </p:txBody>
      </p:sp>
      <p:pic>
        <p:nvPicPr>
          <p:cNvPr id="6" name="Imagen 5"/>
          <p:cNvPicPr>
            <a:picLocks noChangeAspect="1"/>
          </p:cNvPicPr>
          <p:nvPr/>
        </p:nvPicPr>
        <p:blipFill rotWithShape="1">
          <a:blip r:embed="rId2"/>
          <a:srcRect l="25118"/>
          <a:stretch/>
        </p:blipFill>
        <p:spPr>
          <a:xfrm>
            <a:off x="5924600" y="1034996"/>
            <a:ext cx="2122100" cy="1231594"/>
          </a:xfrm>
          <a:prstGeom prst="rect">
            <a:avLst/>
          </a:prstGeom>
        </p:spPr>
      </p:pic>
      <p:pic>
        <p:nvPicPr>
          <p:cNvPr id="7170" name="Picture 2" descr="Image result for expect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67327" y="3990108"/>
            <a:ext cx="2191797" cy="2424547"/>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Image result for expected"/>
          <p:cNvPicPr>
            <a:picLocks noChangeAspect="1" noChangeArrowheads="1"/>
          </p:cNvPicPr>
          <p:nvPr/>
        </p:nvPicPr>
        <p:blipFill rotWithShape="1">
          <a:blip r:embed="rId4">
            <a:extLst>
              <a:ext uri="{28A0092B-C50C-407E-A947-70E740481C1C}">
                <a14:useLocalDpi xmlns:a14="http://schemas.microsoft.com/office/drawing/2010/main" val="0"/>
              </a:ext>
            </a:extLst>
          </a:blip>
          <a:srcRect t="26667" b="23879"/>
          <a:stretch/>
        </p:blipFill>
        <p:spPr bwMode="auto">
          <a:xfrm>
            <a:off x="9878227" y="1187395"/>
            <a:ext cx="1969996" cy="1490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55228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0155" y="112578"/>
            <a:ext cx="10515600" cy="819239"/>
          </a:xfrm>
        </p:spPr>
        <p:txBody>
          <a:bodyPr/>
          <a:lstStyle/>
          <a:p>
            <a:pPr algn="ctr"/>
            <a:r>
              <a:rPr lang="es-CR" dirty="0" smtClean="0"/>
              <a:t>Chi- cuadrada</a:t>
            </a:r>
            <a:endParaRPr lang="es-ES" dirty="0"/>
          </a:p>
        </p:txBody>
      </p:sp>
      <p:pic>
        <p:nvPicPr>
          <p:cNvPr id="1026" name="Picture 2" descr="Resultado de imagen para CHi squa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1489" y="1306919"/>
            <a:ext cx="9492932" cy="5156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167259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690155" y="112578"/>
            <a:ext cx="10515600" cy="819239"/>
          </a:xfrm>
        </p:spPr>
        <p:txBody>
          <a:bodyPr/>
          <a:lstStyle/>
          <a:p>
            <a:pPr algn="ctr"/>
            <a:r>
              <a:rPr lang="es-CR" dirty="0" smtClean="0"/>
              <a:t>Chi- cuadrada</a:t>
            </a:r>
            <a:endParaRPr lang="es-ES" dirty="0"/>
          </a:p>
        </p:txBody>
      </p:sp>
      <p:pic>
        <p:nvPicPr>
          <p:cNvPr id="2050" name="Picture 2" descr="Resultado de imagen para CHi squa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241" y="1454331"/>
            <a:ext cx="10038805" cy="4988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370500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endParaRPr lang="es-ES"/>
          </a:p>
        </p:txBody>
      </p:sp>
      <p:pic>
        <p:nvPicPr>
          <p:cNvPr id="4" name="Picture 2" descr="https://faculty.elgin.edu/dkernler/statistics/ch09/images/chi-square-table.gif"/>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p:spPr>
      </p:pic>
    </p:spTree>
    <p:extLst>
      <p:ext uri="{BB962C8B-B14F-4D97-AF65-F5344CB8AC3E}">
        <p14:creationId xmlns:p14="http://schemas.microsoft.com/office/powerpoint/2010/main" val="177739626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156120"/>
            <a:ext cx="10515600" cy="810532"/>
          </a:xfrm>
        </p:spPr>
        <p:txBody>
          <a:bodyPr/>
          <a:lstStyle/>
          <a:p>
            <a:pPr algn="ctr"/>
            <a:r>
              <a:rPr lang="es-CR" dirty="0" smtClean="0"/>
              <a:t>Índice</a:t>
            </a:r>
            <a:endParaRPr lang="es-ES" dirty="0"/>
          </a:p>
        </p:txBody>
      </p:sp>
      <p:sp>
        <p:nvSpPr>
          <p:cNvPr id="4" name="Elipse 3"/>
          <p:cNvSpPr/>
          <p:nvPr/>
        </p:nvSpPr>
        <p:spPr>
          <a:xfrm>
            <a:off x="838200"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838199" y="3383281"/>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endParaRPr lang="es-ES" dirty="0"/>
          </a:p>
        </p:txBody>
      </p:sp>
      <p:sp>
        <p:nvSpPr>
          <p:cNvPr id="7" name="Rectángulo redondeado 6"/>
          <p:cNvSpPr/>
          <p:nvPr/>
        </p:nvSpPr>
        <p:spPr>
          <a:xfrm>
            <a:off x="3021874"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La Chi Cuadrada</a:t>
            </a:r>
            <a:endParaRPr lang="es-ES" dirty="0"/>
          </a:p>
        </p:txBody>
      </p:sp>
      <p:sp>
        <p:nvSpPr>
          <p:cNvPr id="8" name="Rectángulo redondeado 7"/>
          <p:cNvSpPr/>
          <p:nvPr/>
        </p:nvSpPr>
        <p:spPr>
          <a:xfrm>
            <a:off x="3021874" y="3419203"/>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independencia</a:t>
            </a:r>
            <a:endParaRPr lang="es-ES" dirty="0"/>
          </a:p>
        </p:txBody>
      </p:sp>
    </p:spTree>
    <p:extLst>
      <p:ext uri="{BB962C8B-B14F-4D97-AF65-F5344CB8AC3E}">
        <p14:creationId xmlns:p14="http://schemas.microsoft.com/office/powerpoint/2010/main" val="285811329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sp>
        <p:nvSpPr>
          <p:cNvPr id="3" name="Marcador de contenido 2"/>
          <p:cNvSpPr>
            <a:spLocks noGrp="1"/>
          </p:cNvSpPr>
          <p:nvPr>
            <p:ph idx="1"/>
          </p:nvPr>
        </p:nvSpPr>
        <p:spPr>
          <a:xfrm>
            <a:off x="195312" y="1231554"/>
            <a:ext cx="9447451" cy="5450600"/>
          </a:xfrm>
        </p:spPr>
        <p:txBody>
          <a:bodyPr>
            <a:normAutofit lnSpcReduction="10000"/>
          </a:bodyPr>
          <a:lstStyle/>
          <a:p>
            <a:pPr algn="just"/>
            <a:r>
              <a:rPr lang="es-CR" dirty="0"/>
              <a:t>Otro uso, </a:t>
            </a:r>
            <a:r>
              <a:rPr lang="es-CR" dirty="0" smtClean="0"/>
              <a:t>quizá </a:t>
            </a:r>
            <a:r>
              <a:rPr lang="es-CR" dirty="0"/>
              <a:t>el mas frecuente, de la </a:t>
            </a:r>
            <a:r>
              <a:rPr lang="es-CR" dirty="0" smtClean="0"/>
              <a:t>distribución </a:t>
            </a:r>
            <a:r>
              <a:rPr lang="es-CR" dirty="0"/>
              <a:t>ji-cuadrada es el de probar </a:t>
            </a:r>
            <a:r>
              <a:rPr lang="es-CR" dirty="0" smtClean="0"/>
              <a:t>la </a:t>
            </a:r>
            <a:r>
              <a:rPr lang="es-ES" dirty="0" smtClean="0"/>
              <a:t>hipótesis nula </a:t>
            </a:r>
            <a:r>
              <a:rPr lang="es-ES" dirty="0"/>
              <a:t>que indica que dos criterios de </a:t>
            </a:r>
            <a:r>
              <a:rPr lang="es-ES" dirty="0" smtClean="0"/>
              <a:t>clasificación </a:t>
            </a:r>
            <a:r>
              <a:rPr lang="es-ES" dirty="0"/>
              <a:t>son independientes </a:t>
            </a:r>
            <a:r>
              <a:rPr lang="es-ES" dirty="0" smtClean="0"/>
              <a:t>cuando </a:t>
            </a:r>
            <a:r>
              <a:rPr lang="es-CR" dirty="0" smtClean="0"/>
              <a:t>se </a:t>
            </a:r>
            <a:r>
              <a:rPr lang="es-CR" dirty="0"/>
              <a:t>aplican al mismo </a:t>
            </a:r>
            <a:r>
              <a:rPr lang="es-CR" dirty="0" smtClean="0"/>
              <a:t>conjunto </a:t>
            </a:r>
            <a:r>
              <a:rPr lang="es-CR" dirty="0"/>
              <a:t>de entidades</a:t>
            </a:r>
            <a:r>
              <a:rPr lang="es-CR" dirty="0" smtClean="0"/>
              <a:t>.</a:t>
            </a:r>
          </a:p>
          <a:p>
            <a:pPr marL="0" indent="0" algn="just">
              <a:buNone/>
            </a:pPr>
            <a:endParaRPr lang="es-CR" dirty="0"/>
          </a:p>
          <a:p>
            <a:pPr algn="just"/>
            <a:r>
              <a:rPr lang="es-CR" dirty="0" smtClean="0"/>
              <a:t>Se </a:t>
            </a:r>
            <a:r>
              <a:rPr lang="es-CR" dirty="0"/>
              <a:t>dice que dos criterios de </a:t>
            </a:r>
            <a:r>
              <a:rPr lang="es-CR" dirty="0" smtClean="0"/>
              <a:t>clasificación son </a:t>
            </a:r>
            <a:r>
              <a:rPr lang="es-CR" dirty="0"/>
              <a:t>independientes si la </a:t>
            </a:r>
            <a:r>
              <a:rPr lang="es-CR" dirty="0" smtClean="0"/>
              <a:t>distribución </a:t>
            </a:r>
            <a:r>
              <a:rPr lang="es-CR" dirty="0"/>
              <a:t>de un criterio es la misma, sin </a:t>
            </a:r>
            <a:r>
              <a:rPr lang="es-CR" dirty="0" smtClean="0"/>
              <a:t>importar cómo </a:t>
            </a:r>
            <a:r>
              <a:rPr lang="es-CR" dirty="0"/>
              <a:t>sea la </a:t>
            </a:r>
            <a:r>
              <a:rPr lang="es-CR" dirty="0" smtClean="0"/>
              <a:t>distribución </a:t>
            </a:r>
            <a:r>
              <a:rPr lang="es-CR" dirty="0"/>
              <a:t>del otro. </a:t>
            </a:r>
            <a:endParaRPr lang="es-CR" dirty="0" smtClean="0"/>
          </a:p>
          <a:p>
            <a:pPr algn="just"/>
            <a:endParaRPr lang="es-CR" dirty="0" smtClean="0"/>
          </a:p>
          <a:p>
            <a:pPr algn="just"/>
            <a:r>
              <a:rPr lang="es-CR" dirty="0" smtClean="0"/>
              <a:t>Por ejemplo, </a:t>
            </a:r>
            <a:r>
              <a:rPr lang="es-CR" dirty="0"/>
              <a:t>si el estado </a:t>
            </a:r>
            <a:r>
              <a:rPr lang="es-CR" dirty="0" smtClean="0"/>
              <a:t>socioeconómico </a:t>
            </a:r>
            <a:r>
              <a:rPr lang="es-CR" dirty="0"/>
              <a:t>y el </a:t>
            </a:r>
            <a:r>
              <a:rPr lang="es-CR" dirty="0" smtClean="0"/>
              <a:t>área</a:t>
            </a:r>
            <a:r>
              <a:rPr lang="es-CR" dirty="0"/>
              <a:t> </a:t>
            </a:r>
            <a:r>
              <a:rPr lang="es-CR" dirty="0" smtClean="0"/>
              <a:t>de </a:t>
            </a:r>
            <a:r>
              <a:rPr lang="es-CR" dirty="0"/>
              <a:t>residencia de los </a:t>
            </a:r>
            <a:r>
              <a:rPr lang="es-CR" dirty="0" smtClean="0"/>
              <a:t>habitantes de </a:t>
            </a:r>
            <a:r>
              <a:rPr lang="es-CR" dirty="0"/>
              <a:t>cierta ciudad son independientes, se </a:t>
            </a:r>
            <a:r>
              <a:rPr lang="es-CR" dirty="0" smtClean="0"/>
              <a:t>esperaría encontrar </a:t>
            </a:r>
            <a:r>
              <a:rPr lang="es-CR" dirty="0" err="1"/>
              <a:t>Ia</a:t>
            </a:r>
            <a:r>
              <a:rPr lang="es-CR" dirty="0"/>
              <a:t> misma </a:t>
            </a:r>
            <a:r>
              <a:rPr lang="es-CR" dirty="0" smtClean="0"/>
              <a:t>proporción </a:t>
            </a:r>
            <a:r>
              <a:rPr lang="es-CR" dirty="0"/>
              <a:t>de familias en los grupos </a:t>
            </a:r>
            <a:r>
              <a:rPr lang="es-CR" dirty="0" smtClean="0"/>
              <a:t>socioeconómicos bajo, medio </a:t>
            </a:r>
            <a:r>
              <a:rPr lang="es-CR" dirty="0"/>
              <a:t>y alto en todas las </a:t>
            </a:r>
            <a:r>
              <a:rPr lang="es-CR" dirty="0" smtClean="0"/>
              <a:t>áreas </a:t>
            </a:r>
            <a:r>
              <a:rPr lang="es-CR" dirty="0"/>
              <a:t>de </a:t>
            </a:r>
            <a:r>
              <a:rPr lang="es-CR" dirty="0" err="1"/>
              <a:t>Ia</a:t>
            </a:r>
            <a:r>
              <a:rPr lang="es-CR" dirty="0"/>
              <a:t> ciudad.</a:t>
            </a:r>
            <a:endParaRPr lang="es-ES" dirty="0"/>
          </a:p>
        </p:txBody>
      </p:sp>
      <p:sp>
        <p:nvSpPr>
          <p:cNvPr id="4" name="AutoShape 2" descr="Image result for tes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5" name="AutoShape 4" descr="Image result for tes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6" name="AutoShape 6" descr="Image result for tes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8200" name="Picture 8"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64392" y="1175473"/>
            <a:ext cx="1663988" cy="1663988"/>
          </a:xfrm>
          <a:prstGeom prst="rect">
            <a:avLst/>
          </a:prstGeom>
          <a:noFill/>
          <a:extLst>
            <a:ext uri="{909E8E84-426E-40DD-AFC4-6F175D3DCCD1}">
              <a14:hiddenFill xmlns:a14="http://schemas.microsoft.com/office/drawing/2010/main">
                <a:solidFill>
                  <a:srgbClr val="FFFFFF"/>
                </a:solidFill>
              </a14:hiddenFill>
            </a:ext>
          </a:extLst>
        </p:spPr>
      </p:pic>
      <p:pic>
        <p:nvPicPr>
          <p:cNvPr id="8202" name="Picture 10" descr="Image result for tes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1726" y="4315258"/>
            <a:ext cx="2289319" cy="2012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525420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77731" y="1043505"/>
            <a:ext cx="11695613" cy="4351338"/>
          </a:xfrm>
        </p:spPr>
        <p:txBody>
          <a:bodyPr>
            <a:normAutofit/>
          </a:bodyPr>
          <a:lstStyle/>
          <a:p>
            <a:pPr algn="just"/>
            <a:r>
              <a:rPr lang="es-ES" sz="2400" b="1" i="1" dirty="0"/>
              <a:t>Tabla de </a:t>
            </a:r>
            <a:r>
              <a:rPr lang="es-ES" sz="2400" b="1" i="1" dirty="0" smtClean="0"/>
              <a:t>contingencia</a:t>
            </a:r>
            <a:r>
              <a:rPr lang="es-ES" sz="2400" i="1" dirty="0" smtClean="0"/>
              <a:t>: </a:t>
            </a:r>
            <a:r>
              <a:rPr lang="es-CR" sz="2400" dirty="0"/>
              <a:t>La </a:t>
            </a:r>
            <a:r>
              <a:rPr lang="es-CR" sz="2400" dirty="0" smtClean="0"/>
              <a:t>clasificación </a:t>
            </a:r>
            <a:r>
              <a:rPr lang="es-CR" sz="2400" dirty="0"/>
              <a:t>de un conjunto de entidades, </a:t>
            </a:r>
            <a:r>
              <a:rPr lang="es-CR" sz="2400" dirty="0" smtClean="0"/>
              <a:t>de acuerdo </a:t>
            </a:r>
            <a:r>
              <a:rPr lang="es-CR" sz="2400" dirty="0"/>
              <a:t>con dos criterios, por ejemplo personas, se representa mediante una </a:t>
            </a:r>
            <a:r>
              <a:rPr lang="es-CR" sz="2400" dirty="0" smtClean="0"/>
              <a:t>tabla en </a:t>
            </a:r>
            <a:r>
              <a:rPr lang="es-CR" sz="2400" dirty="0"/>
              <a:t>la que los </a:t>
            </a:r>
            <a:r>
              <a:rPr lang="es-CR" sz="2400" b="1" i="1" dirty="0"/>
              <a:t>r</a:t>
            </a:r>
            <a:r>
              <a:rPr lang="es-CR" sz="2400" i="1" dirty="0"/>
              <a:t> </a:t>
            </a:r>
            <a:r>
              <a:rPr lang="es-CR" sz="2400" dirty="0" smtClean="0"/>
              <a:t>reglones representan </a:t>
            </a:r>
            <a:r>
              <a:rPr lang="es-CR" sz="2400" dirty="0"/>
              <a:t>los diversos niveles de uno de los </a:t>
            </a:r>
            <a:r>
              <a:rPr lang="es-CR" sz="2400" dirty="0" smtClean="0"/>
              <a:t>criterio </a:t>
            </a:r>
            <a:r>
              <a:rPr lang="es-CR" sz="2400" dirty="0"/>
              <a:t>de </a:t>
            </a:r>
            <a:r>
              <a:rPr lang="es-CR" sz="2400" dirty="0" smtClean="0"/>
              <a:t>clasificación</a:t>
            </a:r>
            <a:r>
              <a:rPr lang="es-CR" sz="2400" dirty="0"/>
              <a:t>, y las </a:t>
            </a:r>
            <a:r>
              <a:rPr lang="es-CR" sz="2400" b="1" i="1" dirty="0"/>
              <a:t>c</a:t>
            </a:r>
            <a:r>
              <a:rPr lang="es-CR" sz="2400" i="1" dirty="0"/>
              <a:t> </a:t>
            </a:r>
            <a:r>
              <a:rPr lang="es-CR" sz="2400" dirty="0"/>
              <a:t>columnas representan los diversos niveles del </a:t>
            </a:r>
            <a:r>
              <a:rPr lang="es-CR" sz="2400" dirty="0" smtClean="0"/>
              <a:t>segundo criterio</a:t>
            </a:r>
            <a:r>
              <a:rPr lang="es-CR" sz="2400" dirty="0"/>
              <a:t>. Dicha tabla se conoce generalmente como </a:t>
            </a:r>
            <a:r>
              <a:rPr lang="es-CR" sz="2400" i="1" dirty="0"/>
              <a:t>tabla de contingencia.</a:t>
            </a:r>
            <a:endParaRPr lang="es-ES" sz="2400" dirty="0"/>
          </a:p>
        </p:txBody>
      </p:sp>
      <p:sp>
        <p:nvSpPr>
          <p:cNvPr id="4"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pic>
        <p:nvPicPr>
          <p:cNvPr id="5" name="Imagen 4"/>
          <p:cNvPicPr>
            <a:picLocks noChangeAspect="1"/>
          </p:cNvPicPr>
          <p:nvPr/>
        </p:nvPicPr>
        <p:blipFill>
          <a:blip r:embed="rId2"/>
          <a:stretch>
            <a:fillRect/>
          </a:stretch>
        </p:blipFill>
        <p:spPr>
          <a:xfrm>
            <a:off x="2340197" y="3219172"/>
            <a:ext cx="7732057" cy="3298983"/>
          </a:xfrm>
          <a:prstGeom prst="rect">
            <a:avLst/>
          </a:prstGeom>
        </p:spPr>
      </p:pic>
    </p:spTree>
    <p:extLst>
      <p:ext uri="{BB962C8B-B14F-4D97-AF65-F5344CB8AC3E}">
        <p14:creationId xmlns:p14="http://schemas.microsoft.com/office/powerpoint/2010/main" val="7917384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80109" y="1211476"/>
            <a:ext cx="11707091" cy="4351338"/>
          </a:xfrm>
        </p:spPr>
        <p:txBody>
          <a:bodyPr>
            <a:normAutofit/>
          </a:bodyPr>
          <a:lstStyle/>
          <a:p>
            <a:pPr algn="just"/>
            <a:r>
              <a:rPr lang="es-CR" sz="2400" dirty="0"/>
              <a:t>Se tiene </a:t>
            </a:r>
            <a:r>
              <a:rPr lang="es-CR" sz="2400" dirty="0" smtClean="0"/>
              <a:t>interés </a:t>
            </a:r>
            <a:r>
              <a:rPr lang="es-CR" sz="2400" dirty="0"/>
              <a:t>en probar la </a:t>
            </a:r>
            <a:r>
              <a:rPr lang="es-CR" sz="2400" dirty="0" smtClean="0"/>
              <a:t>hipótesis </a:t>
            </a:r>
            <a:r>
              <a:rPr lang="es-CR" sz="2400" dirty="0"/>
              <a:t>nula </a:t>
            </a:r>
            <a:r>
              <a:rPr lang="es-CR" sz="2400" dirty="0" smtClean="0"/>
              <a:t>según </a:t>
            </a:r>
            <a:r>
              <a:rPr lang="es-CR" sz="2400" dirty="0"/>
              <a:t>la cual, en la </a:t>
            </a:r>
            <a:r>
              <a:rPr lang="es-CR" sz="2400" dirty="0" smtClean="0"/>
              <a:t>población, los dos </a:t>
            </a:r>
            <a:r>
              <a:rPr lang="es-CR" sz="2400" dirty="0"/>
              <a:t>criterios de </a:t>
            </a:r>
            <a:r>
              <a:rPr lang="es-CR" sz="2400" dirty="0" smtClean="0"/>
              <a:t>dosificación </a:t>
            </a:r>
            <a:r>
              <a:rPr lang="es-CR" sz="2400" dirty="0"/>
              <a:t>son independientes. Si la </a:t>
            </a:r>
            <a:r>
              <a:rPr lang="es-CR" sz="2400" dirty="0" smtClean="0"/>
              <a:t>hipótesis </a:t>
            </a:r>
            <a:r>
              <a:rPr lang="es-CR" sz="2400" dirty="0"/>
              <a:t>es rechazada, </a:t>
            </a:r>
            <a:r>
              <a:rPr lang="es-CR" sz="2400" dirty="0" smtClean="0"/>
              <a:t>se podrá conducir </a:t>
            </a:r>
            <a:r>
              <a:rPr lang="es-CR" sz="2400" dirty="0"/>
              <a:t>que los dos criterios de </a:t>
            </a:r>
            <a:r>
              <a:rPr lang="es-CR" sz="2400" dirty="0" smtClean="0"/>
              <a:t>clasificación </a:t>
            </a:r>
            <a:r>
              <a:rPr lang="es-CR" sz="2400" dirty="0"/>
              <a:t>no son independientes. Se </a:t>
            </a:r>
            <a:r>
              <a:rPr lang="es-CR" sz="2400" dirty="0" smtClean="0"/>
              <a:t>extrae una </a:t>
            </a:r>
            <a:r>
              <a:rPr lang="es-CR" sz="2400" dirty="0"/>
              <a:t>muestra de </a:t>
            </a:r>
            <a:r>
              <a:rPr lang="es-CR" sz="2400" dirty="0" smtClean="0"/>
              <a:t>tamaño </a:t>
            </a:r>
            <a:r>
              <a:rPr lang="es-CR" sz="2400" i="1" dirty="0"/>
              <a:t>n </a:t>
            </a:r>
            <a:r>
              <a:rPr lang="es-CR" sz="2400" dirty="0"/>
              <a:t>de la </a:t>
            </a:r>
            <a:r>
              <a:rPr lang="es-CR" sz="2400" dirty="0" smtClean="0"/>
              <a:t>población </a:t>
            </a:r>
            <a:r>
              <a:rPr lang="es-CR" sz="2400" dirty="0"/>
              <a:t>de entidades, y la frecuencia </a:t>
            </a:r>
            <a:r>
              <a:rPr lang="es-CR" sz="2400" dirty="0" smtClean="0"/>
              <a:t>de ocurrencia </a:t>
            </a:r>
            <a:r>
              <a:rPr lang="es-CR" sz="2400" dirty="0"/>
              <a:t>de las entidades en la muestra</a:t>
            </a:r>
            <a:r>
              <a:rPr lang="es-CR" sz="2400" dirty="0" smtClean="0"/>
              <a:t>, </a:t>
            </a:r>
            <a:r>
              <a:rPr lang="es-ES" sz="2400" dirty="0"/>
              <a:t>que corresponden a las casillas </a:t>
            </a:r>
            <a:r>
              <a:rPr lang="es-ES" sz="2400" dirty="0" smtClean="0"/>
              <a:t>formadas </a:t>
            </a:r>
            <a:r>
              <a:rPr lang="es-CR" sz="2400" dirty="0" smtClean="0"/>
              <a:t>por </a:t>
            </a:r>
            <a:r>
              <a:rPr lang="es-CR" sz="2400" dirty="0"/>
              <a:t>la </a:t>
            </a:r>
            <a:r>
              <a:rPr lang="es-CR" sz="2400" dirty="0" smtClean="0"/>
              <a:t>intersección </a:t>
            </a:r>
            <a:r>
              <a:rPr lang="es-CR" sz="2400" dirty="0"/>
              <a:t>de los renglones y columnas de la </a:t>
            </a:r>
            <a:r>
              <a:rPr lang="es-CR" sz="2400" dirty="0" smtClean="0"/>
              <a:t>tabla anterior. </a:t>
            </a:r>
            <a:endParaRPr lang="es-ES" sz="2400" dirty="0"/>
          </a:p>
        </p:txBody>
      </p:sp>
      <p:sp>
        <p:nvSpPr>
          <p:cNvPr id="4"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pic>
        <p:nvPicPr>
          <p:cNvPr id="5" name="Imagen 4"/>
          <p:cNvPicPr>
            <a:picLocks noChangeAspect="1"/>
          </p:cNvPicPr>
          <p:nvPr/>
        </p:nvPicPr>
        <p:blipFill>
          <a:blip r:embed="rId2"/>
          <a:stretch>
            <a:fillRect/>
          </a:stretch>
        </p:blipFill>
        <p:spPr>
          <a:xfrm>
            <a:off x="2995915" y="3510184"/>
            <a:ext cx="6435904" cy="3087447"/>
          </a:xfrm>
          <a:prstGeom prst="rect">
            <a:avLst/>
          </a:prstGeom>
        </p:spPr>
      </p:pic>
    </p:spTree>
    <p:extLst>
      <p:ext uri="{BB962C8B-B14F-4D97-AF65-F5344CB8AC3E}">
        <p14:creationId xmlns:p14="http://schemas.microsoft.com/office/powerpoint/2010/main" val="40242143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80109" y="1825625"/>
            <a:ext cx="11831782" cy="3813175"/>
          </a:xfrm>
        </p:spPr>
        <p:txBody>
          <a:bodyPr>
            <a:normAutofit/>
          </a:bodyPr>
          <a:lstStyle/>
          <a:p>
            <a:pPr marL="0" indent="0" algn="ctr">
              <a:buNone/>
            </a:pPr>
            <a:r>
              <a:rPr lang="es-CR" sz="8800" b="1" dirty="0" smtClean="0"/>
              <a:t>¡Lo importante es trabajar con los marginales!</a:t>
            </a:r>
            <a:endParaRPr lang="es-CR" sz="8800" b="1" dirty="0"/>
          </a:p>
        </p:txBody>
      </p:sp>
      <p:sp>
        <p:nvSpPr>
          <p:cNvPr id="4"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spTree>
    <p:extLst>
      <p:ext uri="{BB962C8B-B14F-4D97-AF65-F5344CB8AC3E}">
        <p14:creationId xmlns:p14="http://schemas.microsoft.com/office/powerpoint/2010/main" val="25485937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21983" y="961266"/>
            <a:ext cx="11194162" cy="4902721"/>
          </a:xfrm>
        </p:spPr>
        <p:txBody>
          <a:bodyPr>
            <a:normAutofit/>
          </a:bodyPr>
          <a:lstStyle/>
          <a:p>
            <a:pPr algn="just"/>
            <a:r>
              <a:rPr lang="es-CR" sz="2400" b="1" i="1" dirty="0" smtClean="0"/>
              <a:t>Cálculo </a:t>
            </a:r>
            <a:r>
              <a:rPr lang="es-CR" sz="2400" b="1" i="1" dirty="0"/>
              <a:t>de las frecuencias </a:t>
            </a:r>
            <a:r>
              <a:rPr lang="es-CR" sz="2400" b="1" i="1" dirty="0" smtClean="0"/>
              <a:t>esperadas </a:t>
            </a:r>
            <a:r>
              <a:rPr lang="es-CR" sz="2400" dirty="0"/>
              <a:t>Para cada celda se calculan las </a:t>
            </a:r>
            <a:r>
              <a:rPr lang="es-CR" sz="2400" dirty="0" smtClean="0"/>
              <a:t>frecuencias esperadas</a:t>
            </a:r>
            <a:r>
              <a:rPr lang="es-CR" sz="2400" dirty="0"/>
              <a:t>, bajo la </a:t>
            </a:r>
            <a:r>
              <a:rPr lang="es-CR" sz="2400" dirty="0" smtClean="0"/>
              <a:t>hipótesis </a:t>
            </a:r>
            <a:r>
              <a:rPr lang="es-CR" sz="2400" dirty="0"/>
              <a:t>nula de que los dos criterios </a:t>
            </a:r>
            <a:r>
              <a:rPr lang="es-CR" sz="2400" dirty="0" smtClean="0"/>
              <a:t>de clasificación </a:t>
            </a:r>
            <a:r>
              <a:rPr lang="es-ES" sz="2400" dirty="0" smtClean="0"/>
              <a:t>son independientes.</a:t>
            </a:r>
          </a:p>
          <a:p>
            <a:pPr algn="just"/>
            <a:endParaRPr lang="es-CR" sz="2400" dirty="0"/>
          </a:p>
          <a:p>
            <a:pPr algn="just"/>
            <a:r>
              <a:rPr lang="es-CR" sz="2400" dirty="0"/>
              <a:t>Bajo la </a:t>
            </a:r>
            <a:r>
              <a:rPr lang="es-CR" sz="2400" dirty="0" smtClean="0"/>
              <a:t>suposición </a:t>
            </a:r>
            <a:r>
              <a:rPr lang="es-CR" sz="2400" dirty="0"/>
              <a:t>de independencia, </a:t>
            </a:r>
            <a:r>
              <a:rPr lang="es-CR" sz="2400" dirty="0" smtClean="0"/>
              <a:t>por ejemplo</a:t>
            </a:r>
            <a:r>
              <a:rPr lang="es-CR" sz="2400" dirty="0"/>
              <a:t>, se </a:t>
            </a:r>
            <a:r>
              <a:rPr lang="es-CR" sz="2400" dirty="0" smtClean="0"/>
              <a:t>calcula </a:t>
            </a:r>
            <a:r>
              <a:rPr lang="es-CR" sz="2400" dirty="0"/>
              <a:t>la probabilidad de que uno de los </a:t>
            </a:r>
            <a:r>
              <a:rPr lang="es-CR" sz="2400" i="1" dirty="0"/>
              <a:t>n </a:t>
            </a:r>
            <a:r>
              <a:rPr lang="es-CR" sz="2400" dirty="0"/>
              <a:t>individuos </a:t>
            </a:r>
            <a:r>
              <a:rPr lang="es-CR" sz="2400" dirty="0" smtClean="0"/>
              <a:t>representados en el reglón 1 </a:t>
            </a:r>
            <a:r>
              <a:rPr lang="es-CR" sz="2400" dirty="0"/>
              <a:t>y columna 1 de </a:t>
            </a:r>
            <a:r>
              <a:rPr lang="es-CR" sz="2400" dirty="0" err="1"/>
              <a:t>Ia</a:t>
            </a:r>
            <a:r>
              <a:rPr lang="es-CR" sz="2400" dirty="0"/>
              <a:t> tabla (es </a:t>
            </a:r>
            <a:r>
              <a:rPr lang="es-CR" sz="2400" dirty="0" smtClean="0"/>
              <a:t>decir, casilla </a:t>
            </a:r>
            <a:r>
              <a:rPr lang="es-CR" sz="2400" b="1" dirty="0"/>
              <a:t>11) </a:t>
            </a:r>
            <a:r>
              <a:rPr lang="es-CR" sz="2400" dirty="0"/>
              <a:t>mediante la </a:t>
            </a:r>
            <a:r>
              <a:rPr lang="es-CR" sz="2400" dirty="0" smtClean="0"/>
              <a:t>multiplicación </a:t>
            </a:r>
            <a:r>
              <a:rPr lang="es-CR" sz="2400" dirty="0"/>
              <a:t>de la probabilidad de que el individuo </a:t>
            </a:r>
            <a:r>
              <a:rPr lang="es-CR" sz="2400" dirty="0" smtClean="0"/>
              <a:t>sea contabilizado </a:t>
            </a:r>
            <a:r>
              <a:rPr lang="es-CR" sz="2400" dirty="0"/>
              <a:t>en el </a:t>
            </a:r>
            <a:r>
              <a:rPr lang="es-CR" sz="2400" dirty="0" smtClean="0"/>
              <a:t>renglón </a:t>
            </a:r>
            <a:r>
              <a:rPr lang="es-CR" sz="2400" dirty="0"/>
              <a:t>1 por la probabilidad de que el individuo sea </a:t>
            </a:r>
            <a:r>
              <a:rPr lang="es-CR" sz="2400" dirty="0" smtClean="0"/>
              <a:t>contabilizado </a:t>
            </a:r>
            <a:r>
              <a:rPr lang="es-ES" sz="2400" dirty="0" smtClean="0"/>
              <a:t>en </a:t>
            </a:r>
            <a:r>
              <a:rPr lang="es-ES" sz="2400" dirty="0" err="1"/>
              <a:t>Ia</a:t>
            </a:r>
            <a:r>
              <a:rPr lang="es-ES" sz="2400" dirty="0"/>
              <a:t> columna </a:t>
            </a:r>
            <a:r>
              <a:rPr lang="es-ES" sz="2400" dirty="0" smtClean="0"/>
              <a:t>1.</a:t>
            </a:r>
          </a:p>
          <a:p>
            <a:pPr algn="just"/>
            <a:endParaRPr lang="es-CR" sz="2400" dirty="0" smtClean="0"/>
          </a:p>
          <a:p>
            <a:pPr algn="just"/>
            <a:r>
              <a:rPr lang="es-CR" sz="2400" dirty="0" smtClean="0"/>
              <a:t>Esto es la obtención del número esperado por la marginal, y se denota como:</a:t>
            </a:r>
            <a:endParaRPr lang="es-ES" sz="2400" dirty="0"/>
          </a:p>
        </p:txBody>
      </p:sp>
      <p:sp>
        <p:nvSpPr>
          <p:cNvPr id="4" name="Título 1"/>
          <p:cNvSpPr>
            <a:spLocks noGrp="1"/>
          </p:cNvSpPr>
          <p:nvPr>
            <p:ph type="title"/>
          </p:nvPr>
        </p:nvSpPr>
        <p:spPr>
          <a:xfrm>
            <a:off x="879144" y="49362"/>
            <a:ext cx="10515600" cy="781287"/>
          </a:xfrm>
        </p:spPr>
        <p:txBody>
          <a:bodyPr/>
          <a:lstStyle/>
          <a:p>
            <a:pPr algn="ctr"/>
            <a:r>
              <a:rPr lang="es-CR" dirty="0" smtClean="0"/>
              <a:t>Prueba de independencia</a:t>
            </a:r>
            <a:endParaRPr lang="es-ES" dirty="0"/>
          </a:p>
        </p:txBody>
      </p:sp>
      <mc:AlternateContent xmlns:mc="http://schemas.openxmlformats.org/markup-compatibility/2006" xmlns:a14="http://schemas.microsoft.com/office/drawing/2010/main">
        <mc:Choice Requires="a14">
          <p:sp>
            <p:nvSpPr>
              <p:cNvPr id="2" name="1 CuadroTexto"/>
              <p:cNvSpPr txBox="1"/>
              <p:nvPr/>
            </p:nvSpPr>
            <p:spPr>
              <a:xfrm>
                <a:off x="5056909" y="5410225"/>
                <a:ext cx="2369127" cy="114749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s-CR" sz="3600" b="1" i="1" smtClean="0">
                              <a:latin typeface="Cambria Math"/>
                            </a:rPr>
                          </m:ctrlPr>
                        </m:fPr>
                        <m:num>
                          <m:r>
                            <a:rPr lang="es-CR" sz="3600" b="1" i="1" smtClean="0">
                              <a:latin typeface="Cambria Math"/>
                            </a:rPr>
                            <m:t>(</m:t>
                          </m:r>
                          <m:sSub>
                            <m:sSubPr>
                              <m:ctrlPr>
                                <a:rPr lang="es-CR" sz="3600" b="1" i="1" smtClean="0">
                                  <a:latin typeface="Cambria Math"/>
                                </a:rPr>
                              </m:ctrlPr>
                            </m:sSubPr>
                            <m:e>
                              <m:r>
                                <a:rPr lang="es-CR" sz="3600" b="1" i="1" smtClean="0">
                                  <a:latin typeface="Cambria Math"/>
                                </a:rPr>
                                <m:t>𝒏</m:t>
                              </m:r>
                            </m:e>
                            <m:sub>
                              <m:r>
                                <a:rPr lang="es-CR" sz="3600" b="1" i="1" smtClean="0">
                                  <a:latin typeface="Cambria Math"/>
                                </a:rPr>
                                <m:t>𝟏</m:t>
                              </m:r>
                              <m:r>
                                <a:rPr lang="es-CR" sz="3600" b="1" i="1" smtClean="0">
                                  <a:latin typeface="Cambria Math"/>
                                </a:rPr>
                                <m:t>.</m:t>
                              </m:r>
                            </m:sub>
                          </m:sSub>
                          <m:sSub>
                            <m:sSubPr>
                              <m:ctrlPr>
                                <a:rPr lang="es-CR" sz="3600" b="1" i="1" smtClean="0">
                                  <a:latin typeface="Cambria Math"/>
                                </a:rPr>
                              </m:ctrlPr>
                            </m:sSubPr>
                            <m:e>
                              <m:r>
                                <a:rPr lang="es-CR" sz="3600" b="1" i="1" smtClean="0">
                                  <a:latin typeface="Cambria Math"/>
                                </a:rPr>
                                <m:t>𝒏</m:t>
                              </m:r>
                            </m:e>
                            <m:sub>
                              <m:r>
                                <a:rPr lang="es-CR" sz="3600" b="1" i="1" smtClean="0">
                                  <a:latin typeface="Cambria Math"/>
                                </a:rPr>
                                <m:t>.</m:t>
                              </m:r>
                              <m:r>
                                <a:rPr lang="es-CR" sz="3600" b="1" i="1" smtClean="0">
                                  <a:latin typeface="Cambria Math"/>
                                </a:rPr>
                                <m:t>𝟏</m:t>
                              </m:r>
                            </m:sub>
                          </m:sSub>
                          <m:r>
                            <a:rPr lang="es-CR" sz="3600" b="1" i="1" smtClean="0">
                              <a:latin typeface="Cambria Math"/>
                            </a:rPr>
                            <m:t>)</m:t>
                          </m:r>
                        </m:num>
                        <m:den>
                          <m:r>
                            <a:rPr lang="es-CR" sz="3600" b="1" i="1" smtClean="0">
                              <a:latin typeface="Cambria Math"/>
                            </a:rPr>
                            <m:t>𝒏</m:t>
                          </m:r>
                        </m:den>
                      </m:f>
                    </m:oMath>
                  </m:oMathPara>
                </a14:m>
                <a:endParaRPr lang="es-CR" sz="3600" b="1" dirty="0"/>
              </a:p>
            </p:txBody>
          </p:sp>
        </mc:Choice>
        <mc:Fallback xmlns="">
          <p:sp>
            <p:nvSpPr>
              <p:cNvPr id="2" name="1 CuadroTexto"/>
              <p:cNvSpPr txBox="1">
                <a:spLocks noRot="1" noChangeAspect="1" noMove="1" noResize="1" noEditPoints="1" noAdjustHandles="1" noChangeArrowheads="1" noChangeShapeType="1" noTextEdit="1"/>
              </p:cNvSpPr>
              <p:nvPr/>
            </p:nvSpPr>
            <p:spPr>
              <a:xfrm>
                <a:off x="5056909" y="5410225"/>
                <a:ext cx="2369127" cy="1147494"/>
              </a:xfrm>
              <a:prstGeom prst="rect">
                <a:avLst/>
              </a:prstGeom>
              <a:blipFill rotWithShape="1">
                <a:blip r:embed="rId2"/>
                <a:stretch>
                  <a:fillRect/>
                </a:stretch>
              </a:blipFill>
            </p:spPr>
            <p:txBody>
              <a:bodyPr/>
              <a:lstStyle/>
              <a:p>
                <a:r>
                  <a:rPr lang="es-CR">
                    <a:noFill/>
                  </a:rPr>
                  <a:t> </a:t>
                </a:r>
              </a:p>
            </p:txBody>
          </p:sp>
        </mc:Fallback>
      </mc:AlternateContent>
    </p:spTree>
    <p:extLst>
      <p:ext uri="{BB962C8B-B14F-4D97-AF65-F5344CB8AC3E}">
        <p14:creationId xmlns:p14="http://schemas.microsoft.com/office/powerpoint/2010/main" val="28063985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05937" y="1252419"/>
            <a:ext cx="11308308" cy="5312154"/>
          </a:xfrm>
        </p:spPr>
        <p:txBody>
          <a:bodyPr>
            <a:normAutofit/>
          </a:bodyPr>
          <a:lstStyle/>
          <a:p>
            <a:pPr algn="just"/>
            <a:r>
              <a:rPr lang="es-CR" sz="2400" dirty="0" smtClean="0"/>
              <a:t>Se puede </a:t>
            </a:r>
            <a:r>
              <a:rPr lang="es-CR" sz="2400" dirty="0"/>
              <a:t>ver que para obtener la frecuencia esperada para </a:t>
            </a:r>
            <a:r>
              <a:rPr lang="es-CR" sz="2400" dirty="0" smtClean="0"/>
              <a:t>una casilla </a:t>
            </a:r>
            <a:r>
              <a:rPr lang="es-CR" sz="2400" dirty="0"/>
              <a:t>dada, se multiplica el total del </a:t>
            </a:r>
            <a:r>
              <a:rPr lang="es-CR" sz="2400" dirty="0" smtClean="0"/>
              <a:t>renglón </a:t>
            </a:r>
            <a:r>
              <a:rPr lang="es-CR" sz="2400" dirty="0"/>
              <a:t>en el que la casilla </a:t>
            </a:r>
            <a:r>
              <a:rPr lang="es-CR" sz="2400" dirty="0" smtClean="0"/>
              <a:t>está </a:t>
            </a:r>
            <a:r>
              <a:rPr lang="es-CR" sz="2400" dirty="0"/>
              <a:t>localizada por </a:t>
            </a:r>
            <a:r>
              <a:rPr lang="es-CR" sz="2400" dirty="0" smtClean="0"/>
              <a:t>el total </a:t>
            </a:r>
            <a:r>
              <a:rPr lang="es-CR" sz="2400" dirty="0"/>
              <a:t>de la columna en donde </a:t>
            </a:r>
            <a:r>
              <a:rPr lang="es-CR" sz="2400" dirty="0" smtClean="0"/>
              <a:t>está la </a:t>
            </a:r>
            <a:r>
              <a:rPr lang="es-CR" sz="2400" dirty="0"/>
              <a:t>casilla, y se divide el producto entre el gran </a:t>
            </a:r>
            <a:r>
              <a:rPr lang="es-CR" sz="2400" dirty="0" smtClean="0"/>
              <a:t>total.</a:t>
            </a:r>
          </a:p>
          <a:p>
            <a:pPr algn="just"/>
            <a:endParaRPr lang="es-CR" sz="2400" dirty="0"/>
          </a:p>
          <a:p>
            <a:pPr algn="just"/>
            <a:r>
              <a:rPr lang="es-CR" sz="2400" dirty="0" smtClean="0"/>
              <a:t>La comparación entre las frecuencias observadas y esperadas se llevan a cabo mediante el estadístico de la </a:t>
            </a:r>
            <a:r>
              <a:rPr lang="es-CR" sz="2400" i="1" dirty="0" smtClean="0"/>
              <a:t>X</a:t>
            </a:r>
            <a:r>
              <a:rPr lang="es-CR" sz="2400" i="1" baseline="30000" dirty="0" smtClean="0"/>
              <a:t>2</a:t>
            </a:r>
          </a:p>
          <a:p>
            <a:pPr algn="just"/>
            <a:endParaRPr lang="es-CR" sz="2400" i="1" baseline="30000" dirty="0"/>
          </a:p>
          <a:p>
            <a:pPr algn="just"/>
            <a:endParaRPr lang="es-CR" sz="2400" i="1" baseline="30000" dirty="0" smtClean="0"/>
          </a:p>
          <a:p>
            <a:endParaRPr lang="es-ES" sz="2400" dirty="0" smtClean="0"/>
          </a:p>
          <a:p>
            <a:pPr algn="just"/>
            <a:r>
              <a:rPr lang="es-ES" sz="2400" dirty="0" smtClean="0"/>
              <a:t>Si </a:t>
            </a:r>
            <a:r>
              <a:rPr lang="es-ES" sz="2400" dirty="0"/>
              <a:t>la </a:t>
            </a:r>
            <a:r>
              <a:rPr lang="es-ES" sz="2400" dirty="0" smtClean="0"/>
              <a:t>discrepancia </a:t>
            </a:r>
            <a:r>
              <a:rPr lang="es-CR" sz="2400" dirty="0" smtClean="0"/>
              <a:t>es </a:t>
            </a:r>
            <a:r>
              <a:rPr lang="es-CR" sz="2400" dirty="0"/>
              <a:t>suficientemente "</a:t>
            </a:r>
            <a:r>
              <a:rPr lang="es-CR" sz="2400" dirty="0" smtClean="0"/>
              <a:t>pequeña</a:t>
            </a:r>
            <a:r>
              <a:rPr lang="es-CR" sz="2400" dirty="0"/>
              <a:t>", puede sostenerse la </a:t>
            </a:r>
            <a:r>
              <a:rPr lang="es-CR" sz="2400" dirty="0" smtClean="0"/>
              <a:t>hipótesis </a:t>
            </a:r>
            <a:r>
              <a:rPr lang="es-CR" sz="2400" dirty="0"/>
              <a:t>nula. Si la </a:t>
            </a:r>
            <a:r>
              <a:rPr lang="es-CR" sz="2400" dirty="0" smtClean="0"/>
              <a:t>discrepancia es </a:t>
            </a:r>
            <a:r>
              <a:rPr lang="es-CR" sz="2400" dirty="0"/>
              <a:t>suficientemente "grande", se rechaza la </a:t>
            </a:r>
            <a:r>
              <a:rPr lang="es-CR" sz="2400" dirty="0" smtClean="0"/>
              <a:t>hipótesis </a:t>
            </a:r>
            <a:r>
              <a:rPr lang="es-CR" sz="2400" dirty="0"/>
              <a:t>nula y se </a:t>
            </a:r>
            <a:r>
              <a:rPr lang="es-CR" sz="2400" dirty="0" smtClean="0"/>
              <a:t>concluye que </a:t>
            </a:r>
            <a:r>
              <a:rPr lang="es-CR" sz="2400" dirty="0"/>
              <a:t>los dos criterios de </a:t>
            </a:r>
            <a:r>
              <a:rPr lang="es-CR" sz="2400" dirty="0" smtClean="0"/>
              <a:t>clasificación </a:t>
            </a:r>
            <a:r>
              <a:rPr lang="es-CR" sz="2400" dirty="0"/>
              <a:t>no son independientes.</a:t>
            </a:r>
            <a:endParaRPr lang="es-CR" sz="2400" i="1" baseline="30000" dirty="0" smtClean="0"/>
          </a:p>
          <a:p>
            <a:pPr algn="just"/>
            <a:endParaRPr lang="es-CR" sz="2400" i="1" baseline="30000" dirty="0"/>
          </a:p>
          <a:p>
            <a:pPr algn="just"/>
            <a:endParaRPr lang="es-ES" sz="2400" dirty="0"/>
          </a:p>
        </p:txBody>
      </p:sp>
      <p:sp>
        <p:nvSpPr>
          <p:cNvPr id="4"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pic>
        <p:nvPicPr>
          <p:cNvPr id="5" name="Imagen 4"/>
          <p:cNvPicPr>
            <a:picLocks noChangeAspect="1"/>
          </p:cNvPicPr>
          <p:nvPr/>
        </p:nvPicPr>
        <p:blipFill>
          <a:blip r:embed="rId2"/>
          <a:stretch>
            <a:fillRect/>
          </a:stretch>
        </p:blipFill>
        <p:spPr>
          <a:xfrm>
            <a:off x="4287166" y="3502758"/>
            <a:ext cx="2372941" cy="1031252"/>
          </a:xfrm>
          <a:prstGeom prst="rect">
            <a:avLst/>
          </a:prstGeom>
        </p:spPr>
      </p:pic>
    </p:spTree>
    <p:extLst>
      <p:ext uri="{BB962C8B-B14F-4D97-AF65-F5344CB8AC3E}">
        <p14:creationId xmlns:p14="http://schemas.microsoft.com/office/powerpoint/2010/main" val="180555494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12844" y="1381125"/>
            <a:ext cx="11224974" cy="4984608"/>
          </a:xfrm>
        </p:spPr>
        <p:txBody>
          <a:bodyPr>
            <a:normAutofit/>
          </a:bodyPr>
          <a:lstStyle/>
          <a:p>
            <a:pPr algn="just"/>
            <a:r>
              <a:rPr lang="es-CR" sz="2400" dirty="0"/>
              <a:t>Es posible demostrar que </a:t>
            </a:r>
            <a:r>
              <a:rPr lang="es-CR" sz="2400" dirty="0" smtClean="0"/>
              <a:t>la </a:t>
            </a:r>
            <a:r>
              <a:rPr lang="es-CR" sz="2400" i="1" dirty="0" smtClean="0"/>
              <a:t>X</a:t>
            </a:r>
            <a:r>
              <a:rPr lang="es-CR" sz="2400" i="1" baseline="30000" dirty="0" smtClean="0"/>
              <a:t>2</a:t>
            </a:r>
            <a:r>
              <a:rPr lang="es-CR" sz="2400" i="1" dirty="0" smtClean="0"/>
              <a:t> </a:t>
            </a:r>
            <a:r>
              <a:rPr lang="es-CR" sz="2400" dirty="0" smtClean="0"/>
              <a:t>definida </a:t>
            </a:r>
            <a:r>
              <a:rPr lang="es-CR" sz="2400" dirty="0"/>
              <a:t>de esta </a:t>
            </a:r>
            <a:r>
              <a:rPr lang="es-CR" sz="2400" dirty="0" smtClean="0"/>
              <a:t>forma </a:t>
            </a:r>
            <a:r>
              <a:rPr lang="es-ES" sz="2400" dirty="0" smtClean="0"/>
              <a:t>esta distribuida aproximadamente </a:t>
            </a:r>
            <a:r>
              <a:rPr lang="es-ES" sz="2400" dirty="0"/>
              <a:t>como una </a:t>
            </a:r>
            <a:r>
              <a:rPr lang="es-CR" sz="2400" i="1" dirty="0" smtClean="0"/>
              <a:t>X</a:t>
            </a:r>
            <a:r>
              <a:rPr lang="es-CR" sz="2400" i="1" baseline="30000" dirty="0" smtClean="0"/>
              <a:t>2</a:t>
            </a:r>
            <a:r>
              <a:rPr lang="es-ES" sz="2400" dirty="0"/>
              <a:t> </a:t>
            </a:r>
            <a:r>
              <a:rPr lang="es-ES" sz="2400" dirty="0" smtClean="0"/>
              <a:t>con </a:t>
            </a:r>
            <a:r>
              <a:rPr lang="es-ES" sz="2400" i="1" dirty="0" smtClean="0"/>
              <a:t>(</a:t>
            </a:r>
            <a:r>
              <a:rPr lang="es-ES" sz="2400" i="1" dirty="0"/>
              <a:t>r </a:t>
            </a:r>
            <a:r>
              <a:rPr lang="es-ES" sz="2400" dirty="0"/>
              <a:t>- 1) </a:t>
            </a:r>
            <a:r>
              <a:rPr lang="es-ES" sz="2400" i="1" dirty="0" smtClean="0"/>
              <a:t>(c </a:t>
            </a:r>
            <a:r>
              <a:rPr lang="es-ES" sz="2400" dirty="0"/>
              <a:t>- 1) grados de </a:t>
            </a:r>
            <a:r>
              <a:rPr lang="es-ES" sz="2400" dirty="0" smtClean="0"/>
              <a:t>libertad </a:t>
            </a:r>
            <a:r>
              <a:rPr lang="es-CR" sz="2400" dirty="0" smtClean="0"/>
              <a:t>cuando </a:t>
            </a:r>
            <a:r>
              <a:rPr lang="es-CR" sz="2400" dirty="0"/>
              <a:t>la </a:t>
            </a:r>
            <a:r>
              <a:rPr lang="es-CR" sz="2400" dirty="0" smtClean="0"/>
              <a:t>hipótesis </a:t>
            </a:r>
            <a:r>
              <a:rPr lang="es-CR" sz="2400" dirty="0"/>
              <a:t>nula es verdadera. Si el valor </a:t>
            </a:r>
            <a:r>
              <a:rPr lang="es-CR" sz="2400" dirty="0" smtClean="0"/>
              <a:t>calculado </a:t>
            </a:r>
            <a:r>
              <a:rPr lang="es-CR" sz="2400" i="1" dirty="0"/>
              <a:t>X</a:t>
            </a:r>
            <a:r>
              <a:rPr lang="es-CR" sz="2400" i="1" baseline="30000" dirty="0"/>
              <a:t>2</a:t>
            </a:r>
            <a:r>
              <a:rPr lang="es-CR" sz="2400" dirty="0" smtClean="0"/>
              <a:t> es </a:t>
            </a:r>
            <a:r>
              <a:rPr lang="es-CR" sz="2400" dirty="0"/>
              <a:t>mayor que el </a:t>
            </a:r>
            <a:r>
              <a:rPr lang="es-CR" sz="2400" dirty="0" smtClean="0"/>
              <a:t>valor tabulado </a:t>
            </a:r>
            <a:r>
              <a:rPr lang="es-CR" sz="2400" dirty="0"/>
              <a:t>de </a:t>
            </a:r>
            <a:r>
              <a:rPr lang="es-CR" sz="2400" i="1" dirty="0"/>
              <a:t>X2 </a:t>
            </a:r>
            <a:r>
              <a:rPr lang="es-CR" sz="2400" dirty="0"/>
              <a:t>para alguna </a:t>
            </a:r>
            <a:r>
              <a:rPr lang="el-GR" sz="2400" dirty="0" smtClean="0">
                <a:latin typeface="Times New Roman" panose="02020603050405020304" pitchFamily="18" charset="0"/>
                <a:cs typeface="Times New Roman" panose="02020603050405020304" pitchFamily="18" charset="0"/>
              </a:rPr>
              <a:t>α</a:t>
            </a:r>
            <a:r>
              <a:rPr lang="es-CR" sz="2400" dirty="0" smtClean="0"/>
              <a:t>, </a:t>
            </a:r>
            <a:r>
              <a:rPr lang="es-CR" sz="2400" dirty="0"/>
              <a:t>se rechaza la </a:t>
            </a:r>
            <a:r>
              <a:rPr lang="es-CR" sz="2400" dirty="0" smtClean="0"/>
              <a:t>hipótesis </a:t>
            </a:r>
            <a:r>
              <a:rPr lang="es-CR" sz="2400" dirty="0"/>
              <a:t>nula en el nivel de </a:t>
            </a:r>
            <a:r>
              <a:rPr lang="es-CR" sz="2400" dirty="0" smtClean="0"/>
              <a:t>significación. El procedimiento </a:t>
            </a:r>
            <a:r>
              <a:rPr lang="es-CR" sz="2400" dirty="0"/>
              <a:t>se ilustra con el ejemplo </a:t>
            </a:r>
            <a:r>
              <a:rPr lang="es-CR" sz="2400" dirty="0" smtClean="0"/>
              <a:t>siguiente</a:t>
            </a:r>
          </a:p>
          <a:p>
            <a:pPr algn="just"/>
            <a:endParaRPr lang="es-CR" sz="2400" dirty="0"/>
          </a:p>
        </p:txBody>
      </p:sp>
      <p:sp>
        <p:nvSpPr>
          <p:cNvPr id="4"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pic>
        <p:nvPicPr>
          <p:cNvPr id="9218"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7102" y="3770720"/>
            <a:ext cx="6896388" cy="2719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708557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60485" y="189279"/>
            <a:ext cx="10993315" cy="909759"/>
          </a:xfrm>
        </p:spPr>
        <p:txBody>
          <a:bodyPr/>
          <a:lstStyle/>
          <a:p>
            <a:pPr algn="ctr"/>
            <a:r>
              <a:rPr lang="es-CR" dirty="0" smtClean="0"/>
              <a:t>En resumen…</a:t>
            </a:r>
            <a:endParaRPr lang="es-CR" dirty="0"/>
          </a:p>
        </p:txBody>
      </p:sp>
      <p:pic>
        <p:nvPicPr>
          <p:cNvPr id="1026" name="Picture 2" descr="Image result for tablas de contingencia"/>
          <p:cNvPicPr>
            <a:picLocks noChangeAspect="1" noChangeArrowheads="1"/>
          </p:cNvPicPr>
          <p:nvPr/>
        </p:nvPicPr>
        <p:blipFill rotWithShape="1">
          <a:blip r:embed="rId2">
            <a:extLst>
              <a:ext uri="{28A0092B-C50C-407E-A947-70E740481C1C}">
                <a14:useLocalDpi xmlns:a14="http://schemas.microsoft.com/office/drawing/2010/main" val="0"/>
              </a:ext>
            </a:extLst>
          </a:blip>
          <a:srcRect l="13518" t="12328" r="6461" b="5433"/>
          <a:stretch/>
        </p:blipFill>
        <p:spPr bwMode="auto">
          <a:xfrm>
            <a:off x="360485" y="1429116"/>
            <a:ext cx="3753474" cy="4584821"/>
          </a:xfrm>
          <a:prstGeom prst="rect">
            <a:avLst/>
          </a:prstGeom>
          <a:noFill/>
          <a:extLst>
            <a:ext uri="{909E8E84-426E-40DD-AFC4-6F175D3DCCD1}">
              <a14:hiddenFill xmlns:a14="http://schemas.microsoft.com/office/drawing/2010/main">
                <a:solidFill>
                  <a:srgbClr val="FFFFFF"/>
                </a:solidFill>
              </a14:hiddenFill>
            </a:ext>
          </a:extLst>
        </p:spPr>
      </p:pic>
      <p:sp>
        <p:nvSpPr>
          <p:cNvPr id="4" name="Flecha derecha 3"/>
          <p:cNvSpPr/>
          <p:nvPr/>
        </p:nvSpPr>
        <p:spPr>
          <a:xfrm>
            <a:off x="4987474" y="2005465"/>
            <a:ext cx="694592" cy="2813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pic>
        <p:nvPicPr>
          <p:cNvPr id="6" name="Imagen 5"/>
          <p:cNvPicPr>
            <a:picLocks noChangeAspect="1"/>
          </p:cNvPicPr>
          <p:nvPr/>
        </p:nvPicPr>
        <p:blipFill>
          <a:blip r:embed="rId3"/>
          <a:stretch>
            <a:fillRect/>
          </a:stretch>
        </p:blipFill>
        <p:spPr>
          <a:xfrm>
            <a:off x="7250174" y="1402738"/>
            <a:ext cx="3421191" cy="1486809"/>
          </a:xfrm>
          <a:prstGeom prst="rect">
            <a:avLst/>
          </a:prstGeom>
        </p:spPr>
      </p:pic>
      <p:sp>
        <p:nvSpPr>
          <p:cNvPr id="7" name="Flecha derecha 6"/>
          <p:cNvSpPr/>
          <p:nvPr/>
        </p:nvSpPr>
        <p:spPr>
          <a:xfrm rot="5400000">
            <a:off x="9092018" y="3399866"/>
            <a:ext cx="694592" cy="2813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pic>
        <p:nvPicPr>
          <p:cNvPr id="1028" name="Picture 4" descr="The Chi-Square Distribution: Test Of Independence with regard to Chi Square Distribution Tab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3841" y="4235499"/>
            <a:ext cx="3970945" cy="2377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663262"/>
      </p:ext>
    </p:extLst>
  </p:cSld>
  <p:clrMapOvr>
    <a:masterClrMapping/>
  </p:clrMapOvr>
  <p:transition spd="slow">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22206" y="1400663"/>
            <a:ext cx="11471030" cy="4351338"/>
          </a:xfrm>
        </p:spPr>
        <p:txBody>
          <a:bodyPr/>
          <a:lstStyle/>
          <a:p>
            <a:pPr algn="just"/>
            <a:r>
              <a:rPr lang="es-ES" dirty="0"/>
              <a:t>EI propósito de un estudio realizado por </a:t>
            </a:r>
            <a:r>
              <a:rPr lang="es-ES" dirty="0" err="1"/>
              <a:t>Vermund</a:t>
            </a:r>
            <a:r>
              <a:rPr lang="es-ES" dirty="0"/>
              <a:t> era investigar la hipótesis </a:t>
            </a:r>
            <a:r>
              <a:rPr lang="es-CR" dirty="0"/>
              <a:t>de que las mujeres infectadas con VIH que </a:t>
            </a:r>
            <a:r>
              <a:rPr lang="es-CR" dirty="0" smtClean="0"/>
              <a:t>también </a:t>
            </a:r>
            <a:r>
              <a:rPr lang="es-CR" dirty="0"/>
              <a:t>están infectadas con el </a:t>
            </a:r>
            <a:r>
              <a:rPr lang="es-ES" dirty="0" err="1"/>
              <a:t>papilomavirus</a:t>
            </a:r>
            <a:r>
              <a:rPr lang="es-ES" dirty="0"/>
              <a:t> humano (PVR) detectado mediante hibridación molecular, tienen </a:t>
            </a:r>
            <a:r>
              <a:rPr lang="es-CR" dirty="0"/>
              <a:t>mas probabilidad de tener anormalidades citológicas cervicales que las mujeres con uno de los dos virus mencionados. Los datos que se muestran en la tabla siguiente tabla. Se pretende saber si es posible concluir </a:t>
            </a:r>
            <a:r>
              <a:rPr lang="es-ES" dirty="0"/>
              <a:t>que existe relación entre el estadio de PVR y la etapa de infección por VIH.</a:t>
            </a:r>
          </a:p>
          <a:p>
            <a:pPr marL="0" indent="0">
              <a:buNone/>
            </a:pPr>
            <a:endParaRPr lang="es-CR" dirty="0"/>
          </a:p>
        </p:txBody>
      </p:sp>
      <p:sp>
        <p:nvSpPr>
          <p:cNvPr id="4" name="Título 1"/>
          <p:cNvSpPr>
            <a:spLocks noGrp="1"/>
          </p:cNvSpPr>
          <p:nvPr>
            <p:ph type="title"/>
          </p:nvPr>
        </p:nvSpPr>
        <p:spPr>
          <a:xfrm>
            <a:off x="879144" y="174057"/>
            <a:ext cx="10515600" cy="781287"/>
          </a:xfrm>
        </p:spPr>
        <p:txBody>
          <a:bodyPr/>
          <a:lstStyle/>
          <a:p>
            <a:pPr algn="ctr"/>
            <a:r>
              <a:rPr lang="es-CR" dirty="0" smtClean="0"/>
              <a:t>Prueba de independencia: ejemplo</a:t>
            </a:r>
            <a:endParaRPr lang="es-ES" dirty="0"/>
          </a:p>
        </p:txBody>
      </p:sp>
      <p:pic>
        <p:nvPicPr>
          <p:cNvPr id="10242" name="Picture 2" descr="Image result for infe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4557" y="4455823"/>
            <a:ext cx="4083916" cy="2041958"/>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Image result for infect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48569" y="4379623"/>
            <a:ext cx="3539321" cy="2194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7689804"/>
      </p:ext>
    </p:extLst>
  </p:cSld>
  <p:clrMapOvr>
    <a:masterClrMapping/>
  </p:clrMapOvr>
  <p:transition spd="slow">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83358" y="1402544"/>
            <a:ext cx="10515600" cy="4351338"/>
          </a:xfrm>
        </p:spPr>
        <p:txBody>
          <a:bodyPr/>
          <a:lstStyle/>
          <a:p>
            <a:r>
              <a:rPr lang="es-CR" dirty="0" smtClean="0"/>
              <a:t>1. Datos: la siguiente tabla</a:t>
            </a:r>
          </a:p>
          <a:p>
            <a:endParaRPr lang="es-ES" dirty="0"/>
          </a:p>
        </p:txBody>
      </p:sp>
      <p:sp>
        <p:nvSpPr>
          <p:cNvPr id="4"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pic>
        <p:nvPicPr>
          <p:cNvPr id="5" name="Imagen 4"/>
          <p:cNvPicPr>
            <a:picLocks noChangeAspect="1"/>
          </p:cNvPicPr>
          <p:nvPr/>
        </p:nvPicPr>
        <p:blipFill rotWithShape="1">
          <a:blip r:embed="rId2"/>
          <a:srcRect t="6087"/>
          <a:stretch/>
        </p:blipFill>
        <p:spPr>
          <a:xfrm>
            <a:off x="713382" y="2827850"/>
            <a:ext cx="10847123" cy="2926032"/>
          </a:xfrm>
          <a:prstGeom prst="rect">
            <a:avLst/>
          </a:prstGeom>
        </p:spPr>
      </p:pic>
    </p:spTree>
    <p:extLst>
      <p:ext uri="{BB962C8B-B14F-4D97-AF65-F5344CB8AC3E}">
        <p14:creationId xmlns:p14="http://schemas.microsoft.com/office/powerpoint/2010/main" val="30780614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46312" y="1156883"/>
            <a:ext cx="11581263" cy="4861779"/>
          </a:xfrm>
        </p:spPr>
        <p:txBody>
          <a:bodyPr/>
          <a:lstStyle/>
          <a:p>
            <a:pPr algn="just"/>
            <a:r>
              <a:rPr lang="es-CR" dirty="0" smtClean="0"/>
              <a:t>2. Supuestos: </a:t>
            </a:r>
            <a:r>
              <a:rPr lang="es-CR" dirty="0"/>
              <a:t>Se considera que la muestra disponible para el </a:t>
            </a:r>
            <a:r>
              <a:rPr lang="es-CR" dirty="0" smtClean="0"/>
              <a:t>análisis es equivalente </a:t>
            </a:r>
            <a:r>
              <a:rPr lang="es-CR" dirty="0"/>
              <a:t>a una muestra aleatoria </a:t>
            </a:r>
            <a:r>
              <a:rPr lang="es-CR" dirty="0" smtClean="0"/>
              <a:t>extraída </a:t>
            </a:r>
            <a:r>
              <a:rPr lang="es-CR" dirty="0"/>
              <a:t>de la </a:t>
            </a:r>
            <a:r>
              <a:rPr lang="es-CR" dirty="0" smtClean="0"/>
              <a:t>población </a:t>
            </a:r>
            <a:r>
              <a:rPr lang="es-CR" dirty="0"/>
              <a:t>de </a:t>
            </a:r>
            <a:r>
              <a:rPr lang="es-CR" dirty="0" smtClean="0"/>
              <a:t>interés.</a:t>
            </a:r>
          </a:p>
          <a:p>
            <a:pPr algn="just"/>
            <a:endParaRPr lang="es-CR" dirty="0"/>
          </a:p>
          <a:p>
            <a:pPr algn="just"/>
            <a:r>
              <a:rPr lang="es-CR" dirty="0" smtClean="0"/>
              <a:t>3.  Ho: el estadio del PVH y la etapa de infección por VIH son independientes</a:t>
            </a:r>
          </a:p>
          <a:p>
            <a:pPr marL="0" indent="0" algn="just">
              <a:buNone/>
            </a:pPr>
            <a:r>
              <a:rPr lang="es-CR" dirty="0" smtClean="0"/>
              <a:t>        Ha: las dos variables son independientes.</a:t>
            </a:r>
          </a:p>
          <a:p>
            <a:pPr marL="0" indent="0" algn="just">
              <a:buNone/>
            </a:pPr>
            <a:endParaRPr lang="es-CR" dirty="0"/>
          </a:p>
          <a:p>
            <a:pPr algn="just"/>
            <a:r>
              <a:rPr lang="es-CR" dirty="0" smtClean="0"/>
              <a:t>4. La prueba de hipótesis:</a:t>
            </a:r>
            <a:endParaRPr lang="es-ES" dirty="0"/>
          </a:p>
        </p:txBody>
      </p:sp>
      <p:sp>
        <p:nvSpPr>
          <p:cNvPr id="4"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pic>
        <p:nvPicPr>
          <p:cNvPr id="5" name="Imagen 4"/>
          <p:cNvPicPr>
            <a:picLocks noChangeAspect="1"/>
          </p:cNvPicPr>
          <p:nvPr/>
        </p:nvPicPr>
        <p:blipFill>
          <a:blip r:embed="rId2"/>
          <a:stretch>
            <a:fillRect/>
          </a:stretch>
        </p:blipFill>
        <p:spPr>
          <a:xfrm>
            <a:off x="3918677" y="4862735"/>
            <a:ext cx="3123568" cy="1357466"/>
          </a:xfrm>
          <a:prstGeom prst="rect">
            <a:avLst/>
          </a:prstGeom>
        </p:spPr>
      </p:pic>
    </p:spTree>
    <p:extLst>
      <p:ext uri="{BB962C8B-B14F-4D97-AF65-F5344CB8AC3E}">
        <p14:creationId xmlns:p14="http://schemas.microsoft.com/office/powerpoint/2010/main" val="39049942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87824" y="1279714"/>
            <a:ext cx="10515600" cy="5257564"/>
          </a:xfrm>
        </p:spPr>
        <p:txBody>
          <a:bodyPr>
            <a:normAutofit/>
          </a:bodyPr>
          <a:lstStyle/>
          <a:p>
            <a:r>
              <a:rPr lang="es-CR" sz="2400" dirty="0" smtClean="0"/>
              <a:t>Distribución de la prueba estadística: cuando Ho es verdadera, la </a:t>
            </a:r>
            <a:r>
              <a:rPr lang="es-CR" sz="2400" i="1" dirty="0"/>
              <a:t>X</a:t>
            </a:r>
            <a:r>
              <a:rPr lang="es-CR" sz="2400" i="1" baseline="30000" dirty="0"/>
              <a:t>2</a:t>
            </a:r>
            <a:r>
              <a:rPr lang="es-ES" sz="2400" dirty="0"/>
              <a:t> con </a:t>
            </a:r>
            <a:r>
              <a:rPr lang="es-ES" sz="2400" i="1" dirty="0"/>
              <a:t>(r </a:t>
            </a:r>
            <a:r>
              <a:rPr lang="es-ES" sz="2400" dirty="0"/>
              <a:t>- 1) </a:t>
            </a:r>
            <a:endParaRPr lang="es-ES" sz="2400" dirty="0" smtClean="0"/>
          </a:p>
          <a:p>
            <a:pPr marL="0" indent="0">
              <a:buNone/>
            </a:pPr>
            <a:r>
              <a:rPr lang="es-ES" sz="2400" i="1" dirty="0" smtClean="0"/>
              <a:t>(</a:t>
            </a:r>
            <a:r>
              <a:rPr lang="es-ES" sz="2400" i="1" dirty="0"/>
              <a:t>c </a:t>
            </a:r>
            <a:r>
              <a:rPr lang="es-ES" sz="2400" dirty="0"/>
              <a:t>- 1)</a:t>
            </a:r>
            <a:r>
              <a:rPr lang="es-CR" sz="2400" dirty="0" smtClean="0"/>
              <a:t> , para el presente caso </a:t>
            </a:r>
            <a:r>
              <a:rPr lang="es-CR" sz="2400" i="1" dirty="0"/>
              <a:t>X</a:t>
            </a:r>
            <a:r>
              <a:rPr lang="es-CR" sz="2400" i="1" baseline="30000" dirty="0"/>
              <a:t>2</a:t>
            </a:r>
            <a:r>
              <a:rPr lang="es-ES" sz="2400" dirty="0"/>
              <a:t> con </a:t>
            </a:r>
            <a:r>
              <a:rPr lang="es-ES" sz="2400" dirty="0" smtClean="0"/>
              <a:t>(2-1)(3-1) = (1)(2)= grados de libertad.</a:t>
            </a:r>
          </a:p>
          <a:p>
            <a:pPr marL="0" indent="0">
              <a:buNone/>
            </a:pPr>
            <a:endParaRPr lang="es-CR" sz="2400" dirty="0"/>
          </a:p>
          <a:p>
            <a:r>
              <a:rPr lang="es-CR" sz="2400" b="1" dirty="0" smtClean="0"/>
              <a:t>Regla de decisión</a:t>
            </a:r>
            <a:r>
              <a:rPr lang="es-CR" sz="2400" dirty="0" smtClean="0"/>
              <a:t>: se rechaza Ho si </a:t>
            </a:r>
            <a:r>
              <a:rPr lang="es-ES" sz="2400" dirty="0"/>
              <a:t>el valor </a:t>
            </a:r>
            <a:r>
              <a:rPr lang="es-ES" sz="2400" dirty="0" err="1"/>
              <a:t>ealculado</a:t>
            </a:r>
            <a:r>
              <a:rPr lang="es-ES" sz="2400" dirty="0"/>
              <a:t> </a:t>
            </a:r>
            <a:r>
              <a:rPr lang="es-ES" sz="2400" dirty="0" smtClean="0"/>
              <a:t>de  es</a:t>
            </a:r>
            <a:r>
              <a:rPr lang="es-CR" sz="2400" i="1" dirty="0"/>
              <a:t> </a:t>
            </a:r>
            <a:r>
              <a:rPr lang="es-CR" sz="2400" i="1" dirty="0" smtClean="0"/>
              <a:t>X</a:t>
            </a:r>
            <a:r>
              <a:rPr lang="es-CR" sz="2400" i="1" baseline="30000" dirty="0" smtClean="0"/>
              <a:t>2 </a:t>
            </a:r>
            <a:r>
              <a:rPr lang="es-CR" sz="2400" dirty="0" smtClean="0"/>
              <a:t>es mayor que o igual que 5.991</a:t>
            </a:r>
            <a:r>
              <a:rPr lang="es-CR" sz="2400" i="1" dirty="0" smtClean="0"/>
              <a:t>.</a:t>
            </a:r>
          </a:p>
          <a:p>
            <a:endParaRPr lang="es-CR" sz="2400" i="1" dirty="0"/>
          </a:p>
          <a:p>
            <a:r>
              <a:rPr lang="es-CR" sz="2400" b="1" dirty="0" smtClean="0"/>
              <a:t>Cálculo de las estadísticas de prueba</a:t>
            </a:r>
            <a:r>
              <a:rPr lang="es-CR" sz="2400" dirty="0" smtClean="0"/>
              <a:t>:</a:t>
            </a:r>
            <a:r>
              <a:rPr lang="es-CR" sz="2400" b="1" dirty="0" smtClean="0"/>
              <a:t> </a:t>
            </a:r>
            <a:r>
              <a:rPr lang="es-ES" sz="2400" dirty="0"/>
              <a:t>La frecuencia esperada </a:t>
            </a:r>
            <a:r>
              <a:rPr lang="es-ES" sz="2400" dirty="0" smtClean="0"/>
              <a:t>para la </a:t>
            </a:r>
            <a:r>
              <a:rPr lang="es-ES" sz="2400" dirty="0"/>
              <a:t>primera casilla </a:t>
            </a:r>
            <a:r>
              <a:rPr lang="es-ES" sz="2400" dirty="0" smtClean="0"/>
              <a:t>es (33*37)/96=12,72. Las otras frecuencias esperadas </a:t>
            </a:r>
            <a:r>
              <a:rPr lang="es-ES" sz="2400" dirty="0"/>
              <a:t>se calculan de manera similar</a:t>
            </a:r>
            <a:r>
              <a:rPr lang="es-ES" sz="2400" dirty="0" smtClean="0"/>
              <a:t>. Véase la siguiente tabla.</a:t>
            </a:r>
            <a:endParaRPr lang="es-ES" sz="2400" b="1" dirty="0"/>
          </a:p>
        </p:txBody>
      </p:sp>
      <p:sp>
        <p:nvSpPr>
          <p:cNvPr id="4"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spTree>
    <p:extLst>
      <p:ext uri="{BB962C8B-B14F-4D97-AF65-F5344CB8AC3E}">
        <p14:creationId xmlns:p14="http://schemas.microsoft.com/office/powerpoint/2010/main" val="3797270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pic>
        <p:nvPicPr>
          <p:cNvPr id="5" name="Imagen 4"/>
          <p:cNvPicPr>
            <a:picLocks noChangeAspect="1"/>
          </p:cNvPicPr>
          <p:nvPr/>
        </p:nvPicPr>
        <p:blipFill>
          <a:blip r:embed="rId2"/>
          <a:stretch>
            <a:fillRect/>
          </a:stretch>
        </p:blipFill>
        <p:spPr>
          <a:xfrm>
            <a:off x="649968" y="1815153"/>
            <a:ext cx="10619106" cy="4094328"/>
          </a:xfrm>
          <a:prstGeom prst="rect">
            <a:avLst/>
          </a:prstGeom>
        </p:spPr>
      </p:pic>
    </p:spTree>
    <p:extLst>
      <p:ext uri="{BB962C8B-B14F-4D97-AF65-F5344CB8AC3E}">
        <p14:creationId xmlns:p14="http://schemas.microsoft.com/office/powerpoint/2010/main" val="3187739467"/>
      </p:ext>
    </p:extLst>
  </p:cSld>
  <p:clrMapOvr>
    <a:masterClrMapping/>
  </p:clrMapOvr>
  <p:transition spd="slow">
    <p:push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78893" y="1266066"/>
            <a:ext cx="10515600" cy="5148382"/>
          </a:xfrm>
        </p:spPr>
        <p:txBody>
          <a:bodyPr/>
          <a:lstStyle/>
          <a:p>
            <a:r>
              <a:rPr lang="es-CR" dirty="0" smtClean="0"/>
              <a:t>La estadística de prueba es</a:t>
            </a:r>
          </a:p>
          <a:p>
            <a:endParaRPr lang="es-CR" dirty="0"/>
          </a:p>
          <a:p>
            <a:endParaRPr lang="es-CR" dirty="0" smtClean="0"/>
          </a:p>
          <a:p>
            <a:pPr marL="0" indent="0">
              <a:buNone/>
            </a:pPr>
            <a:r>
              <a:rPr lang="es-CR" dirty="0"/>
              <a:t>y</a:t>
            </a:r>
            <a:r>
              <a:rPr lang="es-CR" dirty="0" smtClean="0"/>
              <a:t> esta se obtiene a partir de la ecuación</a:t>
            </a:r>
          </a:p>
          <a:p>
            <a:pPr marL="0" indent="0">
              <a:buNone/>
            </a:pPr>
            <a:endParaRPr lang="es-CR" dirty="0"/>
          </a:p>
          <a:p>
            <a:pPr marL="0" indent="0">
              <a:buNone/>
            </a:pPr>
            <a:endParaRPr lang="es-CR" dirty="0" smtClean="0"/>
          </a:p>
          <a:p>
            <a:pPr marL="0" indent="0">
              <a:buNone/>
            </a:pPr>
            <a:endParaRPr lang="es-CR" dirty="0"/>
          </a:p>
          <a:p>
            <a:pPr marL="0" indent="0">
              <a:buNone/>
            </a:pPr>
            <a:endParaRPr lang="es-CR" dirty="0" smtClean="0"/>
          </a:p>
          <a:p>
            <a:pPr marL="0" indent="0">
              <a:buNone/>
            </a:pPr>
            <a:endParaRPr lang="es-CR" dirty="0" smtClean="0"/>
          </a:p>
          <a:p>
            <a:pPr marL="0" indent="0">
              <a:buNone/>
            </a:pPr>
            <a:endParaRPr lang="es-CR" dirty="0" smtClean="0"/>
          </a:p>
          <a:p>
            <a:pPr marL="0" indent="0">
              <a:buNone/>
            </a:pPr>
            <a:endParaRPr lang="es-CR" dirty="0"/>
          </a:p>
          <a:p>
            <a:pPr marL="0" indent="0">
              <a:buNone/>
            </a:pPr>
            <a:endParaRPr lang="es-ES" dirty="0"/>
          </a:p>
        </p:txBody>
      </p:sp>
      <p:sp>
        <p:nvSpPr>
          <p:cNvPr id="4"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pic>
        <p:nvPicPr>
          <p:cNvPr id="5" name="Imagen 4"/>
          <p:cNvPicPr>
            <a:picLocks noChangeAspect="1"/>
          </p:cNvPicPr>
          <p:nvPr/>
        </p:nvPicPr>
        <p:blipFill>
          <a:blip r:embed="rId2"/>
          <a:stretch>
            <a:fillRect/>
          </a:stretch>
        </p:blipFill>
        <p:spPr>
          <a:xfrm>
            <a:off x="1459801" y="3566333"/>
            <a:ext cx="7361711" cy="1117406"/>
          </a:xfrm>
          <a:prstGeom prst="rect">
            <a:avLst/>
          </a:prstGeom>
        </p:spPr>
      </p:pic>
      <p:pic>
        <p:nvPicPr>
          <p:cNvPr id="6" name="Imagen 5"/>
          <p:cNvPicPr>
            <a:picLocks noChangeAspect="1"/>
          </p:cNvPicPr>
          <p:nvPr/>
        </p:nvPicPr>
        <p:blipFill>
          <a:blip r:embed="rId3"/>
          <a:stretch>
            <a:fillRect/>
          </a:stretch>
        </p:blipFill>
        <p:spPr>
          <a:xfrm>
            <a:off x="1459801" y="5301893"/>
            <a:ext cx="7211948" cy="467771"/>
          </a:xfrm>
          <a:prstGeom prst="rect">
            <a:avLst/>
          </a:prstGeom>
        </p:spPr>
      </p:pic>
    </p:spTree>
    <p:extLst>
      <p:ext uri="{BB962C8B-B14F-4D97-AF65-F5344CB8AC3E}">
        <p14:creationId xmlns:p14="http://schemas.microsoft.com/office/powerpoint/2010/main" val="8938934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37949" y="1470784"/>
            <a:ext cx="10515600" cy="4351338"/>
          </a:xfrm>
        </p:spPr>
        <p:txBody>
          <a:bodyPr/>
          <a:lstStyle/>
          <a:p>
            <a:r>
              <a:rPr lang="es-CR" dirty="0" smtClean="0"/>
              <a:t>8. </a:t>
            </a:r>
            <a:r>
              <a:rPr lang="es-CR" b="1" dirty="0" smtClean="0"/>
              <a:t>Decisión estadística</a:t>
            </a:r>
            <a:r>
              <a:rPr lang="es-CR" dirty="0" smtClean="0"/>
              <a:t>: </a:t>
            </a:r>
            <a:r>
              <a:rPr lang="es-CR" dirty="0"/>
              <a:t>Se rechaza Ho porque </a:t>
            </a:r>
            <a:r>
              <a:rPr lang="es-CR" dirty="0" smtClean="0"/>
              <a:t>20.60081 </a:t>
            </a:r>
            <a:r>
              <a:rPr lang="es-CR" dirty="0"/>
              <a:t>&gt; </a:t>
            </a:r>
            <a:r>
              <a:rPr lang="es-CR" dirty="0" smtClean="0"/>
              <a:t>5.991.</a:t>
            </a:r>
          </a:p>
          <a:p>
            <a:endParaRPr lang="es-CR" dirty="0"/>
          </a:p>
          <a:p>
            <a:r>
              <a:rPr lang="es-CR" dirty="0" smtClean="0"/>
              <a:t>9. </a:t>
            </a:r>
            <a:r>
              <a:rPr lang="es-CR" b="1" dirty="0" smtClean="0"/>
              <a:t>Conclusión</a:t>
            </a:r>
            <a:r>
              <a:rPr lang="es-CR" dirty="0" smtClean="0"/>
              <a:t>: Se concluye que Ho es falsa y que sí hay relación entre el estadio de PVH y la </a:t>
            </a:r>
            <a:r>
              <a:rPr lang="es-CR" dirty="0" err="1" smtClean="0"/>
              <a:t>estapa</a:t>
            </a:r>
            <a:r>
              <a:rPr lang="es-CR" dirty="0" smtClean="0"/>
              <a:t> de infección por VIH.</a:t>
            </a:r>
          </a:p>
          <a:p>
            <a:endParaRPr lang="es-CR" dirty="0"/>
          </a:p>
          <a:p>
            <a:r>
              <a:rPr lang="es-CR" dirty="0" smtClean="0"/>
              <a:t>10. </a:t>
            </a:r>
            <a:r>
              <a:rPr lang="es-CR" b="1" dirty="0" smtClean="0"/>
              <a:t>Valor de </a:t>
            </a:r>
            <a:r>
              <a:rPr lang="es-CR" b="1" i="1" dirty="0" smtClean="0"/>
              <a:t>p</a:t>
            </a:r>
            <a:r>
              <a:rPr lang="es-CR" b="1" dirty="0" smtClean="0"/>
              <a:t>: no se muestra por tablas.</a:t>
            </a:r>
            <a:endParaRPr lang="es-ES" dirty="0"/>
          </a:p>
        </p:txBody>
      </p:sp>
      <p:sp>
        <p:nvSpPr>
          <p:cNvPr id="4"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spTree>
    <p:extLst>
      <p:ext uri="{BB962C8B-B14F-4D97-AF65-F5344CB8AC3E}">
        <p14:creationId xmlns:p14="http://schemas.microsoft.com/office/powerpoint/2010/main" val="1918942540"/>
      </p:ext>
    </p:extLst>
  </p:cSld>
  <p:clrMapOvr>
    <a:masterClrMapping/>
  </p:clrMapOvr>
  <p:transition spd="slow">
    <p:wip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32665" y="1102293"/>
            <a:ext cx="11608558" cy="4351338"/>
          </a:xfrm>
        </p:spPr>
        <p:txBody>
          <a:bodyPr>
            <a:normAutofit/>
          </a:bodyPr>
          <a:lstStyle/>
          <a:p>
            <a:r>
              <a:rPr lang="es-CR" sz="2400" dirty="0" smtClean="0"/>
              <a:t>Ejemplo 1: </a:t>
            </a:r>
            <a:r>
              <a:rPr lang="es-ES" sz="2400" dirty="0" smtClean="0"/>
              <a:t>Como </a:t>
            </a:r>
            <a:r>
              <a:rPr lang="es-CR" sz="2400" dirty="0" smtClean="0"/>
              <a:t>parte </a:t>
            </a:r>
            <a:r>
              <a:rPr lang="es-CR" sz="2400" dirty="0"/>
              <a:t>de su estudio</a:t>
            </a:r>
            <a:r>
              <a:rPr lang="es-CR" sz="2400" dirty="0" smtClean="0"/>
              <a:t>, los </a:t>
            </a:r>
            <a:r>
              <a:rPr lang="es-CR" sz="2400" dirty="0"/>
              <a:t>investigadores reunieron </a:t>
            </a:r>
            <a:r>
              <a:rPr lang="es-CR" sz="2400" dirty="0" smtClean="0"/>
              <a:t>información </a:t>
            </a:r>
            <a:r>
              <a:rPr lang="es-CR" sz="2400" dirty="0"/>
              <a:t>respecto al uso de agujas </a:t>
            </a:r>
            <a:r>
              <a:rPr lang="es-CR" sz="2400" dirty="0" smtClean="0"/>
              <a:t>intercambiables por </a:t>
            </a:r>
            <a:r>
              <a:rPr lang="es-CR" sz="2400" dirty="0"/>
              <a:t>parte de adictos a drogas inyectables. Obtuvieron </a:t>
            </a:r>
            <a:r>
              <a:rPr lang="es-CR" sz="2400" dirty="0" smtClean="0"/>
              <a:t>información </a:t>
            </a:r>
            <a:r>
              <a:rPr lang="es-CR" sz="2400" dirty="0"/>
              <a:t>para </a:t>
            </a:r>
            <a:r>
              <a:rPr lang="es-CR" sz="2400" dirty="0" smtClean="0"/>
              <a:t>localizarlos a través </a:t>
            </a:r>
            <a:r>
              <a:rPr lang="es-CR" sz="2400" dirty="0"/>
              <a:t>de los archivos de instituciones de tratamiento para drogadictos y a </a:t>
            </a:r>
            <a:r>
              <a:rPr lang="es-CR" sz="2400" dirty="0" err="1"/>
              <a:t>traves</a:t>
            </a:r>
            <a:r>
              <a:rPr lang="es-CR" sz="2400" dirty="0"/>
              <a:t> </a:t>
            </a:r>
            <a:r>
              <a:rPr lang="es-CR" sz="2400" dirty="0" smtClean="0"/>
              <a:t>de investigaciones </a:t>
            </a:r>
            <a:r>
              <a:rPr lang="es-CR" sz="2400" dirty="0" err="1"/>
              <a:t>diseftadas</a:t>
            </a:r>
            <a:r>
              <a:rPr lang="es-CR" sz="2400" dirty="0"/>
              <a:t> para hacer participar a individuos que no reciben </a:t>
            </a:r>
            <a:r>
              <a:rPr lang="es-CR" sz="2400" dirty="0" err="1"/>
              <a:t>asesorfas</a:t>
            </a:r>
            <a:r>
              <a:rPr lang="es-CR" sz="2400" dirty="0" smtClean="0"/>
              <a:t>. </a:t>
            </a:r>
            <a:r>
              <a:rPr lang="es-CR" sz="2400" dirty="0"/>
              <a:t> </a:t>
            </a:r>
            <a:r>
              <a:rPr lang="es-CR" sz="2400" dirty="0" smtClean="0"/>
              <a:t>¿Es </a:t>
            </a:r>
            <a:r>
              <a:rPr lang="es-CR" sz="2400" dirty="0"/>
              <a:t>posible concluir, a partir de estos datos, que hay </a:t>
            </a:r>
            <a:r>
              <a:rPr lang="es-CR" sz="2400" dirty="0" smtClean="0"/>
              <a:t>relación </a:t>
            </a:r>
            <a:r>
              <a:rPr lang="es-CR" sz="2400" dirty="0"/>
              <a:t>entre el uso de agujas </a:t>
            </a:r>
            <a:r>
              <a:rPr lang="es-CR" sz="2400" dirty="0" smtClean="0"/>
              <a:t>intercambiables y </a:t>
            </a:r>
            <a:r>
              <a:rPr lang="es-CR" sz="2400" dirty="0"/>
              <a:t>el ser asesorados por la </a:t>
            </a:r>
            <a:r>
              <a:rPr lang="es-CR" sz="2400" dirty="0" smtClean="0"/>
              <a:t>institución</a:t>
            </a:r>
            <a:r>
              <a:rPr lang="es-CR" sz="2400" dirty="0"/>
              <a:t>?</a:t>
            </a:r>
            <a:endParaRPr lang="es-ES" sz="2400" dirty="0"/>
          </a:p>
        </p:txBody>
      </p:sp>
      <p:sp>
        <p:nvSpPr>
          <p:cNvPr id="4" name="Título 1"/>
          <p:cNvSpPr>
            <a:spLocks noGrp="1"/>
          </p:cNvSpPr>
          <p:nvPr>
            <p:ph type="title"/>
          </p:nvPr>
        </p:nvSpPr>
        <p:spPr>
          <a:xfrm>
            <a:off x="879144" y="105817"/>
            <a:ext cx="10515600" cy="781287"/>
          </a:xfrm>
        </p:spPr>
        <p:txBody>
          <a:bodyPr/>
          <a:lstStyle/>
          <a:p>
            <a:pPr algn="ctr"/>
            <a:r>
              <a:rPr lang="es-CR" dirty="0" smtClean="0"/>
              <a:t>Prueba de independencia</a:t>
            </a:r>
            <a:endParaRPr lang="es-ES" dirty="0"/>
          </a:p>
        </p:txBody>
      </p:sp>
      <p:pic>
        <p:nvPicPr>
          <p:cNvPr id="5" name="Imagen 4"/>
          <p:cNvPicPr>
            <a:picLocks noChangeAspect="1"/>
          </p:cNvPicPr>
          <p:nvPr/>
        </p:nvPicPr>
        <p:blipFill>
          <a:blip r:embed="rId2"/>
          <a:stretch>
            <a:fillRect/>
          </a:stretch>
        </p:blipFill>
        <p:spPr>
          <a:xfrm>
            <a:off x="993763" y="3712191"/>
            <a:ext cx="9814688" cy="2107370"/>
          </a:xfrm>
          <a:prstGeom prst="rect">
            <a:avLst/>
          </a:prstGeom>
        </p:spPr>
      </p:pic>
    </p:spTree>
    <p:extLst>
      <p:ext uri="{BB962C8B-B14F-4D97-AF65-F5344CB8AC3E}">
        <p14:creationId xmlns:p14="http://schemas.microsoft.com/office/powerpoint/2010/main" val="2071573565"/>
      </p:ext>
    </p:extLst>
  </p:cSld>
  <p:clrMapOvr>
    <a:masterClrMapping/>
  </p:clrMapOvr>
  <p:transition spd="slow">
    <p:push dir="u"/>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18365" y="870278"/>
            <a:ext cx="11778018" cy="4351338"/>
          </a:xfrm>
        </p:spPr>
        <p:txBody>
          <a:bodyPr>
            <a:normAutofit/>
          </a:bodyPr>
          <a:lstStyle/>
          <a:p>
            <a:pPr algn="just"/>
            <a:r>
              <a:rPr lang="es-CR" sz="2400" dirty="0" smtClean="0"/>
              <a:t>Ejemplo 2: </a:t>
            </a:r>
            <a:r>
              <a:rPr lang="es-CR" sz="2400" dirty="0"/>
              <a:t>u</a:t>
            </a:r>
            <a:r>
              <a:rPr lang="es-CR" sz="2400" dirty="0" smtClean="0"/>
              <a:t>na </a:t>
            </a:r>
            <a:r>
              <a:rPr lang="es-CR" sz="2400" dirty="0"/>
              <a:t>muestra de 500 estudiantes universitarios </a:t>
            </a:r>
            <a:r>
              <a:rPr lang="es-CR" sz="2400" dirty="0" smtClean="0"/>
              <a:t>participaron </a:t>
            </a:r>
            <a:r>
              <a:rPr lang="es-CR" sz="2400" dirty="0"/>
              <a:t>en un estudio para evaluar el </a:t>
            </a:r>
            <a:r>
              <a:rPr lang="es-CR" sz="2400" dirty="0" smtClean="0"/>
              <a:t>nivel de </a:t>
            </a:r>
            <a:r>
              <a:rPr lang="es-CR" sz="2400" dirty="0"/>
              <a:t>conocimientos respecto a determinado </a:t>
            </a:r>
            <a:r>
              <a:rPr lang="es-CR" sz="2400" dirty="0" smtClean="0"/>
              <a:t>grupo de </a:t>
            </a:r>
            <a:r>
              <a:rPr lang="es-CR" sz="2400" dirty="0"/>
              <a:t>enfermedades comunes. La tabla </a:t>
            </a:r>
            <a:r>
              <a:rPr lang="es-CR" sz="2400" dirty="0" smtClean="0"/>
              <a:t>siguiente presenta la clasificación </a:t>
            </a:r>
            <a:r>
              <a:rPr lang="es-CR" sz="2400" dirty="0"/>
              <a:t>de los estudiantes de acuerdo con su principal campo </a:t>
            </a:r>
            <a:r>
              <a:rPr lang="es-CR" sz="2400" dirty="0" smtClean="0"/>
              <a:t>de estudio </a:t>
            </a:r>
            <a:r>
              <a:rPr lang="es-CR" sz="2400" dirty="0"/>
              <a:t>y el nivel de conocimientos sobre el grupo de enfermedades</a:t>
            </a:r>
            <a:r>
              <a:rPr lang="es-CR" sz="2400" dirty="0" smtClean="0"/>
              <a:t>. </a:t>
            </a:r>
            <a:r>
              <a:rPr lang="es-CR" sz="2400" dirty="0"/>
              <a:t>¿</a:t>
            </a:r>
            <a:r>
              <a:rPr lang="es-CR" sz="2400" dirty="0" smtClean="0"/>
              <a:t>Sugieren </a:t>
            </a:r>
            <a:r>
              <a:rPr lang="es-CR" sz="2400" dirty="0"/>
              <a:t>estos datos que </a:t>
            </a:r>
            <a:r>
              <a:rPr lang="es-CR" sz="2400" dirty="0" smtClean="0"/>
              <a:t>existe una relación </a:t>
            </a:r>
            <a:r>
              <a:rPr lang="es-CR" sz="2400" dirty="0"/>
              <a:t>entre el conocimiento del </a:t>
            </a:r>
            <a:r>
              <a:rPr lang="es-CR" sz="2400" dirty="0" smtClean="0"/>
              <a:t>grupo </a:t>
            </a:r>
            <a:r>
              <a:rPr lang="es-CR" sz="2400" dirty="0"/>
              <a:t>de </a:t>
            </a:r>
            <a:r>
              <a:rPr lang="es-CR" sz="2400" dirty="0" smtClean="0"/>
              <a:t>enfermedades y </a:t>
            </a:r>
            <a:r>
              <a:rPr lang="es-CR" sz="2400" dirty="0"/>
              <a:t>el principal campo de estudio de los estudiantes de nivel superior de los cuales </a:t>
            </a:r>
            <a:r>
              <a:rPr lang="es-CR" sz="2400" dirty="0" smtClean="0"/>
              <a:t>se </a:t>
            </a:r>
            <a:r>
              <a:rPr lang="es-ES" sz="2400" dirty="0" smtClean="0"/>
              <a:t>extrajo </a:t>
            </a:r>
            <a:r>
              <a:rPr lang="es-ES" sz="2400" dirty="0"/>
              <a:t>esta muestra?</a:t>
            </a:r>
          </a:p>
        </p:txBody>
      </p:sp>
      <p:sp>
        <p:nvSpPr>
          <p:cNvPr id="4" name="Título 1"/>
          <p:cNvSpPr>
            <a:spLocks noGrp="1"/>
          </p:cNvSpPr>
          <p:nvPr>
            <p:ph type="title"/>
          </p:nvPr>
        </p:nvSpPr>
        <p:spPr>
          <a:xfrm>
            <a:off x="879144" y="64873"/>
            <a:ext cx="10515600" cy="781287"/>
          </a:xfrm>
        </p:spPr>
        <p:txBody>
          <a:bodyPr/>
          <a:lstStyle/>
          <a:p>
            <a:pPr algn="ctr"/>
            <a:r>
              <a:rPr lang="es-CR" dirty="0" smtClean="0"/>
              <a:t>Prueba de independencia</a:t>
            </a:r>
            <a:endParaRPr lang="es-ES" dirty="0"/>
          </a:p>
        </p:txBody>
      </p:sp>
      <p:pic>
        <p:nvPicPr>
          <p:cNvPr id="6" name="Imagen 5"/>
          <p:cNvPicPr>
            <a:picLocks noChangeAspect="1"/>
          </p:cNvPicPr>
          <p:nvPr/>
        </p:nvPicPr>
        <p:blipFill>
          <a:blip r:embed="rId2"/>
          <a:stretch>
            <a:fillRect/>
          </a:stretch>
        </p:blipFill>
        <p:spPr>
          <a:xfrm>
            <a:off x="2824373" y="3452883"/>
            <a:ext cx="6625141" cy="2906115"/>
          </a:xfrm>
          <a:prstGeom prst="rect">
            <a:avLst/>
          </a:prstGeom>
        </p:spPr>
      </p:pic>
    </p:spTree>
    <p:extLst>
      <p:ext uri="{BB962C8B-B14F-4D97-AF65-F5344CB8AC3E}">
        <p14:creationId xmlns:p14="http://schemas.microsoft.com/office/powerpoint/2010/main" val="2351851071"/>
      </p:ext>
    </p:extLst>
  </p:cSld>
  <p:clrMapOvr>
    <a:masterClrMapping/>
  </p:clrMapOvr>
  <p:transition spd="slow">
    <p:wip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156120"/>
            <a:ext cx="10515600" cy="810532"/>
          </a:xfrm>
        </p:spPr>
        <p:txBody>
          <a:bodyPr/>
          <a:lstStyle/>
          <a:p>
            <a:pPr algn="ctr"/>
            <a:r>
              <a:rPr lang="es-CR" dirty="0" smtClean="0"/>
              <a:t>Índice</a:t>
            </a:r>
            <a:endParaRPr lang="es-ES" dirty="0"/>
          </a:p>
        </p:txBody>
      </p:sp>
      <p:sp>
        <p:nvSpPr>
          <p:cNvPr id="4" name="Elipse 3"/>
          <p:cNvSpPr/>
          <p:nvPr/>
        </p:nvSpPr>
        <p:spPr>
          <a:xfrm>
            <a:off x="838200"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838199" y="3383281"/>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endParaRPr lang="es-ES" dirty="0"/>
          </a:p>
        </p:txBody>
      </p:sp>
      <p:sp>
        <p:nvSpPr>
          <p:cNvPr id="6" name="Elipse 5"/>
          <p:cNvSpPr/>
          <p:nvPr/>
        </p:nvSpPr>
        <p:spPr>
          <a:xfrm>
            <a:off x="838199" y="5225144"/>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ES" dirty="0"/>
          </a:p>
        </p:txBody>
      </p:sp>
      <p:sp>
        <p:nvSpPr>
          <p:cNvPr id="7" name="Rectángulo redondeado 6"/>
          <p:cNvSpPr/>
          <p:nvPr/>
        </p:nvSpPr>
        <p:spPr>
          <a:xfrm>
            <a:off x="3021874"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La Chi Cuadrada</a:t>
            </a:r>
            <a:endParaRPr lang="es-ES" dirty="0"/>
          </a:p>
        </p:txBody>
      </p:sp>
      <p:sp>
        <p:nvSpPr>
          <p:cNvPr id="8" name="Rectángulo redondeado 7"/>
          <p:cNvSpPr/>
          <p:nvPr/>
        </p:nvSpPr>
        <p:spPr>
          <a:xfrm>
            <a:off x="3021874" y="3419203"/>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independencia</a:t>
            </a:r>
            <a:endParaRPr lang="es-ES" dirty="0"/>
          </a:p>
        </p:txBody>
      </p:sp>
      <p:sp>
        <p:nvSpPr>
          <p:cNvPr id="9" name="Rectángulo redondeado 8"/>
          <p:cNvSpPr/>
          <p:nvPr/>
        </p:nvSpPr>
        <p:spPr>
          <a:xfrm>
            <a:off x="3021874" y="5261066"/>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homogeneidad</a:t>
            </a:r>
            <a:endParaRPr lang="es-ES" dirty="0"/>
          </a:p>
        </p:txBody>
      </p:sp>
    </p:spTree>
    <p:extLst>
      <p:ext uri="{BB962C8B-B14F-4D97-AF65-F5344CB8AC3E}">
        <p14:creationId xmlns:p14="http://schemas.microsoft.com/office/powerpoint/2010/main" val="388326341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26123" y="2018079"/>
            <a:ext cx="10515600" cy="1325563"/>
          </a:xfrm>
        </p:spPr>
        <p:txBody>
          <a:bodyPr/>
          <a:lstStyle/>
          <a:p>
            <a:pPr algn="ctr"/>
            <a:r>
              <a:rPr lang="es-CR" b="1" dirty="0" smtClean="0"/>
              <a:t>No lo veremos en este curso</a:t>
            </a:r>
            <a:endParaRPr lang="es-CR" b="1" dirty="0"/>
          </a:p>
        </p:txBody>
      </p:sp>
    </p:spTree>
    <p:extLst>
      <p:ext uri="{BB962C8B-B14F-4D97-AF65-F5344CB8AC3E}">
        <p14:creationId xmlns:p14="http://schemas.microsoft.com/office/powerpoint/2010/main" val="110697858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156120"/>
            <a:ext cx="10515600" cy="810532"/>
          </a:xfrm>
        </p:spPr>
        <p:txBody>
          <a:bodyPr/>
          <a:lstStyle/>
          <a:p>
            <a:pPr algn="ctr"/>
            <a:r>
              <a:rPr lang="es-CR" dirty="0" smtClean="0"/>
              <a:t>Índice</a:t>
            </a:r>
            <a:endParaRPr lang="es-ES" dirty="0"/>
          </a:p>
        </p:txBody>
      </p:sp>
      <p:sp>
        <p:nvSpPr>
          <p:cNvPr id="4" name="Elipse 3"/>
          <p:cNvSpPr/>
          <p:nvPr/>
        </p:nvSpPr>
        <p:spPr>
          <a:xfrm>
            <a:off x="838200"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838199" y="3383281"/>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endParaRPr lang="es-ES" dirty="0"/>
          </a:p>
        </p:txBody>
      </p:sp>
      <p:sp>
        <p:nvSpPr>
          <p:cNvPr id="6" name="Elipse 5"/>
          <p:cNvSpPr/>
          <p:nvPr/>
        </p:nvSpPr>
        <p:spPr>
          <a:xfrm>
            <a:off x="838199" y="5225144"/>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ES" dirty="0"/>
          </a:p>
        </p:txBody>
      </p:sp>
      <p:sp>
        <p:nvSpPr>
          <p:cNvPr id="7" name="Rectángulo redondeado 6"/>
          <p:cNvSpPr/>
          <p:nvPr/>
        </p:nvSpPr>
        <p:spPr>
          <a:xfrm>
            <a:off x="3021874"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La Chi Cuadrada</a:t>
            </a:r>
            <a:endParaRPr lang="es-ES" dirty="0"/>
          </a:p>
        </p:txBody>
      </p:sp>
      <p:sp>
        <p:nvSpPr>
          <p:cNvPr id="8" name="Rectángulo redondeado 7"/>
          <p:cNvSpPr/>
          <p:nvPr/>
        </p:nvSpPr>
        <p:spPr>
          <a:xfrm>
            <a:off x="3021874" y="3419203"/>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independencia</a:t>
            </a:r>
            <a:endParaRPr lang="es-ES" dirty="0"/>
          </a:p>
        </p:txBody>
      </p:sp>
      <p:sp>
        <p:nvSpPr>
          <p:cNvPr id="9" name="Rectángulo redondeado 8"/>
          <p:cNvSpPr/>
          <p:nvPr/>
        </p:nvSpPr>
        <p:spPr>
          <a:xfrm>
            <a:off x="3021874" y="5261066"/>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homogeneidad</a:t>
            </a:r>
            <a:endParaRPr lang="es-ES" dirty="0"/>
          </a:p>
        </p:txBody>
      </p:sp>
      <p:sp>
        <p:nvSpPr>
          <p:cNvPr id="12" name="Elipse 11"/>
          <p:cNvSpPr/>
          <p:nvPr/>
        </p:nvSpPr>
        <p:spPr>
          <a:xfrm>
            <a:off x="6709012"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4</a:t>
            </a:r>
            <a:endParaRPr lang="es-ES" dirty="0"/>
          </a:p>
        </p:txBody>
      </p:sp>
      <p:sp>
        <p:nvSpPr>
          <p:cNvPr id="13" name="Rectángulo redondeado 12"/>
          <p:cNvSpPr/>
          <p:nvPr/>
        </p:nvSpPr>
        <p:spPr>
          <a:xfrm>
            <a:off x="8892686"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Otros análisis de frecuencias</a:t>
            </a:r>
            <a:endParaRPr lang="es-ES" dirty="0"/>
          </a:p>
        </p:txBody>
      </p:sp>
    </p:spTree>
    <p:extLst>
      <p:ext uri="{BB962C8B-B14F-4D97-AF65-F5344CB8AC3E}">
        <p14:creationId xmlns:p14="http://schemas.microsoft.com/office/powerpoint/2010/main" val="20696993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926123" y="2018079"/>
            <a:ext cx="10515600" cy="1325563"/>
          </a:xfrm>
        </p:spPr>
        <p:txBody>
          <a:bodyPr/>
          <a:lstStyle/>
          <a:p>
            <a:pPr algn="ctr"/>
            <a:r>
              <a:rPr lang="es-CR" b="1" dirty="0" smtClean="0"/>
              <a:t>No lo veremos en este curso</a:t>
            </a:r>
            <a:endParaRPr lang="es-CR" b="1" dirty="0"/>
          </a:p>
        </p:txBody>
      </p:sp>
    </p:spTree>
    <p:extLst>
      <p:ext uri="{BB962C8B-B14F-4D97-AF65-F5344CB8AC3E}">
        <p14:creationId xmlns:p14="http://schemas.microsoft.com/office/powerpoint/2010/main" val="111021119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4769" y="180486"/>
            <a:ext cx="10515600" cy="1111983"/>
          </a:xfrm>
        </p:spPr>
        <p:txBody>
          <a:bodyPr/>
          <a:lstStyle/>
          <a:p>
            <a:r>
              <a:rPr lang="es-CR" dirty="0" smtClean="0"/>
              <a:t>Conclusión</a:t>
            </a:r>
            <a:endParaRPr lang="es-CR" dirty="0"/>
          </a:p>
        </p:txBody>
      </p:sp>
      <p:sp>
        <p:nvSpPr>
          <p:cNvPr id="3" name="Marcador de contenido 2"/>
          <p:cNvSpPr>
            <a:spLocks noGrp="1"/>
          </p:cNvSpPr>
          <p:nvPr>
            <p:ph idx="1"/>
          </p:nvPr>
        </p:nvSpPr>
        <p:spPr>
          <a:xfrm>
            <a:off x="179577" y="1508035"/>
            <a:ext cx="8368678" cy="5114437"/>
          </a:xfrm>
        </p:spPr>
        <p:txBody>
          <a:bodyPr/>
          <a:lstStyle/>
          <a:p>
            <a:pPr algn="just"/>
            <a:r>
              <a:rPr lang="es-CR" dirty="0" smtClean="0"/>
              <a:t>El presente  capítulo presenta una técnica analítica para analizar datos cualitativos.</a:t>
            </a:r>
          </a:p>
          <a:p>
            <a:pPr algn="just"/>
            <a:endParaRPr lang="es-CR" dirty="0"/>
          </a:p>
          <a:p>
            <a:pPr algn="just"/>
            <a:r>
              <a:rPr lang="es-CR" dirty="0" smtClean="0"/>
              <a:t>Se presenta la distribución de Chi-cuadrado, y su fundamento en el análisis de la información.</a:t>
            </a:r>
          </a:p>
          <a:p>
            <a:pPr algn="just"/>
            <a:endParaRPr lang="es-CR" dirty="0"/>
          </a:p>
          <a:p>
            <a:pPr algn="just"/>
            <a:r>
              <a:rPr lang="es-CR" dirty="0" smtClean="0"/>
              <a:t>La prueba de bondad de ajuste, prueba de independencia y prueba de homogeneidad son algunas herramientas para datos cualitativos que se quieren analizar mediante técnicas estadísticas.</a:t>
            </a:r>
            <a:endParaRPr lang="es-CR" dirty="0"/>
          </a:p>
        </p:txBody>
      </p:sp>
      <p:pic>
        <p:nvPicPr>
          <p:cNvPr id="11266" name="Picture 2" descr="Image result for conclus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22485" y="924791"/>
            <a:ext cx="2857500" cy="2466975"/>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Image result for conclus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62554" y="4253345"/>
            <a:ext cx="1977362" cy="2216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777548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endParaRPr lang="es-ES"/>
          </a:p>
        </p:txBody>
      </p:sp>
      <p:pic>
        <p:nvPicPr>
          <p:cNvPr id="3074" name="Picture 2" descr="Resultado de imagen para the e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35982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950</TotalTime>
  <Words>2080</Words>
  <Application>Microsoft Office PowerPoint</Application>
  <PresentationFormat>Personalizado</PresentationFormat>
  <Paragraphs>175</Paragraphs>
  <Slides>38</Slides>
  <Notes>0</Notes>
  <HiddenSlides>0</HiddenSlides>
  <MMClips>0</MMClips>
  <ScaleCrop>false</ScaleCrop>
  <HeadingPairs>
    <vt:vector size="4" baseType="variant">
      <vt:variant>
        <vt:lpstr>Tema</vt:lpstr>
      </vt:variant>
      <vt:variant>
        <vt:i4>1</vt:i4>
      </vt:variant>
      <vt:variant>
        <vt:lpstr>Títulos de diapositiva</vt:lpstr>
      </vt:variant>
      <vt:variant>
        <vt:i4>38</vt:i4>
      </vt:variant>
    </vt:vector>
  </HeadingPairs>
  <TitlesOfParts>
    <vt:vector size="39" baseType="lpstr">
      <vt:lpstr>Tema de Office</vt:lpstr>
      <vt:lpstr>Análisis de frecuencia: las tablas de contingencia </vt:lpstr>
      <vt:lpstr>Introducción</vt:lpstr>
      <vt:lpstr>Índice</vt:lpstr>
      <vt:lpstr>Índice</vt:lpstr>
      <vt:lpstr>Propiedades de la Chi-Cuadrado</vt:lpstr>
      <vt:lpstr>Propiedades de la Chi-Cuadrado</vt:lpstr>
      <vt:lpstr>Propiedades de la Chi-Cuadrado</vt:lpstr>
      <vt:lpstr>Propiedades de la Chi-Cuadrado</vt:lpstr>
      <vt:lpstr>Propiedades de la Chi-Cuadrado</vt:lpstr>
      <vt:lpstr>Propiedades de la Chi-Cuadrado</vt:lpstr>
      <vt:lpstr>Propiedades de la Chi-Cuadrado</vt:lpstr>
      <vt:lpstr>Chi- cuadrada</vt:lpstr>
      <vt:lpstr>Chi- cuadrada</vt:lpstr>
      <vt:lpstr>Presentación de PowerPoint</vt:lpstr>
      <vt:lpstr>Índice</vt:lpstr>
      <vt:lpstr>Prueba de independencia</vt:lpstr>
      <vt:lpstr>Prueba de independencia</vt:lpstr>
      <vt:lpstr>Prueba de independencia</vt:lpstr>
      <vt:lpstr>Prueba de independencia</vt:lpstr>
      <vt:lpstr>Prueba de independencia</vt:lpstr>
      <vt:lpstr>Prueba de independencia</vt:lpstr>
      <vt:lpstr>Prueba de independencia</vt:lpstr>
      <vt:lpstr>En resumen…</vt:lpstr>
      <vt:lpstr>Prueba de independencia: ejemplo</vt:lpstr>
      <vt:lpstr>Prueba de independencia</vt:lpstr>
      <vt:lpstr>Prueba de independencia</vt:lpstr>
      <vt:lpstr>Prueba de independencia</vt:lpstr>
      <vt:lpstr>Prueba de independencia</vt:lpstr>
      <vt:lpstr>Prueba de independencia</vt:lpstr>
      <vt:lpstr>Prueba de independencia</vt:lpstr>
      <vt:lpstr>Prueba de independencia</vt:lpstr>
      <vt:lpstr>Prueba de independencia</vt:lpstr>
      <vt:lpstr>Índice</vt:lpstr>
      <vt:lpstr>No lo veremos en este curso</vt:lpstr>
      <vt:lpstr>Índice</vt:lpstr>
      <vt:lpstr>No lo veremos en este curso</vt:lpstr>
      <vt:lpstr>Conclusión</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 frecuencia: las tablas de contingencia</dc:title>
  <dc:creator>Oscar</dc:creator>
  <cp:lastModifiedBy>Oscar Centeno Mora</cp:lastModifiedBy>
  <cp:revision>47</cp:revision>
  <dcterms:created xsi:type="dcterms:W3CDTF">2017-05-18T17:39:41Z</dcterms:created>
  <dcterms:modified xsi:type="dcterms:W3CDTF">2019-05-02T18:00:34Z</dcterms:modified>
</cp:coreProperties>
</file>