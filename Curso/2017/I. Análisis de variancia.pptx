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258" r:id="rId4"/>
    <p:sldId id="319" r:id="rId5"/>
    <p:sldId id="259" r:id="rId6"/>
    <p:sldId id="260" r:id="rId7"/>
    <p:sldId id="261" r:id="rId8"/>
    <p:sldId id="320" r:id="rId9"/>
    <p:sldId id="262" r:id="rId10"/>
    <p:sldId id="321" r:id="rId11"/>
    <p:sldId id="322" r:id="rId12"/>
    <p:sldId id="264" r:id="rId13"/>
    <p:sldId id="265" r:id="rId14"/>
    <p:sldId id="266" r:id="rId15"/>
    <p:sldId id="267" r:id="rId16"/>
    <p:sldId id="268" r:id="rId17"/>
    <p:sldId id="269" r:id="rId18"/>
    <p:sldId id="270" r:id="rId19"/>
    <p:sldId id="271" r:id="rId20"/>
    <p:sldId id="329" r:id="rId21"/>
    <p:sldId id="272" r:id="rId22"/>
    <p:sldId id="273" r:id="rId23"/>
    <p:sldId id="337" r:id="rId24"/>
    <p:sldId id="330" r:id="rId25"/>
    <p:sldId id="331" r:id="rId26"/>
    <p:sldId id="361" r:id="rId27"/>
    <p:sldId id="332" r:id="rId28"/>
    <p:sldId id="363" r:id="rId29"/>
    <p:sldId id="334" r:id="rId30"/>
    <p:sldId id="364" r:id="rId31"/>
    <p:sldId id="335" r:id="rId32"/>
    <p:sldId id="341" r:id="rId33"/>
    <p:sldId id="336" r:id="rId34"/>
    <p:sldId id="340" r:id="rId35"/>
    <p:sldId id="342" r:id="rId36"/>
    <p:sldId id="343" r:id="rId37"/>
    <p:sldId id="344" r:id="rId38"/>
    <p:sldId id="345" r:id="rId39"/>
    <p:sldId id="274" r:id="rId40"/>
    <p:sldId id="349" r:id="rId41"/>
    <p:sldId id="275" r:id="rId42"/>
    <p:sldId id="365" r:id="rId43"/>
    <p:sldId id="276" r:id="rId44"/>
    <p:sldId id="350" r:id="rId45"/>
    <p:sldId id="351" r:id="rId46"/>
    <p:sldId id="328" r:id="rId47"/>
    <p:sldId id="281" r:id="rId48"/>
    <p:sldId id="286" r:id="rId49"/>
    <p:sldId id="287" r:id="rId50"/>
    <p:sldId id="352" r:id="rId51"/>
    <p:sldId id="353" r:id="rId52"/>
    <p:sldId id="355" r:id="rId53"/>
    <p:sldId id="356" r:id="rId54"/>
    <p:sldId id="357" r:id="rId55"/>
    <p:sldId id="360" r:id="rId56"/>
    <p:sldId id="358" r:id="rId57"/>
    <p:sldId id="359" r:id="rId58"/>
    <p:sldId id="366" r:id="rId59"/>
    <p:sldId id="346" r:id="rId60"/>
    <p:sldId id="288" r:id="rId61"/>
    <p:sldId id="347" r:id="rId62"/>
    <p:sldId id="290" r:id="rId63"/>
    <p:sldId id="348" r:id="rId64"/>
    <p:sldId id="292" r:id="rId65"/>
    <p:sldId id="313" r:id="rId66"/>
    <p:sldId id="317" r:id="rId67"/>
    <p:sldId id="318" r:id="rId6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25" autoAdjust="0"/>
  </p:normalViewPr>
  <p:slideViewPr>
    <p:cSldViewPr snapToGrid="0">
      <p:cViewPr varScale="1">
        <p:scale>
          <a:sx n="67" d="100"/>
          <a:sy n="67" d="100"/>
        </p:scale>
        <p:origin x="-84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5074B-10CF-45B8-AD83-272D9954010C}" type="datetimeFigureOut">
              <a:rPr lang="es-CR" smtClean="0"/>
              <a:t>23/5/2016</a:t>
            </a:fld>
            <a:endParaRPr lang="es-CR"/>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62268D-AD5A-4DB4-B867-B72666DC48CE}" type="slidenum">
              <a:rPr lang="es-CR" smtClean="0"/>
              <a:t>‹Nº›</a:t>
            </a:fld>
            <a:endParaRPr lang="es-CR"/>
          </a:p>
        </p:txBody>
      </p:sp>
    </p:spTree>
    <p:extLst>
      <p:ext uri="{BB962C8B-B14F-4D97-AF65-F5344CB8AC3E}">
        <p14:creationId xmlns:p14="http://schemas.microsoft.com/office/powerpoint/2010/main" val="4290320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R" dirty="0"/>
          </a:p>
        </p:txBody>
      </p:sp>
      <p:sp>
        <p:nvSpPr>
          <p:cNvPr id="4" name="3 Marcador de número de diapositiva"/>
          <p:cNvSpPr>
            <a:spLocks noGrp="1"/>
          </p:cNvSpPr>
          <p:nvPr>
            <p:ph type="sldNum" sz="quarter" idx="10"/>
          </p:nvPr>
        </p:nvSpPr>
        <p:spPr/>
        <p:txBody>
          <a:bodyPr/>
          <a:lstStyle/>
          <a:p>
            <a:fld id="{EF62268D-AD5A-4DB4-B867-B72666DC48CE}" type="slidenum">
              <a:rPr lang="es-CR" smtClean="0"/>
              <a:t>31</a:t>
            </a:fld>
            <a:endParaRPr lang="es-CR"/>
          </a:p>
        </p:txBody>
      </p:sp>
    </p:spTree>
    <p:extLst>
      <p:ext uri="{BB962C8B-B14F-4D97-AF65-F5344CB8AC3E}">
        <p14:creationId xmlns:p14="http://schemas.microsoft.com/office/powerpoint/2010/main" val="1875098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706208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77263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3154189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F8B0F625-9808-4779-8F66-CE6BCDBB7DF7}" type="datetimeFigureOut">
              <a:rPr lang="es-ES" smtClean="0"/>
              <a:t>23/05/2016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88238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F8B0F625-9808-4779-8F66-CE6BCDBB7DF7}" type="datetimeFigureOut">
              <a:rPr lang="es-ES" smtClean="0"/>
              <a:t>23/05/2016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35616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F8B0F625-9808-4779-8F66-CE6BCDBB7DF7}" type="datetimeFigureOut">
              <a:rPr lang="es-ES" smtClean="0"/>
              <a:t>23/05/2016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1660685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8B0F625-9808-4779-8F66-CE6BCDBB7DF7}" type="datetimeFigureOut">
              <a:rPr lang="es-ES" smtClean="0"/>
              <a:t>23/05/2016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058866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F8B0F625-9808-4779-8F66-CE6BCDBB7DF7}" type="datetimeFigureOut">
              <a:rPr lang="es-ES" smtClean="0"/>
              <a:t>23/05/2016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14487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F8B0F625-9808-4779-8F66-CE6BCDBB7DF7}" type="datetimeFigureOut">
              <a:rPr lang="es-ES" smtClean="0"/>
              <a:t>23/05/2016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177796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105993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316660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0F625-9808-4779-8F66-CE6BCDBB7DF7}" type="datetimeFigureOut">
              <a:rPr lang="es-ES" smtClean="0"/>
              <a:t>23/05/2016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656CEF-6D7F-4803-B9E0-F25AC4412ED0}" type="slidenum">
              <a:rPr lang="es-ES" smtClean="0"/>
              <a:t>‹Nº›</a:t>
            </a:fld>
            <a:endParaRPr lang="es-ES"/>
          </a:p>
        </p:txBody>
      </p:sp>
    </p:spTree>
    <p:extLst>
      <p:ext uri="{BB962C8B-B14F-4D97-AF65-F5344CB8AC3E}">
        <p14:creationId xmlns:p14="http://schemas.microsoft.com/office/powerpoint/2010/main" val="1676132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0.png"/><Relationship Id="rId2"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4.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30.gif"/></Relationships>
</file>

<file path=ppt/slides/_rels/slide2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2.gif"/></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3.gif"/><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9.gif"/></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54.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31194" y="213739"/>
            <a:ext cx="8692427" cy="893166"/>
          </a:xfrm>
        </p:spPr>
        <p:txBody>
          <a:bodyPr>
            <a:normAutofit fontScale="90000"/>
          </a:bodyPr>
          <a:lstStyle/>
          <a:p>
            <a:r>
              <a:rPr lang="es-CR" dirty="0" smtClean="0"/>
              <a:t>Análisis de variancia</a:t>
            </a:r>
            <a:endParaRPr lang="es-ES" dirty="0"/>
          </a:p>
        </p:txBody>
      </p:sp>
      <p:sp>
        <p:nvSpPr>
          <p:cNvPr id="3" name="Subtítulo 2"/>
          <p:cNvSpPr>
            <a:spLocks noGrp="1"/>
          </p:cNvSpPr>
          <p:nvPr>
            <p:ph type="subTitle" idx="1"/>
          </p:nvPr>
        </p:nvSpPr>
        <p:spPr>
          <a:xfrm>
            <a:off x="8149388" y="5768396"/>
            <a:ext cx="3906371" cy="737949"/>
          </a:xfrm>
        </p:spPr>
        <p:txBody>
          <a:bodyPr>
            <a:normAutofit/>
          </a:bodyPr>
          <a:lstStyle/>
          <a:p>
            <a:pPr algn="r"/>
            <a:r>
              <a:rPr lang="es-CR" sz="3200" dirty="0" smtClean="0"/>
              <a:t>Oscar Centeno Mora</a:t>
            </a:r>
            <a:endParaRPr lang="es-ES" sz="3200" dirty="0"/>
          </a:p>
        </p:txBody>
      </p:sp>
      <p:pic>
        <p:nvPicPr>
          <p:cNvPr id="1026" name="Picture 2" descr="https://www.numberanalytics.com/image/ANOVA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40" y="1462929"/>
            <a:ext cx="7505312" cy="50434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vtasla.org/storage/sponsorship/ANOVAcmyk.jpg?__SQUARESPACE_CACHEVERSION=145324853907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6047" y="1670007"/>
            <a:ext cx="3021866" cy="2420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57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2579" y="29678"/>
            <a:ext cx="10515600" cy="820554"/>
          </a:xfrm>
        </p:spPr>
        <p:txBody>
          <a:bodyPr/>
          <a:lstStyle/>
          <a:p>
            <a:pPr algn="ctr"/>
            <a:r>
              <a:rPr lang="es-CR" dirty="0" smtClean="0"/>
              <a:t>Introducción</a:t>
            </a:r>
            <a:endParaRPr lang="es-ES" dirty="0"/>
          </a:p>
        </p:txBody>
      </p:sp>
      <p:sp>
        <p:nvSpPr>
          <p:cNvPr id="3" name="Marcador de contenido 2"/>
          <p:cNvSpPr>
            <a:spLocks noGrp="1"/>
          </p:cNvSpPr>
          <p:nvPr>
            <p:ph idx="1"/>
          </p:nvPr>
        </p:nvSpPr>
        <p:spPr>
          <a:xfrm>
            <a:off x="387823" y="946485"/>
            <a:ext cx="8646993" cy="5710990"/>
          </a:xfrm>
        </p:spPr>
        <p:txBody>
          <a:bodyPr>
            <a:normAutofit/>
          </a:bodyPr>
          <a:lstStyle/>
          <a:p>
            <a:r>
              <a:rPr lang="es-CR" sz="2400" dirty="0" smtClean="0"/>
              <a:t>En los temas anteriores se estudiaron los conceptos de prueba de hipótesis y comparación de medias, los cuales son la base para el presente tema.</a:t>
            </a:r>
          </a:p>
          <a:p>
            <a:endParaRPr lang="es-CR" sz="2400" dirty="0"/>
          </a:p>
          <a:p>
            <a:r>
              <a:rPr lang="es-CR" sz="2400" dirty="0" smtClean="0"/>
              <a:t>Se estudiara el análisis de variancia, el cual se define como </a:t>
            </a:r>
          </a:p>
          <a:p>
            <a:pPr marL="0" indent="0">
              <a:buNone/>
            </a:pPr>
            <a:endParaRPr lang="es-CR" sz="2400" dirty="0" smtClean="0"/>
          </a:p>
          <a:p>
            <a:pPr marL="0" indent="0" algn="ctr">
              <a:buNone/>
            </a:pPr>
            <a:r>
              <a:rPr lang="es-CR" sz="2400" dirty="0" smtClean="0"/>
              <a:t>“</a:t>
            </a:r>
            <a:r>
              <a:rPr lang="es-CR" sz="2400" i="1" dirty="0" smtClean="0"/>
              <a:t>una técnica en la que la variancia total de un conjunto de datos se divide en dos o más componentes, y cada uno de ellos se asocia con una fuente específica de variación, de manera que durante el análisis es posible encontrar la magnitud con la que contribuye cada una de esas fuentes en la variancia total</a:t>
            </a:r>
            <a:r>
              <a:rPr lang="es-CR" sz="2400" dirty="0" smtClean="0"/>
              <a:t> ”</a:t>
            </a:r>
          </a:p>
          <a:p>
            <a:pPr marL="0" indent="0">
              <a:buNone/>
            </a:pPr>
            <a:endParaRPr lang="es-CR" sz="2400" dirty="0" smtClean="0"/>
          </a:p>
          <a:p>
            <a:r>
              <a:rPr lang="es-CR" sz="2400" dirty="0" smtClean="0"/>
              <a:t>El desarrollo del análisis de variancia (ANOVA en inglés) se debe sobre todo al trabajo de R.A. Fisher.</a:t>
            </a:r>
            <a:endParaRPr lang="es-CR" sz="2400" dirty="0"/>
          </a:p>
          <a:p>
            <a:endParaRPr lang="es-CR" sz="2400" dirty="0" smtClean="0"/>
          </a:p>
        </p:txBody>
      </p:sp>
      <p:pic>
        <p:nvPicPr>
          <p:cNvPr id="12290" name="Picture 2" descr="http://develve.net/files/One%20way%20Anova%20te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075" y="1058862"/>
            <a:ext cx="2176462" cy="164623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mips.stanford.edu/courses/stats_data_analsys/lesson_8/anova_grap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4343" y="3911600"/>
            <a:ext cx="2447925"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6186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Elipse 7"/>
          <p:cNvSpPr/>
          <p:nvPr/>
        </p:nvSpPr>
        <p:spPr>
          <a:xfrm>
            <a:off x="5902088"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ES" dirty="0"/>
          </a:p>
        </p:txBody>
      </p:sp>
      <p:sp>
        <p:nvSpPr>
          <p:cNvPr id="9" name="Elipse 8"/>
          <p:cNvSpPr/>
          <p:nvPr/>
        </p:nvSpPr>
        <p:spPr>
          <a:xfrm>
            <a:off x="5902088"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
        <p:nvSpPr>
          <p:cNvPr id="15" name="Rectángulo redondeado 14"/>
          <p:cNvSpPr/>
          <p:nvPr/>
        </p:nvSpPr>
        <p:spPr>
          <a:xfrm>
            <a:off x="8375744"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diseños</a:t>
            </a:r>
            <a:endParaRPr lang="es-ES" dirty="0"/>
          </a:p>
        </p:txBody>
      </p:sp>
      <p:sp>
        <p:nvSpPr>
          <p:cNvPr id="16" name="Rectángulo redondeado 15"/>
          <p:cNvSpPr/>
          <p:nvPr/>
        </p:nvSpPr>
        <p:spPr>
          <a:xfrm>
            <a:off x="8375744" y="5583571"/>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Efectos fijos o aleatorios</a:t>
            </a:r>
            <a:endParaRPr lang="es-ES" dirty="0"/>
          </a:p>
        </p:txBody>
      </p:sp>
    </p:spTree>
    <p:extLst>
      <p:ext uri="{BB962C8B-B14F-4D97-AF65-F5344CB8AC3E}">
        <p14:creationId xmlns:p14="http://schemas.microsoft.com/office/powerpoint/2010/main" val="2274115399"/>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Tree>
    <p:extLst>
      <p:ext uri="{BB962C8B-B14F-4D97-AF65-F5344CB8AC3E}">
        <p14:creationId xmlns:p14="http://schemas.microsoft.com/office/powerpoint/2010/main" val="1736034130"/>
      </p:ext>
    </p:extLst>
  </p:cSld>
  <p:clrMapOvr>
    <a:masterClrMapping/>
  </p:clrMapOvr>
  <mc:AlternateContent xmlns:mc="http://schemas.openxmlformats.org/markup-compatibility/2006" xmlns:p14="http://schemas.microsoft.com/office/powerpoint/2010/main">
    <mc:Choice Requires="p14">
      <p:transition spd="slow" p14:dur="1400">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80210"/>
            <a:ext cx="10515600" cy="879932"/>
          </a:xfrm>
        </p:spPr>
        <p:txBody>
          <a:bodyPr/>
          <a:lstStyle/>
          <a:p>
            <a:pPr algn="ctr"/>
            <a:r>
              <a:rPr lang="es-CR" dirty="0" smtClean="0"/>
              <a:t>Fundamentos del ANOVA</a:t>
            </a:r>
            <a:endParaRPr lang="es-ES" dirty="0"/>
          </a:p>
        </p:txBody>
      </p:sp>
      <p:sp>
        <p:nvSpPr>
          <p:cNvPr id="3" name="Marcador de contenido 2"/>
          <p:cNvSpPr>
            <a:spLocks noGrp="1"/>
          </p:cNvSpPr>
          <p:nvPr>
            <p:ph idx="1"/>
          </p:nvPr>
        </p:nvSpPr>
        <p:spPr>
          <a:xfrm>
            <a:off x="244641" y="1087688"/>
            <a:ext cx="8033084" cy="5553744"/>
          </a:xfrm>
        </p:spPr>
        <p:txBody>
          <a:bodyPr>
            <a:normAutofit/>
          </a:bodyPr>
          <a:lstStyle/>
          <a:p>
            <a:pPr algn="just"/>
            <a:r>
              <a:rPr lang="es-CR" sz="2400" dirty="0" smtClean="0"/>
              <a:t>El Análisis de variancia (ANOVA), se origina en los análisis derivados de experimentos. </a:t>
            </a:r>
          </a:p>
          <a:p>
            <a:pPr algn="just"/>
            <a:endParaRPr lang="es-CR" sz="2400" dirty="0"/>
          </a:p>
          <a:p>
            <a:pPr algn="just"/>
            <a:r>
              <a:rPr lang="es-CR" sz="2400" dirty="0" smtClean="0"/>
              <a:t>El ANOVA se utiliza para cumplir dos objetivos</a:t>
            </a:r>
          </a:p>
          <a:p>
            <a:pPr marL="0" indent="0" algn="just">
              <a:buNone/>
            </a:pPr>
            <a:endParaRPr lang="es-CR" sz="2400" dirty="0" smtClean="0"/>
          </a:p>
          <a:p>
            <a:pPr marL="914400" lvl="1" indent="-457200" algn="just">
              <a:buFont typeface="+mj-lt"/>
              <a:buAutoNum type="arabicPeriod"/>
            </a:pPr>
            <a:r>
              <a:rPr lang="es-CR" sz="2000" dirty="0" smtClean="0"/>
              <a:t>Estimar y probar hipótesis respecto a las variancias</a:t>
            </a:r>
          </a:p>
          <a:p>
            <a:pPr marL="914400" lvl="1" indent="-457200" algn="just">
              <a:buFont typeface="+mj-lt"/>
              <a:buAutoNum type="arabicPeriod"/>
            </a:pPr>
            <a:r>
              <a:rPr lang="es-CR" sz="2000" dirty="0" smtClean="0"/>
              <a:t>Estimar y probar hipótesis respecto a las medias</a:t>
            </a:r>
          </a:p>
          <a:p>
            <a:pPr marL="0" indent="0" algn="just">
              <a:buNone/>
            </a:pPr>
            <a:endParaRPr lang="es-CR" sz="2400" dirty="0"/>
          </a:p>
          <a:p>
            <a:pPr algn="just"/>
            <a:r>
              <a:rPr lang="es-CR" sz="2400" dirty="0" smtClean="0"/>
              <a:t>Se estudia únicamente las hipótesis respecto a las medias.</a:t>
            </a:r>
          </a:p>
          <a:p>
            <a:pPr algn="just"/>
            <a:endParaRPr lang="es-CR" sz="2400" dirty="0"/>
          </a:p>
          <a:p>
            <a:pPr algn="just"/>
            <a:r>
              <a:rPr lang="es-CR" sz="2400" dirty="0" smtClean="0"/>
              <a:t>En los temas anteriores se probó como hacer PH bajo la comparación de 1 </a:t>
            </a:r>
            <a:r>
              <a:rPr lang="es-CR" sz="2400" dirty="0" err="1" smtClean="0"/>
              <a:t>ó</a:t>
            </a:r>
            <a:r>
              <a:rPr lang="es-CR" sz="2400" dirty="0" smtClean="0"/>
              <a:t> 2 medias. El ANOVA se aplica para más de dos medias.</a:t>
            </a:r>
            <a:endParaRPr lang="es-CR" sz="2400" dirty="0"/>
          </a:p>
        </p:txBody>
      </p:sp>
      <p:sp>
        <p:nvSpPr>
          <p:cNvPr id="4" name="AutoShape 2" descr="https://master-blog.questionpro.com/wp-content/uploads/2016/03/rsz_anova.jp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13316" name="Picture 4" descr="Résultat de recherche d'images pour &quot;Anova&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9473" y="1225550"/>
            <a:ext cx="3260727" cy="2324100"/>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https://encrypted-tbn0.gstatic.com/images?q=tbn:ANd9GcR110nnktNA6YNao3R8o277mnQ5OWGBJtrt0KkpMu1jf4EsmWLq"/>
          <p:cNvPicPr>
            <a:picLocks noChangeAspect="1" noChangeArrowheads="1"/>
          </p:cNvPicPr>
          <p:nvPr/>
        </p:nvPicPr>
        <p:blipFill rotWithShape="1">
          <a:blip r:embed="rId3">
            <a:extLst>
              <a:ext uri="{28A0092B-C50C-407E-A947-70E740481C1C}">
                <a14:useLocalDpi xmlns:a14="http://schemas.microsoft.com/office/drawing/2010/main" val="0"/>
              </a:ext>
            </a:extLst>
          </a:blip>
          <a:srcRect t="27259" b="28889"/>
          <a:stretch/>
        </p:blipFill>
        <p:spPr bwMode="auto">
          <a:xfrm>
            <a:off x="8722430" y="4419600"/>
            <a:ext cx="2814811" cy="147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337461"/>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hem.bredband.net/didrik71/grafer/3anova.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22947"/>
            <a:ext cx="5896443" cy="5395247"/>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1"/>
          <p:cNvSpPr>
            <a:spLocks noGrp="1"/>
          </p:cNvSpPr>
          <p:nvPr>
            <p:ph type="title"/>
          </p:nvPr>
        </p:nvSpPr>
        <p:spPr>
          <a:xfrm>
            <a:off x="838200" y="80210"/>
            <a:ext cx="10515600" cy="879932"/>
          </a:xfrm>
        </p:spPr>
        <p:txBody>
          <a:bodyPr/>
          <a:lstStyle/>
          <a:p>
            <a:pPr algn="ctr"/>
            <a:r>
              <a:rPr lang="es-CR" dirty="0" smtClean="0"/>
              <a:t>Fundamentos del ANOVA</a:t>
            </a:r>
            <a:endParaRPr lang="es-ES" dirty="0"/>
          </a:p>
        </p:txBody>
      </p:sp>
      <p:sp>
        <p:nvSpPr>
          <p:cNvPr id="4" name="Rectángulo redondeado 3"/>
          <p:cNvSpPr/>
          <p:nvPr/>
        </p:nvSpPr>
        <p:spPr>
          <a:xfrm>
            <a:off x="7908758" y="1122947"/>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tienen 3 poblaciones</a:t>
            </a:r>
            <a:endParaRPr lang="es-ES" sz="2400" dirty="0"/>
          </a:p>
        </p:txBody>
      </p:sp>
      <p:sp>
        <p:nvSpPr>
          <p:cNvPr id="7" name="Rectángulo redondeado 6"/>
          <p:cNvSpPr/>
          <p:nvPr/>
        </p:nvSpPr>
        <p:spPr>
          <a:xfrm>
            <a:off x="7908758" y="3130759"/>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quiere saber si hay diferencia a nivel de las medias</a:t>
            </a:r>
            <a:endParaRPr lang="es-ES" sz="2400" dirty="0"/>
          </a:p>
        </p:txBody>
      </p:sp>
      <p:sp>
        <p:nvSpPr>
          <p:cNvPr id="8" name="Rectángulo redondeado 7"/>
          <p:cNvSpPr/>
          <p:nvPr/>
        </p:nvSpPr>
        <p:spPr>
          <a:xfrm>
            <a:off x="7908758" y="5138573"/>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debe contemplar la variabilidad….</a:t>
            </a:r>
            <a:endParaRPr lang="es-ES" sz="2400" dirty="0"/>
          </a:p>
        </p:txBody>
      </p:sp>
    </p:spTree>
    <p:extLst>
      <p:ext uri="{BB962C8B-B14F-4D97-AF65-F5344CB8AC3E}">
        <p14:creationId xmlns:p14="http://schemas.microsoft.com/office/powerpoint/2010/main" val="3424359621"/>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38200" y="80210"/>
            <a:ext cx="10515600" cy="879932"/>
          </a:xfrm>
        </p:spPr>
        <p:txBody>
          <a:bodyPr/>
          <a:lstStyle/>
          <a:p>
            <a:pPr algn="ctr"/>
            <a:r>
              <a:rPr lang="es-CR" dirty="0" smtClean="0"/>
              <a:t>Fundamentos del ANOVA</a:t>
            </a:r>
            <a:endParaRPr lang="es-ES" dirty="0"/>
          </a:p>
        </p:txBody>
      </p:sp>
      <p:pic>
        <p:nvPicPr>
          <p:cNvPr id="3074" name="Picture 2" descr="http://zoonek2.free.fr/UNIX/48_R/g5.png"/>
          <p:cNvPicPr>
            <a:picLocks noChangeAspect="1" noChangeArrowheads="1"/>
          </p:cNvPicPr>
          <p:nvPr/>
        </p:nvPicPr>
        <p:blipFill rotWithShape="1">
          <a:blip r:embed="rId2">
            <a:extLst>
              <a:ext uri="{28A0092B-C50C-407E-A947-70E740481C1C}">
                <a14:useLocalDpi xmlns:a14="http://schemas.microsoft.com/office/drawing/2010/main" val="0"/>
              </a:ext>
            </a:extLst>
          </a:blip>
          <a:srcRect l="6695" t="12794" r="18600" b="9083"/>
          <a:stretch/>
        </p:blipFill>
        <p:spPr bwMode="auto">
          <a:xfrm>
            <a:off x="420983" y="1138990"/>
            <a:ext cx="6204406" cy="540619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redondeado 5"/>
          <p:cNvSpPr/>
          <p:nvPr/>
        </p:nvSpPr>
        <p:spPr>
          <a:xfrm>
            <a:off x="7908758" y="1138990"/>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tienen 7 poblaciones</a:t>
            </a:r>
            <a:endParaRPr lang="es-ES" sz="2400" dirty="0"/>
          </a:p>
        </p:txBody>
      </p:sp>
      <p:sp>
        <p:nvSpPr>
          <p:cNvPr id="7" name="Rectángulo redondeado 6"/>
          <p:cNvSpPr/>
          <p:nvPr/>
        </p:nvSpPr>
        <p:spPr>
          <a:xfrm>
            <a:off x="7908758" y="3130759"/>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quiere saber si hay diferencia a nivel de las medias</a:t>
            </a:r>
            <a:endParaRPr lang="es-ES" sz="2400" dirty="0"/>
          </a:p>
        </p:txBody>
      </p:sp>
      <p:sp>
        <p:nvSpPr>
          <p:cNvPr id="8" name="Rectángulo redondeado 7"/>
          <p:cNvSpPr/>
          <p:nvPr/>
        </p:nvSpPr>
        <p:spPr>
          <a:xfrm>
            <a:off x="7908758" y="5138573"/>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debe contemplar igual la variabilidad….</a:t>
            </a:r>
            <a:endParaRPr lang="es-ES" sz="2400" dirty="0"/>
          </a:p>
        </p:txBody>
      </p:sp>
    </p:spTree>
    <p:extLst>
      <p:ext uri="{BB962C8B-B14F-4D97-AF65-F5344CB8AC3E}">
        <p14:creationId xmlns:p14="http://schemas.microsoft.com/office/powerpoint/2010/main" val="3163997976"/>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7" name="Rectángulo redondeado 16"/>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Tree>
    <p:extLst>
      <p:ext uri="{BB962C8B-B14F-4D97-AF65-F5344CB8AC3E}">
        <p14:creationId xmlns:p14="http://schemas.microsoft.com/office/powerpoint/2010/main" val="3744762102"/>
      </p:ext>
    </p:extLst>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72619"/>
            <a:ext cx="10515600" cy="1046581"/>
          </a:xfrm>
        </p:spPr>
        <p:txBody>
          <a:bodyPr/>
          <a:lstStyle/>
          <a:p>
            <a:pPr algn="ctr"/>
            <a:r>
              <a:rPr lang="es-CR" dirty="0" smtClean="0"/>
              <a:t>Etapas de un ANOVA</a:t>
            </a:r>
            <a:endParaRPr lang="es-ES" dirty="0"/>
          </a:p>
        </p:txBody>
      </p:sp>
      <p:sp>
        <p:nvSpPr>
          <p:cNvPr id="3" name="Marcador de contenido 2"/>
          <p:cNvSpPr>
            <a:spLocks noGrp="1"/>
          </p:cNvSpPr>
          <p:nvPr>
            <p:ph idx="1"/>
          </p:nvPr>
        </p:nvSpPr>
        <p:spPr>
          <a:xfrm>
            <a:off x="228601" y="1219200"/>
            <a:ext cx="8883316" cy="5293895"/>
          </a:xfrm>
        </p:spPr>
        <p:txBody>
          <a:bodyPr>
            <a:normAutofit/>
          </a:bodyPr>
          <a:lstStyle/>
          <a:p>
            <a:pPr algn="just"/>
            <a:r>
              <a:rPr lang="es-CR" sz="2400" dirty="0" smtClean="0"/>
              <a:t>En la presentación del análisis de variancia , se siguen los mismos pasos vistos para la prueba de hipótesis...</a:t>
            </a:r>
          </a:p>
          <a:p>
            <a:pPr marL="0" indent="0" algn="just">
              <a:buNone/>
            </a:pPr>
            <a:endParaRPr lang="es-CR" sz="2400" dirty="0" smtClean="0"/>
          </a:p>
          <a:p>
            <a:pPr algn="just"/>
            <a:r>
              <a:rPr lang="es-CR" sz="2400" dirty="0" smtClean="0"/>
              <a:t>…más uno adicional si se rechaza la hipótesis de igualdad de medias</a:t>
            </a:r>
          </a:p>
          <a:p>
            <a:pPr marL="0" indent="0" algn="just">
              <a:buNone/>
            </a:pPr>
            <a:endParaRPr lang="es-CR" sz="2400" dirty="0"/>
          </a:p>
          <a:p>
            <a:pPr algn="just"/>
            <a:r>
              <a:rPr lang="es-CR" sz="2400" dirty="0" smtClean="0"/>
              <a:t>Se vuelve a presentar el esquema para realizar una prueba de hipótesis, dado que debemos entregar nuevos conceptos, necesarios para adaptar el procedimiento al análisis de variancia.</a:t>
            </a:r>
          </a:p>
          <a:p>
            <a:pPr algn="just"/>
            <a:endParaRPr lang="es-CR" sz="2400" dirty="0" smtClean="0"/>
          </a:p>
          <a:p>
            <a:pPr algn="just"/>
            <a:r>
              <a:rPr lang="es-CR" sz="2400" dirty="0" smtClean="0"/>
              <a:t>Las diferencias más importantes se encuentran a nivel de la descripción de los datos, el cálculo de la estadística de prueba, el análisis de las diferencias, y sobre todo, el establecimiento de un modelo lineal… </a:t>
            </a:r>
            <a:endParaRPr lang="es-CR" sz="2400" dirty="0"/>
          </a:p>
          <a:p>
            <a:pPr algn="just"/>
            <a:endParaRPr lang="es-ES" sz="2400" dirty="0"/>
          </a:p>
        </p:txBody>
      </p:sp>
      <p:pic>
        <p:nvPicPr>
          <p:cNvPr id="14338" name="Picture 2" descr="http://www.alsms.co.uk/wp-content/uploads/2014/12/3steps-20140326042407248.jpg"/>
          <p:cNvPicPr>
            <a:picLocks noChangeAspect="1" noChangeArrowheads="1"/>
          </p:cNvPicPr>
          <p:nvPr/>
        </p:nvPicPr>
        <p:blipFill rotWithShape="1">
          <a:blip r:embed="rId2">
            <a:extLst>
              <a:ext uri="{28A0092B-C50C-407E-A947-70E740481C1C}">
                <a14:useLocalDpi xmlns:a14="http://schemas.microsoft.com/office/drawing/2010/main" val="0"/>
              </a:ext>
            </a:extLst>
          </a:blip>
          <a:srcRect l="14658"/>
          <a:stretch/>
        </p:blipFill>
        <p:spPr bwMode="auto">
          <a:xfrm>
            <a:off x="9588500" y="1508122"/>
            <a:ext cx="2147650" cy="167957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data:image/jpeg;base64,/9j/4AAQSkZJRgABAQAAAQABAAD/2wCEAAkGBxISEBUTExMWFhUWFxUVFRcYEhsaExcYGhgaFxcXGBgYKCggGBolHRUVITEhJSkrLi4uFx8zODMtNygtLisBCgoKDg0OGxAQGy4lICYvLS0vLi0rLS0tLS0tLS0tLS0tLS0tLS0tLS0vKy0tLSstLS0tLS0tLS0tLSstLS0tLf/AABEIALcBEwMBIgACEQEDEQH/xAAcAAEAAgMBAQEAAAAAAAAAAAAAAwYEBQcCAQj/xABDEAACAQECCAwFAgQFBQEAAAAAAQIDBBEFBhITITFB0RUyUVJTYXGBkZKisSIzQnKhFMEjgpPhBxZDYvFUg6Pi8ET/xAAaAQEAAwEBAQAAAAAAAAAAAAAAAQIDBQQG/8QAJREBAAIBAwQCAgMAAAAAAAAAAAECEQMSIQQxQVEFEzKxImGB/9oADAMBAAIRAxEAPwDtFmoQyI/DHix+lchLmIc2PlR8svEj9sfYlAjzEObHyoZiHNj5USACPMQ5sfKhmIc2PlRIAI8xDmx8qGYhzY+VEgAjzEObHyoZiHNj5USACPMQ5sfKhmIc2PlRIAI8xDmx8qGYhzY+VEgAjzEObHyoZiHNj5USACPMQ5sfKhmIc2PlRIAI8xDmx8qGYhzY+VEgAjzEObHyoZiHNj5USACPMQ5sfKhmIc2PlRIAI8xDmx8qGYhzY+VEgAjzEObHyoZiHNj5USACPMQ5sfKhmIc2PlRIAI8xDmx8qGYhzY+VEgAjzEObHyoZiHNj5USACv4Soxzsvhjs2LkR9PeEvmy7vZADb2XiR+2PsSkVl4kftj7EoAAAAAAAAAAAAAAAAAAAAAAAAAAAAAAAAAAAAYtpwlRpu6dWEXyOSv8AAUMJUZu6NSLb1adfZfr7iu+ucZW2WxnDKABZUAAGjwl82Xd7IDCXzZd3sgBt7LxI/bH2JSKy8SP2x9iUAAAAAAAAAAAAAAAAAAAAAAAAAAAAAAAAAVzHXDMqFJRg7pzv07YxWtrr2eJYyjf4kWWX8OotVzi+p33rx0+B5esvaujM1e34+lL9RWL9lKdZu9t3s80LdKnK9PRtWx7n1kEpET0vQcKnE5h9RqxWazEuwYpYVdek1J3yptJva01fFvru9jeFP/w2sko0qtV8WpKMYdcaccnKXU5ZXgXA+j0ZmaRl8frREakxAADRk0eEvmy7vZAYS+bLu9kANvZeJH7Y+xKRWXiR+2PsSgAAAAAAAAAAAAAAAAAAAAAAAAAAAAAAAAGafGDCFnVGSqtSi9F1+t9TW1ayqYzYwSdSUIq9RlJfFHQrndoW3VrZVrZWqT+KTbWpPZ2LYjl6/wAhXmtYz+na6X4q04vecef7Ytsccp5N+Tsv1mLNX7WuwkmeGc2Jdu0eHSMA480c3GFWOQ4xUb1H4NCu0KK0dlySLBY8ZbNVnkQne7r+o5LgfBs7RUzdO7KabV7uWhXvSbujiTa8tRdO5P6suOSut3Nv8HS0uq15iP45hxeo6PpazObYn06qnfpR9MXBdldKjCnKWU4q5vd1bDKOnDiz3aPCXzZd3sgMJfNl3eyBKG3svEj9sfYlIrLxI/bH2JQAAAAAAAAAAAAAAAAAAAAAAAAAAAAAAAAMWvg+jNqU6cJNaU3FP/k0OP0UrHckksqNyS7d5Z2yi48YXhUp5EdSet/V2Lk0azydZNa6Vvcvd0O+2vT1Euf1CNnu5tpLS20kuVvQiy4w4nVLPQhVTc9H8VXcR8qu+nZfv0camna1ZtEdn0err0paK2nmezVYr2zNWulLZlJPses7Yfn5VFFp3pXO/SzpWKuPCtFSNGSjfk6ZZauVy1t6PDrOj0OtERslyPk9GbTF4/1dweadRS0pp9jvPR03FaPCXzZd3sgMJfNl3eyAG3svEj9sfYlIrLxI/bH2JQAAAAAAAAAAAAAAAAAAAAAAAAAAAAAAYmEMIwoq+T0vUlrZllKxsjLPu++5pZPJddvvK2nELVjMp7ZjY7mlCNz0adPiUbCFldSblltJ7Elo6tOw2sqSI5UEeTUpGp+XL26WpOl+HDU2OySpTU4TllLSm8nR1rQbWeFrRJXSrVGnrWWz5KCIZJImtIrGITbWtacy1NqwVRbbdOLZjKz04aYwSfVembWq1pMC1NNfuTFYhWdS095LNjBXozUqc2mny6H1PlXUduwZas7Qp1GrsuEJ3cmUk7vycpxSxRlapKpJqNJPTp+OXUls7X+TrtOCikkrkkklsSWpHop2eXUnlpcJfNl3eyAwl82Xd7IF2bb2XiR+2PsSkVl4kftj7EoAAAAAAAAAAAAAAAAAAAAR168YRcpNJLaytYQxtS0U498tyImYhMRMrSeZTS1tLtZz604zVpfW12K72NbVwnN6232lZvC0Ul0ydvpLXUj5l+xBPDVnWuovB7jmbttR/wBzxOpNkb1vrdLeH7Ovr9LJrLhehUd0akW+TU+6/Wcnmpcr8THqya2sb5Prh21speMmHI1IuEYppapNXvtXIZWJ+EKlpsNSMnfOOVTUntTj8N75dN3cVCtFptNaU7mnoafWRe3BSvLV1addcWt4wT9rjGqq1bK8f6X/ALG+zSZFOz9RlENlenG2dPD+l/cxqlG1v/Xj/T3ssNSzmPKz/wBxyhXqtitL12mXdCK/YxauBZPj1py6nJ3eGotEqOjSYtSjeTEyiWFgm21rK06VSSu0rSdvxRw1+sssarV0r3CaWrKW1dqafecapWCU2kk227kktL6jsWJmBnZLLGnLjSbnJcjdyu7kkbUZXfcJfNl3eyAwl82Xd7IF2bb2XiR+2PsSkVl4kftj7EoAAAAAAAAAEdetGEXKTuS0tlSwljRKTap/DHl+p9+wiZiExGVvnUS1tLtdxA7fS6SHmRzevbZSd7bfa72Y8rTLlKfYvsdShbKb1Ti/5kTJnJOEGtpkUMLzi71JrsbQ3o2OqA5/Zsba0dbUlyNfvrLRgbGClaHk8WfNv0PsZaLRKJrMNNjfVm6yhqioprkd997/AG7jQOyradFwjZ6UoN1UnGOm/auxrScuxorTnJwssVSjz23Ko/F5K8Cl4w0pOWW6ETxJQXJ4lSlgq1vXa6n4/ZEM8CWjbaqn43FMr4XJuD03nyco9RTJYItC/wD1VPCO4hngm0/9VPwW4GFym48pNYMD1K7/AIcHJbZfQu2Woplhs1ppTU1WcmtPxRUl4NNHRsBY9zjdG0RTWhZUVc13LQ/wTGPKJz4XPAOCY2aiqcdLvypPlk9fdoS7jV4zWeyTvc21UW2HG/mv0P3JsZ8NKlZoypyvdXRCS5Lr3JfjxKJ+tb2lr2iOFKVmeWswjhVUJapSV+hqOkwXjlQ2ua7aU/2RvKmTLWkY1WwQf0rwMobNU8b7L0npluPEsbbL0nhGW42EsFUuZHwIuC6S+heBKrXVca7M9WXLspy/dIjoYzQlJfwqmTfpehO7q1m0dhpr6F4EErPFaokxgnLpmI1swfUX8BNVbtKqfM68l6vKXE4Lg7LjXpypX5anHJu2u/QjvRtWeGF45aPCXzZd3sgMJfNl3eyBZVt7LxI/bH2JSKy8SP2x9iUACOrWjHjSS7XcYVTDdBfXf2JjI2INQ8YqP+7yn2OMNF87ykZhOJbYGBSwxQl9d3amvczYTTV6aa5U70Sho8cYydBXaspZXg7vyUOdCSOr1qcZRakk4taU9Vxz3GXM0b8zKdSXMUU1521o8TLUjy1058NU4s8ypXmoeNWS7p2W0R/lg1+JEf8AnOzLjRrLtot+xi1bWdlMapZ5bDCePdj5an9CRC8e7P8ATSrzfVTil6pEoZqoz6zPwNTqqvTyL8rLjd4lfnjhKXy7LL+aaX4SZdsSsZ7NG51aUoVHoc3LKir+TQsleLJjGSey7Y0Rk7NLJ2NN9l//AB4FAUbzqWXFxvvTi1ff9LT/AGuOc42VbLRvlRlJy1uMVfDuehr8o01PbPTnwwKtLqMapTK+8eKcXdOlWj15u9fh3kscd7G9cpr/ALU/2Rn3bNrmzw6Bhxxvsb/1f/HPceZY3WNapyfZSqP9gMidBkFSgyOhjVZZSucpQXOlRqNeEU34l1xZeDJNTdpVWS03OnKEF2xkr33vuJxlWZwzKGAatTBVFNPOQcpxjtcZNvJ7bmn+CsxoXaNp1mz2unU4k4y7GaLGv9LFX1KeVUu0ZLyZdV8l+95a9IxlSl+cKDUWSj7GqaXCFa15TzcKeTsUpO9drRg5zCGynR8ZGOW3CzuSPFy13lWqzwly0o9kW3+WYs7FhCeu0NLkjFL2V5ZVb5NX3t6jW2vC9ni7nUhfyReU/BFe/wArSn8ytOf3ScvczaGLtKBbMIdK/wAPFYqklPOKVZcWEldd1q/jP25Np0U/PdGlm5JwvTi7007nfrTR3HFu3yr2SlVlxpR+LtTcW+9q81pLG8eWNhL5su72QGEvmy7vZAuo29l4kftj7Ghxrw87PdCGtq9vk5EjfWXiR+2PsaDG7A0qyU4K9pXNbbits44WrjPKmVcLTm23/dkTt0+Qk4PknddddrPv6aa2fgw3N9qCWEqnJ+CGWFavIjJzU+bee42RtaidxtYHCtQnseMtWlLKi2urY+1bSaWDm9hkWPF+dSSSheRmfBiGZhPHH9TRgqaydedX+9O7J7NF/euQ0sq16vZcbRibGNGKp3Zavytik3tXXsK/acAVY3/BJd2juFt3lWNvhqoyR5lZ6ctcV4GQ8FVV9LHBs+RmTRgywPRf0oj4FpLVFeBs3Y5rlCoyGDLW/o6cdS/B4qw5Db0sHyk9T8Cy4CxTbkp1VdHXk7XuRetZlWbRHdWrPh+v+njQlFxjT0XvXO95SfYlJJdhgWi+XWdExgxczk85BLSlfHsV167kivzxdrK/4H1fC9G8WrbPK1bV8KmrNB6HHt0Hrg6lzI+BaeAKvRz8rI/8t13/AKcvDeV2pyqsrDS5i8D7HBcHpyV4FupYqV+Z+UZEMU6/NS/mQ229I3R7UeWD0nxVds0GJUsjT+HR2HSqeJ9Tbkrv3E1HElX3ymu5Xk/Xb0b6+1EwPUtEZJxk01qN/hmFaVWTqXqTub5Lmldd3F2wfi9RpNO7Ka1X6vAzbdg+nVXxLStTWtF40rYUnVrlyxUHdfcP05fK+LCeqfitxhyxUnslH87is6dvSd9famysyZ5Vl/8Athcf8q1edD87j6sVanOj4vcTFLejdHtS52QhnY29hfYYpy2zj3XmbZsVaUeNJy7Fcv3LRS3pE3q59g7AM6s1GKvb6tCXK+RHV8HWONGlClHVBJdvK/G892Wywpq6EVFdX78pMbVrhja2Wjwl82Xd7IDCXzZd3sgWVbey8SP2x9iUisvEj9sfYlAiq2aEuNFPu0+JDwbS5i8WZYIxCcyxODKPMX5HBlHmL8mWBiDMsWGD6S1U4+F/uZMYpaEkuxH0DBkABKA+OK5D6AIpWaD1wi+2KI+D6XRw8qMkEYhOZR0qEI8WKXYkiQAlAAAAAAAAAAAAAAAAAAAAAAAADR4S+bLu9kBhL5su72QAls2HrPkR/ifSvolydhJ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GmwhhqzupL+JyfTLkXUAAP/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6" descr="data:image/jpeg;base64,/9j/4AAQSkZJRgABAQAAAQABAAD/2wCEAAkGBxISEBUTExMWFhUWFxUVFRcYEhsaExcYGhgaFxcXGBgYKCggGBolHRUVITEhJSkrLi4uFx8zODMtNygtLisBCgoKDg0OGxAQGy4lICYvLS0vLi0rLS0tLS0tLS0tLS0tLS0tLS0tLS0vKy0tLSstLS0tLS0tLS0tLSstLS0tLf/AABEIALcBEwMBIgACEQEDEQH/xAAcAAEAAgMBAQEAAAAAAAAAAAAAAwYEBQcCAQj/xABDEAACAQECCAwFAgQFBQEAAAAAAQIDBBEFBhITITFB0RUyUVJTYXGBkZKisSIzQnKhFMEjgpPhBxZDYvFUg6Pi8ET/xAAaAQEAAwEBAQAAAAAAAAAAAAAAAQIDBQQG/8QAJREBAAIBAwQCAgMAAAAAAAAAAAECEQMSIQQxQVEFEzKxImGB/9oADAMBAAIRAxEAPwDtFmoQyI/DHix+lchLmIc2PlR8svEj9sfYlAjzEObHyoZiHNj5USACPMQ5sfKhmIc2PlRIAI8xDmx8qGYhzY+VEgAjzEObHyoZiHNj5USACPMQ5sfKhmIc2PlRIAI8xDmx8qGYhzY+VEgAjzEObHyoZiHNj5USACPMQ5sfKhmIc2PlRIAI8xDmx8qGYhzY+VEgAjzEObHyoZiHNj5USACPMQ5sfKhmIc2PlRIAI8xDmx8qGYhzY+VEgAjzEObHyoZiHNj5USACPMQ5sfKhmIc2PlRIAI8xDmx8qGYhzY+VEgAjzEObHyoZiHNj5USACv4Soxzsvhjs2LkR9PeEvmy7vZADb2XiR+2PsSkVl4kftj7EoAAAAAAAAAAAAAAAAAAAAAAAAAAAAAAAAAAAAYtpwlRpu6dWEXyOSv8AAUMJUZu6NSLb1adfZfr7iu+ucZW2WxnDKABZUAAGjwl82Xd7IDCXzZd3sgBt7LxI/bH2JSKy8SP2x9iUAAAAAAAAAAAAAAAAAAAAAAAAAAAAAAAAAVzHXDMqFJRg7pzv07YxWtrr2eJYyjf4kWWX8OotVzi+p33rx0+B5esvaujM1e34+lL9RWL9lKdZu9t3s80LdKnK9PRtWx7n1kEpET0vQcKnE5h9RqxWazEuwYpYVdek1J3yptJva01fFvru9jeFP/w2sko0qtV8WpKMYdcaccnKXU5ZXgXA+j0ZmaRl8frREakxAADRk0eEvmy7vZAYS+bLu9kANvZeJH7Y+xKRWXiR+2PsSgAAAAAAAAAAAAAAAAAAAAAAAAAAAAAAAAGafGDCFnVGSqtSi9F1+t9TW1ayqYzYwSdSUIq9RlJfFHQrndoW3VrZVrZWqT+KTbWpPZ2LYjl6/wAhXmtYz+na6X4q04vecef7Ytsccp5N+Tsv1mLNX7WuwkmeGc2Jdu0eHSMA480c3GFWOQ4xUb1H4NCu0KK0dlySLBY8ZbNVnkQne7r+o5LgfBs7RUzdO7KabV7uWhXvSbujiTa8tRdO5P6suOSut3Nv8HS0uq15iP45hxeo6PpazObYn06qnfpR9MXBdldKjCnKWU4q5vd1bDKOnDiz3aPCXzZd3sgMJfNl3eyBKG3svEj9sfYlIrLxI/bH2JQAAAAAAAAAAAAAAAAAAAAAAAAAAAAAAAAMWvg+jNqU6cJNaU3FP/k0OP0UrHckksqNyS7d5Z2yi48YXhUp5EdSet/V2Lk0azydZNa6Vvcvd0O+2vT1Euf1CNnu5tpLS20kuVvQiy4w4nVLPQhVTc9H8VXcR8qu+nZfv0camna1ZtEdn0err0paK2nmezVYr2zNWulLZlJPses7Yfn5VFFp3pXO/SzpWKuPCtFSNGSjfk6ZZauVy1t6PDrOj0OtERslyPk9GbTF4/1dweadRS0pp9jvPR03FaPCXzZd3sgMJfNl3eyAG3svEj9sfYlIrLxI/bH2JQAAAAAAAAAAAAAAAAAAAAAAAAAAAAAAYmEMIwoq+T0vUlrZllKxsjLPu++5pZPJddvvK2nELVjMp7ZjY7mlCNz0adPiUbCFldSblltJ7Elo6tOw2sqSI5UEeTUpGp+XL26WpOl+HDU2OySpTU4TllLSm8nR1rQbWeFrRJXSrVGnrWWz5KCIZJImtIrGITbWtacy1NqwVRbbdOLZjKz04aYwSfVembWq1pMC1NNfuTFYhWdS095LNjBXozUqc2mny6H1PlXUduwZas7Qp1GrsuEJ3cmUk7vycpxSxRlapKpJqNJPTp+OXUls7X+TrtOCikkrkkklsSWpHop2eXUnlpcJfNl3eyAwl82Xd7IF2bb2XiR+2PsSkVl4kftj7EoAAAAAAAAAAAAAAAAAAAAR168YRcpNJLaytYQxtS0U498tyImYhMRMrSeZTS1tLtZz604zVpfW12K72NbVwnN6232lZvC0Ul0ydvpLXUj5l+xBPDVnWuovB7jmbttR/wBzxOpNkb1vrdLeH7Ovr9LJrLhehUd0akW+TU+6/Wcnmpcr8THqya2sb5Prh21speMmHI1IuEYppapNXvtXIZWJ+EKlpsNSMnfOOVTUntTj8N75dN3cVCtFptNaU7mnoafWRe3BSvLV1addcWt4wT9rjGqq1bK8f6X/ALG+zSZFOz9RlENlenG2dPD+l/cxqlG1v/Xj/T3ssNSzmPKz/wBxyhXqtitL12mXdCK/YxauBZPj1py6nJ3eGotEqOjSYtSjeTEyiWFgm21rK06VSSu0rSdvxRw1+sssarV0r3CaWrKW1dqafecapWCU2kk227kktL6jsWJmBnZLLGnLjSbnJcjdyu7kkbUZXfcJfNl3eyAwl82Xd7IF2bb2XiR+2PsSkVl4kftj7EoAAAAAAAAAEdetGEXKTuS0tlSwljRKTap/DHl+p9+wiZiExGVvnUS1tLtdxA7fS6SHmRzevbZSd7bfa72Y8rTLlKfYvsdShbKb1Ti/5kTJnJOEGtpkUMLzi71JrsbQ3o2OqA5/Zsba0dbUlyNfvrLRgbGClaHk8WfNv0PsZaLRKJrMNNjfVm6yhqioprkd997/AG7jQOyradFwjZ6UoN1UnGOm/auxrScuxorTnJwssVSjz23Ko/F5K8Cl4w0pOWW6ETxJQXJ4lSlgq1vXa6n4/ZEM8CWjbaqn43FMr4XJuD03nyco9RTJYItC/wD1VPCO4hngm0/9VPwW4GFym48pNYMD1K7/AIcHJbZfQu2Woplhs1ppTU1WcmtPxRUl4NNHRsBY9zjdG0RTWhZUVc13LQ/wTGPKJz4XPAOCY2aiqcdLvypPlk9fdoS7jV4zWeyTvc21UW2HG/mv0P3JsZ8NKlZoypyvdXRCS5Lr3JfjxKJ+tb2lr2iOFKVmeWswjhVUJapSV+hqOkwXjlQ2ua7aU/2RvKmTLWkY1WwQf0rwMobNU8b7L0npluPEsbbL0nhGW42EsFUuZHwIuC6S+heBKrXVca7M9WXLspy/dIjoYzQlJfwqmTfpehO7q1m0dhpr6F4EErPFaokxgnLpmI1swfUX8BNVbtKqfM68l6vKXE4Lg7LjXpypX5anHJu2u/QjvRtWeGF45aPCXzZd3sgMJfNl3eyBZVt7LxI/bH2JSKy8SP2x9iUACOrWjHjSS7XcYVTDdBfXf2JjI2INQ8YqP+7yn2OMNF87ykZhOJbYGBSwxQl9d3amvczYTTV6aa5U70Sho8cYydBXaspZXg7vyUOdCSOr1qcZRakk4taU9Vxz3GXM0b8zKdSXMUU1521o8TLUjy1058NU4s8ypXmoeNWS7p2W0R/lg1+JEf8AnOzLjRrLtot+xi1bWdlMapZ5bDCePdj5an9CRC8e7P8ATSrzfVTil6pEoZqoz6zPwNTqqvTyL8rLjd4lfnjhKXy7LL+aaX4SZdsSsZ7NG51aUoVHoc3LKir+TQsleLJjGSey7Y0Rk7NLJ2NN9l//AB4FAUbzqWXFxvvTi1ff9LT/AGuOc42VbLRvlRlJy1uMVfDuehr8o01PbPTnwwKtLqMapTK+8eKcXdOlWj15u9fh3kscd7G9cpr/ALU/2Rn3bNrmzw6Bhxxvsb/1f/HPceZY3WNapyfZSqP9gMidBkFSgyOhjVZZSucpQXOlRqNeEU34l1xZeDJNTdpVWS03OnKEF2xkr33vuJxlWZwzKGAatTBVFNPOQcpxjtcZNvJ7bmn+CsxoXaNp1mz2unU4k4y7GaLGv9LFX1KeVUu0ZLyZdV8l+95a9IxlSl+cKDUWSj7GqaXCFa15TzcKeTsUpO9drRg5zCGynR8ZGOW3CzuSPFy13lWqzwly0o9kW3+WYs7FhCeu0NLkjFL2V5ZVb5NX3t6jW2vC9ni7nUhfyReU/BFe/wArSn8ytOf3ScvczaGLtKBbMIdK/wAPFYqklPOKVZcWEldd1q/jP25Np0U/PdGlm5JwvTi7007nfrTR3HFu3yr2SlVlxpR+LtTcW+9q81pLG8eWNhL5su72QGEvmy7vZAuo29l4kftj7Ghxrw87PdCGtq9vk5EjfWXiR+2PsaDG7A0qyU4K9pXNbbits44WrjPKmVcLTm23/dkTt0+Qk4PknddddrPv6aa2fgw3N9qCWEqnJ+CGWFavIjJzU+bee42RtaidxtYHCtQnseMtWlLKi2urY+1bSaWDm9hkWPF+dSSSheRmfBiGZhPHH9TRgqaydedX+9O7J7NF/euQ0sq16vZcbRibGNGKp3Zavytik3tXXsK/acAVY3/BJd2juFt3lWNvhqoyR5lZ6ctcV4GQ8FVV9LHBs+RmTRgywPRf0oj4FpLVFeBs3Y5rlCoyGDLW/o6cdS/B4qw5Db0sHyk9T8Cy4CxTbkp1VdHXk7XuRetZlWbRHdWrPh+v+njQlFxjT0XvXO95SfYlJJdhgWi+XWdExgxczk85BLSlfHsV167kivzxdrK/4H1fC9G8WrbPK1bV8KmrNB6HHt0Hrg6lzI+BaeAKvRz8rI/8t13/AKcvDeV2pyqsrDS5i8D7HBcHpyV4FupYqV+Z+UZEMU6/NS/mQ229I3R7UeWD0nxVds0GJUsjT+HR2HSqeJ9Tbkrv3E1HElX3ymu5Xk/Xb0b6+1EwPUtEZJxk01qN/hmFaVWTqXqTub5Lmldd3F2wfi9RpNO7Ka1X6vAzbdg+nVXxLStTWtF40rYUnVrlyxUHdfcP05fK+LCeqfitxhyxUnslH87is6dvSd9famysyZ5Vl/8Athcf8q1edD87j6sVanOj4vcTFLejdHtS52QhnY29hfYYpy2zj3XmbZsVaUeNJy7Fcv3LRS3pE3q59g7AM6s1GKvb6tCXK+RHV8HWONGlClHVBJdvK/G892Wywpq6EVFdX78pMbVrhja2Wjwl82Xd7IDCXzZd3sgWVbey8SP2x9iUisvEj9sfYlAiq2aEuNFPu0+JDwbS5i8WZYIxCcyxODKPMX5HBlHmL8mWBiDMsWGD6S1U4+F/uZMYpaEkuxH0DBkABKA+OK5D6AIpWaD1wi+2KI+D6XRw8qMkEYhOZR0qEI8WKXYkiQAlAAAAAAAAAAAAAAAAAAAAAAAADR4S+bLu9kBhL5su72QAls2HrPkR/ifSvolydhJ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GmwhhqzupL+JyfTLkXUAAP/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8" descr="https://capitalcampaignmasters.com/wpsys/wp-content/uploads/2012/11/4-step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14346" name="Picture 10" descr="https://encrypted-tbn3.gstatic.com/images?q=tbn:ANd9GcTgxs5wPk5vStESuB1JzYY2W_PnzSrrgjFTg8Z7kWx5cJ710vA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2850" y="4114800"/>
            <a:ext cx="2078950" cy="222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939033"/>
      </p:ext>
    </p:extLst>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86365" y="85270"/>
            <a:ext cx="10959921" cy="900724"/>
          </a:xfrm>
        </p:spPr>
        <p:txBody>
          <a:bodyPr>
            <a:normAutofit/>
          </a:bodyPr>
          <a:lstStyle/>
          <a:p>
            <a:pPr algn="ctr"/>
            <a:r>
              <a:rPr lang="es-CR" sz="3400" dirty="0" smtClean="0"/>
              <a:t>Recordatorio: Pasos </a:t>
            </a:r>
            <a:r>
              <a:rPr lang="es-CR" sz="3400" dirty="0"/>
              <a:t>de una prueba de hipótesis: resumen</a:t>
            </a:r>
          </a:p>
        </p:txBody>
      </p:sp>
      <p:sp>
        <p:nvSpPr>
          <p:cNvPr id="2" name="1 Rectángulo redondeado"/>
          <p:cNvSpPr/>
          <p:nvPr/>
        </p:nvSpPr>
        <p:spPr>
          <a:xfrm>
            <a:off x="619763" y="1148626"/>
            <a:ext cx="1728192" cy="720080"/>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Evaluar los datos</a:t>
            </a:r>
          </a:p>
        </p:txBody>
      </p:sp>
      <p:sp>
        <p:nvSpPr>
          <p:cNvPr id="6" name="5 Rectángulo redondeado"/>
          <p:cNvSpPr/>
          <p:nvPr/>
        </p:nvSpPr>
        <p:spPr>
          <a:xfrm>
            <a:off x="3500083" y="1148626"/>
            <a:ext cx="1728192" cy="720080"/>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Revisar las suposiciones</a:t>
            </a:r>
          </a:p>
        </p:txBody>
      </p:sp>
      <p:sp>
        <p:nvSpPr>
          <p:cNvPr id="7" name="6 Rectángulo redondeado"/>
          <p:cNvSpPr/>
          <p:nvPr/>
        </p:nvSpPr>
        <p:spPr>
          <a:xfrm>
            <a:off x="6524419" y="1148626"/>
            <a:ext cx="1728192" cy="720080"/>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Formular la hipótesis</a:t>
            </a:r>
          </a:p>
        </p:txBody>
      </p:sp>
      <p:sp>
        <p:nvSpPr>
          <p:cNvPr id="8" name="7 Rectángulo redondeado"/>
          <p:cNvSpPr/>
          <p:nvPr/>
        </p:nvSpPr>
        <p:spPr>
          <a:xfrm>
            <a:off x="6524419" y="2372762"/>
            <a:ext cx="1728192" cy="792088"/>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Seleccionar la estadística de prueba</a:t>
            </a:r>
          </a:p>
        </p:txBody>
      </p:sp>
      <p:sp>
        <p:nvSpPr>
          <p:cNvPr id="9" name="8 Rectángulo redondeado"/>
          <p:cNvSpPr/>
          <p:nvPr/>
        </p:nvSpPr>
        <p:spPr>
          <a:xfrm>
            <a:off x="3500083" y="2079464"/>
            <a:ext cx="1728192" cy="1434629"/>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Determinar la distribución de estad. de prueba</a:t>
            </a:r>
          </a:p>
        </p:txBody>
      </p:sp>
      <p:sp>
        <p:nvSpPr>
          <p:cNvPr id="10" name="9 Rectángulo redondeado"/>
          <p:cNvSpPr/>
          <p:nvPr/>
        </p:nvSpPr>
        <p:spPr>
          <a:xfrm>
            <a:off x="619763" y="2372762"/>
            <a:ext cx="1728192" cy="792088"/>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Formular la regla de decisión</a:t>
            </a:r>
          </a:p>
        </p:txBody>
      </p:sp>
      <p:sp>
        <p:nvSpPr>
          <p:cNvPr id="11" name="10 Rectángulo redondeado"/>
          <p:cNvSpPr/>
          <p:nvPr/>
        </p:nvSpPr>
        <p:spPr>
          <a:xfrm>
            <a:off x="619763" y="3668906"/>
            <a:ext cx="1728192" cy="905365"/>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Calcular la estadística de prueba</a:t>
            </a:r>
          </a:p>
        </p:txBody>
      </p:sp>
      <p:sp>
        <p:nvSpPr>
          <p:cNvPr id="5" name="4 Decisión"/>
          <p:cNvSpPr/>
          <p:nvPr/>
        </p:nvSpPr>
        <p:spPr>
          <a:xfrm>
            <a:off x="4724219" y="3154054"/>
            <a:ext cx="2448272" cy="1883004"/>
          </a:xfrm>
          <a:prstGeom prst="flowChartDecision">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Decisión estadística</a:t>
            </a:r>
          </a:p>
        </p:txBody>
      </p:sp>
      <p:sp>
        <p:nvSpPr>
          <p:cNvPr id="13" name="12 Elipse"/>
          <p:cNvSpPr/>
          <p:nvPr/>
        </p:nvSpPr>
        <p:spPr>
          <a:xfrm>
            <a:off x="3284059" y="4677018"/>
            <a:ext cx="1296144" cy="1008112"/>
          </a:xfrm>
          <a:prstGeom prst="ellipse">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No rechazar Ho</a:t>
            </a:r>
          </a:p>
        </p:txBody>
      </p:sp>
      <p:sp>
        <p:nvSpPr>
          <p:cNvPr id="15" name="14 Elipse"/>
          <p:cNvSpPr/>
          <p:nvPr/>
        </p:nvSpPr>
        <p:spPr>
          <a:xfrm>
            <a:off x="7244499" y="4677018"/>
            <a:ext cx="1368152" cy="1008112"/>
          </a:xfrm>
          <a:prstGeom prst="ellipse">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Rechazar Ho</a:t>
            </a:r>
          </a:p>
        </p:txBody>
      </p:sp>
      <p:cxnSp>
        <p:nvCxnSpPr>
          <p:cNvPr id="16" name="15 Conector recto"/>
          <p:cNvCxnSpPr>
            <a:stCxn id="5" idx="2"/>
            <a:endCxn id="13" idx="6"/>
          </p:cNvCxnSpPr>
          <p:nvPr/>
        </p:nvCxnSpPr>
        <p:spPr>
          <a:xfrm flipH="1">
            <a:off x="4580203" y="5037058"/>
            <a:ext cx="1368152" cy="144016"/>
          </a:xfrm>
          <a:prstGeom prst="line">
            <a:avLst/>
          </a:prstGeom>
        </p:spPr>
        <p:style>
          <a:lnRef idx="2">
            <a:schemeClr val="dk1"/>
          </a:lnRef>
          <a:fillRef idx="0">
            <a:schemeClr val="dk1"/>
          </a:fillRef>
          <a:effectRef idx="1">
            <a:schemeClr val="dk1"/>
          </a:effectRef>
          <a:fontRef idx="minor">
            <a:schemeClr val="tx1"/>
          </a:fontRef>
        </p:style>
      </p:cxnSp>
      <p:cxnSp>
        <p:nvCxnSpPr>
          <p:cNvPr id="18" name="17 Conector recto"/>
          <p:cNvCxnSpPr>
            <a:stCxn id="5" idx="2"/>
            <a:endCxn id="15" idx="2"/>
          </p:cNvCxnSpPr>
          <p:nvPr/>
        </p:nvCxnSpPr>
        <p:spPr>
          <a:xfrm>
            <a:off x="5948355" y="5037058"/>
            <a:ext cx="1296144" cy="144016"/>
          </a:xfrm>
          <a:prstGeom prst="line">
            <a:avLst/>
          </a:prstGeom>
        </p:spPr>
        <p:style>
          <a:lnRef idx="2">
            <a:schemeClr val="dk1"/>
          </a:lnRef>
          <a:fillRef idx="0">
            <a:schemeClr val="dk1"/>
          </a:fillRef>
          <a:effectRef idx="1">
            <a:schemeClr val="dk1"/>
          </a:effectRef>
          <a:fontRef idx="minor">
            <a:schemeClr val="tx1"/>
          </a:fontRef>
        </p:style>
      </p:cxnSp>
      <p:sp>
        <p:nvSpPr>
          <p:cNvPr id="20" name="19 Rectángulo"/>
          <p:cNvSpPr/>
          <p:nvPr/>
        </p:nvSpPr>
        <p:spPr>
          <a:xfrm>
            <a:off x="2996027" y="5973162"/>
            <a:ext cx="1944216" cy="781292"/>
          </a:xfrm>
          <a:prstGeom prst="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H0 no pude ser rechazada</a:t>
            </a:r>
          </a:p>
        </p:txBody>
      </p:sp>
      <p:sp>
        <p:nvSpPr>
          <p:cNvPr id="22" name="21 Rectángulo"/>
          <p:cNvSpPr/>
          <p:nvPr/>
        </p:nvSpPr>
        <p:spPr>
          <a:xfrm>
            <a:off x="6812452" y="5973161"/>
            <a:ext cx="2171723" cy="781293"/>
          </a:xfrm>
          <a:prstGeom prst="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HA es estadísticamente cierta</a:t>
            </a:r>
          </a:p>
        </p:txBody>
      </p:sp>
      <p:cxnSp>
        <p:nvCxnSpPr>
          <p:cNvPr id="23" name="22 Conector recto de flecha"/>
          <p:cNvCxnSpPr>
            <a:stCxn id="2" idx="3"/>
          </p:cNvCxnSpPr>
          <p:nvPr/>
        </p:nvCxnSpPr>
        <p:spPr>
          <a:xfrm>
            <a:off x="2347955" y="1508666"/>
            <a:ext cx="100148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24 Conector recto de flecha"/>
          <p:cNvCxnSpPr>
            <a:stCxn id="6" idx="3"/>
          </p:cNvCxnSpPr>
          <p:nvPr/>
        </p:nvCxnSpPr>
        <p:spPr>
          <a:xfrm>
            <a:off x="5228275" y="1508666"/>
            <a:ext cx="11521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7" name="26 Conector recto de flecha"/>
          <p:cNvCxnSpPr>
            <a:stCxn id="7" idx="2"/>
          </p:cNvCxnSpPr>
          <p:nvPr/>
        </p:nvCxnSpPr>
        <p:spPr>
          <a:xfrm>
            <a:off x="7388515" y="1868706"/>
            <a:ext cx="0" cy="50405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28 Conector recto de flecha"/>
          <p:cNvCxnSpPr>
            <a:stCxn id="8" idx="1"/>
          </p:cNvCxnSpPr>
          <p:nvPr/>
        </p:nvCxnSpPr>
        <p:spPr>
          <a:xfrm flipH="1">
            <a:off x="5372291" y="2768806"/>
            <a:ext cx="11521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1" name="30 Conector recto de flecha"/>
          <p:cNvCxnSpPr>
            <a:stCxn id="9" idx="1"/>
          </p:cNvCxnSpPr>
          <p:nvPr/>
        </p:nvCxnSpPr>
        <p:spPr>
          <a:xfrm flipH="1" flipV="1">
            <a:off x="2471388" y="2768806"/>
            <a:ext cx="102869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25" name="1024 Conector recto de flecha"/>
          <p:cNvCxnSpPr>
            <a:stCxn id="10" idx="2"/>
          </p:cNvCxnSpPr>
          <p:nvPr/>
        </p:nvCxnSpPr>
        <p:spPr>
          <a:xfrm>
            <a:off x="1483859" y="3164850"/>
            <a:ext cx="0" cy="4320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28" name="1027 Conector recto de flecha"/>
          <p:cNvCxnSpPr>
            <a:stCxn id="11" idx="3"/>
          </p:cNvCxnSpPr>
          <p:nvPr/>
        </p:nvCxnSpPr>
        <p:spPr>
          <a:xfrm>
            <a:off x="2347955" y="4121589"/>
            <a:ext cx="223224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31" name="1030 Conector recto"/>
          <p:cNvCxnSpPr>
            <a:stCxn id="13" idx="4"/>
            <a:endCxn id="20" idx="0"/>
          </p:cNvCxnSpPr>
          <p:nvPr/>
        </p:nvCxnSpPr>
        <p:spPr>
          <a:xfrm>
            <a:off x="3932131" y="5685130"/>
            <a:ext cx="0" cy="288032"/>
          </a:xfrm>
          <a:prstGeom prst="line">
            <a:avLst/>
          </a:prstGeom>
        </p:spPr>
        <p:style>
          <a:lnRef idx="2">
            <a:schemeClr val="dk1"/>
          </a:lnRef>
          <a:fillRef idx="0">
            <a:schemeClr val="dk1"/>
          </a:fillRef>
          <a:effectRef idx="1">
            <a:schemeClr val="dk1"/>
          </a:effectRef>
          <a:fontRef idx="minor">
            <a:schemeClr val="tx1"/>
          </a:fontRef>
        </p:style>
      </p:cxnSp>
      <p:cxnSp>
        <p:nvCxnSpPr>
          <p:cNvPr id="1033" name="1032 Conector recto"/>
          <p:cNvCxnSpPr>
            <a:stCxn id="15" idx="4"/>
          </p:cNvCxnSpPr>
          <p:nvPr/>
        </p:nvCxnSpPr>
        <p:spPr>
          <a:xfrm>
            <a:off x="7928575" y="5685130"/>
            <a:ext cx="0" cy="288032"/>
          </a:xfrm>
          <a:prstGeom prst="line">
            <a:avLst/>
          </a:prstGeom>
        </p:spPr>
        <p:style>
          <a:lnRef idx="2">
            <a:schemeClr val="dk1"/>
          </a:lnRef>
          <a:fillRef idx="0">
            <a:schemeClr val="dk1"/>
          </a:fillRef>
          <a:effectRef idx="1">
            <a:schemeClr val="dk1"/>
          </a:effectRef>
          <a:fontRef idx="minor">
            <a:schemeClr val="tx1"/>
          </a:fontRef>
        </p:style>
      </p:cxnSp>
      <p:cxnSp>
        <p:nvCxnSpPr>
          <p:cNvPr id="34" name="33 Conector recto de flecha"/>
          <p:cNvCxnSpPr/>
          <p:nvPr/>
        </p:nvCxnSpPr>
        <p:spPr>
          <a:xfrm flipH="1">
            <a:off x="2347955" y="6405210"/>
            <a:ext cx="61287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5" name="34 Rectángulo redondeado"/>
          <p:cNvSpPr/>
          <p:nvPr/>
        </p:nvSpPr>
        <p:spPr>
          <a:xfrm>
            <a:off x="403739" y="6055966"/>
            <a:ext cx="1728192" cy="698489"/>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Conclusión</a:t>
            </a:r>
          </a:p>
        </p:txBody>
      </p:sp>
      <p:cxnSp>
        <p:nvCxnSpPr>
          <p:cNvPr id="28" name="22 Conector recto de flecha"/>
          <p:cNvCxnSpPr/>
          <p:nvPr/>
        </p:nvCxnSpPr>
        <p:spPr>
          <a:xfrm>
            <a:off x="8984175" y="6363807"/>
            <a:ext cx="100148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0" name="5 Rectángulo redondeado"/>
          <p:cNvSpPr/>
          <p:nvPr/>
        </p:nvSpPr>
        <p:spPr>
          <a:xfrm>
            <a:off x="10136303" y="6003767"/>
            <a:ext cx="1728192" cy="720080"/>
          </a:xfrm>
          <a:prstGeom prst="roundRect">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s-CR" dirty="0" smtClean="0"/>
              <a:t>Diferencia de medias</a:t>
            </a:r>
            <a:endParaRPr lang="es-CR" dirty="0"/>
          </a:p>
        </p:txBody>
      </p:sp>
    </p:spTree>
    <p:extLst>
      <p:ext uri="{BB962C8B-B14F-4D97-AF65-F5344CB8AC3E}">
        <p14:creationId xmlns:p14="http://schemas.microsoft.com/office/powerpoint/2010/main" val="24201796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Tree>
    <p:extLst>
      <p:ext uri="{BB962C8B-B14F-4D97-AF65-F5344CB8AC3E}">
        <p14:creationId xmlns:p14="http://schemas.microsoft.com/office/powerpoint/2010/main" val="2088444547"/>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0895" y="60326"/>
            <a:ext cx="10515600" cy="1174917"/>
          </a:xfrm>
        </p:spPr>
        <p:txBody>
          <a:bodyPr/>
          <a:lstStyle/>
          <a:p>
            <a:pPr algn="ctr"/>
            <a:r>
              <a:rPr lang="es-CR" dirty="0" smtClean="0"/>
              <a:t>Diseño de una vía: fundamentos </a:t>
            </a:r>
            <a:endParaRPr lang="es-ES" dirty="0"/>
          </a:p>
        </p:txBody>
      </p:sp>
      <p:sp>
        <p:nvSpPr>
          <p:cNvPr id="3" name="Marcador de contenido 2"/>
          <p:cNvSpPr>
            <a:spLocks noGrp="1"/>
          </p:cNvSpPr>
          <p:nvPr>
            <p:ph idx="1"/>
          </p:nvPr>
        </p:nvSpPr>
        <p:spPr>
          <a:xfrm>
            <a:off x="226595" y="1439946"/>
            <a:ext cx="8307805" cy="4962357"/>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A menudo se desea probar </a:t>
            </a:r>
            <a:r>
              <a:rPr lang="es-CR" sz="2400" dirty="0">
                <a:latin typeface="Times New Roman" panose="02020603050405020304" pitchFamily="18" charset="0"/>
                <a:cs typeface="Times New Roman" panose="02020603050405020304" pitchFamily="18" charset="0"/>
              </a:rPr>
              <a:t>una </a:t>
            </a:r>
            <a:r>
              <a:rPr lang="es-CR" sz="2400" dirty="0" smtClean="0">
                <a:latin typeface="Times New Roman" panose="02020603050405020304" pitchFamily="18" charset="0"/>
                <a:cs typeface="Times New Roman" panose="02020603050405020304" pitchFamily="18" charset="0"/>
              </a:rPr>
              <a:t>hipótesis para </a:t>
            </a:r>
            <a:r>
              <a:rPr lang="es-CR" sz="2400" dirty="0">
                <a:latin typeface="Times New Roman" panose="02020603050405020304" pitchFamily="18" charset="0"/>
                <a:cs typeface="Times New Roman" panose="02020603050405020304" pitchFamily="18" charset="0"/>
              </a:rPr>
              <a:t>mas de dos </a:t>
            </a:r>
            <a:r>
              <a:rPr lang="es-CR" sz="2400" dirty="0" smtClean="0">
                <a:latin typeface="Times New Roman" panose="02020603050405020304" pitchFamily="18" charset="0"/>
                <a:cs typeface="Times New Roman" panose="02020603050405020304" pitchFamily="18" charset="0"/>
              </a:rPr>
              <a:t>poblaciones.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requiere un método para hallar una diferencias significativa entre varias medias, sin que el nivel de confianza de la prueba se vea afectado.</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El análisis de variancias constituye una solución para lo anterior.</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El análisis de la variancia unilateral, es el más sencillo y en el cuál se estudia una sola fuente de variación o factor.</a:t>
            </a:r>
            <a:endParaRPr lang="es-ES" sz="2400" dirty="0">
              <a:latin typeface="Times New Roman" panose="02020603050405020304" pitchFamily="18" charset="0"/>
              <a:cs typeface="Times New Roman" panose="02020603050405020304" pitchFamily="18" charset="0"/>
            </a:endParaRPr>
          </a:p>
        </p:txBody>
      </p:sp>
      <p:pic>
        <p:nvPicPr>
          <p:cNvPr id="15362" name="Picture 2" descr="http://www.lumesse.com/sites/default/files/three-steps-e1412973303266.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6550" y="1362075"/>
            <a:ext cx="2559050" cy="2559050"/>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http://www.u.arizona.edu/~mpolat/SLAT589/task3.jpg"/>
          <p:cNvPicPr>
            <a:picLocks noChangeAspect="1" noChangeArrowheads="1"/>
          </p:cNvPicPr>
          <p:nvPr/>
        </p:nvPicPr>
        <p:blipFill rotWithShape="1">
          <a:blip r:embed="rId3">
            <a:extLst>
              <a:ext uri="{28A0092B-C50C-407E-A947-70E740481C1C}">
                <a14:useLocalDpi xmlns:a14="http://schemas.microsoft.com/office/drawing/2010/main" val="0"/>
              </a:ext>
            </a:extLst>
          </a:blip>
          <a:srcRect l="17334" t="9779" r="24833" b="8444"/>
          <a:stretch/>
        </p:blipFill>
        <p:spPr bwMode="auto">
          <a:xfrm>
            <a:off x="9459735" y="4229100"/>
            <a:ext cx="2092679" cy="22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337483"/>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9021" y="1174917"/>
            <a:ext cx="7936832" cy="5402346"/>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Es una extensión del procedimiento de la prueba t, para utilizar en dos muestras independientes.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Utilizar la prueba t con dos muestras independientes es un caso específico del análisis de variancia unilateral.</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parte que los individuos pertenecientes a cada uno de los población, corresponde a población independientes.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Desde un punto de vista experimental, se dice que en vez de poblaciones se poseen tratamientos (factor), y que estos se asignan de forma aleatoria a las personas. Por lo que el tratamiento sería visto como la referencia de las poblaciones.</a:t>
            </a:r>
            <a:endParaRPr lang="es-ES" sz="2400"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fundamentos </a:t>
            </a:r>
            <a:endParaRPr lang="es-ES" dirty="0"/>
          </a:p>
        </p:txBody>
      </p:sp>
      <p:pic>
        <p:nvPicPr>
          <p:cNvPr id="16386" name="Picture 2" descr="https://upload.wikimedia.org/wikipedia/commons/thumb/c/cf/Student_densite_best.JPG/325px-Student_densite_bes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5274" y="1206500"/>
            <a:ext cx="2574925"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www.seoasesor.com/wp-content/uploads/2012/05/Social-Media-factor-Off-Pag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0975" y="4097337"/>
            <a:ext cx="2968625" cy="2457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297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96756" y="1174916"/>
                <a:ext cx="7391399" cy="5683083"/>
              </a:xfrm>
            </p:spPr>
            <p:txBody>
              <a:bodyPr>
                <a:normAutofit/>
              </a:bodyPr>
              <a:lstStyle/>
              <a:p>
                <a:r>
                  <a:rPr lang="es-CR" sz="2400" dirty="0" smtClean="0">
                    <a:latin typeface="Times New Roman" panose="02020603050405020304" pitchFamily="18" charset="0"/>
                    <a:cs typeface="Times New Roman" panose="02020603050405020304" pitchFamily="18" charset="0"/>
                  </a:rPr>
                  <a:t>Las mediciones (u observaciones) que resultan de un análisis de este tipo , junto con las medias y los totales que puedan calcularse a partir de los datos, pueden presentarse de acuerdo a un cuadro donde los factores o tratamientos se presentan en columnas.</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En importante saber determinar que es:</a:t>
                </a:r>
              </a:p>
              <a:p>
                <a:pPr lvl="1"/>
                <a:r>
                  <a:rPr lang="es-CR" sz="2000" dirty="0" smtClean="0">
                    <a:latin typeface="Times New Roman" panose="02020603050405020304" pitchFamily="18" charset="0"/>
                    <a:cs typeface="Times New Roman" panose="02020603050405020304" pitchFamily="18" charset="0"/>
                  </a:rPr>
                  <a:t>La observación </a:t>
                </a:r>
                <a14:m>
                  <m:oMath xmlns:m="http://schemas.openxmlformats.org/officeDocument/2006/math">
                    <m:sSub>
                      <m:sSubPr>
                        <m:ctrlPr>
                          <a:rPr lang="es-ES" sz="2000" i="1">
                            <a:latin typeface="Cambria Math"/>
                          </a:rPr>
                        </m:ctrlPr>
                      </m:sSubPr>
                      <m:e>
                        <m:r>
                          <m:rPr>
                            <m:sty m:val="p"/>
                          </m:rPr>
                          <a:rPr lang="es-ES" sz="2000">
                            <a:latin typeface="Cambria Math" panose="02040503050406030204" pitchFamily="18" charset="0"/>
                          </a:rPr>
                          <m:t>x</m:t>
                        </m:r>
                      </m:e>
                      <m:sub>
                        <m:r>
                          <m:rPr>
                            <m:sty m:val="p"/>
                          </m:rPr>
                          <a:rPr lang="es-ES" sz="2000">
                            <a:latin typeface="Cambria Math" panose="02040503050406030204" pitchFamily="18" charset="0"/>
                          </a:rPr>
                          <m:t>ij</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El total por factor o tratamiento </a:t>
                </a:r>
                <a14:m>
                  <m:oMath xmlns:m="http://schemas.openxmlformats.org/officeDocument/2006/math">
                    <m:sSub>
                      <m:sSubPr>
                        <m:ctrlPr>
                          <a:rPr lang="es-ES" sz="2000" i="1">
                            <a:latin typeface="Cambria Math"/>
                          </a:rPr>
                        </m:ctrlPr>
                      </m:sSubPr>
                      <m:e>
                        <m:r>
                          <a:rPr lang="es-ES" sz="2000" i="1">
                            <a:latin typeface="Cambria Math" panose="02040503050406030204" pitchFamily="18" charset="0"/>
                          </a:rPr>
                          <m:t>𝑇</m:t>
                        </m:r>
                      </m:e>
                      <m:sub>
                        <m:r>
                          <a:rPr lang="es-ES" sz="2000" i="1">
                            <a:latin typeface="Cambria Math" panose="02040503050406030204" pitchFamily="18" charset="0"/>
                          </a:rPr>
                          <m:t>.</m:t>
                        </m:r>
                        <m:r>
                          <a:rPr lang="es-ES" sz="2000" i="1">
                            <a:latin typeface="Cambria Math" panose="02040503050406030204" pitchFamily="18" charset="0"/>
                          </a:rPr>
                          <m:t>𝑗</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La observación para el j-</a:t>
                </a:r>
                <a:r>
                  <a:rPr lang="es-CR" sz="2000" dirty="0" err="1" smtClean="0">
                    <a:latin typeface="Times New Roman" panose="02020603050405020304" pitchFamily="18" charset="0"/>
                    <a:cs typeface="Times New Roman" panose="02020603050405020304" pitchFamily="18" charset="0"/>
                  </a:rPr>
                  <a:t>ésimo</a:t>
                </a:r>
                <a:r>
                  <a:rPr lang="es-CR" sz="2000" dirty="0">
                    <a:latin typeface="Times New Roman" panose="02020603050405020304" pitchFamily="18" charset="0"/>
                    <a:cs typeface="Times New Roman" panose="02020603050405020304" pitchFamily="18" charset="0"/>
                  </a:rPr>
                  <a:t> </a:t>
                </a:r>
                <a:r>
                  <a:rPr lang="es-CR" sz="2000" dirty="0" smtClean="0">
                    <a:latin typeface="Times New Roman" panose="02020603050405020304" pitchFamily="18" charset="0"/>
                    <a:cs typeface="Times New Roman" panose="02020603050405020304" pitchFamily="18" charset="0"/>
                  </a:rPr>
                  <a:t>factor </a:t>
                </a:r>
                <a14:m>
                  <m:oMath xmlns:m="http://schemas.openxmlformats.org/officeDocument/2006/math">
                    <m:sSub>
                      <m:sSubPr>
                        <m:ctrlPr>
                          <a:rPr lang="es-ES" sz="2000" i="1">
                            <a:latin typeface="Cambria Math"/>
                          </a:rPr>
                        </m:ctrlPr>
                      </m:sSubPr>
                      <m:e>
                        <m:acc>
                          <m:accPr>
                            <m:chr m:val="̅"/>
                            <m:ctrlPr>
                              <a:rPr lang="es-ES" sz="2000" i="1">
                                <a:latin typeface="Cambria Math"/>
                              </a:rPr>
                            </m:ctrlPr>
                          </m:accPr>
                          <m:e>
                            <m:r>
                              <m:rPr>
                                <m:sty m:val="p"/>
                              </m:rPr>
                              <a:rPr lang="es-ES" sz="2000">
                                <a:latin typeface="Cambria Math" panose="02040503050406030204" pitchFamily="18" charset="0"/>
                              </a:rPr>
                              <m:t>x</m:t>
                            </m:r>
                          </m:e>
                        </m:acc>
                      </m:e>
                      <m:sub>
                        <m:r>
                          <a:rPr lang="es-ES" sz="2000">
                            <a:latin typeface="Cambria Math" panose="02040503050406030204" pitchFamily="18" charset="0"/>
                          </a:rPr>
                          <m:t>.</m:t>
                        </m:r>
                        <m:r>
                          <m:rPr>
                            <m:sty m:val="p"/>
                          </m:rPr>
                          <a:rPr lang="es-ES" sz="2000">
                            <a:latin typeface="Cambria Math" panose="02040503050406030204" pitchFamily="18" charset="0"/>
                          </a:rPr>
                          <m:t>j</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Total de todas las observaciones </a:t>
                </a:r>
                <a14:m>
                  <m:oMath xmlns:m="http://schemas.openxmlformats.org/officeDocument/2006/math">
                    <m:sSub>
                      <m:sSubPr>
                        <m:ctrlPr>
                          <a:rPr lang="es-ES" sz="2000" i="1">
                            <a:latin typeface="Cambria Math"/>
                          </a:rPr>
                        </m:ctrlPr>
                      </m:sSubPr>
                      <m:e>
                        <m:r>
                          <a:rPr lang="es-ES" sz="2000" i="1">
                            <a:latin typeface="Cambria Math" panose="02040503050406030204" pitchFamily="18" charset="0"/>
                          </a:rPr>
                          <m:t>𝑇</m:t>
                        </m:r>
                      </m:e>
                      <m:sub>
                        <m:r>
                          <a:rPr lang="es-ES" sz="2000" i="1">
                            <a:latin typeface="Cambria Math" panose="02040503050406030204" pitchFamily="18" charset="0"/>
                          </a:rPr>
                          <m:t>..</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El promedio general </a:t>
                </a:r>
                <a14:m>
                  <m:oMath xmlns:m="http://schemas.openxmlformats.org/officeDocument/2006/math">
                    <m:sSub>
                      <m:sSubPr>
                        <m:ctrlPr>
                          <a:rPr lang="es-ES" sz="2000" i="1">
                            <a:latin typeface="Cambria Math"/>
                          </a:rPr>
                        </m:ctrlPr>
                      </m:sSubPr>
                      <m:e>
                        <m:acc>
                          <m:accPr>
                            <m:chr m:val="̅"/>
                            <m:ctrlPr>
                              <a:rPr lang="es-ES" sz="2000" i="1">
                                <a:latin typeface="Cambria Math"/>
                              </a:rPr>
                            </m:ctrlPr>
                          </m:accPr>
                          <m:e>
                            <m:r>
                              <m:rPr>
                                <m:sty m:val="p"/>
                              </m:rPr>
                              <a:rPr lang="es-ES" sz="2000">
                                <a:latin typeface="Cambria Math" panose="02040503050406030204" pitchFamily="18" charset="0"/>
                              </a:rPr>
                              <m:t>x</m:t>
                            </m:r>
                          </m:e>
                        </m:acc>
                      </m:e>
                      <m:sub>
                        <m:r>
                          <a:rPr lang="es-ES" sz="2000">
                            <a:latin typeface="Cambria Math" panose="02040503050406030204" pitchFamily="18" charset="0"/>
                          </a:rPr>
                          <m:t>..</m:t>
                        </m:r>
                      </m:sub>
                    </m:sSub>
                  </m:oMath>
                </a14:m>
                <a:endParaRPr lang="es-CR" sz="2000" dirty="0" smtClean="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Nótese la importancia de conocer la procedencia de la observación de acuerdo al factor.</a:t>
                </a:r>
                <a:endParaRPr lang="es-CR" sz="2400" dirty="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96756" y="1174916"/>
                <a:ext cx="7391399" cy="5683083"/>
              </a:xfrm>
              <a:blipFill rotWithShape="1">
                <a:blip r:embed="rId2"/>
                <a:stretch>
                  <a:fillRect l="-1072" t="-1502" b="-2039"/>
                </a:stretch>
              </a:blipFill>
            </p:spPr>
            <p:txBody>
              <a:bodyPr/>
              <a:lstStyle/>
              <a:p>
                <a:r>
                  <a:rPr lang="es-CR">
                    <a:noFill/>
                  </a:rPr>
                  <a:t> </a:t>
                </a:r>
              </a:p>
            </p:txBody>
          </p:sp>
        </mc:Fallback>
      </mc:AlternateContent>
      <p:sp>
        <p:nvSpPr>
          <p:cNvPr id="4" name="Título 1"/>
          <p:cNvSpPr>
            <a:spLocks noGrp="1"/>
          </p:cNvSpPr>
          <p:nvPr>
            <p:ph type="title"/>
          </p:nvPr>
        </p:nvSpPr>
        <p:spPr>
          <a:xfrm>
            <a:off x="838200" y="0"/>
            <a:ext cx="10515600" cy="1174917"/>
          </a:xfrm>
        </p:spPr>
        <p:txBody>
          <a:bodyPr/>
          <a:lstStyle/>
          <a:p>
            <a:pPr algn="ctr"/>
            <a:r>
              <a:rPr lang="es-CR" dirty="0" smtClean="0"/>
              <a:t>Diseño de una vía: descripción de los datos</a:t>
            </a:r>
            <a:endParaRPr lang="es-ES" dirty="0"/>
          </a:p>
        </p:txBody>
      </p:sp>
      <p:pic>
        <p:nvPicPr>
          <p:cNvPr id="17410" name="Picture 2" descr="http://1.bp.blogspot.com/-4iA13okwkp4/USnqsB8yW6I/AAAAAAAAA1Q/Kkp7jgIe7m0/s1600/080301_1_Factores_productivo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375" y="1268412"/>
            <a:ext cx="2857500" cy="2257426"/>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http://aiia.es/wp-content/uploads/2014/07/lean-manufacturing-mejora-continua.jpg"/>
          <p:cNvPicPr>
            <a:picLocks noChangeAspect="1" noChangeArrowheads="1"/>
          </p:cNvPicPr>
          <p:nvPr/>
        </p:nvPicPr>
        <p:blipFill rotWithShape="1">
          <a:blip r:embed="rId4">
            <a:extLst>
              <a:ext uri="{28A0092B-C50C-407E-A947-70E740481C1C}">
                <a14:useLocalDpi xmlns:a14="http://schemas.microsoft.com/office/drawing/2010/main" val="0"/>
              </a:ext>
            </a:extLst>
          </a:blip>
          <a:srcRect l="8381" t="10491" r="6398" b="10903"/>
          <a:stretch/>
        </p:blipFill>
        <p:spPr bwMode="auto">
          <a:xfrm>
            <a:off x="8816975" y="3962400"/>
            <a:ext cx="2654300" cy="2470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914255"/>
      </p:ext>
    </p:extLst>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38200" y="0"/>
            <a:ext cx="10515600" cy="1174917"/>
          </a:xfrm>
        </p:spPr>
        <p:txBody>
          <a:bodyPr/>
          <a:lstStyle/>
          <a:p>
            <a:pPr algn="ctr"/>
            <a:r>
              <a:rPr lang="es-CR" dirty="0" smtClean="0"/>
              <a:t>Diseño de una vía: descripción de los datos</a:t>
            </a:r>
            <a:endParaRPr lang="es-ES" dirty="0"/>
          </a:p>
        </p:txBody>
      </p:sp>
      <p:pic>
        <p:nvPicPr>
          <p:cNvPr id="5" name="Imagen 4"/>
          <p:cNvPicPr>
            <a:picLocks noChangeAspect="1"/>
          </p:cNvPicPr>
          <p:nvPr/>
        </p:nvPicPr>
        <p:blipFill>
          <a:blip r:embed="rId2"/>
          <a:stretch>
            <a:fillRect/>
          </a:stretch>
        </p:blipFill>
        <p:spPr>
          <a:xfrm>
            <a:off x="128832" y="1052087"/>
            <a:ext cx="5967168" cy="5294122"/>
          </a:xfrm>
          <a:prstGeom prst="rect">
            <a:avLst/>
          </a:prstGeom>
        </p:spPr>
      </p:pic>
      <mc:AlternateContent xmlns:mc="http://schemas.openxmlformats.org/markup-compatibility/2006" xmlns:a14="http://schemas.microsoft.com/office/drawing/2010/main">
        <mc:Choice Requires="a14">
          <p:sp>
            <p:nvSpPr>
              <p:cNvPr id="6" name="Rectángulo 5"/>
              <p:cNvSpPr/>
              <p:nvPr/>
            </p:nvSpPr>
            <p:spPr>
              <a:xfrm>
                <a:off x="6096000" y="1741851"/>
                <a:ext cx="6096000" cy="36138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ES" sz="1600" b="1" i="1">
                              <a:latin typeface="Cambria Math"/>
                            </a:rPr>
                          </m:ctrlPr>
                        </m:sSubPr>
                        <m:e>
                          <m:r>
                            <a:rPr lang="es-ES" sz="1600" b="1" i="1">
                              <a:latin typeface="Cambria Math" panose="02040503050406030204" pitchFamily="18" charset="0"/>
                            </a:rPr>
                            <m:t>𝒙</m:t>
                          </m:r>
                        </m:e>
                        <m:sub>
                          <m:r>
                            <a:rPr lang="es-ES" sz="1600" b="1" i="0">
                              <a:latin typeface="Cambria Math" panose="02040503050406030204" pitchFamily="18" charset="0"/>
                            </a:rPr>
                            <m:t>𝐢𝐣</m:t>
                          </m:r>
                        </m:sub>
                      </m:sSub>
                      <m:r>
                        <a:rPr lang="es-ES" sz="1600" b="1" i="0">
                          <a:latin typeface="Cambria Math" panose="02040503050406030204" pitchFamily="18" charset="0"/>
                        </a:rPr>
                        <m:t>=</m:t>
                      </m:r>
                      <m:r>
                        <a:rPr lang="es-ES" sz="1600" b="1" i="1">
                          <a:latin typeface="Cambria Math" panose="02040503050406030204" pitchFamily="18" charset="0"/>
                        </a:rPr>
                        <m:t>𝒍𝒂</m:t>
                      </m:r>
                      <m:r>
                        <a:rPr lang="es-ES" sz="1600" b="1" i="0">
                          <a:latin typeface="Cambria Math" panose="02040503050406030204" pitchFamily="18" charset="0"/>
                        </a:rPr>
                        <m:t> </m:t>
                      </m:r>
                      <m:r>
                        <a:rPr lang="es-ES" sz="1600" b="1" i="1">
                          <a:latin typeface="Cambria Math" panose="02040503050406030204" pitchFamily="18" charset="0"/>
                        </a:rPr>
                        <m:t>𝒊</m:t>
                      </m:r>
                      <m:r>
                        <a:rPr lang="es-ES" sz="1600" b="1" i="0">
                          <a:latin typeface="Cambria Math" panose="02040503050406030204" pitchFamily="18" charset="0"/>
                        </a:rPr>
                        <m:t>−é</m:t>
                      </m:r>
                      <m:r>
                        <a:rPr lang="es-ES" sz="1600" b="1" i="1">
                          <a:latin typeface="Cambria Math" panose="02040503050406030204" pitchFamily="18" charset="0"/>
                        </a:rPr>
                        <m:t>𝒔𝒊𝒎𝒂</m:t>
                      </m:r>
                      <m:r>
                        <a:rPr lang="es-ES" sz="1600" b="1" i="0">
                          <a:latin typeface="Cambria Math" panose="02040503050406030204" pitchFamily="18" charset="0"/>
                        </a:rPr>
                        <m:t> </m:t>
                      </m:r>
                      <m:r>
                        <a:rPr lang="es-ES" sz="1600" b="1" i="1">
                          <a:latin typeface="Cambria Math" panose="02040503050406030204" pitchFamily="18" charset="0"/>
                        </a:rPr>
                        <m:t>𝒐𝒃𝒔𝒆𝒓𝒗𝒂𝒄𝒊</m:t>
                      </m:r>
                      <m:r>
                        <a:rPr lang="es-ES" sz="1600" b="1" i="0">
                          <a:latin typeface="Cambria Math" panose="02040503050406030204" pitchFamily="18" charset="0"/>
                        </a:rPr>
                        <m:t>ó</m:t>
                      </m:r>
                      <m:r>
                        <a:rPr lang="es-ES" sz="1600" b="1" i="1">
                          <a:latin typeface="Cambria Math" panose="02040503050406030204" pitchFamily="18" charset="0"/>
                        </a:rPr>
                        <m:t>𝒏</m:t>
                      </m:r>
                      <m:r>
                        <a:rPr lang="es-ES" sz="1600" b="1" i="0">
                          <a:latin typeface="Cambria Math" panose="02040503050406030204" pitchFamily="18" charset="0"/>
                        </a:rPr>
                        <m:t> </m:t>
                      </m:r>
                      <m:r>
                        <a:rPr lang="es-ES" sz="1600" b="1" i="1">
                          <a:latin typeface="Cambria Math" panose="02040503050406030204" pitchFamily="18" charset="0"/>
                        </a:rPr>
                        <m:t>𝒂</m:t>
                      </m:r>
                      <m:r>
                        <a:rPr lang="es-ES" sz="1600" b="1" i="0">
                          <a:latin typeface="Cambria Math" panose="02040503050406030204" pitchFamily="18" charset="0"/>
                        </a:rPr>
                        <m:t> </m:t>
                      </m:r>
                      <m:r>
                        <a:rPr lang="es-ES" sz="1600" b="1" i="1">
                          <a:latin typeface="Cambria Math" panose="02040503050406030204" pitchFamily="18" charset="0"/>
                        </a:rPr>
                        <m:t>𝒑𝒂𝒓𝒕𝒊𝒓</m:t>
                      </m:r>
                      <m:r>
                        <a:rPr lang="es-ES" sz="1600" b="1" i="0">
                          <a:latin typeface="Cambria Math" panose="02040503050406030204" pitchFamily="18" charset="0"/>
                        </a:rPr>
                        <m:t> </m:t>
                      </m:r>
                      <m:r>
                        <a:rPr lang="es-ES" sz="1600" b="1" i="1">
                          <a:latin typeface="Cambria Math" panose="02040503050406030204" pitchFamily="18" charset="0"/>
                        </a:rPr>
                        <m:t>𝒅𝒆𝒍</m:t>
                      </m:r>
                      <m:r>
                        <a:rPr lang="es-ES" sz="1600" b="1" i="0">
                          <a:latin typeface="Cambria Math" panose="02040503050406030204" pitchFamily="18" charset="0"/>
                        </a:rPr>
                        <m:t> </m:t>
                      </m:r>
                      <m:r>
                        <a:rPr lang="es-ES" sz="1600" b="1" i="1">
                          <a:latin typeface="Cambria Math" panose="02040503050406030204" pitchFamily="18" charset="0"/>
                        </a:rPr>
                        <m:t>𝒋</m:t>
                      </m:r>
                      <m:r>
                        <a:rPr lang="es-ES" sz="1600" b="1" i="0">
                          <a:latin typeface="Cambria Math" panose="02040503050406030204" pitchFamily="18" charset="0"/>
                        </a:rPr>
                        <m:t>−é</m:t>
                      </m:r>
                      <m:r>
                        <a:rPr lang="es-ES" sz="1600" b="1" i="1">
                          <a:latin typeface="Cambria Math" panose="02040503050406030204" pitchFamily="18" charset="0"/>
                        </a:rPr>
                        <m:t>𝒔𝒊𝒎𝒐</m:t>
                      </m:r>
                      <m:r>
                        <a:rPr lang="es-ES" sz="1600" b="1" i="0">
                          <a:latin typeface="Cambria Math" panose="02040503050406030204" pitchFamily="18" charset="0"/>
                        </a:rPr>
                        <m:t> </m:t>
                      </m:r>
                      <m:r>
                        <a:rPr lang="es-ES" sz="1600" b="1" i="1">
                          <a:latin typeface="Cambria Math" panose="02040503050406030204" pitchFamily="18" charset="0"/>
                        </a:rPr>
                        <m:t>𝒇𝒂𝒄𝒕𝒐𝒓</m:t>
                      </m:r>
                    </m:oMath>
                  </m:oMathPara>
                </a14:m>
                <a:endParaRPr lang="es-ES" sz="1600" b="1" dirty="0"/>
              </a:p>
            </p:txBody>
          </p:sp>
        </mc:Choice>
        <mc:Fallback xmlns="">
          <p:sp>
            <p:nvSpPr>
              <p:cNvPr id="6" name="Rectángulo 5"/>
              <p:cNvSpPr>
                <a:spLocks noRot="1" noChangeAspect="1" noMove="1" noResize="1" noEditPoints="1" noAdjustHandles="1" noChangeArrowheads="1" noChangeShapeType="1" noTextEdit="1"/>
              </p:cNvSpPr>
              <p:nvPr/>
            </p:nvSpPr>
            <p:spPr>
              <a:xfrm>
                <a:off x="6096000" y="1741851"/>
                <a:ext cx="6096000" cy="361381"/>
              </a:xfrm>
              <a:prstGeom prst="rect">
                <a:avLst/>
              </a:prstGeom>
              <a:blipFill rotWithShape="0">
                <a:blip r:embed="rId3"/>
                <a:stretch>
                  <a:fillRect b="-508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6096000" y="2296689"/>
                <a:ext cx="4297395"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r>
                        <a:rPr lang="es-ES" i="0">
                          <a:latin typeface="Cambria Math" panose="02040503050406030204" pitchFamily="18" charset="0"/>
                        </a:rPr>
                        <m:t>= </m:t>
                      </m:r>
                      <m:nary>
                        <m:naryPr>
                          <m:chr m:val="∑"/>
                          <m:subHide m:val="on"/>
                          <m:supHide m:val="on"/>
                          <m:ctrlPr>
                            <a:rPr lang="es-ES" i="1">
                              <a:latin typeface="Cambria Math"/>
                            </a:rPr>
                          </m:ctrlPr>
                        </m:naryPr>
                        <m:sub/>
                        <m:sup/>
                        <m:e>
                          <m:sSub>
                            <m:sSubPr>
                              <m:ctrlPr>
                                <a:rPr lang="es-ES" i="1">
                                  <a:latin typeface="Cambria Math"/>
                                </a:rPr>
                              </m:ctrlPr>
                            </m:sSubPr>
                            <m:e>
                              <m:r>
                                <a:rPr lang="es-ES" i="1">
                                  <a:latin typeface="Cambria Math" panose="02040503050406030204" pitchFamily="18" charset="0"/>
                                </a:rPr>
                                <m:t>𝑥</m:t>
                              </m:r>
                            </m:e>
                            <m:sub>
                              <m:r>
                                <a:rPr lang="es-ES" i="1">
                                  <a:latin typeface="Cambria Math" panose="02040503050406030204" pitchFamily="18" charset="0"/>
                                </a:rPr>
                                <m:t>𝑖</m:t>
                              </m:r>
                              <m:r>
                                <a:rPr lang="es-ES" i="0">
                                  <a:latin typeface="Cambria Math" panose="02040503050406030204" pitchFamily="18" charset="0"/>
                                </a:rPr>
                                <m:t>.</m:t>
                              </m:r>
                            </m:sub>
                          </m:sSub>
                        </m:e>
                      </m:nary>
                      <m:r>
                        <a:rPr lang="es-ES" i="0">
                          <a:latin typeface="Cambria Math" panose="02040503050406030204" pitchFamily="18" charset="0"/>
                        </a:rPr>
                        <m:t>=</m:t>
                      </m:r>
                      <m:r>
                        <a:rPr lang="es-ES" i="1">
                          <a:latin typeface="Cambria Math" panose="02040503050406030204" pitchFamily="18" charset="0"/>
                        </a:rPr>
                        <m:t>𝑡𝑜𝑡𝑎𝑙</m:t>
                      </m:r>
                      <m:r>
                        <a:rPr lang="es-ES" i="0">
                          <a:latin typeface="Cambria Math" panose="02040503050406030204" pitchFamily="18" charset="0"/>
                        </a:rPr>
                        <m:t> </m:t>
                      </m:r>
                      <m:r>
                        <a:rPr lang="es-ES" i="1">
                          <a:latin typeface="Cambria Math" panose="02040503050406030204" pitchFamily="18" charset="0"/>
                        </a:rPr>
                        <m:t>𝑑𝑒</m:t>
                      </m:r>
                      <m:r>
                        <a:rPr lang="es-ES" i="0">
                          <a:latin typeface="Cambria Math" panose="02040503050406030204" pitchFamily="18" charset="0"/>
                        </a:rPr>
                        <m:t> </m:t>
                      </m:r>
                      <m:r>
                        <a:rPr lang="es-ES" i="1">
                          <a:latin typeface="Cambria Math" panose="02040503050406030204" pitchFamily="18" charset="0"/>
                        </a:rPr>
                        <m:t>𝑗</m:t>
                      </m:r>
                      <m:r>
                        <a:rPr lang="es-ES" i="0">
                          <a:latin typeface="Cambria Math" panose="02040503050406030204" pitchFamily="18" charset="0"/>
                        </a:rPr>
                        <m:t>−é</m:t>
                      </m:r>
                      <m:r>
                        <a:rPr lang="es-ES" i="1">
                          <a:latin typeface="Cambria Math" panose="02040503050406030204" pitchFamily="18" charset="0"/>
                        </a:rPr>
                        <m:t>𝑠𝑖𝑚𝑜</m:t>
                      </m:r>
                      <m:r>
                        <a:rPr lang="es-ES" i="0">
                          <a:latin typeface="Cambria Math" panose="02040503050406030204" pitchFamily="18" charset="0"/>
                        </a:rPr>
                        <m:t> </m:t>
                      </m:r>
                      <m:r>
                        <a:rPr lang="es-ES" i="1">
                          <a:latin typeface="Cambria Math" panose="02040503050406030204" pitchFamily="18" charset="0"/>
                        </a:rPr>
                        <m:t>𝑓𝑎𝑐𝑡𝑜𝑟</m:t>
                      </m:r>
                    </m:oMath>
                  </m:oMathPara>
                </a14:m>
                <a:endParaRPr lang="es-ES" dirty="0"/>
              </a:p>
            </p:txBody>
          </p:sp>
        </mc:Choice>
        <mc:Fallback xmlns="">
          <p:sp>
            <p:nvSpPr>
              <p:cNvPr id="7" name="Rectángulo 6"/>
              <p:cNvSpPr>
                <a:spLocks noRot="1" noChangeAspect="1" noMove="1" noResize="1" noEditPoints="1" noAdjustHandles="1" noChangeArrowheads="1" noChangeShapeType="1" noTextEdit="1"/>
              </p:cNvSpPr>
              <p:nvPr/>
            </p:nvSpPr>
            <p:spPr>
              <a:xfrm>
                <a:off x="6096000" y="2296689"/>
                <a:ext cx="4297395" cy="763094"/>
              </a:xfrm>
              <a:prstGeom prst="rect">
                <a:avLst/>
              </a:prstGeom>
              <a:blipFill rotWithShape="0">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6095999" y="2898400"/>
                <a:ext cx="4297395"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r>
                        <a:rPr lang="es-ES" i="0">
                          <a:latin typeface="Cambria Math" panose="02040503050406030204" pitchFamily="18" charset="0"/>
                        </a:rPr>
                        <m:t>= </m:t>
                      </m:r>
                      <m:nary>
                        <m:naryPr>
                          <m:chr m:val="∑"/>
                          <m:subHide m:val="on"/>
                          <m:supHide m:val="on"/>
                          <m:ctrlPr>
                            <a:rPr lang="es-ES" i="1">
                              <a:latin typeface="Cambria Math"/>
                            </a:rPr>
                          </m:ctrlPr>
                        </m:naryPr>
                        <m:sub/>
                        <m:sup/>
                        <m:e>
                          <m:sSub>
                            <m:sSubPr>
                              <m:ctrlPr>
                                <a:rPr lang="es-ES" i="1">
                                  <a:latin typeface="Cambria Math"/>
                                </a:rPr>
                              </m:ctrlPr>
                            </m:sSubPr>
                            <m:e>
                              <m:r>
                                <a:rPr lang="es-ES" i="1">
                                  <a:latin typeface="Cambria Math" panose="02040503050406030204" pitchFamily="18" charset="0"/>
                                </a:rPr>
                                <m:t>𝑥</m:t>
                              </m:r>
                            </m:e>
                            <m:sub>
                              <m:r>
                                <a:rPr lang="es-ES" i="1">
                                  <a:latin typeface="Cambria Math" panose="02040503050406030204" pitchFamily="18" charset="0"/>
                                </a:rPr>
                                <m:t>𝑖</m:t>
                              </m:r>
                              <m:r>
                                <a:rPr lang="es-ES" i="0">
                                  <a:latin typeface="Cambria Math" panose="02040503050406030204" pitchFamily="18" charset="0"/>
                                </a:rPr>
                                <m:t>.</m:t>
                              </m:r>
                            </m:sub>
                          </m:sSub>
                        </m:e>
                      </m:nary>
                      <m:r>
                        <a:rPr lang="es-ES" i="0">
                          <a:latin typeface="Cambria Math" panose="02040503050406030204" pitchFamily="18" charset="0"/>
                        </a:rPr>
                        <m:t>=</m:t>
                      </m:r>
                      <m:r>
                        <a:rPr lang="es-ES" i="1">
                          <a:latin typeface="Cambria Math" panose="02040503050406030204" pitchFamily="18" charset="0"/>
                        </a:rPr>
                        <m:t>𝑡𝑜𝑡𝑎𝑙</m:t>
                      </m:r>
                      <m:r>
                        <a:rPr lang="es-ES" i="0">
                          <a:latin typeface="Cambria Math" panose="02040503050406030204" pitchFamily="18" charset="0"/>
                        </a:rPr>
                        <m:t> </m:t>
                      </m:r>
                      <m:r>
                        <a:rPr lang="es-ES" i="1">
                          <a:latin typeface="Cambria Math" panose="02040503050406030204" pitchFamily="18" charset="0"/>
                        </a:rPr>
                        <m:t>𝑑𝑒</m:t>
                      </m:r>
                      <m:r>
                        <a:rPr lang="es-ES" i="0">
                          <a:latin typeface="Cambria Math" panose="02040503050406030204" pitchFamily="18" charset="0"/>
                        </a:rPr>
                        <m:t> </m:t>
                      </m:r>
                      <m:r>
                        <a:rPr lang="es-ES" i="1">
                          <a:latin typeface="Cambria Math" panose="02040503050406030204" pitchFamily="18" charset="0"/>
                        </a:rPr>
                        <m:t>𝑗</m:t>
                      </m:r>
                      <m:r>
                        <a:rPr lang="es-ES" i="0">
                          <a:latin typeface="Cambria Math" panose="02040503050406030204" pitchFamily="18" charset="0"/>
                        </a:rPr>
                        <m:t>−é</m:t>
                      </m:r>
                      <m:r>
                        <a:rPr lang="es-ES" i="1">
                          <a:latin typeface="Cambria Math" panose="02040503050406030204" pitchFamily="18" charset="0"/>
                        </a:rPr>
                        <m:t>𝑠𝑖𝑚𝑜</m:t>
                      </m:r>
                      <m:r>
                        <a:rPr lang="es-ES" i="0">
                          <a:latin typeface="Cambria Math" panose="02040503050406030204" pitchFamily="18" charset="0"/>
                        </a:rPr>
                        <m:t> </m:t>
                      </m:r>
                      <m:r>
                        <a:rPr lang="es-ES" i="1">
                          <a:latin typeface="Cambria Math" panose="02040503050406030204" pitchFamily="18" charset="0"/>
                        </a:rPr>
                        <m:t>𝑓𝑎𝑐𝑡𝑜𝑟</m:t>
                      </m:r>
                    </m:oMath>
                  </m:oMathPara>
                </a14:m>
                <a:endParaRPr lang="es-ES" dirty="0"/>
              </a:p>
            </p:txBody>
          </p:sp>
        </mc:Choice>
        <mc:Fallback xmlns="">
          <p:sp>
            <p:nvSpPr>
              <p:cNvPr id="8" name="Rectángulo 7"/>
              <p:cNvSpPr>
                <a:spLocks noRot="1" noChangeAspect="1" noMove="1" noResize="1" noEditPoints="1" noAdjustHandles="1" noChangeArrowheads="1" noChangeShapeType="1" noTextEdit="1"/>
              </p:cNvSpPr>
              <p:nvPr/>
            </p:nvSpPr>
            <p:spPr>
              <a:xfrm>
                <a:off x="6095999" y="2898400"/>
                <a:ext cx="4297395" cy="763094"/>
              </a:xfrm>
              <a:prstGeom prst="rect">
                <a:avLst/>
              </a:prstGeom>
              <a:blipFill rotWithShape="0">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6166404" y="3678133"/>
                <a:ext cx="4226990" cy="6969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a:rPr>
                          </m:ctrlPr>
                        </m:sSubPr>
                        <m:e>
                          <m:acc>
                            <m:accPr>
                              <m:chr m:val="̅"/>
                              <m:ctrlPr>
                                <a:rPr lang="es-ES" i="1">
                                  <a:latin typeface="Cambria Math"/>
                                </a:rPr>
                              </m:ctrlPr>
                            </m:accPr>
                            <m:e>
                              <m:r>
                                <m:rPr>
                                  <m:sty m:val="p"/>
                                </m:rPr>
                                <a:rPr lang="es-ES">
                                  <a:latin typeface="Cambria Math" panose="02040503050406030204" pitchFamily="18" charset="0"/>
                                </a:rPr>
                                <m:t>x</m:t>
                              </m:r>
                            </m:e>
                          </m:acc>
                        </m:e>
                        <m:sub>
                          <m:r>
                            <a:rPr lang="es-ES" i="0">
                              <a:latin typeface="Cambria Math" panose="02040503050406030204" pitchFamily="18" charset="0"/>
                            </a:rPr>
                            <m:t>.</m:t>
                          </m:r>
                          <m:r>
                            <m:rPr>
                              <m:sty m:val="p"/>
                            </m:rPr>
                            <a:rPr lang="es-ES" i="0">
                              <a:latin typeface="Cambria Math" panose="02040503050406030204" pitchFamily="18" charset="0"/>
                            </a:rPr>
                            <m:t>j</m:t>
                          </m:r>
                        </m:sub>
                      </m:sSub>
                      <m:r>
                        <a:rPr lang="es-ES" i="0">
                          <a:latin typeface="Cambria Math" panose="02040503050406030204" pitchFamily="18" charset="0"/>
                        </a:rPr>
                        <m:t>=</m:t>
                      </m:r>
                      <m:f>
                        <m:fPr>
                          <m:ctrlPr>
                            <a:rPr lang="es-ES" i="1">
                              <a:latin typeface="Cambria Math"/>
                            </a:rPr>
                          </m:ctrlPr>
                        </m:fPr>
                        <m:num>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num>
                        <m:den>
                          <m:sSub>
                            <m:sSubPr>
                              <m:ctrlPr>
                                <a:rPr lang="es-ES" i="1">
                                  <a:latin typeface="Cambria Math"/>
                                </a:rPr>
                              </m:ctrlPr>
                            </m:sSubPr>
                            <m:e>
                              <m:r>
                                <a:rPr lang="es-ES" i="1">
                                  <a:latin typeface="Cambria Math" panose="02040503050406030204" pitchFamily="18" charset="0"/>
                                </a:rPr>
                                <m:t>𝑛</m:t>
                              </m:r>
                            </m:e>
                            <m:sub>
                              <m:r>
                                <a:rPr lang="es-ES" i="1">
                                  <a:latin typeface="Cambria Math" panose="02040503050406030204" pitchFamily="18" charset="0"/>
                                </a:rPr>
                                <m:t>𝑗</m:t>
                              </m:r>
                            </m:sub>
                          </m:sSub>
                        </m:den>
                      </m:f>
                      <m:r>
                        <a:rPr lang="es-ES" i="0">
                          <a:latin typeface="Cambria Math" panose="02040503050406030204" pitchFamily="18" charset="0"/>
                        </a:rPr>
                        <m:t>=</m:t>
                      </m:r>
                      <m:r>
                        <a:rPr lang="es-ES" i="1">
                          <a:latin typeface="Cambria Math" panose="02040503050406030204" pitchFamily="18" charset="0"/>
                        </a:rPr>
                        <m:t>𝑚𝑒𝑑𝑖𝑑𝑎</m:t>
                      </m:r>
                      <m:r>
                        <a:rPr lang="es-ES" i="0">
                          <a:latin typeface="Cambria Math" panose="02040503050406030204" pitchFamily="18" charset="0"/>
                        </a:rPr>
                        <m:t> </m:t>
                      </m:r>
                      <m:r>
                        <a:rPr lang="es-ES" i="1">
                          <a:latin typeface="Cambria Math" panose="02040503050406030204" pitchFamily="18" charset="0"/>
                        </a:rPr>
                        <m:t>𝑑𝑒𝑙</m:t>
                      </m:r>
                      <m:r>
                        <a:rPr lang="es-ES" i="0">
                          <a:latin typeface="Cambria Math" panose="02040503050406030204" pitchFamily="18" charset="0"/>
                        </a:rPr>
                        <m:t> </m:t>
                      </m:r>
                      <m:r>
                        <a:rPr lang="es-ES" i="1">
                          <a:latin typeface="Cambria Math" panose="02040503050406030204" pitchFamily="18" charset="0"/>
                        </a:rPr>
                        <m:t>𝑗</m:t>
                      </m:r>
                      <m:r>
                        <a:rPr lang="es-ES" i="0">
                          <a:latin typeface="Cambria Math" panose="02040503050406030204" pitchFamily="18" charset="0"/>
                        </a:rPr>
                        <m:t>−é</m:t>
                      </m:r>
                      <m:r>
                        <a:rPr lang="es-ES" i="1">
                          <a:latin typeface="Cambria Math" panose="02040503050406030204" pitchFamily="18" charset="0"/>
                        </a:rPr>
                        <m:t>𝑠𝑖𝑚𝑜</m:t>
                      </m:r>
                      <m:r>
                        <a:rPr lang="es-ES" i="0">
                          <a:latin typeface="Cambria Math" panose="02040503050406030204" pitchFamily="18" charset="0"/>
                        </a:rPr>
                        <m:t> </m:t>
                      </m:r>
                      <m:r>
                        <a:rPr lang="es-ES" i="1">
                          <a:latin typeface="Cambria Math" panose="02040503050406030204" pitchFamily="18" charset="0"/>
                        </a:rPr>
                        <m:t>𝑓𝑎𝑐𝑡𝑜𝑟</m:t>
                      </m:r>
                    </m:oMath>
                  </m:oMathPara>
                </a14:m>
                <a:endParaRPr lang="es-ES" dirty="0"/>
              </a:p>
            </p:txBody>
          </p:sp>
        </mc:Choice>
        <mc:Fallback xmlns="">
          <p:sp>
            <p:nvSpPr>
              <p:cNvPr id="9" name="Rectángulo 8"/>
              <p:cNvSpPr>
                <a:spLocks noRot="1" noChangeAspect="1" noMove="1" noResize="1" noEditPoints="1" noAdjustHandles="1" noChangeArrowheads="1" noChangeShapeType="1" noTextEdit="1"/>
              </p:cNvSpPr>
              <p:nvPr/>
            </p:nvSpPr>
            <p:spPr>
              <a:xfrm>
                <a:off x="6166404" y="3678133"/>
                <a:ext cx="4226990" cy="696986"/>
              </a:xfrm>
              <a:prstGeom prst="rect">
                <a:avLst/>
              </a:prstGeom>
              <a:blipFill rotWithShape="0">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6166404" y="4528240"/>
                <a:ext cx="5614679"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sub>
                      </m:sSub>
                      <m:r>
                        <a:rPr lang="es-ES" i="0">
                          <a:latin typeface="Cambria Math" panose="02040503050406030204" pitchFamily="18" charset="0"/>
                        </a:rPr>
                        <m:t>= </m:t>
                      </m:r>
                      <m:nary>
                        <m:naryPr>
                          <m:chr m:val="∑"/>
                          <m:subHide m:val="on"/>
                          <m:supHide m:val="on"/>
                          <m:ctrlPr>
                            <a:rPr lang="es-ES" i="1">
                              <a:latin typeface="Cambria Math"/>
                            </a:rPr>
                          </m:ctrlPr>
                        </m:naryPr>
                        <m:sub/>
                        <m:sup/>
                        <m:e>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e>
                      </m:nary>
                      <m:r>
                        <a:rPr lang="es-ES" i="0">
                          <a:latin typeface="Cambria Math" panose="02040503050406030204" pitchFamily="18" charset="0"/>
                        </a:rPr>
                        <m:t>=</m:t>
                      </m:r>
                      <m:nary>
                        <m:naryPr>
                          <m:chr m:val="∑"/>
                          <m:subHide m:val="on"/>
                          <m:supHide m:val="on"/>
                          <m:ctrlPr>
                            <a:rPr lang="es-ES" i="1">
                              <a:latin typeface="Cambria Math"/>
                            </a:rPr>
                          </m:ctrlPr>
                        </m:naryPr>
                        <m:sub/>
                        <m:sup/>
                        <m:e>
                          <m:nary>
                            <m:naryPr>
                              <m:chr m:val="∑"/>
                              <m:subHide m:val="on"/>
                              <m:supHide m:val="on"/>
                              <m:ctrlPr>
                                <a:rPr lang="es-ES" i="1">
                                  <a:latin typeface="Cambria Math"/>
                                </a:rPr>
                              </m:ctrlPr>
                            </m:naryPr>
                            <m:sub/>
                            <m:sup/>
                            <m:e>
                              <m:sSub>
                                <m:sSubPr>
                                  <m:ctrlPr>
                                    <a:rPr lang="es-ES" i="1">
                                      <a:latin typeface="Cambria Math"/>
                                    </a:rPr>
                                  </m:ctrlPr>
                                </m:sSubPr>
                                <m:e>
                                  <m:r>
                                    <m:rPr>
                                      <m:sty m:val="p"/>
                                    </m:rPr>
                                    <a:rPr lang="es-ES" i="0">
                                      <a:latin typeface="Cambria Math" panose="02040503050406030204" pitchFamily="18" charset="0"/>
                                    </a:rPr>
                                    <m:t>x</m:t>
                                  </m:r>
                                </m:e>
                                <m:sub>
                                  <m:r>
                                    <m:rPr>
                                      <m:sty m:val="p"/>
                                    </m:rPr>
                                    <a:rPr lang="es-ES" i="0">
                                      <a:latin typeface="Cambria Math" panose="02040503050406030204" pitchFamily="18" charset="0"/>
                                    </a:rPr>
                                    <m:t>ij</m:t>
                                  </m:r>
                                </m:sub>
                              </m:sSub>
                            </m:e>
                          </m:nary>
                        </m:e>
                      </m:nary>
                      <m:r>
                        <a:rPr lang="es-ES" i="0">
                          <a:latin typeface="Cambria Math" panose="02040503050406030204" pitchFamily="18" charset="0"/>
                        </a:rPr>
                        <m:t>=</m:t>
                      </m:r>
                      <m:r>
                        <a:rPr lang="es-ES" i="1">
                          <a:latin typeface="Cambria Math" panose="02040503050406030204" pitchFamily="18" charset="0"/>
                        </a:rPr>
                        <m:t>𝑡𝑜𝑡𝑎𝑙</m:t>
                      </m:r>
                      <m:r>
                        <a:rPr lang="es-ES" i="0">
                          <a:latin typeface="Cambria Math" panose="02040503050406030204" pitchFamily="18" charset="0"/>
                        </a:rPr>
                        <m:t> </m:t>
                      </m:r>
                      <m:r>
                        <a:rPr lang="es-ES" i="1">
                          <a:latin typeface="Cambria Math" panose="02040503050406030204" pitchFamily="18" charset="0"/>
                        </a:rPr>
                        <m:t>𝑑𝑒</m:t>
                      </m:r>
                      <m:r>
                        <a:rPr lang="es-ES" i="0">
                          <a:latin typeface="Cambria Math" panose="02040503050406030204" pitchFamily="18" charset="0"/>
                        </a:rPr>
                        <m:t> </m:t>
                      </m:r>
                      <m:r>
                        <a:rPr lang="es-ES" i="1">
                          <a:latin typeface="Cambria Math" panose="02040503050406030204" pitchFamily="18" charset="0"/>
                        </a:rPr>
                        <m:t>𝑙𝑎𝑠</m:t>
                      </m:r>
                      <m:r>
                        <a:rPr lang="es-ES" i="0">
                          <a:latin typeface="Cambria Math" panose="02040503050406030204" pitchFamily="18" charset="0"/>
                        </a:rPr>
                        <m:t> </m:t>
                      </m:r>
                      <m:r>
                        <a:rPr lang="es-ES" i="1">
                          <a:latin typeface="Cambria Math" panose="02040503050406030204" pitchFamily="18" charset="0"/>
                        </a:rPr>
                        <m:t>𝑜𝑏𝑠𝑒𝑟𝑣𝑎𝑐𝑖𝑜𝑛𝑒𝑠</m:t>
                      </m:r>
                    </m:oMath>
                  </m:oMathPara>
                </a14:m>
                <a:endParaRPr lang="es-ES" dirty="0"/>
              </a:p>
            </p:txBody>
          </p:sp>
        </mc:Choice>
        <mc:Fallback xmlns="">
          <p:sp>
            <p:nvSpPr>
              <p:cNvPr id="10" name="Rectángulo 9"/>
              <p:cNvSpPr>
                <a:spLocks noRot="1" noChangeAspect="1" noMove="1" noResize="1" noEditPoints="1" noAdjustHandles="1" noChangeArrowheads="1" noChangeShapeType="1" noTextEdit="1"/>
              </p:cNvSpPr>
              <p:nvPr/>
            </p:nvSpPr>
            <p:spPr>
              <a:xfrm>
                <a:off x="6166404" y="4528240"/>
                <a:ext cx="5614679" cy="763094"/>
              </a:xfrm>
              <a:prstGeom prst="rect">
                <a:avLst/>
              </a:prstGeom>
              <a:blipFill rotWithShape="0">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6166404" y="5427511"/>
                <a:ext cx="3148233" cy="6090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a:rPr>
                          </m:ctrlPr>
                        </m:sSubPr>
                        <m:e>
                          <m:acc>
                            <m:accPr>
                              <m:chr m:val="̅"/>
                              <m:ctrlPr>
                                <a:rPr lang="es-ES" i="1">
                                  <a:latin typeface="Cambria Math"/>
                                </a:rPr>
                              </m:ctrlPr>
                            </m:accPr>
                            <m:e>
                              <m:r>
                                <m:rPr>
                                  <m:sty m:val="p"/>
                                </m:rPr>
                                <a:rPr lang="es-ES">
                                  <a:latin typeface="Cambria Math" panose="02040503050406030204" pitchFamily="18" charset="0"/>
                                </a:rPr>
                                <m:t>x</m:t>
                              </m:r>
                            </m:e>
                          </m:acc>
                        </m:e>
                        <m:sub>
                          <m:r>
                            <a:rPr lang="es-ES" i="0">
                              <a:latin typeface="Cambria Math" panose="02040503050406030204" pitchFamily="18" charset="0"/>
                            </a:rPr>
                            <m:t>..</m:t>
                          </m:r>
                        </m:sub>
                      </m:sSub>
                      <m:r>
                        <a:rPr lang="es-ES" i="0">
                          <a:latin typeface="Cambria Math" panose="02040503050406030204" pitchFamily="18" charset="0"/>
                        </a:rPr>
                        <m:t>= </m:t>
                      </m:r>
                      <m:f>
                        <m:fPr>
                          <m:ctrlPr>
                            <a:rPr lang="es-ES" i="1">
                              <a:latin typeface="Cambria Math"/>
                            </a:rPr>
                          </m:ctrlPr>
                        </m:fPr>
                        <m:num>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sub>
                          </m:sSub>
                        </m:num>
                        <m:den>
                          <m:r>
                            <a:rPr lang="es-ES" i="1">
                              <a:latin typeface="Cambria Math" panose="02040503050406030204" pitchFamily="18" charset="0"/>
                            </a:rPr>
                            <m:t>𝑁</m:t>
                          </m:r>
                        </m:den>
                      </m:f>
                      <m:r>
                        <a:rPr lang="es-ES" i="0">
                          <a:latin typeface="Cambria Math" panose="02040503050406030204" pitchFamily="18" charset="0"/>
                        </a:rPr>
                        <m:t>=</m:t>
                      </m:r>
                      <m:r>
                        <a:rPr lang="es-ES" i="1">
                          <a:latin typeface="Cambria Math" panose="02040503050406030204" pitchFamily="18" charset="0"/>
                        </a:rPr>
                        <m:t>𝑝𝑟𝑜𝑚𝑒𝑑𝑖𝑜</m:t>
                      </m:r>
                      <m:r>
                        <a:rPr lang="es-ES" i="0">
                          <a:latin typeface="Cambria Math" panose="02040503050406030204" pitchFamily="18" charset="0"/>
                        </a:rPr>
                        <m:t> </m:t>
                      </m:r>
                      <m:r>
                        <a:rPr lang="es-ES" i="1">
                          <a:latin typeface="Cambria Math" panose="02040503050406030204" pitchFamily="18" charset="0"/>
                        </a:rPr>
                        <m:t>𝑔𝑒𝑛𝑒𝑟𝑎𝑙</m:t>
                      </m:r>
                    </m:oMath>
                  </m:oMathPara>
                </a14:m>
                <a:endParaRPr lang="es-ES" dirty="0"/>
              </a:p>
            </p:txBody>
          </p:sp>
        </mc:Choice>
        <mc:Fallback xmlns="">
          <p:sp>
            <p:nvSpPr>
              <p:cNvPr id="11" name="Rectángulo 10"/>
              <p:cNvSpPr>
                <a:spLocks noRot="1" noChangeAspect="1" noMove="1" noResize="1" noEditPoints="1" noAdjustHandles="1" noChangeArrowheads="1" noChangeShapeType="1" noTextEdit="1"/>
              </p:cNvSpPr>
              <p:nvPr/>
            </p:nvSpPr>
            <p:spPr>
              <a:xfrm>
                <a:off x="6166404" y="5427511"/>
                <a:ext cx="3148233" cy="609077"/>
              </a:xfrm>
              <a:prstGeom prst="rect">
                <a:avLst/>
              </a:prstGeom>
              <a:blipFill rotWithShape="0">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328223832"/>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78642" y="1284099"/>
            <a:ext cx="7145740" cy="5162029"/>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Las suposiciones o supuestos se establecen a través de ciertas características del modelo.  Estas son:</a:t>
            </a:r>
          </a:p>
          <a:p>
            <a:pPr algn="just"/>
            <a:endParaRPr lang="es-CR"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s-CR" sz="2400" dirty="0" smtClean="0">
                <a:latin typeface="Times New Roman" panose="02020603050405020304" pitchFamily="18" charset="0"/>
                <a:cs typeface="Times New Roman" panose="02020603050405020304" pitchFamily="18" charset="0"/>
              </a:rPr>
              <a:t>El modelo</a:t>
            </a:r>
          </a:p>
          <a:p>
            <a:pPr marL="514350" indent="-514350" algn="just">
              <a:buFont typeface="+mj-lt"/>
              <a:buAutoNum type="arabicPeriod"/>
            </a:pPr>
            <a:r>
              <a:rPr lang="es-CR" sz="2400" dirty="0" smtClean="0">
                <a:latin typeface="Times New Roman" panose="02020603050405020304" pitchFamily="18" charset="0"/>
                <a:cs typeface="Times New Roman" panose="02020603050405020304" pitchFamily="18" charset="0"/>
              </a:rPr>
              <a:t>Componentes del modelo</a:t>
            </a:r>
          </a:p>
          <a:p>
            <a:pPr marL="0" indent="0" algn="just">
              <a:buNone/>
            </a:pPr>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Antes de pasar a los supuestos del modelo se debe extender e introducir el modelo, además de la significación de cada uno de sus componentes. </a:t>
            </a:r>
          </a:p>
          <a:p>
            <a:pPr marL="0" indent="0" algn="just">
              <a:buNone/>
            </a:pPr>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Esto se presente a continuación…</a:t>
            </a: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supuestos</a:t>
            </a:r>
            <a:endParaRPr lang="es-ES" dirty="0"/>
          </a:p>
        </p:txBody>
      </p:sp>
      <p:pic>
        <p:nvPicPr>
          <p:cNvPr id="18434" name="Picture 2" descr="http://www.dam.brown.edu/people/ciocanel/math_model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25" y="1547813"/>
            <a:ext cx="2851689" cy="2173288"/>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http://www.jcancer.org/v03/p0262/jcav03p0262g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614488"/>
            <a:ext cx="5067300" cy="3371851"/>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descr="http://www.jcancer.org/v03/p0262/jcav03p0262g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7880" y="4265612"/>
            <a:ext cx="2543175" cy="1957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0715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428767" y="1334305"/>
                <a:ext cx="7814481" cy="5339450"/>
              </a:xfrm>
            </p:spPr>
            <p:txBody>
              <a:bodyPr>
                <a:normAutofit/>
              </a:bodyPr>
              <a:lstStyle/>
              <a:p>
                <a:r>
                  <a:rPr lang="es-CR" sz="2400" dirty="0" smtClean="0">
                    <a:latin typeface="Times New Roman" panose="02020603050405020304" pitchFamily="18" charset="0"/>
                    <a:cs typeface="Times New Roman" panose="02020603050405020304" pitchFamily="18" charset="0"/>
                  </a:rPr>
                  <a:t>En los casos anteriores las pruebas de hipótesis no habían requerido establecer un modelo lineal, aunque estos si lo poseían….</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Un modelo es una representación simbólica de un valor representativo del conjunto de datos. </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Para escribirlo, se debe recordar los valor visto en el cuadro correspondiente a los anteriormente. En todos los casos, el modelo se expresa siempre en base a la observación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𝒙</m:t>
                        </m:r>
                      </m:e>
                      <m:sub>
                        <m:r>
                          <a:rPr lang="es-ES" sz="2400" b="1">
                            <a:latin typeface="Cambria Math" panose="02040503050406030204" pitchFamily="18" charset="0"/>
                          </a:rPr>
                          <m:t>𝐢𝐣</m:t>
                        </m:r>
                      </m:sub>
                    </m:sSub>
                  </m:oMath>
                </a14:m>
                <a:endParaRPr lang="es-ES"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Recordar que el modelo debe contener la expresión individual como la expresión según el factor de interés.</a:t>
                </a:r>
                <a:endParaRPr lang="es-ES" sz="2400" dirty="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428767" y="1334305"/>
                <a:ext cx="7814481" cy="5339450"/>
              </a:xfrm>
              <a:blipFill rotWithShape="1">
                <a:blip r:embed="rId2"/>
                <a:stretch>
                  <a:fillRect l="-1014" t="-1598" r="-1248"/>
                </a:stretch>
              </a:blipFill>
            </p:spPr>
            <p:txBody>
              <a:bodyPr/>
              <a:lstStyle/>
              <a:p>
                <a:r>
                  <a:rPr lang="es-CR">
                    <a:noFill/>
                  </a:rPr>
                  <a:t> </a:t>
                </a:r>
              </a:p>
            </p:txBody>
          </p:sp>
        </mc:Fallback>
      </mc:AlternateContent>
      <p:sp>
        <p:nvSpPr>
          <p:cNvPr id="5" name="Título 1"/>
          <p:cNvSpPr>
            <a:spLocks noGrp="1"/>
          </p:cNvSpPr>
          <p:nvPr>
            <p:ph type="title"/>
          </p:nvPr>
        </p:nvSpPr>
        <p:spPr>
          <a:xfrm>
            <a:off x="838200" y="0"/>
            <a:ext cx="10515600" cy="1174917"/>
          </a:xfrm>
        </p:spPr>
        <p:txBody>
          <a:bodyPr/>
          <a:lstStyle/>
          <a:p>
            <a:pPr algn="ctr"/>
            <a:r>
              <a:rPr lang="es-CR" dirty="0" smtClean="0"/>
              <a:t>Diseño de una vía: supuestos – el modelo</a:t>
            </a:r>
            <a:endParaRPr lang="es-ES" dirty="0"/>
          </a:p>
        </p:txBody>
      </p:sp>
      <p:pic>
        <p:nvPicPr>
          <p:cNvPr id="19458" name="Picture 2" descr="https://www.risd.k12.nm.us/assessment_evaluation/Clip%20Art/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9675" y="1374772"/>
            <a:ext cx="3044825" cy="1943101"/>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http://c1.thejournal.ie/media/2013/01/mathematical-equations-390x28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60756" y="4132262"/>
            <a:ext cx="2982661" cy="217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0957428"/>
      </p:ext>
    </p:extLst>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96755" y="1347953"/>
                <a:ext cx="8374039" cy="5380393"/>
              </a:xfrm>
            </p:spPr>
            <p:txBody>
              <a:bodyPr>
                <a:normAutofit/>
              </a:bodyPr>
              <a:lstStyle/>
              <a:p>
                <a:r>
                  <a:rPr lang="es-CR" sz="2400" dirty="0" smtClean="0">
                    <a:latin typeface="Times New Roman" panose="02020603050405020304" pitchFamily="18" charset="0"/>
                    <a:cs typeface="Times New Roman" panose="02020603050405020304" pitchFamily="18" charset="0"/>
                  </a:rPr>
                  <a:t>El modelo se expresa según la siguiente ecuación:</a:t>
                </a:r>
              </a:p>
              <a:p>
                <a:endParaRPr lang="es-CR" sz="2400" dirty="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Los términos en este modelo se definen de la siguiente forma:</a:t>
                </a:r>
              </a:p>
              <a:p>
                <a:pPr algn="just"/>
                <a:endParaRPr lang="es-CR" sz="2400" dirty="0">
                  <a:latin typeface="Times New Roman" panose="02020603050405020304" pitchFamily="18" charset="0"/>
                  <a:cs typeface="Times New Roman" panose="02020603050405020304" pitchFamily="18" charset="0"/>
                </a:endParaRPr>
              </a:p>
              <a:p>
                <a:pPr marL="0" indent="0" algn="just">
                  <a:buNone/>
                </a:pPr>
                <a:r>
                  <a:rPr lang="es-CR" sz="2400" dirty="0" smtClean="0">
                    <a:latin typeface="Times New Roman" panose="02020603050405020304" pitchFamily="18" charset="0"/>
                    <a:cs typeface="Times New Roman" panose="02020603050405020304" pitchFamily="18" charset="0"/>
                  </a:rPr>
                  <a:t>1. </a:t>
                </a:r>
                <a14:m>
                  <m:oMath xmlns:m="http://schemas.openxmlformats.org/officeDocument/2006/math">
                    <m:r>
                      <a:rPr lang="es-ES" sz="2400" b="1" i="1">
                        <a:latin typeface="Cambria Math" panose="02040503050406030204" pitchFamily="18" charset="0"/>
                      </a:rPr>
                      <m:t>𝝁</m:t>
                    </m:r>
                  </m:oMath>
                </a14:m>
                <a:r>
                  <a:rPr lang="es-CR" sz="2400" dirty="0" smtClean="0">
                    <a:latin typeface="Times New Roman" panose="02020603050405020304" pitchFamily="18" charset="0"/>
                    <a:cs typeface="Times New Roman" panose="02020603050405020304" pitchFamily="18" charset="0"/>
                  </a:rPr>
                  <a:t> representa la media general, se le conoce como la media general. </a:t>
                </a:r>
              </a:p>
              <a:p>
                <a:pPr marL="0" indent="0" algn="just">
                  <a:buNone/>
                </a:pPr>
                <a:r>
                  <a:rPr lang="es-CR" sz="2400" dirty="0" smtClean="0">
                    <a:latin typeface="Times New Roman" panose="02020603050405020304" pitchFamily="18" charset="0"/>
                    <a:cs typeface="Times New Roman" panose="02020603050405020304" pitchFamily="18" charset="0"/>
                  </a:rPr>
                  <a:t>2.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𝝉</m:t>
                        </m:r>
                      </m:e>
                      <m:sub>
                        <m:r>
                          <a:rPr lang="es-ES" sz="2400" b="1" i="1">
                            <a:latin typeface="Cambria Math" panose="02040503050406030204" pitchFamily="18" charset="0"/>
                          </a:rPr>
                          <m:t>𝒊</m:t>
                        </m:r>
                      </m:sub>
                    </m:sSub>
                  </m:oMath>
                </a14:m>
                <a:r>
                  <a:rPr lang="es-CR" sz="2400" dirty="0" smtClean="0">
                    <a:latin typeface="Times New Roman" panose="02020603050405020304" pitchFamily="18" charset="0"/>
                    <a:cs typeface="Times New Roman" panose="02020603050405020304" pitchFamily="18" charset="0"/>
                  </a:rPr>
                  <a:t> es la diferencia entre las j-</a:t>
                </a:r>
                <a:r>
                  <a:rPr lang="es-CR" sz="2400" dirty="0" err="1" smtClean="0">
                    <a:latin typeface="Times New Roman" panose="02020603050405020304" pitchFamily="18" charset="0"/>
                    <a:cs typeface="Times New Roman" panose="02020603050405020304" pitchFamily="18" charset="0"/>
                  </a:rPr>
                  <a:t>médias</a:t>
                </a:r>
                <a:r>
                  <a:rPr lang="es-CR" sz="2400" dirty="0" smtClean="0">
                    <a:latin typeface="Times New Roman" panose="02020603050405020304" pitchFamily="18" charset="0"/>
                    <a:cs typeface="Times New Roman" panose="02020603050405020304" pitchFamily="18" charset="0"/>
                  </a:rPr>
                  <a:t>, y también se conoce como efecto del tratamiento o del factor.</a:t>
                </a:r>
              </a:p>
              <a:p>
                <a:pPr marL="0" indent="0" algn="just">
                  <a:buNone/>
                </a:pPr>
                <a:r>
                  <a:rPr lang="es-CR" sz="2400" dirty="0" smtClean="0">
                    <a:latin typeface="Times New Roman" panose="02020603050405020304" pitchFamily="18" charset="0"/>
                    <a:cs typeface="Times New Roman" panose="02020603050405020304" pitchFamily="18" charset="0"/>
                  </a:rPr>
                  <a:t>3.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CR" sz="2400" dirty="0" smtClean="0">
                    <a:latin typeface="Times New Roman" panose="02020603050405020304" pitchFamily="18" charset="0"/>
                    <a:cs typeface="Times New Roman" panose="02020603050405020304" pitchFamily="18" charset="0"/>
                  </a:rPr>
                  <a:t> representa la cantidad en que difieren las medidas estimadas y observadas. Se le conoce como término del error. </a:t>
                </a:r>
                <a:endParaRPr lang="es-CR" sz="2400" dirty="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96755" y="1347953"/>
                <a:ext cx="8374039" cy="5380393"/>
              </a:xfrm>
              <a:blipFill rotWithShape="1">
                <a:blip r:embed="rId2"/>
                <a:stretch>
                  <a:fillRect l="-1092" t="-1586" r="-1164"/>
                </a:stretch>
              </a:blipFill>
            </p:spPr>
            <p:txBody>
              <a:bodyPr/>
              <a:lstStyle/>
              <a:p>
                <a:r>
                  <a:rPr lang="es-CR">
                    <a:noFill/>
                  </a:rPr>
                  <a:t> </a:t>
                </a:r>
              </a:p>
            </p:txBody>
          </p:sp>
        </mc:Fallback>
      </mc:AlternateContent>
      <p:sp>
        <p:nvSpPr>
          <p:cNvPr id="5" name="Título 1"/>
          <p:cNvSpPr txBox="1">
            <a:spLocks/>
          </p:cNvSpPr>
          <p:nvPr/>
        </p:nvSpPr>
        <p:spPr>
          <a:xfrm>
            <a:off x="838200" y="0"/>
            <a:ext cx="10515600" cy="11749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R" dirty="0" smtClean="0"/>
              <a:t>Diseño de una vía: supuestos – el modelo</a:t>
            </a:r>
            <a:endParaRPr lang="es-ES" dirty="0"/>
          </a:p>
        </p:txBody>
      </p:sp>
      <mc:AlternateContent xmlns:mc="http://schemas.openxmlformats.org/markup-compatibility/2006" xmlns:a14="http://schemas.microsoft.com/office/drawing/2010/main">
        <mc:Choice Requires="a14">
          <p:sp>
            <p:nvSpPr>
              <p:cNvPr id="6" name="Rectángulo 5"/>
              <p:cNvSpPr/>
              <p:nvPr/>
            </p:nvSpPr>
            <p:spPr>
              <a:xfrm>
                <a:off x="660210" y="1977582"/>
                <a:ext cx="8606051" cy="86600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400" b="1" i="1" smtClean="0">
                              <a:latin typeface="Cambria Math"/>
                            </a:rPr>
                          </m:ctrlPr>
                        </m:sSubPr>
                        <m:e>
                          <m:r>
                            <a:rPr lang="es-ES" sz="2400" b="1" i="1">
                              <a:latin typeface="Cambria Math" panose="02040503050406030204" pitchFamily="18" charset="0"/>
                            </a:rPr>
                            <m:t>𝒙</m:t>
                          </m:r>
                        </m:e>
                        <m:sub>
                          <m:r>
                            <a:rPr lang="es-ES" sz="2400" b="1" i="1">
                              <a:latin typeface="Cambria Math" panose="02040503050406030204" pitchFamily="18" charset="0"/>
                            </a:rPr>
                            <m:t>𝒊𝒋</m:t>
                          </m:r>
                        </m:sub>
                      </m:sSub>
                      <m:r>
                        <a:rPr lang="es-ES" sz="2400" b="1" i="0">
                          <a:latin typeface="Cambria Math" panose="02040503050406030204" pitchFamily="18" charset="0"/>
                        </a:rPr>
                        <m:t>=</m:t>
                      </m:r>
                      <m:r>
                        <a:rPr lang="es-ES" sz="2400" b="1" i="1">
                          <a:latin typeface="Cambria Math" panose="02040503050406030204" pitchFamily="18" charset="0"/>
                        </a:rPr>
                        <m:t>𝝁</m:t>
                      </m:r>
                      <m:r>
                        <a:rPr lang="es-ES" sz="2400" b="1" i="0">
                          <a:latin typeface="Cambria Math" panose="02040503050406030204" pitchFamily="18" charset="0"/>
                        </a:rPr>
                        <m:t>+</m:t>
                      </m:r>
                      <m:sSub>
                        <m:sSubPr>
                          <m:ctrlPr>
                            <a:rPr lang="es-ES" sz="2400" b="1" i="1">
                              <a:latin typeface="Cambria Math"/>
                            </a:rPr>
                          </m:ctrlPr>
                        </m:sSubPr>
                        <m:e>
                          <m:r>
                            <a:rPr lang="es-ES" sz="2400" b="1" i="1">
                              <a:latin typeface="Cambria Math" panose="02040503050406030204" pitchFamily="18" charset="0"/>
                            </a:rPr>
                            <m:t>𝝉</m:t>
                          </m:r>
                        </m:e>
                        <m:sub>
                          <m:r>
                            <a:rPr lang="es-ES" sz="2400" b="1" i="1">
                              <a:latin typeface="Cambria Math" panose="02040503050406030204" pitchFamily="18" charset="0"/>
                            </a:rPr>
                            <m:t>𝒊</m:t>
                          </m:r>
                        </m:sub>
                      </m:sSub>
                      <m:r>
                        <a:rPr lang="es-ES" sz="2400" b="1" i="0">
                          <a:latin typeface="Cambria Math" panose="02040503050406030204" pitchFamily="18" charset="0"/>
                        </a:rPr>
                        <m:t>+</m:t>
                      </m:r>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r>
                        <a:rPr lang="es-ES" sz="2400" b="1" i="0">
                          <a:latin typeface="Cambria Math" panose="02040503050406030204" pitchFamily="18" charset="0"/>
                        </a:rPr>
                        <m:t>;      </m:t>
                      </m:r>
                      <m:r>
                        <a:rPr lang="es-CR" sz="2400" b="1" i="0" smtClean="0">
                          <a:latin typeface="Cambria Math" panose="02040503050406030204" pitchFamily="18" charset="0"/>
                        </a:rPr>
                        <m:t>                                 </m:t>
                      </m:r>
                      <m:r>
                        <a:rPr lang="es-ES" sz="2400" b="1" i="0">
                          <a:latin typeface="Cambria Math" panose="02040503050406030204" pitchFamily="18" charset="0"/>
                        </a:rPr>
                        <m:t> </m:t>
                      </m:r>
                      <m:r>
                        <a:rPr lang="es-ES" sz="2400" i="1">
                          <a:latin typeface="Cambria Math" panose="02040503050406030204" pitchFamily="18" charset="0"/>
                        </a:rPr>
                        <m:t>𝑖</m:t>
                      </m:r>
                      <m:r>
                        <a:rPr lang="es-ES" sz="2400" i="0">
                          <a:latin typeface="Cambria Math" panose="02040503050406030204" pitchFamily="18" charset="0"/>
                        </a:rPr>
                        <m:t>=1,2,…,</m:t>
                      </m:r>
                      <m:sSub>
                        <m:sSubPr>
                          <m:ctrlPr>
                            <a:rPr lang="es-ES" sz="2400" i="1">
                              <a:latin typeface="Cambria Math"/>
                            </a:rPr>
                          </m:ctrlPr>
                        </m:sSubPr>
                        <m:e>
                          <m:r>
                            <a:rPr lang="es-ES" sz="2400" i="1">
                              <a:latin typeface="Cambria Math" panose="02040503050406030204" pitchFamily="18" charset="0"/>
                            </a:rPr>
                            <m:t>𝑛</m:t>
                          </m:r>
                        </m:e>
                        <m:sub>
                          <m:r>
                            <a:rPr lang="es-ES" sz="2400" i="1">
                              <a:latin typeface="Cambria Math" panose="02040503050406030204" pitchFamily="18" charset="0"/>
                            </a:rPr>
                            <m:t>𝑗</m:t>
                          </m:r>
                        </m:sub>
                      </m:sSub>
                      <m:r>
                        <a:rPr lang="es-ES" sz="2400" i="0">
                          <a:latin typeface="Cambria Math" panose="02040503050406030204" pitchFamily="18" charset="0"/>
                        </a:rPr>
                        <m:t>     </m:t>
                      </m:r>
                    </m:oMath>
                  </m:oMathPara>
                </a14:m>
                <a:endParaRPr lang="es-CR" sz="2400" i="0" dirty="0" smtClean="0">
                  <a:latin typeface="Cambria Math" panose="02040503050406030204" pitchFamily="18" charset="0"/>
                </a:endParaRPr>
              </a:p>
              <a:p>
                <a:r>
                  <a:rPr lang="es-ES" sz="2400" dirty="0" smtClean="0"/>
                  <a:t>                                                                                    </a:t>
                </a:r>
                <a14:m>
                  <m:oMath xmlns:m="http://schemas.openxmlformats.org/officeDocument/2006/math">
                    <m:r>
                      <a:rPr lang="es-ES" sz="2400" i="1">
                        <a:latin typeface="Cambria Math" panose="02040503050406030204" pitchFamily="18" charset="0"/>
                      </a:rPr>
                      <m:t>𝑗</m:t>
                    </m:r>
                    <m:r>
                      <a:rPr lang="es-ES" sz="2400" i="0">
                        <a:latin typeface="Cambria Math" panose="02040503050406030204" pitchFamily="18" charset="0"/>
                      </a:rPr>
                      <m:t>=1,2,…,</m:t>
                    </m:r>
                    <m:r>
                      <a:rPr lang="es-ES" sz="2400" i="1">
                        <a:latin typeface="Cambria Math" panose="02040503050406030204" pitchFamily="18" charset="0"/>
                      </a:rPr>
                      <m:t>𝑘</m:t>
                    </m:r>
                    <m:r>
                      <a:rPr lang="es-ES" sz="2400" i="0">
                        <a:latin typeface="Cambria Math" panose="02040503050406030204" pitchFamily="18" charset="0"/>
                      </a:rPr>
                      <m:t> </m:t>
                    </m:r>
                  </m:oMath>
                </a14:m>
                <a:endParaRPr lang="es-ES" sz="2400" dirty="0"/>
              </a:p>
            </p:txBody>
          </p:sp>
        </mc:Choice>
        <mc:Fallback xmlns="">
          <p:sp>
            <p:nvSpPr>
              <p:cNvPr id="6" name="Rectángulo 5"/>
              <p:cNvSpPr>
                <a:spLocks noRot="1" noChangeAspect="1" noMove="1" noResize="1" noEditPoints="1" noAdjustHandles="1" noChangeArrowheads="1" noChangeShapeType="1" noTextEdit="1"/>
              </p:cNvSpPr>
              <p:nvPr/>
            </p:nvSpPr>
            <p:spPr>
              <a:xfrm>
                <a:off x="660210" y="1977582"/>
                <a:ext cx="8606051" cy="866006"/>
              </a:xfrm>
              <a:prstGeom prst="rect">
                <a:avLst/>
              </a:prstGeom>
              <a:blipFill rotWithShape="0">
                <a:blip r:embed="rId3"/>
                <a:stretch>
                  <a:fillRect b="-9155"/>
                </a:stretch>
              </a:blipFill>
            </p:spPr>
            <p:txBody>
              <a:bodyPr/>
              <a:lstStyle/>
              <a:p>
                <a:r>
                  <a:rPr lang="es-ES">
                    <a:noFill/>
                  </a:rPr>
                  <a:t> </a:t>
                </a:r>
              </a:p>
            </p:txBody>
          </p:sp>
        </mc:Fallback>
      </mc:AlternateContent>
      <p:pic>
        <p:nvPicPr>
          <p:cNvPr id="20482" name="Picture 2" descr="http://sphweb.bumc.bu.edu/otlt/MPH-Modules/BS/BS704_Probability/PopulationMean71.7.png"/>
          <p:cNvPicPr>
            <a:picLocks noChangeAspect="1" noChangeArrowheads="1"/>
          </p:cNvPicPr>
          <p:nvPr/>
        </p:nvPicPr>
        <p:blipFill rotWithShape="1">
          <a:blip r:embed="rId4">
            <a:extLst>
              <a:ext uri="{28A0092B-C50C-407E-A947-70E740481C1C}">
                <a14:useLocalDpi xmlns:a14="http://schemas.microsoft.com/office/drawing/2010/main" val="0"/>
              </a:ext>
            </a:extLst>
          </a:blip>
          <a:srcRect r="40294"/>
          <a:stretch/>
        </p:blipFill>
        <p:spPr bwMode="auto">
          <a:xfrm>
            <a:off x="8664575" y="1674812"/>
            <a:ext cx="2968625" cy="2019301"/>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gerardnico.com/wiki/_media/data_mining/statistics_residual.jpg?w=500&amp;tok=75fb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40104" y="4510088"/>
            <a:ext cx="2817565" cy="1814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33293"/>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3773" y="887104"/>
            <a:ext cx="8215952" cy="5970895"/>
          </a:xfrm>
        </p:spPr>
        <p:txBody>
          <a:bodyPr>
            <a:normAutofit lnSpcReduction="10000"/>
          </a:bodyPr>
          <a:lstStyle/>
          <a:p>
            <a:pPr algn="just"/>
            <a:r>
              <a:rPr lang="es-CR" sz="2400" dirty="0" smtClean="0">
                <a:latin typeface="Times New Roman" panose="02020603050405020304" pitchFamily="18" charset="0"/>
                <a:cs typeface="Times New Roman" panose="02020603050405020304" pitchFamily="18" charset="0"/>
              </a:rPr>
              <a:t>Al revisar el modelo se aprecia que una observación está compuesta por:</a:t>
            </a:r>
          </a:p>
          <a:p>
            <a:pPr marL="0" indent="0" algn="just">
              <a:buNone/>
            </a:pPr>
            <a:endParaRPr lang="es-CR"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s-CR" sz="2400" dirty="0" smtClean="0">
                <a:latin typeface="Times New Roman" panose="02020603050405020304" pitchFamily="18" charset="0"/>
                <a:cs typeface="Times New Roman" panose="02020603050405020304" pitchFamily="18" charset="0"/>
              </a:rPr>
              <a:t>La media general</a:t>
            </a:r>
          </a:p>
          <a:p>
            <a:pPr marL="457200" indent="-457200" algn="just">
              <a:buFont typeface="+mj-lt"/>
              <a:buAutoNum type="arabicPeriod"/>
            </a:pPr>
            <a:r>
              <a:rPr lang="es-CR" sz="2400" dirty="0" smtClean="0">
                <a:latin typeface="Times New Roman" panose="02020603050405020304" pitchFamily="18" charset="0"/>
                <a:cs typeface="Times New Roman" panose="02020603050405020304" pitchFamily="18" charset="0"/>
              </a:rPr>
              <a:t>El efecto del tratamiento </a:t>
            </a:r>
          </a:p>
          <a:p>
            <a:pPr marL="457200" indent="-457200" algn="just">
              <a:buFont typeface="+mj-lt"/>
              <a:buAutoNum type="arabicPeriod"/>
            </a:pPr>
            <a:r>
              <a:rPr lang="es-CR" sz="2400" dirty="0" smtClean="0">
                <a:latin typeface="Times New Roman" panose="02020603050405020304" pitchFamily="18" charset="0"/>
                <a:cs typeface="Times New Roman" panose="02020603050405020304" pitchFamily="18" charset="0"/>
              </a:rPr>
              <a:t>El término de error que representa la desviación de la observación a partir de su media grupal.</a:t>
            </a:r>
          </a:p>
          <a:p>
            <a:pPr marL="457200" indent="-457200" algn="just">
              <a:buFont typeface="+mj-lt"/>
              <a:buAutoNum type="arabicPeriod"/>
            </a:pPr>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Los ANOVA de una vía, la mayoría de veces interesa verificar el efecto del tratamiento. Cualquier inferencia se aplica a los tratamiento y no se pretende ampliar la inferencia a otro conjunto mayor de tratamientos. </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La restricción anterior se conoce como modelo de efectos fijos, y el presente capítulo se limita a este tipo de modelo.</a:t>
            </a:r>
            <a:endParaRPr lang="es-ES" sz="2400" dirty="0">
              <a:latin typeface="Times New Roman" panose="02020603050405020304" pitchFamily="18" charset="0"/>
              <a:cs typeface="Times New Roman" panose="02020603050405020304" pitchFamily="18" charset="0"/>
            </a:endParaRPr>
          </a:p>
        </p:txBody>
      </p:sp>
      <p:sp>
        <p:nvSpPr>
          <p:cNvPr id="5" name="Título 1"/>
          <p:cNvSpPr txBox="1">
            <a:spLocks/>
          </p:cNvSpPr>
          <p:nvPr/>
        </p:nvSpPr>
        <p:spPr>
          <a:xfrm>
            <a:off x="300251" y="1"/>
            <a:ext cx="11409528" cy="8871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R" dirty="0" smtClean="0"/>
              <a:t>Diseño de una vía: supuestos – componentes</a:t>
            </a:r>
            <a:endParaRPr lang="es-ES" dirty="0"/>
          </a:p>
        </p:txBody>
      </p:sp>
      <p:pic>
        <p:nvPicPr>
          <p:cNvPr id="21506" name="Picture 2" descr="https://s-media-cache-ak0.pinimg.com/736x/77/1f/48/771f48f5a98809482d07761701c1bb9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254" y="3860798"/>
            <a:ext cx="2694525" cy="2743202"/>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prosperosworld.com/wp-content/uploads/2013/08/300px-Work_life_balance_rat_rac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3766" y="1222068"/>
            <a:ext cx="2857500" cy="2171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716329"/>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37699" y="1174917"/>
                <a:ext cx="7490859" cy="5576612"/>
              </a:xfrm>
            </p:spPr>
            <p:txBody>
              <a:bodyPr>
                <a:normAutofit/>
              </a:bodyPr>
              <a:lstStyle/>
              <a:p>
                <a:pPr marL="0" indent="0" algn="just">
                  <a:buNone/>
                </a:pPr>
                <a:r>
                  <a:rPr lang="es-ES" sz="2400" dirty="0" smtClean="0">
                    <a:latin typeface="Times New Roman" panose="02020603050405020304" pitchFamily="18" charset="0"/>
                    <a:cs typeface="Times New Roman" panose="02020603050405020304" pitchFamily="18" charset="0"/>
                  </a:rPr>
                  <a:t>Los supuestos que posee el ANOVA de una vía son los siguientes:</a:t>
                </a:r>
              </a:p>
              <a:p>
                <a:pPr marL="514350" indent="-514350" algn="just">
                  <a:buFont typeface="+mj-lt"/>
                  <a:buAutoNum type="alphaLcParenR"/>
                </a:pPr>
                <a:endParaRPr lang="es-ES" sz="2400" dirty="0" smtClean="0">
                  <a:latin typeface="Times New Roman" panose="02020603050405020304" pitchFamily="18" charset="0"/>
                  <a:cs typeface="Times New Roman" panose="02020603050405020304" pitchFamily="18" charset="0"/>
                </a:endParaRP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k tratamientos forman k muestras aleatorias </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Cada una de las sub muestras poseen una distribución normal</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Las variancias se suponen iguales entre los grupos</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efectos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𝝉</m:t>
                        </m:r>
                      </m:e>
                      <m:sub>
                        <m:r>
                          <a:rPr lang="es-ES" sz="2400" b="1" i="1">
                            <a:latin typeface="Cambria Math" panose="02040503050406030204" pitchFamily="18" charset="0"/>
                          </a:rPr>
                          <m:t>𝒊</m:t>
                        </m:r>
                      </m:sub>
                    </m:sSub>
                  </m:oMath>
                </a14:m>
                <a:r>
                  <a:rPr lang="es-ES" sz="2400" dirty="0" smtClean="0">
                    <a:latin typeface="Times New Roman" panose="02020603050405020304" pitchFamily="18" charset="0"/>
                    <a:cs typeface="Times New Roman" panose="02020603050405020304" pitchFamily="18" charset="0"/>
                  </a:rPr>
                  <a:t> se consideran como constantes desconocidas, cuando sumadas es igual a 0.</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errores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ES" sz="2400" dirty="0" smtClean="0">
                    <a:latin typeface="Times New Roman" panose="02020603050405020304" pitchFamily="18" charset="0"/>
                    <a:cs typeface="Times New Roman" panose="02020603050405020304" pitchFamily="18" charset="0"/>
                  </a:rPr>
                  <a:t> tiene un valor esperado de 0.</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errores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ES" sz="2400" dirty="0" smtClean="0">
                    <a:latin typeface="Times New Roman" panose="02020603050405020304" pitchFamily="18" charset="0"/>
                    <a:cs typeface="Times New Roman" panose="02020603050405020304" pitchFamily="18" charset="0"/>
                  </a:rPr>
                  <a:t> poseen una variancia constantes</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errores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ES" sz="2400" dirty="0" smtClean="0">
                    <a:latin typeface="Times New Roman" panose="02020603050405020304" pitchFamily="18" charset="0"/>
                    <a:cs typeface="Times New Roman" panose="02020603050405020304" pitchFamily="18" charset="0"/>
                  </a:rPr>
                  <a:t> poseen una distribución normal e independiente.</a:t>
                </a:r>
              </a:p>
              <a:p>
                <a:pPr marL="0" indent="0">
                  <a:buNone/>
                </a:pPr>
                <a:endParaRPr lang="es-ES" sz="2400" dirty="0" smtClean="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37699" y="1174917"/>
                <a:ext cx="7490859" cy="5576612"/>
              </a:xfrm>
              <a:blipFill rotWithShape="1">
                <a:blip r:embed="rId2"/>
                <a:stretch>
                  <a:fillRect l="-1302" t="-1530" r="-1221" b="-765"/>
                </a:stretch>
              </a:blipFill>
            </p:spPr>
            <p:txBody>
              <a:bodyPr/>
              <a:lstStyle/>
              <a:p>
                <a:r>
                  <a:rPr lang="es-CR">
                    <a:noFill/>
                  </a:rPr>
                  <a:t> </a:t>
                </a:r>
              </a:p>
            </p:txBody>
          </p:sp>
        </mc:Fallback>
      </mc:AlternateContent>
      <p:sp>
        <p:nvSpPr>
          <p:cNvPr id="4" name="Título 1"/>
          <p:cNvSpPr>
            <a:spLocks noGrp="1"/>
          </p:cNvSpPr>
          <p:nvPr>
            <p:ph type="title"/>
          </p:nvPr>
        </p:nvSpPr>
        <p:spPr>
          <a:xfrm>
            <a:off x="784731" y="95535"/>
            <a:ext cx="10515600" cy="781287"/>
          </a:xfrm>
        </p:spPr>
        <p:txBody>
          <a:bodyPr/>
          <a:lstStyle/>
          <a:p>
            <a:pPr algn="ctr"/>
            <a:r>
              <a:rPr lang="es-CR" dirty="0" smtClean="0"/>
              <a:t>Diseño de una vía: supuestos</a:t>
            </a:r>
            <a:endParaRPr lang="es-ES" dirty="0"/>
          </a:p>
        </p:txBody>
      </p:sp>
      <p:pic>
        <p:nvPicPr>
          <p:cNvPr id="22530" name="Picture 2" descr="http://alidavies.com/wp-content/uploads/2010/02/Building-Strong-Foundations-213x3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3475" y="2032000"/>
            <a:ext cx="3047746" cy="429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9116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0028" y="1044007"/>
            <a:ext cx="8958836" cy="5627922"/>
          </a:xfrm>
        </p:spPr>
        <p:txBody>
          <a:bodyPr>
            <a:normAutofit/>
          </a:bodyPr>
          <a:lstStyle/>
          <a:p>
            <a:r>
              <a:rPr lang="es-ES" sz="2400" dirty="0" smtClean="0">
                <a:latin typeface="Times New Roman" panose="02020603050405020304" pitchFamily="18" charset="0"/>
                <a:cs typeface="Times New Roman" panose="02020603050405020304" pitchFamily="18" charset="0"/>
              </a:rPr>
              <a:t>La hipótesis supone que las poblaciones o tratamientos tienen </a:t>
            </a:r>
            <a:r>
              <a:rPr lang="es-CR" sz="2400" dirty="0" smtClean="0">
                <a:latin typeface="Times New Roman" panose="02020603050405020304" pitchFamily="18" charset="0"/>
                <a:cs typeface="Times New Roman" panose="02020603050405020304" pitchFamily="18" charset="0"/>
              </a:rPr>
              <a:t>medias </a:t>
            </a:r>
            <a:r>
              <a:rPr lang="es-CR" sz="2400" dirty="0">
                <a:latin typeface="Times New Roman" panose="02020603050405020304" pitchFamily="18" charset="0"/>
                <a:cs typeface="Times New Roman" panose="02020603050405020304" pitchFamily="18" charset="0"/>
              </a:rPr>
              <a:t>iguales contra la </a:t>
            </a:r>
            <a:r>
              <a:rPr lang="es-CR" sz="2400" dirty="0" smtClean="0">
                <a:latin typeface="Times New Roman" panose="02020603050405020304" pitchFamily="18" charset="0"/>
                <a:cs typeface="Times New Roman" panose="02020603050405020304" pitchFamily="18" charset="0"/>
              </a:rPr>
              <a:t>hipótesis alternativa, donde se dice que por lo menos una difiere. </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Esta se expresa como :</a:t>
            </a:r>
          </a:p>
          <a:p>
            <a:endParaRPr lang="es-CR" sz="2400" dirty="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De forma análoga, si las medias de las poblaciones son iguales, y el efecto de cada tratamiento es igual a cero, de tal manera que, alternativamente, las hipótesis pueden escribirse como:</a:t>
            </a:r>
            <a:endParaRPr lang="es-ES" sz="2400"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hipótesis</a:t>
            </a:r>
            <a:endParaRPr lang="es-ES" dirty="0"/>
          </a:p>
        </p:txBody>
      </p:sp>
      <mc:AlternateContent xmlns:mc="http://schemas.openxmlformats.org/markup-compatibility/2006" xmlns:a14="http://schemas.microsoft.com/office/drawing/2010/main">
        <mc:Choice Requires="a14">
          <p:sp>
            <p:nvSpPr>
              <p:cNvPr id="2" name="1 Rectángulo"/>
              <p:cNvSpPr/>
              <p:nvPr/>
            </p:nvSpPr>
            <p:spPr>
              <a:xfrm>
                <a:off x="1933183" y="3266161"/>
                <a:ext cx="6096000" cy="94461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0</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1</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2</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𝑘</m:t>
                          </m:r>
                        </m:sub>
                      </m:sSub>
                    </m:oMath>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𝐴</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𝑖</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𝑗</m:t>
                          </m:r>
                        </m:sub>
                      </m:sSub>
                    </m:oMath>
                  </m:oMathPara>
                </a14:m>
                <a:endParaRPr lang="es-CR" dirty="0"/>
              </a:p>
            </p:txBody>
          </p:sp>
        </mc:Choice>
        <mc:Fallback xmlns="">
          <p:sp>
            <p:nvSpPr>
              <p:cNvPr id="2" name="1 Rectángulo"/>
              <p:cNvSpPr>
                <a:spLocks noRot="1" noChangeAspect="1" noMove="1" noResize="1" noEditPoints="1" noAdjustHandles="1" noChangeArrowheads="1" noChangeShapeType="1" noTextEdit="1"/>
              </p:cNvSpPr>
              <p:nvPr/>
            </p:nvSpPr>
            <p:spPr>
              <a:xfrm>
                <a:off x="1933183" y="3266161"/>
                <a:ext cx="6096000" cy="944618"/>
              </a:xfrm>
              <a:prstGeom prst="rect">
                <a:avLst/>
              </a:prstGeom>
              <a:blipFill rotWithShape="1">
                <a:blip r:embed="rId2"/>
                <a:stretch>
                  <a:fillRect b="-5161"/>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5" name="4 Rectángulo"/>
              <p:cNvSpPr/>
              <p:nvPr/>
            </p:nvSpPr>
            <p:spPr>
              <a:xfrm>
                <a:off x="1757818" y="5770913"/>
                <a:ext cx="6096000" cy="901016"/>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0</m:t>
                          </m:r>
                        </m:sub>
                      </m:sSub>
                      <m:r>
                        <a:rPr lang="es-CR" sz="2400" i="1">
                          <a:latin typeface="Cambria Math"/>
                        </a:rPr>
                        <m:t>: </m:t>
                      </m:r>
                      <m:sSub>
                        <m:sSubPr>
                          <m:ctrlPr>
                            <a:rPr lang="es-CR" sz="2400" i="1">
                              <a:latin typeface="Cambria Math"/>
                            </a:rPr>
                          </m:ctrlPr>
                        </m:sSubPr>
                        <m:e>
                          <m:r>
                            <a:rPr lang="es-CR" sz="2400" i="1">
                              <a:latin typeface="Cambria Math"/>
                            </a:rPr>
                            <m:t>𝜏</m:t>
                          </m:r>
                        </m:e>
                        <m:sub>
                          <m:r>
                            <a:rPr lang="es-CR" sz="2400" i="1">
                              <a:latin typeface="Cambria Math"/>
                            </a:rPr>
                            <m:t>𝑗</m:t>
                          </m:r>
                        </m:sub>
                      </m:sSub>
                      <m:r>
                        <a:rPr lang="es-CR" sz="2400" i="1">
                          <a:latin typeface="Cambria Math"/>
                        </a:rPr>
                        <m:t>=0, </m:t>
                      </m:r>
                      <m:r>
                        <a:rPr lang="es-CR" sz="2400" i="1">
                          <a:latin typeface="Cambria Math"/>
                        </a:rPr>
                        <m:t>𝑗</m:t>
                      </m:r>
                      <m:r>
                        <a:rPr lang="es-CR" sz="2400" i="1">
                          <a:latin typeface="Cambria Math"/>
                        </a:rPr>
                        <m:t>=1,2,…</m:t>
                      </m:r>
                      <m:r>
                        <a:rPr lang="es-CR" sz="2400" i="1">
                          <a:latin typeface="Cambria Math"/>
                        </a:rPr>
                        <m:t>𝑘</m:t>
                      </m:r>
                    </m:oMath>
                  </m:oMathPara>
                </a14:m>
                <a:endParaRPr lang="es-CR" sz="2400" dirty="0"/>
              </a:p>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𝐴</m:t>
                          </m:r>
                        </m:sub>
                      </m:sSub>
                      <m:r>
                        <a:rPr lang="es-CR" sz="2400" i="1">
                          <a:latin typeface="Cambria Math"/>
                        </a:rPr>
                        <m:t>:</m:t>
                      </m:r>
                      <m:r>
                        <a:rPr lang="es-CR" sz="2400" i="1">
                          <a:latin typeface="Cambria Math"/>
                        </a:rPr>
                        <m:t>𝑛𝑜</m:t>
                      </m:r>
                      <m:r>
                        <a:rPr lang="es-CR" sz="2400" i="1">
                          <a:latin typeface="Cambria Math"/>
                        </a:rPr>
                        <m:t> </m:t>
                      </m:r>
                      <m:r>
                        <a:rPr lang="es-CR" sz="2400" i="1">
                          <a:latin typeface="Cambria Math"/>
                        </a:rPr>
                        <m:t>𝑡𝑜𝑑𝑎𝑠</m:t>
                      </m:r>
                      <m:r>
                        <a:rPr lang="es-CR" sz="2400" i="1">
                          <a:latin typeface="Cambria Math"/>
                        </a:rPr>
                        <m:t> </m:t>
                      </m:r>
                      <m:r>
                        <a:rPr lang="es-CR" sz="2400" i="1">
                          <a:latin typeface="Cambria Math"/>
                        </a:rPr>
                        <m:t>𝑙𝑎𝑠</m:t>
                      </m:r>
                      <m:r>
                        <a:rPr lang="es-CR" sz="2400" i="1">
                          <a:latin typeface="Cambria Math"/>
                        </a:rPr>
                        <m:t> </m:t>
                      </m:r>
                      <m:sSub>
                        <m:sSubPr>
                          <m:ctrlPr>
                            <a:rPr lang="es-CR" sz="2400" i="1">
                              <a:latin typeface="Cambria Math"/>
                            </a:rPr>
                          </m:ctrlPr>
                        </m:sSubPr>
                        <m:e>
                          <m:r>
                            <a:rPr lang="es-CR" sz="2400" i="1">
                              <a:latin typeface="Cambria Math"/>
                            </a:rPr>
                            <m:t>𝜏</m:t>
                          </m:r>
                        </m:e>
                        <m:sub>
                          <m:r>
                            <a:rPr lang="es-CR" sz="2400" i="1">
                              <a:latin typeface="Cambria Math"/>
                            </a:rPr>
                            <m:t>𝑗</m:t>
                          </m:r>
                        </m:sub>
                      </m:sSub>
                      <m:r>
                        <a:rPr lang="es-CR" sz="2400" i="1">
                          <a:latin typeface="Cambria Math"/>
                        </a:rPr>
                        <m:t>=0 </m:t>
                      </m:r>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1757818" y="5770913"/>
                <a:ext cx="6096000" cy="901016"/>
              </a:xfrm>
              <a:prstGeom prst="rect">
                <a:avLst/>
              </a:prstGeom>
              <a:blipFill rotWithShape="1">
                <a:blip r:embed="rId3"/>
                <a:stretch>
                  <a:fillRect b="-5442"/>
                </a:stretch>
              </a:blipFill>
            </p:spPr>
            <p:txBody>
              <a:bodyPr/>
              <a:lstStyle/>
              <a:p>
                <a:r>
                  <a:rPr lang="es-CR">
                    <a:noFill/>
                  </a:rPr>
                  <a:t> </a:t>
                </a:r>
              </a:p>
            </p:txBody>
          </p:sp>
        </mc:Fallback>
      </mc:AlternateContent>
      <p:pic>
        <p:nvPicPr>
          <p:cNvPr id="23554" name="Picture 2" descr="https://0701.static.prezi.com/preview/fs3szynoklfxrvqwlytwjqjknx6jc3sachvcdoaizecfr3dnitcq_0_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6374" y="4775200"/>
            <a:ext cx="2911296" cy="1731627"/>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www.geoset.info/wp-content/uploads/2015/03/45-rul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90074" y="1244409"/>
            <a:ext cx="2315941" cy="2701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634128"/>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24633" y="1487422"/>
            <a:ext cx="9420616" cy="4351338"/>
          </a:xfrm>
        </p:spPr>
        <p:txBody>
          <a:bodyPr>
            <a:normAutofit/>
          </a:bodyPr>
          <a:lstStyle/>
          <a:p>
            <a:r>
              <a:rPr lang="es-ES" sz="2400" dirty="0" smtClean="0">
                <a:latin typeface="Times New Roman" panose="02020603050405020304" pitchFamily="18" charset="0"/>
                <a:cs typeface="Times New Roman" panose="02020603050405020304" pitchFamily="18" charset="0"/>
              </a:rPr>
              <a:t>La estadística de prueba para el análisis de variancia unilateral es el cálculo de la razón de dos variancias, o la razón de los cuadros medios. </a:t>
            </a:r>
          </a:p>
          <a:p>
            <a:endParaRPr lang="es-ES" sz="2400" dirty="0">
              <a:latin typeface="Times New Roman" panose="02020603050405020304" pitchFamily="18" charset="0"/>
              <a:cs typeface="Times New Roman" panose="02020603050405020304" pitchFamily="18" charset="0"/>
            </a:endParaRPr>
          </a:p>
          <a:p>
            <a:r>
              <a:rPr lang="es-ES" sz="2400" dirty="0" smtClean="0">
                <a:latin typeface="Times New Roman" panose="02020603050405020304" pitchFamily="18" charset="0"/>
                <a:cs typeface="Times New Roman" panose="02020603050405020304" pitchFamily="18" charset="0"/>
              </a:rPr>
              <a:t>Para entender esto, se debe analizar el cuadro del análisis ANOVA:</a:t>
            </a:r>
            <a:endParaRPr lang="es-ES" sz="2400"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estadística de prueba</a:t>
            </a:r>
            <a:endParaRPr lang="es-ES" dirty="0"/>
          </a:p>
        </p:txBody>
      </p:sp>
      <p:graphicFrame>
        <p:nvGraphicFramePr>
          <p:cNvPr id="2" name="1 Tabla"/>
          <p:cNvGraphicFramePr>
            <a:graphicFrameLocks noGrp="1"/>
          </p:cNvGraphicFramePr>
          <p:nvPr>
            <p:extLst>
              <p:ext uri="{D42A27DB-BD31-4B8C-83A1-F6EECF244321}">
                <p14:modId xmlns:p14="http://schemas.microsoft.com/office/powerpoint/2010/main" val="3747503037"/>
              </p:ext>
            </p:extLst>
          </p:nvPr>
        </p:nvGraphicFramePr>
        <p:xfrm>
          <a:off x="601249" y="338202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Grados de libertas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a:effectLst/>
                        </a:rPr>
                        <a:t>Total</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total</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 </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Tree>
    <p:extLst>
      <p:ext uri="{BB962C8B-B14F-4D97-AF65-F5344CB8AC3E}">
        <p14:creationId xmlns:p14="http://schemas.microsoft.com/office/powerpoint/2010/main" val="35978912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1398896"/>
          </a:xfrm>
        </p:spPr>
        <p:txBody>
          <a:bodyPr>
            <a:normAutofit/>
          </a:bodyPr>
          <a:lstStyle/>
          <a:p>
            <a:r>
              <a:rPr lang="es-CR" dirty="0" smtClean="0"/>
              <a:t>Sumas de cuadrados</a:t>
            </a:r>
          </a:p>
          <a:p>
            <a:pPr marL="0" indent="0">
              <a:buNone/>
            </a:pPr>
            <a:endParaRPr lang="es-ES" dirty="0"/>
          </a:p>
        </p:txBody>
      </p:sp>
      <p:graphicFrame>
        <p:nvGraphicFramePr>
          <p:cNvPr id="4" name="1 Tabla"/>
          <p:cNvGraphicFramePr>
            <a:graphicFrameLocks noGrp="1"/>
          </p:cNvGraphicFramePr>
          <p:nvPr>
            <p:extLst>
              <p:ext uri="{D42A27DB-BD31-4B8C-83A1-F6EECF244321}">
                <p14:modId xmlns:p14="http://schemas.microsoft.com/office/powerpoint/2010/main" val="4009288662"/>
              </p:ext>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
        <p:nvSpPr>
          <p:cNvPr id="2" name="1 Rectángulo redondeado"/>
          <p:cNvSpPr/>
          <p:nvPr/>
        </p:nvSpPr>
        <p:spPr>
          <a:xfrm>
            <a:off x="2705100" y="127000"/>
            <a:ext cx="18542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1429553115"/>
      </p:ext>
    </p:extLst>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24423" y="1261954"/>
            <a:ext cx="8970377" cy="5226528"/>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La suma de cuadrados es la forma en que se descompone las fuentes de variación en un análisis de variancia. Esto es indispensable para la prueba.</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posee un total de 3 sumas de cuadrados: suma total de cuadrados, suma de cuadrados dentro de los grupos y suma de cuadrados entre los grupos.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tiene que la suma  total de cuadrados es igual a la suma de cuadrados entre grupos o tratamientos más la suma de cuadrados dentro de los grupos o los tratamientos.</a:t>
            </a:r>
          </a:p>
          <a:p>
            <a:pPr marL="0" indent="0" algn="just">
              <a:buNone/>
            </a:pPr>
            <a:endParaRPr lang="es-CR" sz="2400" u="sng" dirty="0" smtClean="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expresa como:</a:t>
            </a:r>
            <a:endParaRPr lang="es-CR" sz="2400" dirty="0">
              <a:latin typeface="Times New Roman" panose="02020603050405020304" pitchFamily="18" charset="0"/>
              <a:cs typeface="Times New Roman" panose="02020603050405020304" pitchFamily="18" charset="0"/>
            </a:endParaRPr>
          </a:p>
          <a:p>
            <a:pPr marL="0" indent="0">
              <a:buNone/>
            </a:pPr>
            <a:endParaRPr lang="es-CR" sz="2400" u="sng"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3286797" y="5924904"/>
                <a:ext cx="38280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i="1">
                          <a:latin typeface="Cambria Math"/>
                        </a:rPr>
                        <m:t>=</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i="1">
                          <a:latin typeface="Cambria Math"/>
                        </a:rPr>
                        <m:t>+</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3286797" y="5924904"/>
                <a:ext cx="3828099" cy="461665"/>
              </a:xfrm>
              <a:prstGeom prst="rect">
                <a:avLst/>
              </a:prstGeom>
              <a:blipFill rotWithShape="1">
                <a:blip r:embed="rId2"/>
                <a:stretch>
                  <a:fillRect b="-2632"/>
                </a:stretch>
              </a:blipFill>
            </p:spPr>
            <p:txBody>
              <a:bodyPr/>
              <a:lstStyle/>
              <a:p>
                <a:r>
                  <a:rPr lang="es-CR">
                    <a:noFill/>
                  </a:rPr>
                  <a:t> </a:t>
                </a:r>
              </a:p>
            </p:txBody>
          </p:sp>
        </mc:Fallback>
      </mc:AlternateContent>
      <p:pic>
        <p:nvPicPr>
          <p:cNvPr id="27650" name="Picture 2" descr="http://www.socialresearchmethods.net/kb/Assets/images/statsim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9275" y="1414463"/>
            <a:ext cx="2580654" cy="2116137"/>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Résultat de recherche d'images pour &quot;sum of squares&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27654" name="Picture 6" descr="http://jcflowers1.iweb.bsu.edu/rlo/eqss.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1689" y="4928166"/>
            <a:ext cx="2155825" cy="1239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935796"/>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62211" y="1114845"/>
                <a:ext cx="8268222" cy="5561527"/>
              </a:xfrm>
            </p:spPr>
            <p:txBody>
              <a:bodyPr>
                <a:normAutofit/>
              </a:bodyPr>
              <a:lstStyle/>
              <a:p>
                <a:r>
                  <a:rPr lang="es-CR" sz="2400" dirty="0" smtClean="0">
                    <a:latin typeface="Times New Roman" panose="02020603050405020304" pitchFamily="18" charset="0"/>
                    <a:cs typeface="Times New Roman" panose="02020603050405020304" pitchFamily="18" charset="0"/>
                  </a:rPr>
                  <a:t>La suma total de cuadrados, </a:t>
                </a:r>
                <a:r>
                  <a:rPr lang="es-CR" sz="2400" dirty="0">
                    <a:latin typeface="Times New Roman" panose="02020603050405020304" pitchFamily="18" charset="0"/>
                    <a:cs typeface="Times New Roman" panose="02020603050405020304" pitchFamily="18" charset="0"/>
                  </a:rPr>
                  <a:t> </a:t>
                </a:r>
                <a:r>
                  <a:rPr lang="es-CR" sz="2400" dirty="0" smtClean="0">
                    <a:latin typeface="Times New Roman" panose="02020603050405020304" pitchFamily="18" charset="0"/>
                    <a:cs typeface="Times New Roman" panose="02020603050405020304" pitchFamily="18" charset="0"/>
                  </a:rPr>
                  <a:t>es </a:t>
                </a:r>
                <a:r>
                  <a:rPr lang="es-CR" sz="2400" dirty="0">
                    <a:latin typeface="Times New Roman" panose="02020603050405020304" pitchFamily="18" charset="0"/>
                    <a:cs typeface="Times New Roman" panose="02020603050405020304" pitchFamily="18" charset="0"/>
                  </a:rPr>
                  <a:t>la suma de los cuadrados de las desviaciones de las observaciones individuales a partir de la media de todas las observaciones tomadas </a:t>
                </a:r>
                <a:r>
                  <a:rPr lang="es-CR" sz="2400" dirty="0" smtClean="0">
                    <a:latin typeface="Times New Roman" panose="02020603050405020304" pitchFamily="18" charset="0"/>
                    <a:cs typeface="Times New Roman" panose="02020603050405020304" pitchFamily="18" charset="0"/>
                  </a:rPr>
                  <a:t>juntas.</a:t>
                </a:r>
              </a:p>
              <a:p>
                <a:endParaRPr lang="es-CR" sz="2400" dirty="0">
                  <a:latin typeface="Times New Roman" panose="02020603050405020304" pitchFamily="18" charset="0"/>
                  <a:cs typeface="Times New Roman" panose="02020603050405020304" pitchFamily="18" charset="0"/>
                </a:endParaRPr>
              </a:p>
              <a:p>
                <a:r>
                  <a:rPr lang="es-CR" sz="2400" b="1" dirty="0" smtClean="0">
                    <a:latin typeface="Times New Roman" panose="02020603050405020304" pitchFamily="18" charset="0"/>
                    <a:cs typeface="Times New Roman" panose="02020603050405020304" pitchFamily="18" charset="0"/>
                  </a:rPr>
                  <a:t>La suma </a:t>
                </a:r>
                <a:r>
                  <a:rPr lang="es-CR" sz="2400" b="1" dirty="0">
                    <a:latin typeface="Times New Roman" panose="02020603050405020304" pitchFamily="18" charset="0"/>
                    <a:cs typeface="Times New Roman" panose="02020603050405020304" pitchFamily="18" charset="0"/>
                  </a:rPr>
                  <a:t>total de </a:t>
                </a:r>
                <a:r>
                  <a:rPr lang="es-CR" sz="2400" b="1" dirty="0" smtClean="0">
                    <a:latin typeface="Times New Roman" panose="02020603050405020304" pitchFamily="18" charset="0"/>
                    <a:cs typeface="Times New Roman" panose="02020603050405020304" pitchFamily="18" charset="0"/>
                  </a:rPr>
                  <a:t>cu</a:t>
                </a:r>
                <a:r>
                  <a:rPr lang="es-CR" sz="2400" b="1" dirty="0">
                    <a:latin typeface="Times New Roman" panose="02020603050405020304" pitchFamily="18" charset="0"/>
                    <a:cs typeface="Times New Roman" panose="02020603050405020304" pitchFamily="18" charset="0"/>
                  </a:rPr>
                  <a:t>a</a:t>
                </a:r>
                <a:r>
                  <a:rPr lang="es-CR" sz="2400" b="1" dirty="0" smtClean="0">
                    <a:latin typeface="Times New Roman" panose="02020603050405020304" pitchFamily="18" charset="0"/>
                    <a:cs typeface="Times New Roman" panose="02020603050405020304" pitchFamily="18" charset="0"/>
                  </a:rPr>
                  <a:t>drados </a:t>
                </a:r>
                <a:r>
                  <a:rPr lang="es-CR" sz="2400" dirty="0" smtClean="0">
                    <a:latin typeface="Times New Roman" panose="02020603050405020304" pitchFamily="18" charset="0"/>
                    <a:cs typeface="Times New Roman" panose="02020603050405020304" pitchFamily="18" charset="0"/>
                  </a:rPr>
                  <a:t>(</a:t>
                </a:r>
                <a14:m>
                  <m:oMath xmlns:m="http://schemas.openxmlformats.org/officeDocument/2006/math">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oMath>
                </a14:m>
                <a:r>
                  <a:rPr lang="es-CR" sz="2400" dirty="0" smtClean="0">
                    <a:latin typeface="Times New Roman" panose="02020603050405020304" pitchFamily="18" charset="0"/>
                    <a:cs typeface="Times New Roman" panose="02020603050405020304" pitchFamily="18" charset="0"/>
                  </a:rPr>
                  <a:t>),  se define como:</a:t>
                </a:r>
              </a:p>
              <a:p>
                <a:endParaRPr lang="es-CR" sz="2400" dirty="0" smtClean="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pPr marL="0" indent="0">
                  <a:buNone/>
                </a:pPr>
                <a:r>
                  <a:rPr lang="es-CR" sz="2400" dirty="0" smtClean="0"/>
                  <a:t>La </a:t>
                </a:r>
                <a14:m>
                  <m:oMath xmlns:m="http://schemas.openxmlformats.org/officeDocument/2006/math">
                    <m:nary>
                      <m:naryPr>
                        <m:chr m:val="∑"/>
                        <m:limLoc m:val="undOvr"/>
                        <m:ctrlPr>
                          <a:rPr lang="es-CR" sz="2400" i="1">
                            <a:latin typeface="Cambria Math"/>
                          </a:rPr>
                        </m:ctrlPr>
                      </m:naryPr>
                      <m:sub>
                        <m:r>
                          <a:rPr lang="es-CR" sz="2400" i="1">
                            <a:latin typeface="Cambria Math"/>
                          </a:rPr>
                          <m:t>𝑗</m:t>
                        </m:r>
                        <m:r>
                          <a:rPr lang="es-CR" sz="2400" i="1">
                            <a:latin typeface="Cambria Math"/>
                          </a:rPr>
                          <m:t>=1</m:t>
                        </m:r>
                      </m:sub>
                      <m:sup>
                        <m:r>
                          <a:rPr lang="es-CR" sz="2400" i="1">
                            <a:latin typeface="Cambria Math"/>
                          </a:rPr>
                          <m:t>𝑘</m:t>
                        </m:r>
                      </m:sup>
                      <m:e/>
                    </m:nary>
                  </m:oMath>
                </a14:m>
                <a:r>
                  <a:rPr lang="es-CR" sz="2400" dirty="0" smtClean="0">
                    <a:latin typeface="Times New Roman" panose="02020603050405020304" pitchFamily="18" charset="0"/>
                    <a:cs typeface="Times New Roman" panose="02020603050405020304" pitchFamily="18" charset="0"/>
                  </a:rPr>
                  <a:t> indica la suma de </a:t>
                </a:r>
                <a:r>
                  <a:rPr lang="es-CR" sz="2400" dirty="0" err="1" smtClean="0">
                    <a:latin typeface="Times New Roman" panose="02020603050405020304" pitchFamily="18" charset="0"/>
                    <a:cs typeface="Times New Roman" panose="02020603050405020304" pitchFamily="18" charset="0"/>
                  </a:rPr>
                  <a:t>desviciones</a:t>
                </a:r>
                <a:r>
                  <a:rPr lang="es-CR" sz="2400" dirty="0" smtClean="0">
                    <a:latin typeface="Times New Roman" panose="02020603050405020304" pitchFamily="18" charset="0"/>
                    <a:cs typeface="Times New Roman" panose="02020603050405020304" pitchFamily="18" charset="0"/>
                  </a:rPr>
                  <a:t> para los grupos </a:t>
                </a:r>
              </a:p>
              <a:p>
                <a:pPr marL="0" indent="0">
                  <a:buNone/>
                </a:pPr>
                <a:r>
                  <a:rPr lang="es-CR" sz="2400" dirty="0" smtClean="0">
                    <a:latin typeface="Times New Roman" panose="02020603050405020304" pitchFamily="18" charset="0"/>
                    <a:cs typeface="Times New Roman" panose="02020603050405020304" pitchFamily="18" charset="0"/>
                  </a:rPr>
                  <a:t>La </a:t>
                </a:r>
                <a14:m>
                  <m:oMath xmlns:m="http://schemas.openxmlformats.org/officeDocument/2006/math">
                    <m:nary>
                      <m:naryPr>
                        <m:chr m:val="∑"/>
                        <m:limLoc m:val="undOvr"/>
                        <m:ctrlPr>
                          <a:rPr lang="es-CR" sz="2400" i="1">
                            <a:latin typeface="Cambria Math"/>
                          </a:rPr>
                        </m:ctrlPr>
                      </m:naryPr>
                      <m:sub>
                        <m:r>
                          <a:rPr lang="es-CR" sz="2400" i="1">
                            <a:latin typeface="Cambria Math"/>
                          </a:rPr>
                          <m:t>𝑖</m:t>
                        </m:r>
                        <m:r>
                          <a:rPr lang="es-CR" sz="2400" i="1">
                            <a:latin typeface="Cambria Math"/>
                          </a:rPr>
                          <m:t>=1</m:t>
                        </m:r>
                      </m:sub>
                      <m:sup>
                        <m:sSub>
                          <m:sSubPr>
                            <m:ctrlPr>
                              <a:rPr lang="es-CR" sz="2400" i="1">
                                <a:latin typeface="Cambria Math"/>
                              </a:rPr>
                            </m:ctrlPr>
                          </m:sSubPr>
                          <m:e>
                            <m:r>
                              <a:rPr lang="es-CR" sz="2400" i="1">
                                <a:latin typeface="Cambria Math"/>
                              </a:rPr>
                              <m:t>𝑛</m:t>
                            </m:r>
                          </m:e>
                          <m:sub>
                            <m:r>
                              <a:rPr lang="es-CR" sz="2400" i="1">
                                <a:latin typeface="Cambria Math"/>
                              </a:rPr>
                              <m:t>𝑗</m:t>
                            </m:r>
                          </m:sub>
                        </m:sSub>
                      </m:sup>
                      <m:e/>
                    </m:nary>
                  </m:oMath>
                </a14:m>
                <a:r>
                  <a:rPr lang="es-CR" sz="2400" dirty="0" smtClean="0"/>
                  <a:t> indica la suma de los totales por grupos</a:t>
                </a:r>
                <a:endParaRPr lang="es-CR" sz="2400" dirty="0"/>
              </a:p>
              <a:p>
                <a:pPr marL="0" indent="0">
                  <a:buNone/>
                </a:pPr>
                <a:endParaRPr lang="es-CR" sz="2400" dirty="0" smtClean="0">
                  <a:latin typeface="Times New Roman" panose="02020603050405020304" pitchFamily="18" charset="0"/>
                  <a:cs typeface="Times New Roman" panose="02020603050405020304" pitchFamily="18" charset="0"/>
                </a:endParaRPr>
              </a:p>
              <a:p>
                <a:pPr marL="0" indent="0">
                  <a:buNone/>
                </a:pPr>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62211" y="1114845"/>
                <a:ext cx="8268222" cy="5561527"/>
              </a:xfrm>
              <a:blipFill rotWithShape="1">
                <a:blip r:embed="rId2"/>
                <a:stretch>
                  <a:fillRect l="-1105" t="-1535" r="-368"/>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5" name="4 Rectángulo"/>
              <p:cNvSpPr/>
              <p:nvPr/>
            </p:nvSpPr>
            <p:spPr>
              <a:xfrm>
                <a:off x="2905126" y="3696795"/>
                <a:ext cx="2899512"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a:rPr>
                        <m:t>𝑆</m:t>
                      </m:r>
                      <m:sSub>
                        <m:sSubPr>
                          <m:ctrlPr>
                            <a:rPr lang="es-CR" i="1">
                              <a:latin typeface="Cambria Math"/>
                            </a:rPr>
                          </m:ctrlPr>
                        </m:sSubPr>
                        <m:e>
                          <m:r>
                            <a:rPr lang="es-CR" i="1">
                              <a:latin typeface="Cambria Math"/>
                            </a:rPr>
                            <m:t>𝐶</m:t>
                          </m:r>
                        </m:e>
                        <m:sub>
                          <m:r>
                            <a:rPr lang="es-CR" i="1">
                              <a:latin typeface="Cambria Math"/>
                            </a:rPr>
                            <m:t>𝑡𝑜𝑡𝑎𝑙</m:t>
                          </m:r>
                        </m:sub>
                      </m:sSub>
                      <m:r>
                        <a:rPr lang="es-CR" i="1">
                          <a:latin typeface="Cambria Math"/>
                        </a:rPr>
                        <m:t>= </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nary>
                            <m:naryPr>
                              <m:chr m:val="∑"/>
                              <m:limLoc m:val="undOvr"/>
                              <m:ctrlPr>
                                <a:rPr lang="es-CR" i="1">
                                  <a:latin typeface="Cambria Math"/>
                                </a:rPr>
                              </m:ctrlPr>
                            </m:naryPr>
                            <m:sub>
                              <m:r>
                                <a:rPr lang="es-CR" i="1">
                                  <a:latin typeface="Cambria Math"/>
                                </a:rPr>
                                <m:t>𝑖</m:t>
                              </m:r>
                              <m:r>
                                <a:rPr lang="es-CR" i="1">
                                  <a:latin typeface="Cambria Math"/>
                                </a:rPr>
                                <m:t>=1</m:t>
                              </m:r>
                            </m:sub>
                            <m:sup>
                              <m:sSub>
                                <m:sSubPr>
                                  <m:ctrlPr>
                                    <a:rPr lang="es-CR" i="1">
                                      <a:latin typeface="Cambria Math"/>
                                    </a:rPr>
                                  </m:ctrlPr>
                                </m:sSubPr>
                                <m:e>
                                  <m:r>
                                    <a:rPr lang="es-CR" i="1">
                                      <a:latin typeface="Cambria Math"/>
                                    </a:rPr>
                                    <m:t>𝑛</m:t>
                                  </m:r>
                                </m:e>
                                <m:sub>
                                  <m:r>
                                    <a:rPr lang="es-CR" i="1">
                                      <a:latin typeface="Cambria Math"/>
                                    </a:rPr>
                                    <m:t>𝑗</m:t>
                                  </m:r>
                                </m:sub>
                              </m:sSub>
                            </m:sup>
                            <m:e>
                              <m:sSup>
                                <m:sSupPr>
                                  <m:ctrlPr>
                                    <a:rPr lang="es-CR" i="1">
                                      <a:latin typeface="Cambria Math"/>
                                    </a:rPr>
                                  </m:ctrlPr>
                                </m:sSupPr>
                                <m:e>
                                  <m:r>
                                    <a:rPr lang="es-CR" i="1">
                                      <a:latin typeface="Cambria Math"/>
                                    </a:rPr>
                                    <m:t>(</m:t>
                                  </m:r>
                                  <m:sSub>
                                    <m:sSubPr>
                                      <m:ctrlPr>
                                        <a:rPr lang="es-CR" i="1">
                                          <a:latin typeface="Cambria Math"/>
                                        </a:rPr>
                                      </m:ctrlPr>
                                    </m:sSubPr>
                                    <m:e>
                                      <m:r>
                                        <a:rPr lang="es-CR" i="1">
                                          <a:latin typeface="Cambria Math"/>
                                        </a:rPr>
                                        <m:t>𝑥</m:t>
                                      </m:r>
                                    </m:e>
                                    <m:sub>
                                      <m:r>
                                        <a:rPr lang="es-CR" i="1">
                                          <a:latin typeface="Cambria Math"/>
                                        </a:rPr>
                                        <m:t>𝑖𝑗</m:t>
                                      </m:r>
                                    </m:sub>
                                  </m:sSub>
                                  <m:r>
                                    <a:rPr lang="es-CR" i="1">
                                      <a:latin typeface="Cambria Math"/>
                                    </a:rPr>
                                    <m:t>−</m:t>
                                  </m:r>
                                  <m:acc>
                                    <m:accPr>
                                      <m:chr m:val="̅"/>
                                      <m:ctrlPr>
                                        <a:rPr lang="es-CR" i="1">
                                          <a:latin typeface="Cambria Math"/>
                                        </a:rPr>
                                      </m:ctrlPr>
                                    </m:accPr>
                                    <m:e>
                                      <m:sSub>
                                        <m:sSubPr>
                                          <m:ctrlPr>
                                            <a:rPr lang="es-CR" i="1">
                                              <a:latin typeface="Cambria Math"/>
                                            </a:rPr>
                                          </m:ctrlPr>
                                        </m:sSubPr>
                                        <m:e>
                                          <m:r>
                                            <a:rPr lang="es-CR" i="1">
                                              <a:latin typeface="Cambria Math"/>
                                            </a:rPr>
                                            <m:t>𝑥</m:t>
                                          </m:r>
                                        </m:e>
                                        <m:sub>
                                          <m:r>
                                            <a:rPr lang="es-CR" i="1">
                                              <a:latin typeface="Cambria Math"/>
                                            </a:rPr>
                                            <m:t>..</m:t>
                                          </m:r>
                                        </m:sub>
                                      </m:sSub>
                                    </m:e>
                                  </m:acc>
                                  <m:r>
                                    <a:rPr lang="es-CR" i="1">
                                      <a:latin typeface="Cambria Math"/>
                                    </a:rPr>
                                    <m:t>)</m:t>
                                  </m:r>
                                </m:e>
                                <m:sup>
                                  <m:r>
                                    <a:rPr lang="es-CR" i="1">
                                      <a:latin typeface="Cambria Math"/>
                                    </a:rPr>
                                    <m:t>2</m:t>
                                  </m:r>
                                </m:sup>
                              </m:sSup>
                            </m:e>
                          </m:nary>
                        </m:e>
                      </m:nary>
                    </m:oMath>
                  </m:oMathPara>
                </a14:m>
                <a:endParaRPr lang="es-CR" dirty="0"/>
              </a:p>
            </p:txBody>
          </p:sp>
        </mc:Choice>
        <mc:Fallback xmlns="">
          <p:sp>
            <p:nvSpPr>
              <p:cNvPr id="5" name="4 Rectángulo"/>
              <p:cNvSpPr>
                <a:spLocks noRot="1" noChangeAspect="1" noMove="1" noResize="1" noEditPoints="1" noAdjustHandles="1" noChangeArrowheads="1" noChangeShapeType="1" noTextEdit="1"/>
              </p:cNvSpPr>
              <p:nvPr/>
            </p:nvSpPr>
            <p:spPr>
              <a:xfrm>
                <a:off x="2905126" y="3696795"/>
                <a:ext cx="2899512" cy="917431"/>
              </a:xfrm>
              <a:prstGeom prst="rect">
                <a:avLst/>
              </a:prstGeom>
              <a:blipFill rotWithShape="1">
                <a:blip r:embed="rId3"/>
                <a:stretch>
                  <a:fillRect/>
                </a:stretch>
              </a:blipFill>
            </p:spPr>
            <p:txBody>
              <a:bodyPr/>
              <a:lstStyle/>
              <a:p>
                <a:r>
                  <a:rPr lang="es-CR">
                    <a:noFill/>
                  </a:rPr>
                  <a:t> </a:t>
                </a:r>
              </a:p>
            </p:txBody>
          </p:sp>
        </mc:Fallback>
      </mc:AlternateContent>
      <p:sp>
        <p:nvSpPr>
          <p:cNvPr id="6"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sp>
        <p:nvSpPr>
          <p:cNvPr id="2" name="AutoShape 2" descr="https://upload.wikimedia.org/math/6/9/b/69b2e43649daeafd23ca54526f307093.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28676" name="Picture 4" descr="http://www.trizsigma.com/pic/reg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8774" y="2852920"/>
            <a:ext cx="3705226" cy="3268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8831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607300" y="1825625"/>
            <a:ext cx="3746500" cy="4351338"/>
          </a:xfrm>
        </p:spPr>
        <p:txBody>
          <a:bodyPr/>
          <a:lstStyle/>
          <a:p>
            <a:pPr marL="0" indent="0" algn="ctr">
              <a:buNone/>
            </a:pPr>
            <a:r>
              <a:rPr lang="es-CR" dirty="0" smtClean="0"/>
              <a:t>¿Como se calcula la</a:t>
            </a:r>
            <a:r>
              <a:rPr lang="es-CR" b="1" dirty="0" smtClean="0">
                <a:latin typeface="Times New Roman" panose="02020603050405020304" pitchFamily="18" charset="0"/>
                <a:cs typeface="Times New Roman" panose="02020603050405020304" pitchFamily="18" charset="0"/>
              </a:rPr>
              <a:t>  </a:t>
            </a:r>
            <a:r>
              <a:rPr lang="es-CR" b="1" dirty="0">
                <a:latin typeface="Times New Roman" panose="02020603050405020304" pitchFamily="18" charset="0"/>
                <a:cs typeface="Times New Roman" panose="02020603050405020304" pitchFamily="18" charset="0"/>
              </a:rPr>
              <a:t>suma total de </a:t>
            </a:r>
            <a:r>
              <a:rPr lang="es-CR" b="1" dirty="0" smtClean="0">
                <a:latin typeface="Times New Roman" panose="02020603050405020304" pitchFamily="18" charset="0"/>
                <a:cs typeface="Times New Roman" panose="02020603050405020304" pitchFamily="18" charset="0"/>
              </a:rPr>
              <a:t>cuadrado</a:t>
            </a:r>
            <a:r>
              <a:rPr lang="es-CR" dirty="0" smtClean="0"/>
              <a:t> ?</a:t>
            </a:r>
            <a:endParaRPr lang="es-CR" dirty="0"/>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graphicFrame>
        <p:nvGraphicFramePr>
          <p:cNvPr id="8" name="7 Tabla"/>
          <p:cNvGraphicFramePr>
            <a:graphicFrameLocks noGrp="1"/>
          </p:cNvGraphicFramePr>
          <p:nvPr>
            <p:extLst>
              <p:ext uri="{D42A27DB-BD31-4B8C-83A1-F6EECF244321}">
                <p14:modId xmlns:p14="http://schemas.microsoft.com/office/powerpoint/2010/main" val="4000849299"/>
              </p:ext>
            </p:extLst>
          </p:nvPr>
        </p:nvGraphicFramePr>
        <p:xfrm>
          <a:off x="660400" y="1333498"/>
          <a:ext cx="6045200" cy="4618044"/>
        </p:xfrm>
        <a:graphic>
          <a:graphicData uri="http://schemas.openxmlformats.org/drawingml/2006/table">
            <a:tbl>
              <a:tblPr>
                <a:tableStyleId>{5C22544A-7EE6-4342-B048-85BDC9FD1C3A}</a:tableStyleId>
              </a:tblPr>
              <a:tblGrid>
                <a:gridCol w="947120"/>
                <a:gridCol w="1403036"/>
                <a:gridCol w="1215608"/>
                <a:gridCol w="1567394"/>
                <a:gridCol w="912042"/>
              </a:tblGrid>
              <a:tr h="513116">
                <a:tc>
                  <a:txBody>
                    <a:bodyPr/>
                    <a:lstStyle/>
                    <a:p>
                      <a:pPr algn="ctr" fontAlgn="b"/>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1</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2</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 Tratamiento 3</a:t>
                      </a:r>
                      <a:endParaRPr lang="es-CR" sz="1600" b="1" i="0" u="sng"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a:effectLst/>
                        </a:rPr>
                        <a:t>22</a:t>
                      </a:r>
                      <a:endParaRPr lang="es-CR" sz="1600" b="0" i="0" u="none" strike="noStrike">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24</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6</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16</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26</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8</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18</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28</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30</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b="1" i="0" u="none" strike="noStrike" dirty="0" smtClean="0">
                          <a:effectLst/>
                        </a:rPr>
                        <a:t>General</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Promedio</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Total</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a:t>
                      </a:r>
                      <a:endParaRPr lang="es-CR" sz="1600" b="1" i="0" u="none" strike="noStrike" dirty="0">
                        <a:solidFill>
                          <a:srgbClr val="000000"/>
                        </a:solidFill>
                        <a:effectLst/>
                        <a:latin typeface="Calibri"/>
                      </a:endParaRPr>
                    </a:p>
                  </a:txBody>
                  <a:tcPr marL="9525" marR="9525" marT="9525" marB="0" anchor="b"/>
                </a:tc>
              </a:tr>
            </a:tbl>
          </a:graphicData>
        </a:graphic>
      </p:graphicFrame>
      <mc:AlternateContent xmlns:mc="http://schemas.openxmlformats.org/markup-compatibility/2006" xmlns:a14="http://schemas.microsoft.com/office/drawing/2010/main">
        <mc:Choice Requires="a14">
          <p:sp>
            <p:nvSpPr>
              <p:cNvPr id="9" name="8 Rectángulo"/>
              <p:cNvSpPr/>
              <p:nvPr/>
            </p:nvSpPr>
            <p:spPr>
              <a:xfrm>
                <a:off x="8010526" y="4156605"/>
                <a:ext cx="2899512"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a:rPr>
                        <m:t>𝑆</m:t>
                      </m:r>
                      <m:sSub>
                        <m:sSubPr>
                          <m:ctrlPr>
                            <a:rPr lang="es-CR" i="1">
                              <a:latin typeface="Cambria Math"/>
                            </a:rPr>
                          </m:ctrlPr>
                        </m:sSubPr>
                        <m:e>
                          <m:r>
                            <a:rPr lang="es-CR" i="1">
                              <a:latin typeface="Cambria Math"/>
                            </a:rPr>
                            <m:t>𝐶</m:t>
                          </m:r>
                        </m:e>
                        <m:sub>
                          <m:r>
                            <a:rPr lang="es-CR" i="1">
                              <a:latin typeface="Cambria Math"/>
                            </a:rPr>
                            <m:t>𝑡𝑜𝑡𝑎𝑙</m:t>
                          </m:r>
                        </m:sub>
                      </m:sSub>
                      <m:r>
                        <a:rPr lang="es-CR" i="1">
                          <a:latin typeface="Cambria Math"/>
                        </a:rPr>
                        <m:t>= </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nary>
                            <m:naryPr>
                              <m:chr m:val="∑"/>
                              <m:limLoc m:val="undOvr"/>
                              <m:ctrlPr>
                                <a:rPr lang="es-CR" i="1">
                                  <a:latin typeface="Cambria Math"/>
                                </a:rPr>
                              </m:ctrlPr>
                            </m:naryPr>
                            <m:sub>
                              <m:r>
                                <a:rPr lang="es-CR" i="1">
                                  <a:latin typeface="Cambria Math"/>
                                </a:rPr>
                                <m:t>𝑖</m:t>
                              </m:r>
                              <m:r>
                                <a:rPr lang="es-CR" i="1">
                                  <a:latin typeface="Cambria Math"/>
                                </a:rPr>
                                <m:t>=1</m:t>
                              </m:r>
                            </m:sub>
                            <m:sup>
                              <m:sSub>
                                <m:sSubPr>
                                  <m:ctrlPr>
                                    <a:rPr lang="es-CR" i="1">
                                      <a:latin typeface="Cambria Math"/>
                                    </a:rPr>
                                  </m:ctrlPr>
                                </m:sSubPr>
                                <m:e>
                                  <m:r>
                                    <a:rPr lang="es-CR" i="1">
                                      <a:latin typeface="Cambria Math"/>
                                    </a:rPr>
                                    <m:t>𝑛</m:t>
                                  </m:r>
                                </m:e>
                                <m:sub>
                                  <m:r>
                                    <a:rPr lang="es-CR" i="1">
                                      <a:latin typeface="Cambria Math"/>
                                    </a:rPr>
                                    <m:t>𝑗</m:t>
                                  </m:r>
                                </m:sub>
                              </m:sSub>
                            </m:sup>
                            <m:e>
                              <m:sSup>
                                <m:sSupPr>
                                  <m:ctrlPr>
                                    <a:rPr lang="es-CR" i="1">
                                      <a:latin typeface="Cambria Math"/>
                                    </a:rPr>
                                  </m:ctrlPr>
                                </m:sSupPr>
                                <m:e>
                                  <m:r>
                                    <a:rPr lang="es-CR" i="1">
                                      <a:latin typeface="Cambria Math"/>
                                    </a:rPr>
                                    <m:t>(</m:t>
                                  </m:r>
                                  <m:sSub>
                                    <m:sSubPr>
                                      <m:ctrlPr>
                                        <a:rPr lang="es-CR" i="1">
                                          <a:latin typeface="Cambria Math"/>
                                        </a:rPr>
                                      </m:ctrlPr>
                                    </m:sSubPr>
                                    <m:e>
                                      <m:r>
                                        <a:rPr lang="es-CR" i="1">
                                          <a:latin typeface="Cambria Math"/>
                                        </a:rPr>
                                        <m:t>𝑥</m:t>
                                      </m:r>
                                    </m:e>
                                    <m:sub>
                                      <m:r>
                                        <a:rPr lang="es-CR" i="1">
                                          <a:latin typeface="Cambria Math"/>
                                        </a:rPr>
                                        <m:t>𝑖𝑗</m:t>
                                      </m:r>
                                    </m:sub>
                                  </m:sSub>
                                  <m:r>
                                    <a:rPr lang="es-CR" i="1">
                                      <a:latin typeface="Cambria Math"/>
                                    </a:rPr>
                                    <m:t>−</m:t>
                                  </m:r>
                                  <m:acc>
                                    <m:accPr>
                                      <m:chr m:val="̅"/>
                                      <m:ctrlPr>
                                        <a:rPr lang="es-CR" i="1">
                                          <a:latin typeface="Cambria Math"/>
                                        </a:rPr>
                                      </m:ctrlPr>
                                    </m:accPr>
                                    <m:e>
                                      <m:sSub>
                                        <m:sSubPr>
                                          <m:ctrlPr>
                                            <a:rPr lang="es-CR" i="1">
                                              <a:latin typeface="Cambria Math"/>
                                            </a:rPr>
                                          </m:ctrlPr>
                                        </m:sSubPr>
                                        <m:e>
                                          <m:r>
                                            <a:rPr lang="es-CR" i="1">
                                              <a:latin typeface="Cambria Math"/>
                                            </a:rPr>
                                            <m:t>𝑥</m:t>
                                          </m:r>
                                        </m:e>
                                        <m:sub>
                                          <m:r>
                                            <a:rPr lang="es-CR" i="1">
                                              <a:latin typeface="Cambria Math"/>
                                            </a:rPr>
                                            <m:t>..</m:t>
                                          </m:r>
                                        </m:sub>
                                      </m:sSub>
                                    </m:e>
                                  </m:acc>
                                  <m:r>
                                    <a:rPr lang="es-CR" i="1">
                                      <a:latin typeface="Cambria Math"/>
                                    </a:rPr>
                                    <m:t>)</m:t>
                                  </m:r>
                                </m:e>
                                <m:sup>
                                  <m:r>
                                    <a:rPr lang="es-CR" i="1">
                                      <a:latin typeface="Cambria Math"/>
                                    </a:rPr>
                                    <m:t>2</m:t>
                                  </m:r>
                                </m:sup>
                              </m:sSup>
                            </m:e>
                          </m:nary>
                        </m:e>
                      </m:nary>
                    </m:oMath>
                  </m:oMathPara>
                </a14:m>
                <a:endParaRPr lang="es-CR" dirty="0"/>
              </a:p>
            </p:txBody>
          </p:sp>
        </mc:Choice>
        <mc:Fallback xmlns="">
          <p:sp>
            <p:nvSpPr>
              <p:cNvPr id="9" name="8 Rectángulo"/>
              <p:cNvSpPr>
                <a:spLocks noRot="1" noChangeAspect="1" noMove="1" noResize="1" noEditPoints="1" noAdjustHandles="1" noChangeArrowheads="1" noChangeShapeType="1" noTextEdit="1"/>
              </p:cNvSpPr>
              <p:nvPr/>
            </p:nvSpPr>
            <p:spPr>
              <a:xfrm>
                <a:off x="8010526" y="4156605"/>
                <a:ext cx="2899512" cy="917431"/>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4811813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0" y="1238769"/>
                <a:ext cx="10515600" cy="5298509"/>
              </a:xfrm>
            </p:spPr>
            <p:txBody>
              <a:bodyPr>
                <a:normAutofit/>
              </a:bodyPr>
              <a:lstStyle/>
              <a:p>
                <a:r>
                  <a:rPr lang="es-CR" sz="2400" b="1" dirty="0" smtClean="0"/>
                  <a:t>La suma de cuadrados dentro de los grupos </a:t>
                </a:r>
                <a:r>
                  <a:rPr lang="es-CR" sz="2400" dirty="0" smtClean="0"/>
                  <a:t>implican realizar dentro de cada grupo, la suma de las desviaciones al cuadrado de las observaciones individuales, según la media de interés.</a:t>
                </a:r>
              </a:p>
              <a:p>
                <a:endParaRPr lang="es-CR" sz="2400" dirty="0"/>
              </a:p>
              <a:p>
                <a:r>
                  <a:rPr lang="es-CR" sz="2400" dirty="0" smtClean="0"/>
                  <a:t>Después de realizar los cálculos dentro de cada grupo, se obtiene la suma de los resultados individuales del grupo.</a:t>
                </a:r>
              </a:p>
              <a:p>
                <a:endParaRPr lang="es-CR" sz="2400" dirty="0"/>
              </a:p>
              <a:p>
                <a:r>
                  <a:rPr lang="es-CR" sz="2400" dirty="0" smtClean="0"/>
                  <a:t>Este componente (suma de cuadrados de los grupos) se designa como </a:t>
                </a:r>
                <a14:m>
                  <m:oMath xmlns:m="http://schemas.openxmlformats.org/officeDocument/2006/math">
                    <m:r>
                      <a:rPr lang="es-CR" sz="2400" i="1">
                        <a:latin typeface="Cambria Math"/>
                      </a:rPr>
                      <m:t>𝑆</m:t>
                    </m:r>
                    <m:sSub>
                      <m:sSubPr>
                        <m:ctrlPr>
                          <a:rPr lang="es-CR" sz="2400" i="1" smtClean="0">
                            <a:latin typeface="Cambria Math"/>
                          </a:rPr>
                        </m:ctrlPr>
                      </m:sSubPr>
                      <m:e>
                        <m:r>
                          <a:rPr lang="es-CR" sz="2400" i="1">
                            <a:latin typeface="Cambria Math"/>
                          </a:rPr>
                          <m:t>𝐶</m:t>
                        </m:r>
                      </m:e>
                      <m:sub>
                        <m:r>
                          <a:rPr lang="es-CR" sz="2400" i="1">
                            <a:latin typeface="Cambria Math"/>
                          </a:rPr>
                          <m:t>𝑑𝑒𝑛𝑡𝑟𝑜</m:t>
                        </m:r>
                      </m:sub>
                    </m:sSub>
                  </m:oMath>
                </a14:m>
                <a:r>
                  <a:rPr lang="es-CR" sz="2400" dirty="0" smtClean="0"/>
                  <a:t>, y su expresión matemática es:</a:t>
                </a:r>
              </a:p>
              <a:p>
                <a:endParaRPr lang="es-CR" sz="2400" dirty="0" smtClean="0"/>
              </a:p>
              <a:p>
                <a:endParaRPr lang="es-CR" sz="2400" dirty="0"/>
              </a:p>
              <a:p>
                <a:r>
                  <a:rPr lang="es-CR" sz="2400" dirty="0" smtClean="0"/>
                  <a:t>Esta cantidad se suele denominar como suma de residuales o errores.</a:t>
                </a:r>
                <a:endParaRPr lang="es-CR" sz="2400" dirty="0"/>
              </a:p>
              <a:p>
                <a:endParaRPr lang="es-CR" sz="2400" dirty="0" smtClean="0"/>
              </a:p>
              <a:p>
                <a:pPr marL="0" indent="0">
                  <a:buNone/>
                </a:pPr>
                <a:endParaRPr lang="es-CR" sz="2400" dirty="0" smtClean="0"/>
              </a:p>
              <a:p>
                <a:endParaRPr lang="es-CR" sz="2400" dirty="0"/>
              </a:p>
              <a:p>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0" y="1238769"/>
                <a:ext cx="10515600" cy="5298509"/>
              </a:xfrm>
              <a:blipFill rotWithShape="1">
                <a:blip r:embed="rId2"/>
                <a:stretch>
                  <a:fillRect l="-754" t="-1611" r="-1449"/>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2" name="1 Rectángulo"/>
              <p:cNvSpPr/>
              <p:nvPr/>
            </p:nvSpPr>
            <p:spPr>
              <a:xfrm>
                <a:off x="4452103" y="4608016"/>
                <a:ext cx="306943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𝑑𝑒𝑛𝑡𝑟𝑜</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nary>
                            <m:naryPr>
                              <m:chr m:val="∑"/>
                              <m:limLoc m:val="undOvr"/>
                              <m:ctrlPr>
                                <a:rPr lang="es-CR" i="1">
                                  <a:latin typeface="Cambria Math"/>
                                </a:rPr>
                              </m:ctrlPr>
                            </m:naryPr>
                            <m:sub>
                              <m:r>
                                <a:rPr lang="es-CR" i="1">
                                  <a:latin typeface="Cambria Math" panose="02040503050406030204" pitchFamily="18" charset="0"/>
                                </a:rPr>
                                <m:t>𝑖</m:t>
                              </m:r>
                              <m:r>
                                <a:rPr lang="es-CR" i="1">
                                  <a:latin typeface="Cambria Math" panose="02040503050406030204" pitchFamily="18" charset="0"/>
                                </a:rPr>
                                <m:t>=1</m:t>
                              </m:r>
                            </m:sub>
                            <m:sup>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up>
                            <m:e>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r>
                                        <a:rPr lang="es-CR" i="1">
                                          <a:latin typeface="Cambria Math" panose="02040503050406030204" pitchFamily="18" charset="0"/>
                                        </a:rPr>
                                        <m:t>𝑥</m:t>
                                      </m:r>
                                    </m:e>
                                    <m:sub>
                                      <m:r>
                                        <a:rPr lang="es-CR" i="1">
                                          <a:latin typeface="Cambria Math" panose="02040503050406030204" pitchFamily="18" charset="0"/>
                                        </a:rPr>
                                        <m:t>𝑖𝑗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e>
                                <m:sup>
                                  <m:r>
                                    <a:rPr lang="es-CR" i="1">
                                      <a:latin typeface="Cambria Math" panose="02040503050406030204" pitchFamily="18" charset="0"/>
                                    </a:rPr>
                                    <m:t>2</m:t>
                                  </m:r>
                                </m:sup>
                              </m:sSup>
                            </m:e>
                          </m:nary>
                        </m:e>
                      </m:nary>
                    </m:oMath>
                  </m:oMathPara>
                </a14:m>
                <a:endParaRPr lang="es-CR" dirty="0"/>
              </a:p>
            </p:txBody>
          </p:sp>
        </mc:Choice>
        <mc:Fallback xmlns="">
          <p:sp>
            <p:nvSpPr>
              <p:cNvPr id="2" name="1 Rectángulo"/>
              <p:cNvSpPr>
                <a:spLocks noRot="1" noChangeAspect="1" noMove="1" noResize="1" noEditPoints="1" noAdjustHandles="1" noChangeArrowheads="1" noChangeShapeType="1" noTextEdit="1"/>
              </p:cNvSpPr>
              <p:nvPr/>
            </p:nvSpPr>
            <p:spPr>
              <a:xfrm>
                <a:off x="4452103" y="4608016"/>
                <a:ext cx="3069430" cy="917431"/>
              </a:xfrm>
              <a:prstGeom prst="rect">
                <a:avLst/>
              </a:prstGeom>
              <a:blipFill rotWithShape="1">
                <a:blip r:embed="rId3"/>
                <a:stretch>
                  <a:fillRect/>
                </a:stretch>
              </a:blipFill>
            </p:spPr>
            <p:txBody>
              <a:bodyPr/>
              <a:lstStyle/>
              <a:p>
                <a:r>
                  <a:rPr lang="es-CR">
                    <a:noFill/>
                  </a:rPr>
                  <a:t> </a:t>
                </a:r>
              </a:p>
            </p:txBody>
          </p:sp>
        </mc:Fallback>
      </mc:AlternateContent>
      <p:sp>
        <p:nvSpPr>
          <p:cNvPr id="7"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spTree>
    <p:extLst>
      <p:ext uri="{BB962C8B-B14F-4D97-AF65-F5344CB8AC3E}">
        <p14:creationId xmlns:p14="http://schemas.microsoft.com/office/powerpoint/2010/main" val="2912020829"/>
      </p:ext>
    </p:extLst>
  </p:cSld>
  <p:clrMapOvr>
    <a:masterClrMapping/>
  </p:clrMapOvr>
  <p:transition spd="slow">
    <p:cove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607300" y="1825625"/>
            <a:ext cx="3746500" cy="4351338"/>
          </a:xfrm>
        </p:spPr>
        <p:txBody>
          <a:bodyPr/>
          <a:lstStyle/>
          <a:p>
            <a:pPr marL="0" indent="0" algn="ctr">
              <a:buNone/>
            </a:pPr>
            <a:r>
              <a:rPr lang="es-CR" dirty="0" smtClean="0"/>
              <a:t>¿Como se calcula la</a:t>
            </a:r>
            <a:r>
              <a:rPr lang="es-CR" b="1" dirty="0" smtClean="0">
                <a:latin typeface="Times New Roman" panose="02020603050405020304" pitchFamily="18" charset="0"/>
                <a:cs typeface="Times New Roman" panose="02020603050405020304" pitchFamily="18" charset="0"/>
              </a:rPr>
              <a:t>  </a:t>
            </a:r>
            <a:r>
              <a:rPr lang="es-CR" b="1" dirty="0">
                <a:latin typeface="Times New Roman" panose="02020603050405020304" pitchFamily="18" charset="0"/>
                <a:cs typeface="Times New Roman" panose="02020603050405020304" pitchFamily="18" charset="0"/>
              </a:rPr>
              <a:t>suma </a:t>
            </a:r>
            <a:r>
              <a:rPr lang="es-CR" b="1" dirty="0" smtClean="0">
                <a:latin typeface="Times New Roman" panose="02020603050405020304" pitchFamily="18" charset="0"/>
                <a:cs typeface="Times New Roman" panose="02020603050405020304" pitchFamily="18" charset="0"/>
              </a:rPr>
              <a:t>dentro de los tratamientos</a:t>
            </a:r>
            <a:r>
              <a:rPr lang="es-CR" dirty="0" smtClean="0"/>
              <a:t> ?</a:t>
            </a:r>
            <a:endParaRPr lang="es-CR" dirty="0"/>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graphicFrame>
        <p:nvGraphicFramePr>
          <p:cNvPr id="8" name="7 Tabla"/>
          <p:cNvGraphicFramePr>
            <a:graphicFrameLocks noGrp="1"/>
          </p:cNvGraphicFramePr>
          <p:nvPr>
            <p:extLst>
              <p:ext uri="{D42A27DB-BD31-4B8C-83A1-F6EECF244321}">
                <p14:modId xmlns:p14="http://schemas.microsoft.com/office/powerpoint/2010/main" val="1414379086"/>
              </p:ext>
            </p:extLst>
          </p:nvPr>
        </p:nvGraphicFramePr>
        <p:xfrm>
          <a:off x="660400" y="1333498"/>
          <a:ext cx="6045200" cy="4618044"/>
        </p:xfrm>
        <a:graphic>
          <a:graphicData uri="http://schemas.openxmlformats.org/drawingml/2006/table">
            <a:tbl>
              <a:tblPr>
                <a:tableStyleId>{5C22544A-7EE6-4342-B048-85BDC9FD1C3A}</a:tableStyleId>
              </a:tblPr>
              <a:tblGrid>
                <a:gridCol w="947120"/>
                <a:gridCol w="1403036"/>
                <a:gridCol w="1215608"/>
                <a:gridCol w="1567394"/>
                <a:gridCol w="912042"/>
              </a:tblGrid>
              <a:tr h="513116">
                <a:tc>
                  <a:txBody>
                    <a:bodyPr/>
                    <a:lstStyle/>
                    <a:p>
                      <a:pPr algn="ctr" fontAlgn="b"/>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1</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2</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 Tratamiento 3</a:t>
                      </a:r>
                      <a:endParaRPr lang="es-CR" sz="1600" b="1" i="0" u="sng"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a:effectLst/>
                        </a:rPr>
                        <a:t>22</a:t>
                      </a:r>
                      <a:endParaRPr lang="es-CR" sz="1600" b="0" i="0" u="none" strike="noStrike">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24</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6</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16</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26</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8</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18</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28</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30</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b="1" i="0" u="none" strike="noStrike" dirty="0" smtClean="0">
                          <a:effectLst/>
                        </a:rPr>
                        <a:t>General</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Promedio</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Total</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a:t>
                      </a:r>
                      <a:endParaRPr lang="es-CR" sz="1600" b="1" i="0" u="none" strike="noStrike" dirty="0">
                        <a:solidFill>
                          <a:srgbClr val="000000"/>
                        </a:solidFill>
                        <a:effectLst/>
                        <a:latin typeface="Calibri"/>
                      </a:endParaRPr>
                    </a:p>
                  </a:txBody>
                  <a:tcPr marL="9525" marR="9525" marT="9525" marB="0" anchor="b"/>
                </a:tc>
              </a:tr>
            </a:tbl>
          </a:graphicData>
        </a:graphic>
      </p:graphicFrame>
      <mc:AlternateContent xmlns:mc="http://schemas.openxmlformats.org/markup-compatibility/2006" xmlns:a14="http://schemas.microsoft.com/office/drawing/2010/main">
        <mc:Choice Requires="a14">
          <p:sp>
            <p:nvSpPr>
              <p:cNvPr id="6" name="5 Rectángulo"/>
              <p:cNvSpPr/>
              <p:nvPr/>
            </p:nvSpPr>
            <p:spPr>
              <a:xfrm>
                <a:off x="7686633" y="4379416"/>
                <a:ext cx="306943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𝑑𝑒𝑛𝑡𝑟𝑜</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nary>
                            <m:naryPr>
                              <m:chr m:val="∑"/>
                              <m:limLoc m:val="undOvr"/>
                              <m:ctrlPr>
                                <a:rPr lang="es-CR" i="1">
                                  <a:latin typeface="Cambria Math"/>
                                </a:rPr>
                              </m:ctrlPr>
                            </m:naryPr>
                            <m:sub>
                              <m:r>
                                <a:rPr lang="es-CR" i="1">
                                  <a:latin typeface="Cambria Math" panose="02040503050406030204" pitchFamily="18" charset="0"/>
                                </a:rPr>
                                <m:t>𝑖</m:t>
                              </m:r>
                              <m:r>
                                <a:rPr lang="es-CR" i="1">
                                  <a:latin typeface="Cambria Math" panose="02040503050406030204" pitchFamily="18" charset="0"/>
                                </a:rPr>
                                <m:t>=1</m:t>
                              </m:r>
                            </m:sub>
                            <m:sup>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up>
                            <m:e>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r>
                                        <a:rPr lang="es-CR" i="1">
                                          <a:latin typeface="Cambria Math" panose="02040503050406030204" pitchFamily="18" charset="0"/>
                                        </a:rPr>
                                        <m:t>𝑥</m:t>
                                      </m:r>
                                    </m:e>
                                    <m:sub>
                                      <m:r>
                                        <a:rPr lang="es-CR" i="1">
                                          <a:latin typeface="Cambria Math" panose="02040503050406030204" pitchFamily="18" charset="0"/>
                                        </a:rPr>
                                        <m:t>𝑖𝑗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e>
                                <m:sup>
                                  <m:r>
                                    <a:rPr lang="es-CR" i="1">
                                      <a:latin typeface="Cambria Math" panose="02040503050406030204" pitchFamily="18" charset="0"/>
                                    </a:rPr>
                                    <m:t>2</m:t>
                                  </m:r>
                                </m:sup>
                              </m:sSup>
                            </m:e>
                          </m:nary>
                        </m:e>
                      </m:nary>
                    </m:oMath>
                  </m:oMathPara>
                </a14:m>
                <a:endParaRPr lang="es-CR" dirty="0"/>
              </a:p>
            </p:txBody>
          </p:sp>
        </mc:Choice>
        <mc:Fallback xmlns="">
          <p:sp>
            <p:nvSpPr>
              <p:cNvPr id="6" name="5 Rectángulo"/>
              <p:cNvSpPr>
                <a:spLocks noRot="1" noChangeAspect="1" noMove="1" noResize="1" noEditPoints="1" noAdjustHandles="1" noChangeArrowheads="1" noChangeShapeType="1" noTextEdit="1"/>
              </p:cNvSpPr>
              <p:nvPr/>
            </p:nvSpPr>
            <p:spPr>
              <a:xfrm>
                <a:off x="7686633" y="4379416"/>
                <a:ext cx="3069430" cy="917431"/>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33917034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261772" y="1260474"/>
                <a:ext cx="8488528" cy="5436761"/>
              </a:xfrm>
            </p:spPr>
            <p:txBody>
              <a:bodyPr>
                <a:normAutofit/>
              </a:bodyPr>
              <a:lstStyle/>
              <a:p>
                <a:pPr algn="just"/>
                <a:r>
                  <a:rPr lang="es-CR" sz="2400" dirty="0"/>
                  <a:t>Para obtener el segundo </a:t>
                </a:r>
                <a:r>
                  <a:rPr lang="es-CR" sz="2400" dirty="0" smtClean="0"/>
                  <a:t>componente de </a:t>
                </a:r>
                <a:r>
                  <a:rPr lang="es-CR" sz="2400" dirty="0"/>
                  <a:t>la suma total de cuadrados, se calcula para cada grupo la </a:t>
                </a:r>
                <a:r>
                  <a:rPr lang="es-CR" sz="2400" dirty="0" smtClean="0"/>
                  <a:t>desviación al cuadrado </a:t>
                </a:r>
                <a:r>
                  <a:rPr lang="es-CR" sz="2400" dirty="0"/>
                  <a:t>de la media del grupo a partir de la gran media, y se multiplica el </a:t>
                </a:r>
                <a:r>
                  <a:rPr lang="es-CR" sz="2400" dirty="0" smtClean="0"/>
                  <a:t>resultado por </a:t>
                </a:r>
                <a:r>
                  <a:rPr lang="es-CR" sz="2400" dirty="0"/>
                  <a:t>el </a:t>
                </a:r>
                <a:r>
                  <a:rPr lang="es-CR" sz="2400" dirty="0" smtClean="0"/>
                  <a:t>tamaño </a:t>
                </a:r>
                <a:r>
                  <a:rPr lang="es-CR" sz="2400" dirty="0"/>
                  <a:t>del grupo</a:t>
                </a:r>
                <a:r>
                  <a:rPr lang="es-CR" sz="2400" dirty="0" smtClean="0"/>
                  <a:t>.</a:t>
                </a:r>
              </a:p>
              <a:p>
                <a:pPr algn="just"/>
                <a:endParaRPr lang="es-CR" sz="2400" dirty="0"/>
              </a:p>
              <a:p>
                <a:pPr algn="just"/>
                <a:r>
                  <a:rPr lang="es-CR" sz="2400" dirty="0"/>
                  <a:t>Finalmente, se suman los resultados de todos </a:t>
                </a:r>
                <a:r>
                  <a:rPr lang="es-CR" sz="2400" dirty="0" smtClean="0"/>
                  <a:t>los grupos.</a:t>
                </a:r>
              </a:p>
              <a:p>
                <a:pPr algn="just"/>
                <a:endParaRPr lang="es-CR" sz="2400" dirty="0"/>
              </a:p>
              <a:p>
                <a:pPr algn="just"/>
                <a:r>
                  <a:rPr lang="es-CR" sz="2400" dirty="0" smtClean="0"/>
                  <a:t>La suma de cuadraros entre los grupos (</a:t>
                </a:r>
                <a14:m>
                  <m:oMath xmlns:m="http://schemas.openxmlformats.org/officeDocument/2006/math">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oMath>
                </a14:m>
                <a:r>
                  <a:rPr lang="es-CR" sz="2400" dirty="0" smtClean="0"/>
                  <a:t>) es una medida de la variación entre los grupos y se expresa matemáticamente como:</a:t>
                </a:r>
              </a:p>
              <a:p>
                <a:pPr algn="just"/>
                <a:endParaRPr lang="es-CR" sz="2400" dirty="0"/>
              </a:p>
              <a:p>
                <a:pPr marL="0" indent="0">
                  <a:buNone/>
                </a:pPr>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261772" y="1260474"/>
                <a:ext cx="8488528" cy="5436761"/>
              </a:xfrm>
              <a:blipFill rotWithShape="1">
                <a:blip r:embed="rId2"/>
                <a:stretch>
                  <a:fillRect l="-1006" t="-1570" r="-1078"/>
                </a:stretch>
              </a:blipFill>
            </p:spPr>
            <p:txBody>
              <a:bodyPr/>
              <a:lstStyle/>
              <a:p>
                <a:r>
                  <a:rPr lang="es-CR">
                    <a:noFill/>
                  </a:rPr>
                  <a:t> </a:t>
                </a:r>
              </a:p>
            </p:txBody>
          </p:sp>
        </mc:Fallback>
      </mc:AlternateContent>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3539086" y="5479010"/>
                <a:ext cx="281949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𝑒𝑛𝑡𝑟𝑒</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sub>
                              </m:sSub>
                              <m:r>
                                <a:rPr lang="es-CR" i="1">
                                  <a:latin typeface="Cambria Math" panose="02040503050406030204" pitchFamily="18" charset="0"/>
                                </a:rPr>
                                <m:t>)</m:t>
                              </m:r>
                            </m:e>
                            <m:sup>
                              <m:r>
                                <a:rPr lang="es-CR" i="1">
                                  <a:latin typeface="Cambria Math" panose="02040503050406030204" pitchFamily="18" charset="0"/>
                                </a:rPr>
                                <m:t>2</m:t>
                              </m:r>
                            </m:sup>
                          </m:sSup>
                        </m:e>
                      </m:nary>
                    </m:oMath>
                  </m:oMathPara>
                </a14:m>
                <a:endParaRPr lang="es-CR" dirty="0"/>
              </a:p>
            </p:txBody>
          </p:sp>
        </mc:Choice>
        <mc:Fallback xmlns="">
          <p:sp>
            <p:nvSpPr>
              <p:cNvPr id="5" name="4 Rectángulo"/>
              <p:cNvSpPr>
                <a:spLocks noRot="1" noChangeAspect="1" noMove="1" noResize="1" noEditPoints="1" noAdjustHandles="1" noChangeArrowheads="1" noChangeShapeType="1" noTextEdit="1"/>
              </p:cNvSpPr>
              <p:nvPr/>
            </p:nvSpPr>
            <p:spPr>
              <a:xfrm>
                <a:off x="3539086" y="5479010"/>
                <a:ext cx="2819490" cy="917431"/>
              </a:xfrm>
              <a:prstGeom prst="rect">
                <a:avLst/>
              </a:prstGeom>
              <a:blipFill rotWithShape="1">
                <a:blip r:embed="rId3"/>
                <a:stretch>
                  <a:fillRect/>
                </a:stretch>
              </a:blipFill>
            </p:spPr>
            <p:txBody>
              <a:bodyPr/>
              <a:lstStyle/>
              <a:p>
                <a:r>
                  <a:rPr lang="es-CR">
                    <a:noFill/>
                  </a:rPr>
                  <a:t> </a:t>
                </a:r>
              </a:p>
            </p:txBody>
          </p:sp>
        </mc:Fallback>
      </mc:AlternateContent>
      <p:pic>
        <p:nvPicPr>
          <p:cNvPr id="29698" name="Picture 2" descr="http://apcentral.collegeboard.com/apc/public/repository/bress20_9137.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1280" y="1483017"/>
            <a:ext cx="2957520" cy="4454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118430"/>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607300" y="1825625"/>
            <a:ext cx="3746500" cy="4351338"/>
          </a:xfrm>
        </p:spPr>
        <p:txBody>
          <a:bodyPr/>
          <a:lstStyle/>
          <a:p>
            <a:pPr marL="0" indent="0" algn="ctr">
              <a:buNone/>
            </a:pPr>
            <a:r>
              <a:rPr lang="es-CR" dirty="0" smtClean="0"/>
              <a:t>¿Como se calcula la</a:t>
            </a:r>
            <a:r>
              <a:rPr lang="es-CR" b="1" dirty="0" smtClean="0">
                <a:latin typeface="Times New Roman" panose="02020603050405020304" pitchFamily="18" charset="0"/>
                <a:cs typeface="Times New Roman" panose="02020603050405020304" pitchFamily="18" charset="0"/>
              </a:rPr>
              <a:t>  suma de cuadrados entre los tratamientos</a:t>
            </a:r>
            <a:r>
              <a:rPr lang="es-CR" dirty="0" smtClean="0"/>
              <a:t> ?</a:t>
            </a:r>
            <a:endParaRPr lang="es-CR" dirty="0"/>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graphicFrame>
        <p:nvGraphicFramePr>
          <p:cNvPr id="8" name="7 Tabla"/>
          <p:cNvGraphicFramePr>
            <a:graphicFrameLocks noGrp="1"/>
          </p:cNvGraphicFramePr>
          <p:nvPr>
            <p:extLst>
              <p:ext uri="{D42A27DB-BD31-4B8C-83A1-F6EECF244321}">
                <p14:modId xmlns:p14="http://schemas.microsoft.com/office/powerpoint/2010/main" val="3749238332"/>
              </p:ext>
            </p:extLst>
          </p:nvPr>
        </p:nvGraphicFramePr>
        <p:xfrm>
          <a:off x="660400" y="1333498"/>
          <a:ext cx="6045200" cy="4618044"/>
        </p:xfrm>
        <a:graphic>
          <a:graphicData uri="http://schemas.openxmlformats.org/drawingml/2006/table">
            <a:tbl>
              <a:tblPr>
                <a:tableStyleId>{5C22544A-7EE6-4342-B048-85BDC9FD1C3A}</a:tableStyleId>
              </a:tblPr>
              <a:tblGrid>
                <a:gridCol w="947120"/>
                <a:gridCol w="1403036"/>
                <a:gridCol w="1215608"/>
                <a:gridCol w="1567394"/>
                <a:gridCol w="912042"/>
              </a:tblGrid>
              <a:tr h="513116">
                <a:tc>
                  <a:txBody>
                    <a:bodyPr/>
                    <a:lstStyle/>
                    <a:p>
                      <a:pPr algn="ctr" fontAlgn="b"/>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1</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2</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 Tratamiento 3</a:t>
                      </a:r>
                      <a:endParaRPr lang="es-CR" sz="1600" b="1" i="0" u="sng"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a:effectLst/>
                        </a:rPr>
                        <a:t>22</a:t>
                      </a:r>
                      <a:endParaRPr lang="es-CR" sz="1600" b="0" i="0" u="none" strike="noStrike">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24</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6</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16</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26</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8</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18</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28</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30</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b="1" i="0" u="none" strike="noStrike" dirty="0" smtClean="0">
                          <a:effectLst/>
                        </a:rPr>
                        <a:t>General</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Promedio</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Total</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a:t>
                      </a:r>
                      <a:endParaRPr lang="es-CR" sz="1600" b="1" i="0" u="none" strike="noStrike" dirty="0">
                        <a:solidFill>
                          <a:srgbClr val="000000"/>
                        </a:solidFill>
                        <a:effectLst/>
                        <a:latin typeface="Calibri"/>
                      </a:endParaRPr>
                    </a:p>
                  </a:txBody>
                  <a:tcPr marL="9525" marR="9525" marT="9525" marB="0" anchor="b"/>
                </a:tc>
              </a:tr>
            </a:tbl>
          </a:graphicData>
        </a:graphic>
      </p:graphicFrame>
      <mc:AlternateContent xmlns:mc="http://schemas.openxmlformats.org/markup-compatibility/2006" xmlns:a14="http://schemas.microsoft.com/office/drawing/2010/main">
        <mc:Choice Requires="a14">
          <p:sp>
            <p:nvSpPr>
              <p:cNvPr id="7" name="6 Rectángulo"/>
              <p:cNvSpPr/>
              <p:nvPr/>
            </p:nvSpPr>
            <p:spPr>
              <a:xfrm>
                <a:off x="8022186" y="4005810"/>
                <a:ext cx="281949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𝑒𝑛𝑡𝑟𝑒</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sub>
                              </m:sSub>
                              <m:r>
                                <a:rPr lang="es-CR" i="1">
                                  <a:latin typeface="Cambria Math" panose="02040503050406030204" pitchFamily="18" charset="0"/>
                                </a:rPr>
                                <m:t>)</m:t>
                              </m:r>
                            </m:e>
                            <m:sup>
                              <m:r>
                                <a:rPr lang="es-CR" i="1">
                                  <a:latin typeface="Cambria Math" panose="02040503050406030204" pitchFamily="18" charset="0"/>
                                </a:rPr>
                                <m:t>2</m:t>
                              </m:r>
                            </m:sup>
                          </m:sSup>
                        </m:e>
                      </m:nary>
                    </m:oMath>
                  </m:oMathPara>
                </a14:m>
                <a:endParaRPr lang="es-CR" dirty="0"/>
              </a:p>
            </p:txBody>
          </p:sp>
        </mc:Choice>
        <mc:Fallback xmlns="">
          <p:sp>
            <p:nvSpPr>
              <p:cNvPr id="7" name="6 Rectángulo"/>
              <p:cNvSpPr>
                <a:spLocks noRot="1" noChangeAspect="1" noMove="1" noResize="1" noEditPoints="1" noAdjustHandles="1" noChangeArrowheads="1" noChangeShapeType="1" noTextEdit="1"/>
              </p:cNvSpPr>
              <p:nvPr/>
            </p:nvSpPr>
            <p:spPr>
              <a:xfrm>
                <a:off x="8022186" y="4005810"/>
                <a:ext cx="2819490" cy="917431"/>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34206241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142165" y="1160362"/>
                <a:ext cx="8163635" cy="5339450"/>
              </a:xfrm>
            </p:spPr>
            <p:txBody>
              <a:bodyPr>
                <a:normAutofit/>
              </a:bodyPr>
              <a:lstStyle/>
              <a:p>
                <a:pPr algn="just"/>
                <a:r>
                  <a:rPr lang="es-CR" sz="2400" dirty="0"/>
                  <a:t>P</a:t>
                </a:r>
                <a:r>
                  <a:rPr lang="es-CR" sz="2400" dirty="0" smtClean="0"/>
                  <a:t>ara </a:t>
                </a:r>
                <a:r>
                  <a:rPr lang="es-CR" sz="2400" dirty="0"/>
                  <a:t>resumir, se encuentra que la suma total de cuadrados es </a:t>
                </a:r>
                <a:r>
                  <a:rPr lang="es-CR" sz="2400" dirty="0" smtClean="0"/>
                  <a:t>igual a la </a:t>
                </a:r>
                <a:r>
                  <a:rPr lang="es-CR" sz="2400" dirty="0"/>
                  <a:t>suma de cuadrados entre los grupos mas la suma de los cuadrados dentro de </a:t>
                </a:r>
                <a:r>
                  <a:rPr lang="es-CR" sz="2400" dirty="0" smtClean="0"/>
                  <a:t>los grupos</a:t>
                </a:r>
                <a:r>
                  <a:rPr lang="es-CR" sz="2400" dirty="0"/>
                  <a:t>. Esta </a:t>
                </a:r>
                <a:r>
                  <a:rPr lang="es-CR" sz="2400" dirty="0" smtClean="0"/>
                  <a:t>relación </a:t>
                </a:r>
                <a:r>
                  <a:rPr lang="es-CR" sz="2400" dirty="0"/>
                  <a:t>se expresa </a:t>
                </a:r>
                <a:r>
                  <a:rPr lang="es-CR" sz="2400" dirty="0" smtClean="0"/>
                  <a:t>como:</a:t>
                </a:r>
              </a:p>
              <a:p>
                <a:endParaRPr lang="es-CR" sz="2400" dirty="0"/>
              </a:p>
              <a:p>
                <a:endParaRPr lang="es-CR" sz="2400" dirty="0" smtClean="0"/>
              </a:p>
              <a:p>
                <a:endParaRPr lang="es-CR" sz="2400" dirty="0"/>
              </a:p>
              <a:p>
                <a:endParaRPr lang="es-CR" sz="2400" dirty="0" smtClean="0"/>
              </a:p>
              <a:p>
                <a:endParaRPr lang="es-CR" sz="2400" dirty="0"/>
              </a:p>
              <a:p>
                <a:endParaRPr lang="es-CR" sz="2400" dirty="0" smtClean="0"/>
              </a:p>
              <a:p>
                <a:r>
                  <a:rPr lang="es-CR" sz="2400" dirty="0"/>
                  <a:t>Con la suma de cuadrados, </a:t>
                </a:r>
                <a:r>
                  <a:rPr lang="es-CR" sz="2400" dirty="0" smtClean="0"/>
                  <a:t>es </a:t>
                </a:r>
                <a:r>
                  <a:rPr lang="es-CR" sz="2400" dirty="0"/>
                  <a:t>posible calcular dos estimaciones </a:t>
                </a:r>
                <a:r>
                  <a:rPr lang="es-CR" sz="2400" dirty="0" smtClean="0"/>
                  <a:t>de la </a:t>
                </a:r>
                <a:r>
                  <a:rPr lang="es-CR" sz="2400" dirty="0"/>
                  <a:t>variancia </a:t>
                </a:r>
                <a:r>
                  <a:rPr lang="es-CR" sz="2400" dirty="0" smtClean="0"/>
                  <a:t>común </a:t>
                </a:r>
                <a:r>
                  <a:rPr lang="es-CR" sz="2400" dirty="0"/>
                  <a:t>de la </a:t>
                </a:r>
                <a:r>
                  <a:rPr lang="es-CR" sz="2400" dirty="0" smtClean="0"/>
                  <a:t>población, </a:t>
                </a:r>
                <a14:m>
                  <m:oMath xmlns:m="http://schemas.openxmlformats.org/officeDocument/2006/math">
                    <m:sSup>
                      <m:sSupPr>
                        <m:ctrlPr>
                          <a:rPr lang="es-CR" sz="2400" i="1">
                            <a:latin typeface="Cambria Math"/>
                          </a:rPr>
                        </m:ctrlPr>
                      </m:sSupPr>
                      <m:e>
                        <m:r>
                          <a:rPr lang="es-CR" sz="2400" i="1">
                            <a:latin typeface="Cambria Math" panose="02040503050406030204" pitchFamily="18" charset="0"/>
                          </a:rPr>
                          <m:t>𝜎</m:t>
                        </m:r>
                      </m:e>
                      <m:sup>
                        <m:r>
                          <a:rPr lang="es-CR" sz="2400" i="1">
                            <a:latin typeface="Cambria Math" panose="02040503050406030204" pitchFamily="18" charset="0"/>
                          </a:rPr>
                          <m:t>2</m:t>
                        </m:r>
                      </m:sup>
                    </m:sSup>
                  </m:oMath>
                </a14:m>
                <a:r>
                  <a:rPr lang="es-CR" sz="2400" dirty="0" smtClean="0"/>
                  <a:t>.</a:t>
                </a:r>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142165" y="1160362"/>
                <a:ext cx="8163635" cy="5339450"/>
              </a:xfrm>
              <a:blipFill rotWithShape="1">
                <a:blip r:embed="rId3"/>
                <a:stretch>
                  <a:fillRect l="-970" t="-1598" r="-1119"/>
                </a:stretch>
              </a:blipFill>
            </p:spPr>
            <p:txBody>
              <a:bodyPr/>
              <a:lstStyle/>
              <a:p>
                <a:r>
                  <a:rPr lang="es-CR">
                    <a:noFill/>
                  </a:rPr>
                  <a:t> </a:t>
                </a:r>
              </a:p>
            </p:txBody>
          </p:sp>
        </mc:Fallback>
      </mc:AlternateContent>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843848" y="2567545"/>
                <a:ext cx="8341094"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b="0" i="1" smtClean="0">
                          <a:latin typeface="Cambria Math"/>
                        </a:rPr>
                        <m:t>          </m:t>
                      </m:r>
                      <m:r>
                        <a:rPr lang="es-CR" sz="2400" i="1">
                          <a:latin typeface="Cambria Math"/>
                        </a:rPr>
                        <m:t>=</m:t>
                      </m:r>
                      <m:r>
                        <a:rPr lang="es-CR" sz="2400" b="0" i="1" smtClean="0">
                          <a:latin typeface="Cambria Math"/>
                        </a:rPr>
                        <m:t>           </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b="0" i="1" smtClean="0">
                          <a:latin typeface="Cambria Math"/>
                        </a:rPr>
                        <m:t>           </m:t>
                      </m:r>
                      <m:r>
                        <a:rPr lang="es-CR" sz="2400" i="1">
                          <a:latin typeface="Cambria Math"/>
                        </a:rPr>
                        <m:t>+</m:t>
                      </m:r>
                      <m:r>
                        <a:rPr lang="es-CR" sz="2400" b="0" i="1" smtClean="0">
                          <a:latin typeface="Cambria Math"/>
                        </a:rPr>
                        <m:t>         </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843848" y="2567545"/>
                <a:ext cx="8341094" cy="461665"/>
              </a:xfrm>
              <a:prstGeom prst="rect">
                <a:avLst/>
              </a:prstGeom>
              <a:blipFill rotWithShape="1">
                <a:blip r:embed="rId4"/>
                <a:stretch>
                  <a:fillRect l="-146" b="-1316"/>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5 Rectángulo"/>
              <p:cNvSpPr/>
              <p:nvPr/>
            </p:nvSpPr>
            <p:spPr>
              <a:xfrm>
                <a:off x="242545" y="3379703"/>
                <a:ext cx="8586797" cy="119250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nary>
                        <m:naryPr>
                          <m:chr m:val="∑"/>
                          <m:limLoc m:val="undOvr"/>
                          <m:ctrlPr>
                            <a:rPr lang="es-CR" sz="2400" i="1">
                              <a:latin typeface="Cambria Math"/>
                            </a:rPr>
                          </m:ctrlPr>
                        </m:naryPr>
                        <m:sub>
                          <m:r>
                            <a:rPr lang="es-CR" sz="2400" i="1">
                              <a:latin typeface="Cambria Math" panose="02040503050406030204" pitchFamily="18" charset="0"/>
                            </a:rPr>
                            <m:t>𝑗</m:t>
                          </m:r>
                          <m:r>
                            <a:rPr lang="es-CR" sz="2400" i="1">
                              <a:latin typeface="Cambria Math" panose="02040503050406030204" pitchFamily="18" charset="0"/>
                            </a:rPr>
                            <m:t>=1</m:t>
                          </m:r>
                        </m:sub>
                        <m:sup>
                          <m:r>
                            <a:rPr lang="es-CR" sz="2400" i="1">
                              <a:latin typeface="Cambria Math" panose="02040503050406030204" pitchFamily="18" charset="0"/>
                            </a:rPr>
                            <m:t>𝑘</m:t>
                          </m:r>
                        </m:sup>
                        <m:e>
                          <m:nary>
                            <m:naryPr>
                              <m:chr m:val="∑"/>
                              <m:limLoc m:val="undOvr"/>
                              <m:ctrlPr>
                                <a:rPr lang="es-CR" sz="2400" i="1">
                                  <a:latin typeface="Cambria Math"/>
                                </a:rPr>
                              </m:ctrlPr>
                            </m:naryPr>
                            <m:sub>
                              <m:r>
                                <a:rPr lang="es-CR" sz="2400" i="1">
                                  <a:latin typeface="Cambria Math" panose="02040503050406030204" pitchFamily="18" charset="0"/>
                                </a:rPr>
                                <m:t>𝑖</m:t>
                              </m:r>
                              <m:r>
                                <a:rPr lang="es-CR" sz="2400" i="1">
                                  <a:latin typeface="Cambria Math" panose="02040503050406030204" pitchFamily="18" charset="0"/>
                                </a:rPr>
                                <m:t>=1</m:t>
                              </m:r>
                            </m:sub>
                            <m:sup>
                              <m:sSub>
                                <m:sSubPr>
                                  <m:ctrlPr>
                                    <a:rPr lang="es-CR" sz="2400" i="1">
                                      <a:latin typeface="Cambria Math"/>
                                    </a:rPr>
                                  </m:ctrlPr>
                                </m:sSubPr>
                                <m:e>
                                  <m:r>
                                    <a:rPr lang="es-CR" sz="2400" i="1">
                                      <a:latin typeface="Cambria Math" panose="02040503050406030204" pitchFamily="18" charset="0"/>
                                    </a:rPr>
                                    <m:t>𝑛</m:t>
                                  </m:r>
                                </m:e>
                                <m:sub>
                                  <m:r>
                                    <a:rPr lang="es-CR" sz="2400" i="1">
                                      <a:latin typeface="Cambria Math" panose="02040503050406030204" pitchFamily="18" charset="0"/>
                                    </a:rPr>
                                    <m:t>𝑗</m:t>
                                  </m:r>
                                </m:sub>
                              </m:sSub>
                            </m:sup>
                            <m:e>
                              <m:sSup>
                                <m:sSupPr>
                                  <m:ctrlPr>
                                    <a:rPr lang="es-CR" sz="2400" i="1">
                                      <a:latin typeface="Cambria Math"/>
                                    </a:rPr>
                                  </m:ctrlPr>
                                </m:sSupPr>
                                <m:e>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𝑥</m:t>
                                      </m:r>
                                    </m:e>
                                    <m:sub>
                                      <m:r>
                                        <a:rPr lang="es-CR" sz="2400" i="1">
                                          <a:latin typeface="Cambria Math" panose="02040503050406030204" pitchFamily="18" charset="0"/>
                                        </a:rPr>
                                        <m:t>𝑖𝑗</m:t>
                                      </m:r>
                                    </m:sub>
                                  </m:sSub>
                                  <m:r>
                                    <a:rPr lang="es-CR" sz="2400" i="1">
                                      <a:latin typeface="Cambria Math" panose="02040503050406030204" pitchFamily="18" charset="0"/>
                                    </a:rPr>
                                    <m:t>−</m:t>
                                  </m:r>
                                  <m:acc>
                                    <m:accPr>
                                      <m:chr m:val="̅"/>
                                      <m:ctrlPr>
                                        <a:rPr lang="es-CR" sz="2400" i="1">
                                          <a:latin typeface="Cambria Math"/>
                                        </a:rPr>
                                      </m:ctrlPr>
                                    </m:accPr>
                                    <m:e>
                                      <m:sSub>
                                        <m:sSubPr>
                                          <m:ctrlPr>
                                            <a:rPr lang="es-CR" sz="2400" i="1">
                                              <a:latin typeface="Cambria Math"/>
                                            </a:rPr>
                                          </m:ctrlPr>
                                        </m:sSubPr>
                                        <m:e>
                                          <m:r>
                                            <a:rPr lang="es-CR" sz="2400" i="1">
                                              <a:latin typeface="Cambria Math" panose="02040503050406030204" pitchFamily="18" charset="0"/>
                                            </a:rPr>
                                            <m:t>𝑥</m:t>
                                          </m:r>
                                        </m:e>
                                        <m:sub>
                                          <m:r>
                                            <a:rPr lang="es-CR" sz="2400" i="1">
                                              <a:latin typeface="Cambria Math" panose="02040503050406030204" pitchFamily="18" charset="0"/>
                                            </a:rPr>
                                            <m:t>..</m:t>
                                          </m:r>
                                        </m:sub>
                                      </m:sSub>
                                    </m:e>
                                  </m:acc>
                                  <m:r>
                                    <a:rPr lang="es-CR" sz="2400" i="1">
                                      <a:latin typeface="Cambria Math" panose="02040503050406030204" pitchFamily="18" charset="0"/>
                                    </a:rPr>
                                    <m:t>)</m:t>
                                  </m:r>
                                </m:e>
                                <m:sup>
                                  <m:r>
                                    <a:rPr lang="es-CR" sz="2400" i="1">
                                      <a:latin typeface="Cambria Math" panose="02040503050406030204" pitchFamily="18" charset="0"/>
                                    </a:rPr>
                                    <m:t>2</m:t>
                                  </m:r>
                                </m:sup>
                              </m:sSup>
                            </m:e>
                          </m:nary>
                        </m:e>
                      </m:nary>
                      <m:r>
                        <a:rPr lang="es-CR" sz="2400" i="1">
                          <a:latin typeface="Cambria Math" panose="02040503050406030204" pitchFamily="18" charset="0"/>
                        </a:rPr>
                        <m:t>= </m:t>
                      </m:r>
                      <m:nary>
                        <m:naryPr>
                          <m:chr m:val="∑"/>
                          <m:limLoc m:val="undOvr"/>
                          <m:ctrlPr>
                            <a:rPr lang="es-CR" sz="2400" i="1">
                              <a:latin typeface="Cambria Math"/>
                            </a:rPr>
                          </m:ctrlPr>
                        </m:naryPr>
                        <m:sub>
                          <m:r>
                            <a:rPr lang="es-CR" sz="2400" i="1">
                              <a:latin typeface="Cambria Math" panose="02040503050406030204" pitchFamily="18" charset="0"/>
                            </a:rPr>
                            <m:t>𝑗</m:t>
                          </m:r>
                          <m:r>
                            <a:rPr lang="es-CR" sz="2400" i="1">
                              <a:latin typeface="Cambria Math" panose="02040503050406030204" pitchFamily="18" charset="0"/>
                            </a:rPr>
                            <m:t>=1</m:t>
                          </m:r>
                        </m:sub>
                        <m:sup>
                          <m:r>
                            <a:rPr lang="es-CR" sz="2400" i="1">
                              <a:latin typeface="Cambria Math" panose="02040503050406030204" pitchFamily="18" charset="0"/>
                            </a:rPr>
                            <m:t>𝑘</m:t>
                          </m:r>
                        </m:sup>
                        <m:e>
                          <m:nary>
                            <m:naryPr>
                              <m:chr m:val="∑"/>
                              <m:limLoc m:val="undOvr"/>
                              <m:ctrlPr>
                                <a:rPr lang="es-CR" sz="2400" i="1">
                                  <a:latin typeface="Cambria Math"/>
                                </a:rPr>
                              </m:ctrlPr>
                            </m:naryPr>
                            <m:sub>
                              <m:r>
                                <a:rPr lang="es-CR" sz="2400" i="1">
                                  <a:latin typeface="Cambria Math" panose="02040503050406030204" pitchFamily="18" charset="0"/>
                                </a:rPr>
                                <m:t>𝑖</m:t>
                              </m:r>
                              <m:r>
                                <a:rPr lang="es-CR" sz="2400" i="1">
                                  <a:latin typeface="Cambria Math" panose="02040503050406030204" pitchFamily="18" charset="0"/>
                                </a:rPr>
                                <m:t>=1</m:t>
                              </m:r>
                            </m:sub>
                            <m:sup>
                              <m:sSub>
                                <m:sSubPr>
                                  <m:ctrlPr>
                                    <a:rPr lang="es-CR" sz="2400" i="1">
                                      <a:latin typeface="Cambria Math"/>
                                    </a:rPr>
                                  </m:ctrlPr>
                                </m:sSubPr>
                                <m:e>
                                  <m:r>
                                    <a:rPr lang="es-CR" sz="2400" i="1">
                                      <a:latin typeface="Cambria Math" panose="02040503050406030204" pitchFamily="18" charset="0"/>
                                    </a:rPr>
                                    <m:t>𝑛</m:t>
                                  </m:r>
                                </m:e>
                                <m:sub>
                                  <m:r>
                                    <a:rPr lang="es-CR" sz="2400" i="1">
                                      <a:latin typeface="Cambria Math" panose="02040503050406030204" pitchFamily="18" charset="0"/>
                                    </a:rPr>
                                    <m:t>𝑗</m:t>
                                  </m:r>
                                </m:sub>
                              </m:sSub>
                            </m:sup>
                            <m:e>
                              <m:sSup>
                                <m:sSupPr>
                                  <m:ctrlPr>
                                    <a:rPr lang="es-CR" sz="2400" i="1">
                                      <a:latin typeface="Cambria Math"/>
                                    </a:rPr>
                                  </m:ctrlPr>
                                </m:sSupPr>
                                <m:e>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𝑥</m:t>
                                      </m:r>
                                    </m:e>
                                    <m:sub>
                                      <m:r>
                                        <a:rPr lang="es-CR" sz="2400" i="1">
                                          <a:latin typeface="Cambria Math" panose="02040503050406030204" pitchFamily="18" charset="0"/>
                                        </a:rPr>
                                        <m:t>𝑖𝑗</m:t>
                                      </m:r>
                                    </m:sub>
                                  </m:sSub>
                                  <m:r>
                                    <a:rPr lang="es-CR" sz="2400" i="1">
                                      <a:latin typeface="Cambria Math" panose="02040503050406030204" pitchFamily="18" charset="0"/>
                                    </a:rPr>
                                    <m:t>−</m:t>
                                  </m:r>
                                  <m:sSub>
                                    <m:sSubPr>
                                      <m:ctrlPr>
                                        <a:rPr lang="es-CR" sz="2400" i="1">
                                          <a:latin typeface="Cambria Math"/>
                                        </a:rPr>
                                      </m:ctrlPr>
                                    </m:sSubPr>
                                    <m:e>
                                      <m:acc>
                                        <m:accPr>
                                          <m:chr m:val="̅"/>
                                          <m:ctrlPr>
                                            <a:rPr lang="es-CR" sz="2400" i="1">
                                              <a:latin typeface="Cambria Math"/>
                                            </a:rPr>
                                          </m:ctrlPr>
                                        </m:accPr>
                                        <m:e>
                                          <m:r>
                                            <a:rPr lang="es-CR" sz="2400" i="1">
                                              <a:latin typeface="Cambria Math" panose="02040503050406030204" pitchFamily="18" charset="0"/>
                                            </a:rPr>
                                            <m:t>𝑥</m:t>
                                          </m:r>
                                        </m:e>
                                      </m:acc>
                                    </m:e>
                                    <m:sub>
                                      <m:r>
                                        <a:rPr lang="es-CR" sz="2400" i="1">
                                          <a:latin typeface="Cambria Math" panose="02040503050406030204" pitchFamily="18" charset="0"/>
                                        </a:rPr>
                                        <m:t>.</m:t>
                                      </m:r>
                                      <m:r>
                                        <a:rPr lang="es-CR" sz="2400" i="1">
                                          <a:latin typeface="Cambria Math" panose="02040503050406030204" pitchFamily="18" charset="0"/>
                                        </a:rPr>
                                        <m:t>𝑗</m:t>
                                      </m:r>
                                    </m:sub>
                                  </m:sSub>
                                  <m:r>
                                    <a:rPr lang="es-CR" sz="2400" i="1">
                                      <a:latin typeface="Cambria Math" panose="02040503050406030204" pitchFamily="18" charset="0"/>
                                    </a:rPr>
                                    <m:t>)</m:t>
                                  </m:r>
                                </m:e>
                                <m:sup>
                                  <m:r>
                                    <a:rPr lang="es-CR" sz="2400" i="1">
                                      <a:latin typeface="Cambria Math" panose="02040503050406030204" pitchFamily="18" charset="0"/>
                                    </a:rPr>
                                    <m:t>2</m:t>
                                  </m:r>
                                </m:sup>
                              </m:sSup>
                            </m:e>
                          </m:nary>
                        </m:e>
                      </m:nary>
                      <m:r>
                        <a:rPr lang="es-CR" sz="2400" i="1">
                          <a:latin typeface="Cambria Math" panose="02040503050406030204" pitchFamily="18" charset="0"/>
                        </a:rPr>
                        <m:t>+ </m:t>
                      </m:r>
                      <m:nary>
                        <m:naryPr>
                          <m:chr m:val="∑"/>
                          <m:limLoc m:val="undOvr"/>
                          <m:ctrlPr>
                            <a:rPr lang="es-CR" sz="2400" i="1">
                              <a:latin typeface="Cambria Math"/>
                            </a:rPr>
                          </m:ctrlPr>
                        </m:naryPr>
                        <m:sub>
                          <m:r>
                            <a:rPr lang="es-CR" sz="2400" i="1">
                              <a:latin typeface="Cambria Math" panose="02040503050406030204" pitchFamily="18" charset="0"/>
                            </a:rPr>
                            <m:t>𝑗</m:t>
                          </m:r>
                          <m:r>
                            <a:rPr lang="es-CR" sz="2400" i="1">
                              <a:latin typeface="Cambria Math" panose="02040503050406030204" pitchFamily="18" charset="0"/>
                            </a:rPr>
                            <m:t>=1</m:t>
                          </m:r>
                        </m:sub>
                        <m:sup>
                          <m:r>
                            <a:rPr lang="es-CR" sz="2400" i="1">
                              <a:latin typeface="Cambria Math" panose="02040503050406030204" pitchFamily="18" charset="0"/>
                            </a:rPr>
                            <m:t>𝑘</m:t>
                          </m:r>
                        </m:sup>
                        <m:e>
                          <m:sSub>
                            <m:sSubPr>
                              <m:ctrlPr>
                                <a:rPr lang="es-CR" sz="2400" i="1">
                                  <a:latin typeface="Cambria Math"/>
                                </a:rPr>
                              </m:ctrlPr>
                            </m:sSubPr>
                            <m:e>
                              <m:r>
                                <a:rPr lang="es-CR" sz="2400" i="1">
                                  <a:latin typeface="Cambria Math" panose="02040503050406030204" pitchFamily="18" charset="0"/>
                                </a:rPr>
                                <m:t>𝑛</m:t>
                              </m:r>
                            </m:e>
                            <m:sub>
                              <m:r>
                                <a:rPr lang="es-CR" sz="2400" i="1">
                                  <a:latin typeface="Cambria Math" panose="02040503050406030204" pitchFamily="18" charset="0"/>
                                </a:rPr>
                                <m:t>𝑗</m:t>
                              </m:r>
                            </m:sub>
                          </m:sSub>
                          <m:sSup>
                            <m:sSupPr>
                              <m:ctrlPr>
                                <a:rPr lang="es-CR" sz="2400" i="1">
                                  <a:latin typeface="Cambria Math"/>
                                </a:rPr>
                              </m:ctrlPr>
                            </m:sSupPr>
                            <m:e>
                              <m:r>
                                <a:rPr lang="es-CR" sz="2400" i="1">
                                  <a:latin typeface="Cambria Math" panose="02040503050406030204" pitchFamily="18" charset="0"/>
                                </a:rPr>
                                <m:t>(</m:t>
                              </m:r>
                              <m:sSub>
                                <m:sSubPr>
                                  <m:ctrlPr>
                                    <a:rPr lang="es-CR" sz="2400" i="1">
                                      <a:latin typeface="Cambria Math"/>
                                    </a:rPr>
                                  </m:ctrlPr>
                                </m:sSubPr>
                                <m:e>
                                  <m:acc>
                                    <m:accPr>
                                      <m:chr m:val="̅"/>
                                      <m:ctrlPr>
                                        <a:rPr lang="es-CR" sz="2400" i="1">
                                          <a:latin typeface="Cambria Math"/>
                                        </a:rPr>
                                      </m:ctrlPr>
                                    </m:accPr>
                                    <m:e>
                                      <m:r>
                                        <a:rPr lang="es-CR" sz="2400" i="1">
                                          <a:latin typeface="Cambria Math" panose="02040503050406030204" pitchFamily="18" charset="0"/>
                                        </a:rPr>
                                        <m:t>𝑥</m:t>
                                      </m:r>
                                    </m:e>
                                  </m:acc>
                                </m:e>
                                <m:sub>
                                  <m:r>
                                    <a:rPr lang="es-CR" sz="2400" i="1">
                                      <a:latin typeface="Cambria Math" panose="02040503050406030204" pitchFamily="18" charset="0"/>
                                    </a:rPr>
                                    <m:t>.</m:t>
                                  </m:r>
                                  <m:r>
                                    <a:rPr lang="es-CR" sz="2400" i="1">
                                      <a:latin typeface="Cambria Math" panose="02040503050406030204" pitchFamily="18" charset="0"/>
                                    </a:rPr>
                                    <m:t>𝑗</m:t>
                                  </m:r>
                                </m:sub>
                              </m:sSub>
                              <m:r>
                                <a:rPr lang="es-CR" sz="2400" i="1">
                                  <a:latin typeface="Cambria Math" panose="02040503050406030204" pitchFamily="18" charset="0"/>
                                </a:rPr>
                                <m:t>−</m:t>
                              </m:r>
                              <m:sSub>
                                <m:sSubPr>
                                  <m:ctrlPr>
                                    <a:rPr lang="es-CR" sz="2400" i="1">
                                      <a:latin typeface="Cambria Math"/>
                                    </a:rPr>
                                  </m:ctrlPr>
                                </m:sSubPr>
                                <m:e>
                                  <m:acc>
                                    <m:accPr>
                                      <m:chr m:val="̅"/>
                                      <m:ctrlPr>
                                        <a:rPr lang="es-CR" sz="2400" i="1">
                                          <a:latin typeface="Cambria Math"/>
                                        </a:rPr>
                                      </m:ctrlPr>
                                    </m:accPr>
                                    <m:e>
                                      <m:r>
                                        <a:rPr lang="es-CR" sz="2400" i="1">
                                          <a:latin typeface="Cambria Math" panose="02040503050406030204" pitchFamily="18" charset="0"/>
                                        </a:rPr>
                                        <m:t>𝑥</m:t>
                                      </m:r>
                                    </m:e>
                                  </m:acc>
                                </m:e>
                                <m:sub>
                                  <m:r>
                                    <a:rPr lang="es-CR" sz="2400" i="1">
                                      <a:latin typeface="Cambria Math" panose="02040503050406030204" pitchFamily="18" charset="0"/>
                                    </a:rPr>
                                    <m:t>..</m:t>
                                  </m:r>
                                </m:sub>
                              </m:sSub>
                              <m:r>
                                <a:rPr lang="es-CR" sz="2400" i="1">
                                  <a:latin typeface="Cambria Math" panose="02040503050406030204" pitchFamily="18" charset="0"/>
                                </a:rPr>
                                <m:t>)</m:t>
                              </m:r>
                            </m:e>
                            <m:sup>
                              <m:r>
                                <a:rPr lang="es-CR" sz="2400" i="1">
                                  <a:latin typeface="Cambria Math" panose="02040503050406030204" pitchFamily="18" charset="0"/>
                                </a:rPr>
                                <m:t>2</m:t>
                              </m:r>
                            </m:sup>
                          </m:sSup>
                        </m:e>
                      </m:nary>
                    </m:oMath>
                  </m:oMathPara>
                </a14:m>
                <a:endParaRPr lang="es-CR" sz="2400" dirty="0"/>
              </a:p>
            </p:txBody>
          </p:sp>
        </mc:Choice>
        <mc:Fallback xmlns="">
          <p:sp>
            <p:nvSpPr>
              <p:cNvPr id="6" name="5 Rectángulo"/>
              <p:cNvSpPr>
                <a:spLocks noRot="1" noChangeAspect="1" noMove="1" noResize="1" noEditPoints="1" noAdjustHandles="1" noChangeArrowheads="1" noChangeShapeType="1" noTextEdit="1"/>
              </p:cNvSpPr>
              <p:nvPr/>
            </p:nvSpPr>
            <p:spPr>
              <a:xfrm>
                <a:off x="242545" y="3379703"/>
                <a:ext cx="8586797" cy="1192506"/>
              </a:xfrm>
              <a:prstGeom prst="rect">
                <a:avLst/>
              </a:prstGeom>
              <a:blipFill rotWithShape="1">
                <a:blip r:embed="rId5"/>
                <a:stretch>
                  <a:fillRect/>
                </a:stretch>
              </a:blipFill>
            </p:spPr>
            <p:txBody>
              <a:bodyPr/>
              <a:lstStyle/>
              <a:p>
                <a:r>
                  <a:rPr lang="es-CR">
                    <a:noFill/>
                  </a:rPr>
                  <a:t> </a:t>
                </a:r>
              </a:p>
            </p:txBody>
          </p:sp>
        </mc:Fallback>
      </mc:AlternateContent>
      <p:pic>
        <p:nvPicPr>
          <p:cNvPr id="30722" name="Picture 2" descr="http://labs.geog.uvic.ca/geog226/images/Lab9/img_variation.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6925" y="1282700"/>
            <a:ext cx="3470275" cy="4775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4315"/>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2361062"/>
          </a:xfrm>
        </p:spPr>
        <p:txBody>
          <a:bodyPr>
            <a:normAutofit/>
          </a:bodyPr>
          <a:lstStyle/>
          <a:p>
            <a:r>
              <a:rPr lang="es-CR" dirty="0" smtClean="0"/>
              <a:t>Sumas de cuadrados</a:t>
            </a:r>
          </a:p>
          <a:p>
            <a:r>
              <a:rPr lang="es-CR" dirty="0" smtClean="0"/>
              <a:t>Grados de libertad</a:t>
            </a:r>
            <a:endParaRPr lang="es-CR" dirty="0"/>
          </a:p>
          <a:p>
            <a:endParaRPr lang="es-CR" dirty="0" smtClean="0"/>
          </a:p>
          <a:p>
            <a:pPr marL="0" indent="0">
              <a:buNone/>
            </a:pPr>
            <a:endParaRPr lang="es-ES" dirty="0"/>
          </a:p>
        </p:txBody>
      </p:sp>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
        <p:nvSpPr>
          <p:cNvPr id="5" name="4 Rectángulo redondeado"/>
          <p:cNvSpPr/>
          <p:nvPr/>
        </p:nvSpPr>
        <p:spPr>
          <a:xfrm>
            <a:off x="4368800" y="127000"/>
            <a:ext cx="18542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244711797"/>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24051" y="1174917"/>
            <a:ext cx="8701585" cy="5580725"/>
          </a:xfrm>
        </p:spPr>
        <p:txBody>
          <a:bodyPr>
            <a:normAutofit/>
          </a:bodyPr>
          <a:lstStyle/>
          <a:p>
            <a:pPr algn="just"/>
            <a:r>
              <a:rPr lang="es-CR" sz="2400" dirty="0" smtClean="0"/>
              <a:t>Los grados de libertad de para la fuente de variación entre tratamientos se expresa como:</a:t>
            </a:r>
          </a:p>
          <a:p>
            <a:pPr algn="just"/>
            <a:endParaRPr lang="es-CR" sz="2400" dirty="0"/>
          </a:p>
          <a:p>
            <a:pPr marL="0" indent="0" algn="just">
              <a:buNone/>
            </a:pPr>
            <a:endParaRPr lang="es-CR" sz="2400" dirty="0" smtClean="0"/>
          </a:p>
          <a:p>
            <a:pPr marL="0" indent="0" algn="just">
              <a:buNone/>
            </a:pPr>
            <a:endParaRPr lang="es-CR" sz="2400" dirty="0" smtClean="0"/>
          </a:p>
          <a:p>
            <a:pPr algn="just"/>
            <a:r>
              <a:rPr lang="es-CR" sz="2400" dirty="0" smtClean="0"/>
              <a:t>Los grados de libertad para la fuente de variación dentro de los tratamiento se expresa como:</a:t>
            </a:r>
          </a:p>
          <a:p>
            <a:pPr marL="0" indent="0" algn="just">
              <a:buNone/>
            </a:pPr>
            <a:endParaRPr lang="es-CR" sz="2400" dirty="0"/>
          </a:p>
          <a:p>
            <a:pPr algn="just"/>
            <a:endParaRPr lang="es-CR" sz="2400" dirty="0" smtClean="0"/>
          </a:p>
          <a:p>
            <a:pPr algn="just"/>
            <a:endParaRPr lang="es-CR" sz="2400" dirty="0" smtClean="0"/>
          </a:p>
          <a:p>
            <a:pPr algn="just"/>
            <a:r>
              <a:rPr lang="es-CR" sz="2400" dirty="0" smtClean="0"/>
              <a:t> Los grados de libertad totales se expresa como:</a:t>
            </a:r>
            <a:endParaRPr lang="es-CR" sz="2400" dirty="0"/>
          </a:p>
        </p:txBody>
      </p:sp>
      <p:sp>
        <p:nvSpPr>
          <p:cNvPr id="4" name="Título 1"/>
          <p:cNvSpPr>
            <a:spLocks noGrp="1"/>
          </p:cNvSpPr>
          <p:nvPr>
            <p:ph type="title"/>
          </p:nvPr>
        </p:nvSpPr>
        <p:spPr>
          <a:xfrm>
            <a:off x="0" y="0"/>
            <a:ext cx="12192000" cy="1174917"/>
          </a:xfrm>
        </p:spPr>
        <p:txBody>
          <a:bodyPr>
            <a:normAutofit fontScale="90000"/>
          </a:bodyPr>
          <a:lstStyle/>
          <a:p>
            <a:pPr algn="ctr"/>
            <a:r>
              <a:rPr lang="es-CR" dirty="0" smtClean="0"/>
              <a:t>Diseño de una vía: estadística de prueba – grados de libertad</a:t>
            </a:r>
            <a:endParaRPr lang="es-ES" dirty="0"/>
          </a:p>
        </p:txBody>
      </p:sp>
      <mc:AlternateContent xmlns:mc="http://schemas.openxmlformats.org/markup-compatibility/2006" xmlns:a14="http://schemas.microsoft.com/office/drawing/2010/main">
        <mc:Choice Requires="a14">
          <p:sp>
            <p:nvSpPr>
              <p:cNvPr id="2" name="Rectángulo 1"/>
              <p:cNvSpPr/>
              <p:nvPr/>
            </p:nvSpPr>
            <p:spPr>
              <a:xfrm>
                <a:off x="3327122" y="2324958"/>
                <a:ext cx="239354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𝒆𝒏𝒕𝒓𝒆</m:t>
                          </m:r>
                        </m:sub>
                      </m:sSub>
                      <m:r>
                        <a:rPr lang="es-ES" sz="2400" b="1" i="0">
                          <a:latin typeface="Cambria Math" panose="02040503050406030204" pitchFamily="18" charset="0"/>
                        </a:rPr>
                        <m:t>=</m:t>
                      </m:r>
                      <m:r>
                        <a:rPr lang="es-ES" sz="2400" b="1" i="1">
                          <a:latin typeface="Cambria Math" panose="02040503050406030204" pitchFamily="18" charset="0"/>
                        </a:rPr>
                        <m:t>𝒌</m:t>
                      </m:r>
                      <m:r>
                        <a:rPr lang="es-ES" sz="2400" b="1" i="0">
                          <a:latin typeface="Cambria Math" panose="02040503050406030204" pitchFamily="18" charset="0"/>
                        </a:rPr>
                        <m:t>−</m:t>
                      </m:r>
                      <m:r>
                        <a:rPr lang="es-ES" sz="2400" b="1" i="0">
                          <a:latin typeface="Cambria Math" panose="02040503050406030204" pitchFamily="18" charset="0"/>
                        </a:rPr>
                        <m:t>𝟏</m:t>
                      </m:r>
                    </m:oMath>
                  </m:oMathPara>
                </a14:m>
                <a:endParaRPr lang="es-ES" sz="2400" b="1" dirty="0"/>
              </a:p>
            </p:txBody>
          </p:sp>
        </mc:Choice>
        <mc:Fallback xmlns="">
          <p:sp>
            <p:nvSpPr>
              <p:cNvPr id="2" name="Rectángulo 1"/>
              <p:cNvSpPr>
                <a:spLocks noRot="1" noChangeAspect="1" noMove="1" noResize="1" noEditPoints="1" noAdjustHandles="1" noChangeArrowheads="1" noChangeShapeType="1" noTextEdit="1"/>
              </p:cNvSpPr>
              <p:nvPr/>
            </p:nvSpPr>
            <p:spPr>
              <a:xfrm>
                <a:off x="3327122" y="2324958"/>
                <a:ext cx="2393540" cy="461665"/>
              </a:xfrm>
              <a:prstGeom prst="rect">
                <a:avLst/>
              </a:prstGeom>
              <a:blipFill rotWithShape="0">
                <a:blip r:embed="rId2"/>
                <a:stretch>
                  <a:fillRect b="-131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3204268" y="4540300"/>
                <a:ext cx="25586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𝒅𝒆𝒏𝒕𝒓𝒐</m:t>
                          </m:r>
                        </m:sub>
                      </m:sSub>
                      <m:r>
                        <a:rPr lang="es-ES" sz="2400" b="1" i="0">
                          <a:latin typeface="Cambria Math" panose="02040503050406030204" pitchFamily="18" charset="0"/>
                        </a:rPr>
                        <m:t>=</m:t>
                      </m:r>
                      <m:r>
                        <a:rPr lang="es-ES" sz="2400" b="1" i="1">
                          <a:latin typeface="Cambria Math" panose="02040503050406030204" pitchFamily="18" charset="0"/>
                        </a:rPr>
                        <m:t>𝒏</m:t>
                      </m:r>
                      <m:r>
                        <a:rPr lang="es-ES" sz="2400" b="1" i="0">
                          <a:latin typeface="Cambria Math" panose="02040503050406030204" pitchFamily="18" charset="0"/>
                        </a:rPr>
                        <m:t>−</m:t>
                      </m:r>
                      <m:r>
                        <a:rPr lang="es-ES" sz="2400" b="1" i="1">
                          <a:latin typeface="Cambria Math" panose="02040503050406030204" pitchFamily="18" charset="0"/>
                        </a:rPr>
                        <m:t>𝒌</m:t>
                      </m:r>
                    </m:oMath>
                  </m:oMathPara>
                </a14:m>
                <a:endParaRPr lang="es-ES" sz="2400" b="1" dirty="0"/>
              </a:p>
            </p:txBody>
          </p:sp>
        </mc:Choice>
        <mc:Fallback xmlns="">
          <p:sp>
            <p:nvSpPr>
              <p:cNvPr id="5" name="Rectángulo 4"/>
              <p:cNvSpPr>
                <a:spLocks noRot="1" noChangeAspect="1" noMove="1" noResize="1" noEditPoints="1" noAdjustHandles="1" noChangeArrowheads="1" noChangeShapeType="1" noTextEdit="1"/>
              </p:cNvSpPr>
              <p:nvPr/>
            </p:nvSpPr>
            <p:spPr>
              <a:xfrm>
                <a:off x="3204268" y="4540300"/>
                <a:ext cx="2558649" cy="461665"/>
              </a:xfrm>
              <a:prstGeom prst="rect">
                <a:avLst/>
              </a:prstGeom>
              <a:blipFill rotWithShape="0">
                <a:blip r:embed="rId3"/>
                <a:stretch>
                  <a:fillRect b="-263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3423879" y="6173748"/>
                <a:ext cx="233903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𝒕𝒐𝒕𝒂𝒍</m:t>
                          </m:r>
                        </m:sub>
                      </m:sSub>
                      <m:r>
                        <a:rPr lang="es-ES" sz="2400" b="1" i="0">
                          <a:latin typeface="Cambria Math" panose="02040503050406030204" pitchFamily="18" charset="0"/>
                        </a:rPr>
                        <m:t>=</m:t>
                      </m:r>
                      <m:r>
                        <a:rPr lang="es-ES" sz="2400" b="1" i="1">
                          <a:latin typeface="Cambria Math" panose="02040503050406030204" pitchFamily="18" charset="0"/>
                        </a:rPr>
                        <m:t>𝒏</m:t>
                      </m:r>
                      <m:r>
                        <a:rPr lang="es-ES" sz="2400" b="1" i="0">
                          <a:latin typeface="Cambria Math" panose="02040503050406030204" pitchFamily="18" charset="0"/>
                        </a:rPr>
                        <m:t>−</m:t>
                      </m:r>
                      <m:r>
                        <a:rPr lang="es-ES" sz="2400" b="1" i="0">
                          <a:latin typeface="Cambria Math" panose="02040503050406030204" pitchFamily="18" charset="0"/>
                        </a:rPr>
                        <m:t>𝟏</m:t>
                      </m:r>
                    </m:oMath>
                  </m:oMathPara>
                </a14:m>
                <a:endParaRPr lang="es-ES" sz="2400" b="1" dirty="0"/>
              </a:p>
            </p:txBody>
          </p:sp>
        </mc:Choice>
        <mc:Fallback xmlns="">
          <p:sp>
            <p:nvSpPr>
              <p:cNvPr id="6" name="Rectángulo 5"/>
              <p:cNvSpPr>
                <a:spLocks noRot="1" noChangeAspect="1" noMove="1" noResize="1" noEditPoints="1" noAdjustHandles="1" noChangeArrowheads="1" noChangeShapeType="1" noTextEdit="1"/>
              </p:cNvSpPr>
              <p:nvPr/>
            </p:nvSpPr>
            <p:spPr>
              <a:xfrm>
                <a:off x="3423879" y="6173748"/>
                <a:ext cx="2339038" cy="461665"/>
              </a:xfrm>
              <a:prstGeom prst="rect">
                <a:avLst/>
              </a:prstGeom>
              <a:blipFill rotWithShape="0">
                <a:blip r:embed="rId4"/>
                <a:stretch>
                  <a:fillRect b="-4000"/>
                </a:stretch>
              </a:blipFill>
            </p:spPr>
            <p:txBody>
              <a:bodyPr/>
              <a:lstStyle/>
              <a:p>
                <a:r>
                  <a:rPr lang="es-ES">
                    <a:noFill/>
                  </a:rPr>
                  <a:t> </a:t>
                </a:r>
              </a:p>
            </p:txBody>
          </p:sp>
        </mc:Fallback>
      </mc:AlternateContent>
      <p:pic>
        <p:nvPicPr>
          <p:cNvPr id="31746" name="Picture 2" descr="http://mtweb.mtsu.edu/stats/dictionary/images/rrftest.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64300" y="4540299"/>
            <a:ext cx="2924897" cy="2095113"/>
          </a:xfrm>
          <a:prstGeom prst="rect">
            <a:avLst/>
          </a:prstGeom>
          <a:noFill/>
          <a:extLst>
            <a:ext uri="{909E8E84-426E-40DD-AFC4-6F175D3DCCD1}">
              <a14:hiddenFill xmlns:a14="http://schemas.microsoft.com/office/drawing/2010/main">
                <a:solidFill>
                  <a:srgbClr val="FFFFFF"/>
                </a:solidFill>
              </a14:hiddenFill>
            </a:ext>
          </a:extLst>
        </p:spPr>
      </p:pic>
      <p:pic>
        <p:nvPicPr>
          <p:cNvPr id="31748" name="Picture 4" descr="http://www.scrummastercertification.org/wp-content/uploads/2014/04/F-table-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98926" y="1437428"/>
            <a:ext cx="2458846" cy="2236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123669"/>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71584" y="1039174"/>
            <a:ext cx="10515600" cy="2800966"/>
          </a:xfrm>
        </p:spPr>
        <p:txBody>
          <a:bodyPr>
            <a:normAutofit/>
          </a:bodyPr>
          <a:lstStyle/>
          <a:p>
            <a:pPr marL="0" indent="0" algn="ctr">
              <a:buNone/>
            </a:pPr>
            <a:r>
              <a:rPr lang="es-CR" sz="6000" dirty="0" smtClean="0"/>
              <a:t>¿ Por qué los grados de libertad poseen dichas expresiones?</a:t>
            </a:r>
            <a:endParaRPr lang="es-ES" sz="6000" dirty="0"/>
          </a:p>
        </p:txBody>
      </p:sp>
      <p:pic>
        <p:nvPicPr>
          <p:cNvPr id="32772" name="Picture 4" descr="https://encrypted-tbn2.gstatic.com/images?q=tbn:ANd9GcRK55MKKt6RGj7fqdbnHgeEyr506J4pHghy2EeGcKI31UsjT0z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4" y="3549505"/>
            <a:ext cx="4289425" cy="3143395"/>
          </a:xfrm>
          <a:prstGeom prst="rect">
            <a:avLst/>
          </a:prstGeom>
          <a:noFill/>
          <a:extLst>
            <a:ext uri="{909E8E84-426E-40DD-AFC4-6F175D3DCCD1}">
              <a14:hiddenFill xmlns:a14="http://schemas.microsoft.com/office/drawing/2010/main">
                <a:solidFill>
                  <a:srgbClr val="FFFFFF"/>
                </a:solidFill>
              </a14:hiddenFill>
            </a:ext>
          </a:extLst>
        </p:spPr>
      </p:pic>
      <p:pic>
        <p:nvPicPr>
          <p:cNvPr id="32774" name="Picture 6" descr="https://image.freepik.com/free-icon/boy-raising-hand-for-question_318-4398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0129" y="3684442"/>
            <a:ext cx="2873520" cy="287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609655"/>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2361062"/>
          </a:xfrm>
        </p:spPr>
        <p:txBody>
          <a:bodyPr>
            <a:normAutofit/>
          </a:bodyPr>
          <a:lstStyle/>
          <a:p>
            <a:r>
              <a:rPr lang="es-CR" dirty="0" smtClean="0"/>
              <a:t>Sumas de cuadrados</a:t>
            </a:r>
          </a:p>
          <a:p>
            <a:r>
              <a:rPr lang="es-CR" dirty="0" smtClean="0"/>
              <a:t>Grados de libertad</a:t>
            </a:r>
            <a:endParaRPr lang="es-CR" dirty="0"/>
          </a:p>
          <a:p>
            <a:r>
              <a:rPr lang="es-CR" dirty="0" smtClean="0"/>
              <a:t>Cuadrado medio</a:t>
            </a:r>
          </a:p>
          <a:p>
            <a:pPr marL="0" indent="0">
              <a:buNone/>
            </a:pPr>
            <a:endParaRPr lang="es-ES" dirty="0"/>
          </a:p>
        </p:txBody>
      </p:sp>
      <mc:AlternateContent xmlns:mc="http://schemas.openxmlformats.org/markup-compatibility/2006" xmlns:a14="http://schemas.microsoft.com/office/drawing/2010/main">
        <mc:Choice Requires="a14">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CR" sz="1600" i="1" smtClean="0">
                                        <a:latin typeface="Cambria Math"/>
                                      </a:rPr>
                                    </m:ctrlPr>
                                  </m:naryPr>
                                  <m:sub>
                                    <m:r>
                                      <a:rPr lang="es-CR" sz="1600" i="1">
                                        <a:latin typeface="Cambria Math" panose="02040503050406030204" pitchFamily="18" charset="0"/>
                                      </a:rPr>
                                      <m:t>𝑗</m:t>
                                    </m:r>
                                    <m:r>
                                      <a:rPr lang="es-CR" sz="1600" i="1">
                                        <a:latin typeface="Cambria Math" panose="02040503050406030204" pitchFamily="18" charset="0"/>
                                      </a:rPr>
                                      <m:t>=1</m:t>
                                    </m:r>
                                  </m:sub>
                                  <m:sup>
                                    <m:r>
                                      <a:rPr lang="es-CR" sz="1600" i="1">
                                        <a:latin typeface="Cambria Math" panose="02040503050406030204" pitchFamily="18" charset="0"/>
                                      </a:rPr>
                                      <m:t>𝑘</m:t>
                                    </m:r>
                                  </m:sup>
                                  <m:e>
                                    <m:nary>
                                      <m:naryPr>
                                        <m:chr m:val="∑"/>
                                        <m:limLoc m:val="undOvr"/>
                                        <m:ctrlPr>
                                          <a:rPr lang="es-CR" sz="1600" i="1">
                                            <a:latin typeface="Cambria Math"/>
                                          </a:rPr>
                                        </m:ctrlPr>
                                      </m:naryPr>
                                      <m:sub>
                                        <m:r>
                                          <a:rPr lang="es-CR" sz="1600" i="1">
                                            <a:latin typeface="Cambria Math" panose="02040503050406030204" pitchFamily="18" charset="0"/>
                                          </a:rPr>
                                          <m:t>𝑖</m:t>
                                        </m:r>
                                        <m:r>
                                          <a:rPr lang="es-CR" sz="1600" i="1">
                                            <a:latin typeface="Cambria Math" panose="02040503050406030204" pitchFamily="18" charset="0"/>
                                          </a:rPr>
                                          <m:t>=1</m:t>
                                        </m:r>
                                      </m:sub>
                                      <m:sup>
                                        <m:sSub>
                                          <m:sSubPr>
                                            <m:ctrlPr>
                                              <a:rPr lang="es-CR" sz="1600" i="1">
                                                <a:latin typeface="Cambria Math"/>
                                              </a:rPr>
                                            </m:ctrlPr>
                                          </m:sSubPr>
                                          <m:e>
                                            <m:r>
                                              <a:rPr lang="es-CR" sz="1600" i="1">
                                                <a:latin typeface="Cambria Math" panose="02040503050406030204" pitchFamily="18" charset="0"/>
                                              </a:rPr>
                                              <m:t>𝑛</m:t>
                                            </m:r>
                                          </m:e>
                                          <m:sub>
                                            <m:r>
                                              <a:rPr lang="es-CR" sz="1600" i="1">
                                                <a:latin typeface="Cambria Math" panose="02040503050406030204" pitchFamily="18" charset="0"/>
                                              </a:rPr>
                                              <m:t>𝑗</m:t>
                                            </m:r>
                                          </m:sub>
                                        </m:sSub>
                                      </m:sup>
                                      <m:e>
                                        <m:sSup>
                                          <m:sSupPr>
                                            <m:ctrlPr>
                                              <a:rPr lang="es-CR" sz="1600" i="1">
                                                <a:latin typeface="Cambria Math"/>
                                              </a:rPr>
                                            </m:ctrlPr>
                                          </m:sSupPr>
                                          <m:e>
                                            <m:r>
                                              <a:rPr lang="es-CR" sz="1600" i="1">
                                                <a:latin typeface="Cambria Math" panose="02040503050406030204" pitchFamily="18" charset="0"/>
                                              </a:rPr>
                                              <m:t>(</m:t>
                                            </m:r>
                                            <m:sSub>
                                              <m:sSubPr>
                                                <m:ctrlPr>
                                                  <a:rPr lang="es-CR" sz="1600" i="1">
                                                    <a:latin typeface="Cambria Math"/>
                                                  </a:rPr>
                                                </m:ctrlPr>
                                              </m:sSubPr>
                                              <m:e>
                                                <m:r>
                                                  <a:rPr lang="es-CR" sz="1600" i="1">
                                                    <a:latin typeface="Cambria Math" panose="02040503050406030204" pitchFamily="18" charset="0"/>
                                                  </a:rPr>
                                                  <m:t>𝑥</m:t>
                                                </m:r>
                                              </m:e>
                                              <m:sub>
                                                <m:r>
                                                  <a:rPr lang="es-CR" sz="1600" i="1">
                                                    <a:latin typeface="Cambria Math" panose="02040503050406030204" pitchFamily="18" charset="0"/>
                                                  </a:rPr>
                                                  <m:t>𝑖𝑗</m:t>
                                                </m:r>
                                              </m:sub>
                                            </m:sSub>
                                            <m:r>
                                              <a:rPr lang="es-CR" sz="1600" i="1">
                                                <a:latin typeface="Cambria Math" panose="02040503050406030204" pitchFamily="18" charset="0"/>
                                              </a:rPr>
                                              <m:t>−</m:t>
                                            </m:r>
                                            <m:sSub>
                                              <m:sSubPr>
                                                <m:ctrlPr>
                                                  <a:rPr lang="es-CR" sz="1600" i="1">
                                                    <a:latin typeface="Cambria Math"/>
                                                  </a:rPr>
                                                </m:ctrlPr>
                                              </m:sSubPr>
                                              <m:e>
                                                <m:acc>
                                                  <m:accPr>
                                                    <m:chr m:val="̅"/>
                                                    <m:ctrlPr>
                                                      <a:rPr lang="es-CR" sz="1600" i="1">
                                                        <a:latin typeface="Cambria Math"/>
                                                      </a:rPr>
                                                    </m:ctrlPr>
                                                  </m:accPr>
                                                  <m:e>
                                                    <m:r>
                                                      <a:rPr lang="es-CR" sz="1600" i="1">
                                                        <a:latin typeface="Cambria Math" panose="02040503050406030204" pitchFamily="18" charset="0"/>
                                                      </a:rPr>
                                                      <m:t>𝑥</m:t>
                                                    </m:r>
                                                  </m:e>
                                                </m:acc>
                                              </m:e>
                                              <m:sub>
                                                <m:r>
                                                  <a:rPr lang="es-CR" sz="1600" i="1">
                                                    <a:latin typeface="Cambria Math" panose="02040503050406030204" pitchFamily="18" charset="0"/>
                                                  </a:rPr>
                                                  <m:t>.</m:t>
                                                </m:r>
                                                <m:r>
                                                  <a:rPr lang="es-CR" sz="1600" i="1">
                                                    <a:latin typeface="Cambria Math" panose="02040503050406030204" pitchFamily="18" charset="0"/>
                                                  </a:rPr>
                                                  <m:t>𝑗</m:t>
                                                </m:r>
                                              </m:sub>
                                            </m:sSub>
                                            <m:r>
                                              <a:rPr lang="es-CR" sz="1600" i="1">
                                                <a:latin typeface="Cambria Math" panose="02040503050406030204" pitchFamily="18" charset="0"/>
                                              </a:rPr>
                                              <m:t>)</m:t>
                                            </m:r>
                                          </m:e>
                                          <m:sup>
                                            <m:r>
                                              <a:rPr lang="es-CR" sz="1600" i="1">
                                                <a:latin typeface="Cambria Math" panose="02040503050406030204" pitchFamily="18" charset="0"/>
                                              </a:rPr>
                                              <m:t>2</m:t>
                                            </m:r>
                                          </m:sup>
                                        </m:sSup>
                                      </m:e>
                                    </m:nary>
                                  </m:e>
                                </m:nary>
                              </m:oMath>
                            </m:oMathPara>
                          </a14:m>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mc:Choice>
        <mc:Fallback xmlns="">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endParaRPr lang="es-ES"/>
                        </a:p>
                      </a:txBody>
                      <a:tcPr marL="68580" marR="68580" marT="0" marB="0" anchor="ctr">
                        <a:blipFill rotWithShape="0">
                          <a:blip r:embed="rId2"/>
                          <a:stretch>
                            <a:fillRect l="-116271" t="-90798" r="-377966" b="-136196"/>
                          </a:stretch>
                        </a:blipFill>
                      </a:tcP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mc:Fallback>
      </mc:AlternateContent>
      <p:sp>
        <p:nvSpPr>
          <p:cNvPr id="5" name="4 Rectángulo redondeado"/>
          <p:cNvSpPr/>
          <p:nvPr/>
        </p:nvSpPr>
        <p:spPr>
          <a:xfrm>
            <a:off x="6388100" y="177800"/>
            <a:ext cx="23495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56984308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55811" y="1050878"/>
                <a:ext cx="10515600" cy="5807122"/>
              </a:xfrm>
            </p:spPr>
            <p:txBody>
              <a:bodyPr>
                <a:normAutofit/>
              </a:bodyPr>
              <a:lstStyle/>
              <a:p>
                <a:r>
                  <a:rPr lang="es-CR" sz="2400" dirty="0" smtClean="0"/>
                  <a:t>Se posee dos tipos de cuadrados medios: entre y dentro. El primero expresa el efecto de las diferencias en los tratamientos, el segundo el grado de error que existe en el modelo…</a:t>
                </a:r>
              </a:p>
              <a:p>
                <a:endParaRPr lang="es-CR" sz="2400" dirty="0"/>
              </a:p>
              <a:p>
                <a:r>
                  <a:rPr lang="es-CR" sz="2400" dirty="0" smtClean="0"/>
                  <a:t>El cuadrado medio entre tiene por expresión:</a:t>
                </a:r>
              </a:p>
              <a:p>
                <a:pPr marL="0" indent="0">
                  <a:buNone/>
                </a:pPr>
                <a:endParaRPr lang="es-CR" sz="2400" dirty="0"/>
              </a:p>
              <a:p>
                <a:pPr marL="0" indent="0">
                  <a:buNone/>
                </a:pPr>
                <a14:m>
                  <m:oMathPara xmlns:m="http://schemas.openxmlformats.org/officeDocument/2006/math">
                    <m:oMathParaPr>
                      <m:jc m:val="left"/>
                    </m:oMathParaPr>
                    <m:oMath xmlns:m="http://schemas.openxmlformats.org/officeDocument/2006/math">
                      <m:r>
                        <a:rPr lang="es-CR" sz="2400" i="1" smtClean="0">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𝑒𝑛𝑡𝑟𝑒</m:t>
                          </m:r>
                        </m:sub>
                      </m:sSub>
                      <m:r>
                        <a:rPr lang="es-CR" sz="2400" i="1">
                          <a:latin typeface="Cambria Math"/>
                        </a:rPr>
                        <m:t>= </m:t>
                      </m:r>
                      <m:f>
                        <m:fPr>
                          <m:ctrlPr>
                            <a:rPr lang="es-ES" sz="2400" i="1">
                              <a:latin typeface="Cambria Math"/>
                            </a:rPr>
                          </m:ctrlPr>
                        </m:fPr>
                        <m:num>
                          <m:nary>
                            <m:naryPr>
                              <m:chr m:val="∑"/>
                              <m:limLoc m:val="undOvr"/>
                              <m:ctrlPr>
                                <a:rPr lang="es-ES" sz="2400" i="1">
                                  <a:latin typeface="Cambria Math"/>
                                </a:rPr>
                              </m:ctrlPr>
                            </m:naryPr>
                            <m:sub>
                              <m:r>
                                <a:rPr lang="es-CR" sz="2400" i="1">
                                  <a:latin typeface="Cambria Math"/>
                                </a:rPr>
                                <m:t>𝑗</m:t>
                              </m:r>
                              <m:r>
                                <a:rPr lang="es-CR" sz="2400" i="1">
                                  <a:latin typeface="Cambria Math"/>
                                </a:rPr>
                                <m:t>=1</m:t>
                              </m:r>
                            </m:sub>
                            <m:sup>
                              <m:r>
                                <a:rPr lang="es-CR" sz="2400" i="1">
                                  <a:latin typeface="Cambria Math"/>
                                </a:rPr>
                                <m:t>𝑘</m:t>
                              </m:r>
                            </m:sup>
                            <m:e>
                              <m:sSub>
                                <m:sSubPr>
                                  <m:ctrlPr>
                                    <a:rPr lang="es-ES" sz="2400" i="1">
                                      <a:latin typeface="Cambria Math"/>
                                    </a:rPr>
                                  </m:ctrlPr>
                                </m:sSubPr>
                                <m:e>
                                  <m:r>
                                    <a:rPr lang="es-CR" sz="2400" i="1">
                                      <a:latin typeface="Cambria Math"/>
                                    </a:rPr>
                                    <m:t>𝑛</m:t>
                                  </m:r>
                                </m:e>
                                <m:sub>
                                  <m:r>
                                    <a:rPr lang="es-CR" sz="2400" i="1">
                                      <a:latin typeface="Cambria Math"/>
                                    </a:rPr>
                                    <m:t>𝑗</m:t>
                                  </m:r>
                                </m:sub>
                              </m:sSub>
                              <m:sSup>
                                <m:sSupPr>
                                  <m:ctrlPr>
                                    <a:rPr lang="es-ES" sz="2400" i="1">
                                      <a:latin typeface="Cambria Math"/>
                                    </a:rPr>
                                  </m:ctrlPr>
                                </m:sSupPr>
                                <m:e>
                                  <m:r>
                                    <a:rPr lang="es-CR" sz="2400" i="1">
                                      <a:latin typeface="Cambria Math"/>
                                    </a:rPr>
                                    <m:t>(</m:t>
                                  </m:r>
                                  <m:sSub>
                                    <m:sSubPr>
                                      <m:ctrlPr>
                                        <a:rPr lang="es-ES" sz="2400" i="1">
                                          <a:latin typeface="Cambria Math"/>
                                        </a:rPr>
                                      </m:ctrlPr>
                                    </m:sSubPr>
                                    <m:e>
                                      <m:acc>
                                        <m:accPr>
                                          <m:chr m:val="̅"/>
                                          <m:ctrlPr>
                                            <a:rPr lang="es-ES" sz="2400" i="1">
                                              <a:latin typeface="Cambria Math"/>
                                            </a:rPr>
                                          </m:ctrlPr>
                                        </m:accPr>
                                        <m:e>
                                          <m:r>
                                            <a:rPr lang="es-CR" sz="2400" i="1">
                                              <a:latin typeface="Cambria Math"/>
                                            </a:rPr>
                                            <m:t>𝑥</m:t>
                                          </m:r>
                                        </m:e>
                                      </m:acc>
                                    </m:e>
                                    <m:sub>
                                      <m:r>
                                        <a:rPr lang="es-CR" sz="2400" i="1">
                                          <a:latin typeface="Cambria Math"/>
                                        </a:rPr>
                                        <m:t>.</m:t>
                                      </m:r>
                                      <m:r>
                                        <a:rPr lang="es-CR" sz="2400" i="1">
                                          <a:latin typeface="Cambria Math"/>
                                        </a:rPr>
                                        <m:t>𝑗</m:t>
                                      </m:r>
                                    </m:sub>
                                  </m:sSub>
                                  <m:r>
                                    <a:rPr lang="es-CR" sz="2400" i="1">
                                      <a:latin typeface="Cambria Math"/>
                                    </a:rPr>
                                    <m:t>−</m:t>
                                  </m:r>
                                  <m:sSub>
                                    <m:sSubPr>
                                      <m:ctrlPr>
                                        <a:rPr lang="es-ES" sz="2400" i="1">
                                          <a:latin typeface="Cambria Math"/>
                                        </a:rPr>
                                      </m:ctrlPr>
                                    </m:sSubPr>
                                    <m:e>
                                      <m:acc>
                                        <m:accPr>
                                          <m:chr m:val="̅"/>
                                          <m:ctrlPr>
                                            <a:rPr lang="es-ES" sz="2400" i="1">
                                              <a:latin typeface="Cambria Math"/>
                                            </a:rPr>
                                          </m:ctrlPr>
                                        </m:accPr>
                                        <m:e>
                                          <m:r>
                                            <a:rPr lang="es-CR" sz="2400" i="1">
                                              <a:latin typeface="Cambria Math"/>
                                            </a:rPr>
                                            <m:t>𝑥</m:t>
                                          </m:r>
                                        </m:e>
                                      </m:acc>
                                    </m:e>
                                    <m:sub>
                                      <m:r>
                                        <a:rPr lang="es-CR" sz="2400" i="1">
                                          <a:latin typeface="Cambria Math"/>
                                        </a:rPr>
                                        <m:t>..</m:t>
                                      </m:r>
                                    </m:sub>
                                  </m:sSub>
                                  <m:r>
                                    <a:rPr lang="es-CR" sz="2400" i="1">
                                      <a:latin typeface="Cambria Math"/>
                                    </a:rPr>
                                    <m:t>)</m:t>
                                  </m:r>
                                </m:e>
                                <m:sup>
                                  <m:r>
                                    <a:rPr lang="es-CR" sz="2400" i="1">
                                      <a:latin typeface="Cambria Math"/>
                                    </a:rPr>
                                    <m:t>2</m:t>
                                  </m:r>
                                </m:sup>
                              </m:sSup>
                            </m:e>
                          </m:nary>
                        </m:num>
                        <m:den>
                          <m:r>
                            <a:rPr lang="es-CR" sz="2400" i="1">
                              <a:latin typeface="Cambria Math"/>
                            </a:rPr>
                            <m:t>𝑘</m:t>
                          </m:r>
                          <m:r>
                            <a:rPr lang="es-CR" sz="2400" i="1">
                              <a:latin typeface="Cambria Math"/>
                            </a:rPr>
                            <m:t>−1</m:t>
                          </m:r>
                        </m:den>
                      </m:f>
                      <m:r>
                        <a:rPr lang="es-CR" sz="2400" b="0" i="1" smtClean="0">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i="1">
                                  <a:latin typeface="Cambria Math"/>
                                </a:rPr>
                                <m:t>𝑒𝑛𝑡𝑟𝑒</m:t>
                              </m:r>
                            </m:sub>
                          </m:sSub>
                        </m:num>
                        <m:den>
                          <m:r>
                            <a:rPr lang="es-CR" sz="2400" i="1">
                              <a:latin typeface="Cambria Math"/>
                            </a:rPr>
                            <m:t>𝑘</m:t>
                          </m:r>
                          <m:r>
                            <a:rPr lang="es-CR" sz="2400" i="1">
                              <a:latin typeface="Cambria Math"/>
                            </a:rPr>
                            <m:t>−1</m:t>
                          </m:r>
                        </m:den>
                      </m:f>
                    </m:oMath>
                  </m:oMathPara>
                </a14:m>
                <a:endParaRPr lang="es-CR" sz="2400" dirty="0" smtClean="0"/>
              </a:p>
              <a:p>
                <a:pPr marL="0" indent="0">
                  <a:buNone/>
                </a:pPr>
                <a:endParaRPr lang="es-CR" sz="2400" dirty="0" smtClean="0"/>
              </a:p>
              <a:p>
                <a:r>
                  <a:rPr lang="es-CR" sz="2400" dirty="0" smtClean="0"/>
                  <a:t>El cuadrado medio dentro se expresa como: </a:t>
                </a:r>
              </a:p>
              <a:p>
                <a:pPr marL="0" indent="0">
                  <a:buNone/>
                </a:pPr>
                <a:endParaRPr lang="es-CR" sz="2400" i="1" dirty="0"/>
              </a:p>
              <a:p>
                <a:pPr marL="0" indent="0">
                  <a:buNone/>
                </a:pPr>
                <a14:m>
                  <m:oMathPara xmlns:m="http://schemas.openxmlformats.org/officeDocument/2006/math">
                    <m:oMathParaPr>
                      <m:jc m:val="left"/>
                    </m:oMathParaPr>
                    <m:oMath xmlns:m="http://schemas.openxmlformats.org/officeDocument/2006/math">
                      <m:r>
                        <a:rPr lang="es-CR" sz="2400" i="1">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𝑑𝑒𝑛𝑡𝑟𝑜</m:t>
                          </m:r>
                        </m:sub>
                      </m:sSub>
                      <m:r>
                        <a:rPr lang="es-CR" sz="2400" i="1">
                          <a:latin typeface="Cambria Math"/>
                        </a:rPr>
                        <m:t>=</m:t>
                      </m:r>
                      <m:f>
                        <m:fPr>
                          <m:ctrlPr>
                            <a:rPr lang="es-ES" sz="2400" i="1">
                              <a:latin typeface="Cambria Math"/>
                            </a:rPr>
                          </m:ctrlPr>
                        </m:fPr>
                        <m:num>
                          <m:nary>
                            <m:naryPr>
                              <m:chr m:val="∑"/>
                              <m:limLoc m:val="undOvr"/>
                              <m:ctrlPr>
                                <a:rPr lang="es-ES" sz="2400" i="1">
                                  <a:latin typeface="Cambria Math"/>
                                </a:rPr>
                              </m:ctrlPr>
                            </m:naryPr>
                            <m:sub>
                              <m:r>
                                <a:rPr lang="es-CR" sz="2400" i="1">
                                  <a:latin typeface="Cambria Math"/>
                                </a:rPr>
                                <m:t>𝑗</m:t>
                              </m:r>
                              <m:r>
                                <a:rPr lang="es-CR" sz="2400" i="1">
                                  <a:latin typeface="Cambria Math"/>
                                </a:rPr>
                                <m:t>=1</m:t>
                              </m:r>
                            </m:sub>
                            <m:sup>
                              <m:r>
                                <a:rPr lang="es-CR" sz="2400" i="1">
                                  <a:latin typeface="Cambria Math"/>
                                </a:rPr>
                                <m:t>𝑘</m:t>
                              </m:r>
                            </m:sup>
                            <m:e>
                              <m:nary>
                                <m:naryPr>
                                  <m:chr m:val="∑"/>
                                  <m:limLoc m:val="undOvr"/>
                                  <m:ctrlPr>
                                    <a:rPr lang="es-ES" sz="2400" i="1">
                                      <a:latin typeface="Cambria Math"/>
                                    </a:rPr>
                                  </m:ctrlPr>
                                </m:naryPr>
                                <m:sub>
                                  <m:r>
                                    <a:rPr lang="es-CR" sz="2400" i="1">
                                      <a:latin typeface="Cambria Math"/>
                                    </a:rPr>
                                    <m:t>𝑖</m:t>
                                  </m:r>
                                  <m:r>
                                    <a:rPr lang="es-CR" sz="2400" i="1">
                                      <a:latin typeface="Cambria Math"/>
                                    </a:rPr>
                                    <m:t>=1</m:t>
                                  </m:r>
                                </m:sub>
                                <m:sup>
                                  <m:sSub>
                                    <m:sSubPr>
                                      <m:ctrlPr>
                                        <a:rPr lang="es-ES" sz="2400" i="1">
                                          <a:latin typeface="Cambria Math"/>
                                        </a:rPr>
                                      </m:ctrlPr>
                                    </m:sSubPr>
                                    <m:e>
                                      <m:r>
                                        <a:rPr lang="es-CR" sz="2400" i="1">
                                          <a:latin typeface="Cambria Math"/>
                                        </a:rPr>
                                        <m:t>𝑛</m:t>
                                      </m:r>
                                    </m:e>
                                    <m:sub>
                                      <m:r>
                                        <a:rPr lang="es-CR" sz="2400" i="1">
                                          <a:latin typeface="Cambria Math"/>
                                        </a:rPr>
                                        <m:t>𝑗</m:t>
                                      </m:r>
                                    </m:sub>
                                  </m:sSub>
                                </m:sup>
                                <m:e>
                                  <m:sSup>
                                    <m:sSupPr>
                                      <m:ctrlPr>
                                        <a:rPr lang="es-ES" sz="2400" i="1">
                                          <a:latin typeface="Cambria Math"/>
                                        </a:rPr>
                                      </m:ctrlPr>
                                    </m:sSupPr>
                                    <m:e>
                                      <m:r>
                                        <a:rPr lang="es-CR" sz="2400" i="1">
                                          <a:latin typeface="Cambria Math"/>
                                        </a:rPr>
                                        <m:t>(</m:t>
                                      </m:r>
                                      <m:sSub>
                                        <m:sSubPr>
                                          <m:ctrlPr>
                                            <a:rPr lang="es-ES" sz="2400" i="1">
                                              <a:latin typeface="Cambria Math"/>
                                            </a:rPr>
                                          </m:ctrlPr>
                                        </m:sSubPr>
                                        <m:e>
                                          <m:r>
                                            <a:rPr lang="es-CR" sz="2400" i="1">
                                              <a:latin typeface="Cambria Math"/>
                                            </a:rPr>
                                            <m:t>𝑥</m:t>
                                          </m:r>
                                        </m:e>
                                        <m:sub>
                                          <m:r>
                                            <a:rPr lang="es-CR" sz="2400" i="1">
                                              <a:latin typeface="Cambria Math"/>
                                            </a:rPr>
                                            <m:t>𝑖𝑗</m:t>
                                          </m:r>
                                        </m:sub>
                                      </m:sSub>
                                      <m:r>
                                        <a:rPr lang="es-CR" sz="2400" i="1">
                                          <a:latin typeface="Cambria Math"/>
                                        </a:rPr>
                                        <m:t>−</m:t>
                                      </m:r>
                                      <m:sSub>
                                        <m:sSubPr>
                                          <m:ctrlPr>
                                            <a:rPr lang="es-ES" sz="2400" i="1">
                                              <a:latin typeface="Cambria Math"/>
                                            </a:rPr>
                                          </m:ctrlPr>
                                        </m:sSubPr>
                                        <m:e>
                                          <m:acc>
                                            <m:accPr>
                                              <m:chr m:val="̅"/>
                                              <m:ctrlPr>
                                                <a:rPr lang="es-ES" sz="2400" i="1">
                                                  <a:latin typeface="Cambria Math"/>
                                                </a:rPr>
                                              </m:ctrlPr>
                                            </m:accPr>
                                            <m:e>
                                              <m:r>
                                                <a:rPr lang="es-CR" sz="2400" i="1">
                                                  <a:latin typeface="Cambria Math"/>
                                                </a:rPr>
                                                <m:t>𝑥</m:t>
                                              </m:r>
                                            </m:e>
                                          </m:acc>
                                        </m:e>
                                        <m:sub>
                                          <m:r>
                                            <a:rPr lang="es-CR" sz="2400" i="1">
                                              <a:latin typeface="Cambria Math"/>
                                            </a:rPr>
                                            <m:t>.</m:t>
                                          </m:r>
                                          <m:r>
                                            <a:rPr lang="es-CR" sz="2400" i="1">
                                              <a:latin typeface="Cambria Math"/>
                                            </a:rPr>
                                            <m:t>𝑗</m:t>
                                          </m:r>
                                        </m:sub>
                                      </m:sSub>
                                      <m:r>
                                        <a:rPr lang="es-CR" sz="2400" i="1">
                                          <a:latin typeface="Cambria Math"/>
                                        </a:rPr>
                                        <m:t>)</m:t>
                                      </m:r>
                                    </m:e>
                                    <m:sup>
                                      <m:r>
                                        <a:rPr lang="es-CR" sz="2400" i="1">
                                          <a:latin typeface="Cambria Math"/>
                                        </a:rPr>
                                        <m:t>2</m:t>
                                      </m:r>
                                    </m:sup>
                                  </m:sSup>
                                </m:e>
                              </m:nary>
                            </m:e>
                          </m:nary>
                        </m:num>
                        <m:den>
                          <m:r>
                            <a:rPr lang="es-CR" sz="2400" i="1">
                              <a:latin typeface="Cambria Math"/>
                            </a:rPr>
                            <m:t>𝑛</m:t>
                          </m:r>
                          <m:r>
                            <a:rPr lang="es-CR" sz="2400" i="1">
                              <a:latin typeface="Cambria Math"/>
                            </a:rPr>
                            <m:t>−</m:t>
                          </m:r>
                          <m:r>
                            <a:rPr lang="es-CR" sz="2400" i="1">
                              <a:latin typeface="Cambria Math"/>
                            </a:rPr>
                            <m:t>𝑘</m:t>
                          </m:r>
                        </m:den>
                      </m:f>
                      <m:r>
                        <a:rPr lang="es-CR" sz="2400" b="0" i="0" smtClean="0">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i="1">
                                  <a:latin typeface="Cambria Math"/>
                                </a:rPr>
                                <m:t>𝑑𝑒𝑛𝑡𝑟𝑜</m:t>
                              </m:r>
                            </m:sub>
                          </m:sSub>
                        </m:num>
                        <m:den>
                          <m:r>
                            <a:rPr lang="es-CR" sz="2400" i="1">
                              <a:latin typeface="Cambria Math"/>
                            </a:rPr>
                            <m:t>𝑛</m:t>
                          </m:r>
                          <m:r>
                            <a:rPr lang="es-CR" sz="2400" i="1">
                              <a:latin typeface="Cambria Math"/>
                            </a:rPr>
                            <m:t>−</m:t>
                          </m:r>
                          <m:r>
                            <a:rPr lang="es-CR" sz="2400" i="1">
                              <a:latin typeface="Cambria Math"/>
                            </a:rPr>
                            <m:t>𝑘</m:t>
                          </m:r>
                        </m:den>
                      </m:f>
                    </m:oMath>
                  </m:oMathPara>
                </a14:m>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55811" y="1050878"/>
                <a:ext cx="10515600" cy="5807122"/>
              </a:xfrm>
              <a:blipFill rotWithShape="0">
                <a:blip r:embed="rId2"/>
                <a:stretch>
                  <a:fillRect l="-812" t="-1469"/>
                </a:stretch>
              </a:blipFill>
            </p:spPr>
            <p:txBody>
              <a:bodyPr/>
              <a:lstStyle/>
              <a:p>
                <a:r>
                  <a:rPr lang="es-ES">
                    <a:noFill/>
                  </a:rPr>
                  <a:t> </a:t>
                </a:r>
              </a:p>
            </p:txBody>
          </p:sp>
        </mc:Fallback>
      </mc:AlternateContent>
      <p:sp>
        <p:nvSpPr>
          <p:cNvPr id="4" name="Título 1"/>
          <p:cNvSpPr>
            <a:spLocks noGrp="1"/>
          </p:cNvSpPr>
          <p:nvPr>
            <p:ph type="title"/>
          </p:nvPr>
        </p:nvSpPr>
        <p:spPr>
          <a:xfrm>
            <a:off x="0" y="1"/>
            <a:ext cx="12192000" cy="900752"/>
          </a:xfrm>
        </p:spPr>
        <p:txBody>
          <a:bodyPr>
            <a:normAutofit/>
          </a:bodyPr>
          <a:lstStyle/>
          <a:p>
            <a:pPr algn="ctr"/>
            <a:r>
              <a:rPr lang="es-CR" dirty="0" smtClean="0"/>
              <a:t>Diseño de una vía: cuadrado medio </a:t>
            </a:r>
            <a:endParaRPr lang="es-ES" dirty="0"/>
          </a:p>
        </p:txBody>
      </p:sp>
      <p:pic>
        <p:nvPicPr>
          <p:cNvPr id="33794" name="Picture 2" descr="http://img.freepik.com/free-vector/businessman-say-okey_1012-177.jpg?size=338&amp;ext=jpg"/>
          <p:cNvPicPr>
            <a:picLocks noChangeAspect="1" noChangeArrowheads="1"/>
          </p:cNvPicPr>
          <p:nvPr/>
        </p:nvPicPr>
        <p:blipFill rotWithShape="1">
          <a:blip r:embed="rId3">
            <a:extLst>
              <a:ext uri="{28A0092B-C50C-407E-A947-70E740481C1C}">
                <a14:useLocalDpi xmlns:a14="http://schemas.microsoft.com/office/drawing/2010/main" val="0"/>
              </a:ext>
            </a:extLst>
          </a:blip>
          <a:srcRect t="7793" b="12571"/>
          <a:stretch/>
        </p:blipFill>
        <p:spPr bwMode="auto">
          <a:xfrm>
            <a:off x="8575674" y="2146300"/>
            <a:ext cx="2790825" cy="2222500"/>
          </a:xfrm>
          <a:prstGeom prst="rect">
            <a:avLst/>
          </a:prstGeom>
          <a:noFill/>
          <a:extLst>
            <a:ext uri="{909E8E84-426E-40DD-AFC4-6F175D3DCCD1}">
              <a14:hiddenFill xmlns:a14="http://schemas.microsoft.com/office/drawing/2010/main">
                <a:solidFill>
                  <a:srgbClr val="FFFFFF"/>
                </a:solidFill>
              </a14:hiddenFill>
            </a:ext>
          </a:extLst>
        </p:spPr>
      </p:pic>
      <p:pic>
        <p:nvPicPr>
          <p:cNvPr id="33796" name="Picture 4" descr="http://4.bp.blogspot.com/_sRMHRYNisIg/S2cgIDmurbI/AAAAAAAAAxg/eILVv4J8sU8/s400/duda.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0857" y="5092700"/>
            <a:ext cx="1300458"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739420"/>
      </p:ext>
    </p:extLst>
  </p:cSld>
  <p:clrMapOvr>
    <a:masterClrMapping/>
  </p:clrMapOvr>
  <p:transition spd="slow">
    <p:wheel spokes="1"/>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48481" y="1419225"/>
            <a:ext cx="11259403" cy="2773671"/>
          </a:xfrm>
        </p:spPr>
        <p:txBody>
          <a:bodyPr>
            <a:normAutofit/>
          </a:bodyPr>
          <a:lstStyle/>
          <a:p>
            <a:pPr marL="0" indent="0" algn="ctr">
              <a:buNone/>
            </a:pPr>
            <a:r>
              <a:rPr lang="es-CR" sz="6000" dirty="0" smtClean="0"/>
              <a:t>¿Qué se puede deducir de los cuadrados medios anteriores?</a:t>
            </a:r>
            <a:endParaRPr lang="es-ES" sz="6000" dirty="0"/>
          </a:p>
        </p:txBody>
      </p:sp>
      <p:pic>
        <p:nvPicPr>
          <p:cNvPr id="34818" name="Picture 2" descr="http://www.definicionabc.com/wp-content/uploads/dud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75" y="3576637"/>
            <a:ext cx="3810000" cy="2686051"/>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descr="http://ricardolatouchetarot.com/wp-content/uploads/2015/09/preguntas-consultas-tarot-ricardolatouchetarot-868x6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6400" y="3576637"/>
            <a:ext cx="35687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8841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2361062"/>
          </a:xfrm>
        </p:spPr>
        <p:txBody>
          <a:bodyPr>
            <a:normAutofit/>
          </a:bodyPr>
          <a:lstStyle/>
          <a:p>
            <a:r>
              <a:rPr lang="es-CR" dirty="0" smtClean="0"/>
              <a:t>Sumas de cuadrados</a:t>
            </a:r>
          </a:p>
          <a:p>
            <a:r>
              <a:rPr lang="es-CR" dirty="0" smtClean="0"/>
              <a:t>Grados de libertad</a:t>
            </a:r>
            <a:endParaRPr lang="es-CR" dirty="0"/>
          </a:p>
          <a:p>
            <a:r>
              <a:rPr lang="es-CR" dirty="0" smtClean="0"/>
              <a:t>Cuadrado medio</a:t>
            </a:r>
          </a:p>
          <a:p>
            <a:r>
              <a:rPr lang="es-CR" dirty="0" smtClean="0"/>
              <a:t>Estadístico calculado (Razón de variación)</a:t>
            </a:r>
          </a:p>
          <a:p>
            <a:pPr marL="0" indent="0">
              <a:buNone/>
            </a:pPr>
            <a:endParaRPr lang="es-ES" dirty="0"/>
          </a:p>
        </p:txBody>
      </p:sp>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smtClean="0">
                          <a:effectLst/>
                        </a:rPr>
                        <a:t>CM entre= </a:t>
                      </a:r>
                      <a:endParaRPr lang="es-CR" sz="1400" dirty="0" smtClean="0">
                        <a:effectLst/>
                      </a:endParaRPr>
                    </a:p>
                    <a:p>
                      <a:pPr algn="ctr">
                        <a:lnSpc>
                          <a:spcPct val="115000"/>
                        </a:lnSpc>
                        <a:spcAft>
                          <a:spcPts val="0"/>
                        </a:spcAft>
                      </a:pPr>
                      <a:r>
                        <a:rPr lang="es-CR" sz="1600" dirty="0" smtClean="0">
                          <a:effectLst/>
                        </a:rPr>
                        <a:t>(SC entre) / (k-1)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
        <p:nvSpPr>
          <p:cNvPr id="5" name="4 Rectángulo redondeado"/>
          <p:cNvSpPr/>
          <p:nvPr/>
        </p:nvSpPr>
        <p:spPr>
          <a:xfrm>
            <a:off x="8877300" y="177800"/>
            <a:ext cx="23495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9002582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51347" y="1429839"/>
                <a:ext cx="8117953" cy="5257563"/>
              </a:xfrm>
            </p:spPr>
            <p:txBody>
              <a:bodyPr>
                <a:normAutofit/>
              </a:bodyPr>
              <a:lstStyle/>
              <a:p>
                <a:pPr algn="just"/>
                <a:r>
                  <a:rPr lang="es-CR" sz="2400" dirty="0" smtClean="0"/>
                  <a:t>Finalmente se podrá entender el por qué del nombre del análisis de variancia. </a:t>
                </a:r>
              </a:p>
              <a:p>
                <a:pPr algn="just"/>
                <a:endParaRPr lang="es-CR" sz="2400" dirty="0"/>
              </a:p>
              <a:p>
                <a:pPr algn="just"/>
                <a:r>
                  <a:rPr lang="es-CR" sz="2400" dirty="0" smtClean="0"/>
                  <a:t>Para contemplar el cuadro del ANOVA, se realiza la razón de variación, esto es, se dividen los cuadrados medios.</a:t>
                </a:r>
              </a:p>
              <a:p>
                <a:pPr algn="just"/>
                <a:endParaRPr lang="es-CR" sz="2400" dirty="0"/>
              </a:p>
              <a:p>
                <a:pPr algn="just"/>
                <a:r>
                  <a:rPr lang="es-CR" sz="2400" dirty="0" smtClean="0"/>
                  <a:t>La expresión en la siguiente:</a:t>
                </a:r>
              </a:p>
              <a:p>
                <a:pPr marL="0" indent="0" algn="just">
                  <a:buNone/>
                </a:pPr>
                <a:endParaRPr lang="es-CR" sz="2400" dirty="0" smtClean="0"/>
              </a:p>
              <a:p>
                <a:pPr marL="0" indent="0">
                  <a:buNone/>
                </a:pPr>
                <a:endParaRPr lang="es-CR" sz="2400" dirty="0" smtClean="0"/>
              </a:p>
              <a:p>
                <a:pPr marL="0" indent="0">
                  <a:buNone/>
                </a:pPr>
                <a14:m>
                  <m:oMathPara xmlns:m="http://schemas.openxmlformats.org/officeDocument/2006/math">
                    <m:oMathParaPr>
                      <m:jc m:val="centerGroup"/>
                    </m:oMathParaPr>
                    <m:oMath xmlns:m="http://schemas.openxmlformats.org/officeDocument/2006/math">
                      <m:r>
                        <a:rPr lang="es-CR" sz="2400" i="1">
                          <a:latin typeface="Cambria Math"/>
                        </a:rPr>
                        <m:t>𝑅</m:t>
                      </m:r>
                      <m:r>
                        <a:rPr lang="es-CR" sz="2400" i="1">
                          <a:latin typeface="Cambria Math"/>
                        </a:rPr>
                        <m:t>.</m:t>
                      </m:r>
                      <m:r>
                        <a:rPr lang="es-CR" sz="2400" i="1">
                          <a:latin typeface="Cambria Math"/>
                        </a:rPr>
                        <m:t>𝑉</m:t>
                      </m:r>
                      <m:r>
                        <a:rPr lang="es-CR" sz="2400" i="1">
                          <a:latin typeface="Cambria Math"/>
                        </a:rPr>
                        <m:t>.=</m:t>
                      </m:r>
                      <m:f>
                        <m:fPr>
                          <m:ctrlPr>
                            <a:rPr lang="es-ES" sz="2400" i="1">
                              <a:latin typeface="Cambria Math"/>
                            </a:rPr>
                          </m:ctrlPr>
                        </m:fPr>
                        <m:num>
                          <m:r>
                            <a:rPr lang="es-CR" sz="2400" i="1">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𝑒𝑛𝑡𝑟𝑒</m:t>
                              </m:r>
                            </m:sub>
                          </m:sSub>
                        </m:num>
                        <m:den>
                          <m:r>
                            <a:rPr lang="es-CR" sz="2400" i="1">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𝑑𝑒𝑛𝑡𝑟𝑜</m:t>
                              </m:r>
                            </m:sub>
                          </m:sSub>
                        </m:den>
                      </m:f>
                      <m:r>
                        <a:rPr lang="es-CR" sz="2400" i="1">
                          <a:latin typeface="Cambria Math"/>
                        </a:rPr>
                        <m:t> </m:t>
                      </m:r>
                    </m:oMath>
                  </m:oMathPara>
                </a14:m>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51347" y="1429839"/>
                <a:ext cx="8117953" cy="5257563"/>
              </a:xfrm>
              <a:blipFill rotWithShape="1">
                <a:blip r:embed="rId2"/>
                <a:stretch>
                  <a:fillRect l="-976" t="-1624" r="-1201"/>
                </a:stretch>
              </a:blipFill>
            </p:spPr>
            <p:txBody>
              <a:bodyPr/>
              <a:lstStyle/>
              <a:p>
                <a:r>
                  <a:rPr lang="es-CR">
                    <a:noFill/>
                  </a:rPr>
                  <a:t> </a:t>
                </a:r>
              </a:p>
            </p:txBody>
          </p:sp>
        </mc:Fallback>
      </mc:AlternateContent>
      <p:sp>
        <p:nvSpPr>
          <p:cNvPr id="4" name="Título 1"/>
          <p:cNvSpPr>
            <a:spLocks noGrp="1"/>
          </p:cNvSpPr>
          <p:nvPr>
            <p:ph type="title"/>
          </p:nvPr>
        </p:nvSpPr>
        <p:spPr>
          <a:xfrm>
            <a:off x="838200" y="0"/>
            <a:ext cx="10515600" cy="1174917"/>
          </a:xfrm>
        </p:spPr>
        <p:txBody>
          <a:bodyPr/>
          <a:lstStyle/>
          <a:p>
            <a:pPr algn="ctr"/>
            <a:r>
              <a:rPr lang="es-CR" dirty="0" smtClean="0"/>
              <a:t>Diseño de una vía: estadística de prueba</a:t>
            </a:r>
            <a:endParaRPr lang="es-ES" dirty="0"/>
          </a:p>
        </p:txBody>
      </p:sp>
      <p:pic>
        <p:nvPicPr>
          <p:cNvPr id="35842" name="Picture 2" descr="http://hpa.free.fr/Test_moy.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4973" y="3540378"/>
            <a:ext cx="5191127" cy="3087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29361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1 Tabla"/>
              <p:cNvGraphicFramePr>
                <a:graphicFrameLocks noGrp="1"/>
              </p:cNvGraphicFramePr>
              <p:nvPr>
                <p:extLst>
                  <p:ext uri="{D42A27DB-BD31-4B8C-83A1-F6EECF244321}">
                    <p14:modId xmlns:p14="http://schemas.microsoft.com/office/powerpoint/2010/main" val="3591218180"/>
                  </p:ext>
                </p:extLst>
              </p:nvPr>
            </p:nvGraphicFramePr>
            <p:xfrm>
              <a:off x="272955" y="215745"/>
              <a:ext cx="11559654" cy="6583250"/>
            </p:xfrm>
            <a:graphic>
              <a:graphicData uri="http://schemas.openxmlformats.org/drawingml/2006/table">
                <a:tbl>
                  <a:tblPr firstRow="1" firstCol="1" bandRow="1">
                    <a:tableStyleId>{5C22544A-7EE6-4342-B048-85BDC9FD1C3A}</a:tableStyleId>
                  </a:tblPr>
                  <a:tblGrid>
                    <a:gridCol w="1624084"/>
                    <a:gridCol w="2593881"/>
                    <a:gridCol w="1884411"/>
                    <a:gridCol w="2836064"/>
                    <a:gridCol w="2621214"/>
                  </a:tblGrid>
                  <a:tr h="1844654">
                    <a:tc>
                      <a:txBody>
                        <a:bodyPr/>
                        <a:lstStyle/>
                        <a:p>
                          <a:pPr algn="ctr">
                            <a:lnSpc>
                              <a:spcPct val="115000"/>
                            </a:lnSpc>
                            <a:spcAft>
                              <a:spcPts val="0"/>
                            </a:spcAft>
                          </a:pPr>
                          <a:r>
                            <a:rPr lang="es-CR" sz="2000" dirty="0">
                              <a:effectLst/>
                            </a:rPr>
                            <a:t>Fuentes  de variación</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Suma de cuadrados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Grados de libertas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Cuadrado medio</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Razón de variación</a:t>
                          </a:r>
                          <a:endParaRPr lang="es-CR" sz="1800" dirty="0">
                            <a:effectLst/>
                            <a:latin typeface="Calibri"/>
                            <a:ea typeface="Calibri"/>
                            <a:cs typeface="Times New Roman"/>
                          </a:endParaRPr>
                        </a:p>
                      </a:txBody>
                      <a:tcPr marL="68580" marR="68580" marT="0" marB="0" anchor="ctr"/>
                    </a:tc>
                  </a:tr>
                  <a:tr h="2052460">
                    <a:tc>
                      <a:txBody>
                        <a:bodyPr/>
                        <a:lstStyle/>
                        <a:p>
                          <a:pPr algn="ctr">
                            <a:lnSpc>
                              <a:spcPct val="115000"/>
                            </a:lnSpc>
                            <a:spcAft>
                              <a:spcPts val="0"/>
                            </a:spcAft>
                          </a:pPr>
                          <a:r>
                            <a:rPr lang="es-CR" sz="2000" dirty="0">
                              <a:effectLst/>
                            </a:rPr>
                            <a:t>Entre muestras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ES" sz="2000" i="1" smtClean="0">
                                        <a:latin typeface="Cambria Math"/>
                                      </a:rPr>
                                    </m:ctrlPr>
                                  </m:naryPr>
                                  <m:sub>
                                    <m:r>
                                      <a:rPr lang="es-CR" sz="2000" i="1">
                                        <a:latin typeface="Cambria Math" panose="02040503050406030204" pitchFamily="18" charset="0"/>
                                      </a:rPr>
                                      <m:t>𝑗</m:t>
                                    </m:r>
                                    <m:r>
                                      <a:rPr lang="es-CR" sz="2000" i="1">
                                        <a:latin typeface="Cambria Math" panose="02040503050406030204" pitchFamily="18" charset="0"/>
                                      </a:rPr>
                                      <m:t>=1</m:t>
                                    </m:r>
                                  </m:sub>
                                  <m:sup>
                                    <m:r>
                                      <a:rPr lang="es-CR" sz="2000" i="1">
                                        <a:latin typeface="Cambria Math" panose="02040503050406030204" pitchFamily="18" charset="0"/>
                                      </a:rPr>
                                      <m:t>𝑘</m:t>
                                    </m:r>
                                  </m:sup>
                                  <m:e>
                                    <m:sSub>
                                      <m:sSubPr>
                                        <m:ctrlPr>
                                          <a:rPr lang="es-ES" sz="2000" i="1">
                                            <a:latin typeface="Cambria Math"/>
                                          </a:rPr>
                                        </m:ctrlPr>
                                      </m:sSubPr>
                                      <m:e>
                                        <m:r>
                                          <a:rPr lang="es-CR" sz="2000" i="1">
                                            <a:latin typeface="Cambria Math" panose="02040503050406030204" pitchFamily="18" charset="0"/>
                                          </a:rPr>
                                          <m:t>𝑛</m:t>
                                        </m:r>
                                      </m:e>
                                      <m:sub>
                                        <m:r>
                                          <a:rPr lang="es-CR" sz="2000" i="1">
                                            <a:latin typeface="Cambria Math" panose="02040503050406030204" pitchFamily="18" charset="0"/>
                                          </a:rPr>
                                          <m:t>𝑗</m:t>
                                        </m:r>
                                      </m:sub>
                                    </m:sSub>
                                    <m:sSup>
                                      <m:sSupPr>
                                        <m:ctrlPr>
                                          <a:rPr lang="es-ES" sz="2000" i="1">
                                            <a:latin typeface="Cambria Math"/>
                                          </a:rPr>
                                        </m:ctrlPr>
                                      </m:sSupPr>
                                      <m:e>
                                        <m:r>
                                          <a:rPr lang="es-CR" sz="2000" i="1">
                                            <a:latin typeface="Cambria Math" panose="02040503050406030204" pitchFamily="18" charset="0"/>
                                          </a:rPr>
                                          <m:t>(</m:t>
                                        </m:r>
                                        <m:sSub>
                                          <m:sSubPr>
                                            <m:ctrlPr>
                                              <a:rPr lang="es-ES" sz="2000" i="1">
                                                <a:latin typeface="Cambria Math"/>
                                              </a:rPr>
                                            </m:ctrlPr>
                                          </m:sSubPr>
                                          <m:e>
                                            <m:acc>
                                              <m:accPr>
                                                <m:chr m:val="̅"/>
                                                <m:ctrlPr>
                                                  <a:rPr lang="es-ES" sz="2000" i="1">
                                                    <a:latin typeface="Cambria Math"/>
                                                  </a:rPr>
                                                </m:ctrlPr>
                                              </m:accPr>
                                              <m:e>
                                                <m:r>
                                                  <a:rPr lang="es-CR" sz="2000" i="1">
                                                    <a:latin typeface="Cambria Math" panose="02040503050406030204" pitchFamily="18" charset="0"/>
                                                  </a:rPr>
                                                  <m:t>𝑥</m:t>
                                                </m:r>
                                              </m:e>
                                            </m:acc>
                                          </m:e>
                                          <m:sub>
                                            <m:r>
                                              <a:rPr lang="es-CR" sz="2000" i="1">
                                                <a:latin typeface="Cambria Math" panose="02040503050406030204" pitchFamily="18" charset="0"/>
                                              </a:rPr>
                                              <m:t>.</m:t>
                                            </m:r>
                                            <m:r>
                                              <a:rPr lang="es-CR" sz="2000" i="1">
                                                <a:latin typeface="Cambria Math" panose="02040503050406030204" pitchFamily="18" charset="0"/>
                                              </a:rPr>
                                              <m:t>𝑗</m:t>
                                            </m:r>
                                          </m:sub>
                                        </m:sSub>
                                        <m:r>
                                          <a:rPr lang="es-CR" sz="2000" i="1">
                                            <a:latin typeface="Cambria Math" panose="02040503050406030204" pitchFamily="18" charset="0"/>
                                          </a:rPr>
                                          <m:t>−</m:t>
                                        </m:r>
                                        <m:sSub>
                                          <m:sSubPr>
                                            <m:ctrlPr>
                                              <a:rPr lang="es-ES" sz="2000" i="1">
                                                <a:latin typeface="Cambria Math"/>
                                              </a:rPr>
                                            </m:ctrlPr>
                                          </m:sSubPr>
                                          <m:e>
                                            <m:acc>
                                              <m:accPr>
                                                <m:chr m:val="̅"/>
                                                <m:ctrlPr>
                                                  <a:rPr lang="es-ES" sz="2000" i="1">
                                                    <a:latin typeface="Cambria Math"/>
                                                  </a:rPr>
                                                </m:ctrlPr>
                                              </m:accPr>
                                              <m:e>
                                                <m:r>
                                                  <a:rPr lang="es-CR" sz="2000" i="1">
                                                    <a:latin typeface="Cambria Math" panose="02040503050406030204" pitchFamily="18" charset="0"/>
                                                  </a:rPr>
                                                  <m:t>𝑥</m:t>
                                                </m:r>
                                              </m:e>
                                            </m:acc>
                                          </m:e>
                                          <m:sub>
                                            <m:r>
                                              <a:rPr lang="es-CR" sz="2000" i="1">
                                                <a:latin typeface="Cambria Math" panose="02040503050406030204" pitchFamily="18" charset="0"/>
                                              </a:rPr>
                                              <m:t>..</m:t>
                                            </m:r>
                                          </m:sub>
                                        </m:sSub>
                                        <m:r>
                                          <a:rPr lang="es-CR" sz="2000" i="1">
                                            <a:latin typeface="Cambria Math" panose="02040503050406030204" pitchFamily="18" charset="0"/>
                                          </a:rPr>
                                          <m:t>)</m:t>
                                        </m:r>
                                      </m:e>
                                      <m:sup>
                                        <m:r>
                                          <a:rPr lang="es-CR" sz="2000" i="1">
                                            <a:latin typeface="Cambria Math" panose="02040503050406030204" pitchFamily="18" charset="0"/>
                                          </a:rPr>
                                          <m:t>2</m:t>
                                        </m:r>
                                      </m:sup>
                                    </m:sSup>
                                  </m:e>
                                </m:nary>
                              </m:oMath>
                            </m:oMathPara>
                          </a14:m>
                          <a:endParaRPr lang="es-CR" sz="1800" dirty="0">
                            <a:effectLst/>
                            <a:latin typeface="Calibri"/>
                            <a:ea typeface="Calibri"/>
                            <a:cs typeface="Times New Roman"/>
                          </a:endParaRPr>
                        </a:p>
                      </a:txBody>
                      <a:tcPr marL="68580" marR="68580" marT="0" marB="0" anchor="ctr"/>
                    </a:tc>
                    <a:tc>
                      <a:txBody>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𝒌</m:t>
                                </m:r>
                                <m:r>
                                  <a:rPr lang="es-ES" sz="2000" b="1" i="0">
                                    <a:latin typeface="Cambria Math" panose="02040503050406030204" pitchFamily="18" charset="0"/>
                                  </a:rPr>
                                  <m:t>−</m:t>
                                </m:r>
                                <m:r>
                                  <a:rPr lang="es-ES" sz="2000" b="1" i="0">
                                    <a:latin typeface="Cambria Math" panose="02040503050406030204" pitchFamily="18" charset="0"/>
                                  </a:rPr>
                                  <m:t>𝟏</m:t>
                                </m:r>
                              </m:oMath>
                            </m:oMathPara>
                          </a14:m>
                          <a:endParaRPr lang="es-ES" sz="2000" b="1" dirty="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s-CR" sz="1800" i="1" smtClean="0">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𝑒𝑛𝑡𝑟𝑒</m:t>
                                    </m:r>
                                  </m:sub>
                                </m:sSub>
                                <m:r>
                                  <a:rPr lang="es-CR" sz="1800" i="1">
                                    <a:latin typeface="Cambria Math" panose="02040503050406030204" pitchFamily="18" charset="0"/>
                                  </a:rPr>
                                  <m:t>= </m:t>
                                </m:r>
                                <m:f>
                                  <m:fPr>
                                    <m:ctrlPr>
                                      <a:rPr lang="es-ES" sz="1800" i="1">
                                        <a:latin typeface="Cambria Math"/>
                                      </a:rPr>
                                    </m:ctrlPr>
                                  </m:fPr>
                                  <m:num>
                                    <m:nary>
                                      <m:naryPr>
                                        <m:chr m:val="∑"/>
                                        <m:limLoc m:val="undOvr"/>
                                        <m:ctrlPr>
                                          <a:rPr lang="es-ES" sz="1800" i="1">
                                            <a:latin typeface="Cambria Math"/>
                                          </a:rPr>
                                        </m:ctrlPr>
                                      </m:naryPr>
                                      <m:sub>
                                        <m:r>
                                          <a:rPr lang="es-CR" sz="1800" i="1">
                                            <a:latin typeface="Cambria Math" panose="02040503050406030204" pitchFamily="18" charset="0"/>
                                          </a:rPr>
                                          <m:t>𝑗</m:t>
                                        </m:r>
                                        <m:r>
                                          <a:rPr lang="es-CR" sz="1800" i="1">
                                            <a:latin typeface="Cambria Math" panose="02040503050406030204" pitchFamily="18" charset="0"/>
                                          </a:rPr>
                                          <m:t>=1</m:t>
                                        </m:r>
                                      </m:sub>
                                      <m:sup>
                                        <m:r>
                                          <a:rPr lang="es-CR" sz="1800" i="1">
                                            <a:latin typeface="Cambria Math" panose="02040503050406030204" pitchFamily="18" charset="0"/>
                                          </a:rPr>
                                          <m:t>𝑘</m:t>
                                        </m:r>
                                      </m:sup>
                                      <m:e>
                                        <m:sSub>
                                          <m:sSubPr>
                                            <m:ctrlPr>
                                              <a:rPr lang="es-ES" sz="1800" i="1">
                                                <a:latin typeface="Cambria Math"/>
                                              </a:rPr>
                                            </m:ctrlPr>
                                          </m:sSubPr>
                                          <m:e>
                                            <m:r>
                                              <a:rPr lang="es-CR" sz="1800" i="1">
                                                <a:latin typeface="Cambria Math" panose="02040503050406030204" pitchFamily="18" charset="0"/>
                                              </a:rPr>
                                              <m:t>𝑛</m:t>
                                            </m:r>
                                          </m:e>
                                          <m:sub>
                                            <m:r>
                                              <a:rPr lang="es-CR" sz="1800" i="1">
                                                <a:latin typeface="Cambria Math" panose="02040503050406030204" pitchFamily="18" charset="0"/>
                                              </a:rPr>
                                              <m:t>𝑗</m:t>
                                            </m:r>
                                          </m:sub>
                                        </m:sSub>
                                        <m:sSup>
                                          <m:sSupPr>
                                            <m:ctrlPr>
                                              <a:rPr lang="es-ES" sz="1800" i="1">
                                                <a:latin typeface="Cambria Math"/>
                                              </a:rPr>
                                            </m:ctrlPr>
                                          </m:sSupPr>
                                          <m:e>
                                            <m:r>
                                              <a:rPr lang="es-CR" sz="1800" i="1">
                                                <a:latin typeface="Cambria Math" panose="02040503050406030204" pitchFamily="18" charset="0"/>
                                              </a:rPr>
                                              <m:t>(</m:t>
                                            </m:r>
                                            <m:sSub>
                                              <m:sSubPr>
                                                <m:ctrlPr>
                                                  <a:rPr lang="es-ES" sz="1800" i="1">
                                                    <a:latin typeface="Cambria Math"/>
                                                  </a:rPr>
                                                </m:ctrlPr>
                                              </m:sSubPr>
                                              <m:e>
                                                <m:acc>
                                                  <m:accPr>
                                                    <m:chr m:val="̅"/>
                                                    <m:ctrlPr>
                                                      <a:rPr lang="es-ES" sz="1800" i="1">
                                                        <a:latin typeface="Cambria Math"/>
                                                      </a:rPr>
                                                    </m:ctrlPr>
                                                  </m:accPr>
                                                  <m:e>
                                                    <m:r>
                                                      <a:rPr lang="es-CR" sz="1800" i="1">
                                                        <a:latin typeface="Cambria Math" panose="02040503050406030204" pitchFamily="18" charset="0"/>
                                                      </a:rPr>
                                                      <m:t>𝑥</m:t>
                                                    </m:r>
                                                  </m:e>
                                                </m:acc>
                                              </m:e>
                                              <m:sub>
                                                <m:r>
                                                  <a:rPr lang="es-CR" sz="1800" i="1">
                                                    <a:latin typeface="Cambria Math" panose="02040503050406030204" pitchFamily="18" charset="0"/>
                                                  </a:rPr>
                                                  <m:t>.</m:t>
                                                </m:r>
                                                <m:r>
                                                  <a:rPr lang="es-CR" sz="1800" i="1">
                                                    <a:latin typeface="Cambria Math" panose="02040503050406030204" pitchFamily="18" charset="0"/>
                                                  </a:rPr>
                                                  <m:t>𝑗</m:t>
                                                </m:r>
                                              </m:sub>
                                            </m:sSub>
                                            <m:r>
                                              <a:rPr lang="es-CR" sz="1800" i="1">
                                                <a:latin typeface="Cambria Math" panose="02040503050406030204" pitchFamily="18" charset="0"/>
                                              </a:rPr>
                                              <m:t>−</m:t>
                                            </m:r>
                                            <m:sSub>
                                              <m:sSubPr>
                                                <m:ctrlPr>
                                                  <a:rPr lang="es-ES" sz="1800" i="1">
                                                    <a:latin typeface="Cambria Math"/>
                                                  </a:rPr>
                                                </m:ctrlPr>
                                              </m:sSubPr>
                                              <m:e>
                                                <m:acc>
                                                  <m:accPr>
                                                    <m:chr m:val="̅"/>
                                                    <m:ctrlPr>
                                                      <a:rPr lang="es-ES" sz="1800" i="1">
                                                        <a:latin typeface="Cambria Math"/>
                                                      </a:rPr>
                                                    </m:ctrlPr>
                                                  </m:accPr>
                                                  <m:e>
                                                    <m:r>
                                                      <a:rPr lang="es-CR" sz="1800" i="1">
                                                        <a:latin typeface="Cambria Math" panose="02040503050406030204" pitchFamily="18" charset="0"/>
                                                      </a:rPr>
                                                      <m:t>𝑥</m:t>
                                                    </m:r>
                                                  </m:e>
                                                </m:acc>
                                              </m:e>
                                              <m:sub>
                                                <m:r>
                                                  <a:rPr lang="es-CR" sz="1800" i="1">
                                                    <a:latin typeface="Cambria Math" panose="02040503050406030204" pitchFamily="18" charset="0"/>
                                                  </a:rPr>
                                                  <m:t>..</m:t>
                                                </m:r>
                                              </m:sub>
                                            </m:sSub>
                                            <m:r>
                                              <a:rPr lang="es-CR" sz="1800" i="1">
                                                <a:latin typeface="Cambria Math" panose="02040503050406030204" pitchFamily="18" charset="0"/>
                                              </a:rPr>
                                              <m:t>)</m:t>
                                            </m:r>
                                          </m:e>
                                          <m:sup>
                                            <m:r>
                                              <a:rPr lang="es-CR" sz="1800" i="1">
                                                <a:latin typeface="Cambria Math" panose="02040503050406030204" pitchFamily="18" charset="0"/>
                                              </a:rPr>
                                              <m:t>2</m:t>
                                            </m:r>
                                          </m:sup>
                                        </m:sSup>
                                      </m:e>
                                    </m:nary>
                                  </m:num>
                                  <m:den>
                                    <m:r>
                                      <a:rPr lang="es-CR" sz="1800" i="1">
                                        <a:latin typeface="Cambria Math" panose="02040503050406030204" pitchFamily="18" charset="0"/>
                                      </a:rPr>
                                      <m:t>𝑘</m:t>
                                    </m:r>
                                    <m:r>
                                      <a:rPr lang="es-CR" sz="1800" i="1">
                                        <a:latin typeface="Cambria Math" panose="02040503050406030204" pitchFamily="18" charset="0"/>
                                      </a:rPr>
                                      <m:t>−1</m:t>
                                    </m:r>
                                  </m:den>
                                </m:f>
                              </m:oMath>
                            </m:oMathPara>
                          </a14:m>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s-CR" sz="1800" i="1" smtClean="0">
                                    <a:latin typeface="Cambria Math" panose="02040503050406030204" pitchFamily="18" charset="0"/>
                                  </a:rPr>
                                  <m:t>𝑅</m:t>
                                </m:r>
                                <m:r>
                                  <a:rPr lang="es-CR" sz="1800" i="1" smtClean="0">
                                    <a:latin typeface="Cambria Math" panose="02040503050406030204" pitchFamily="18" charset="0"/>
                                  </a:rPr>
                                  <m:t>.</m:t>
                                </m:r>
                                <m:r>
                                  <a:rPr lang="es-CR" sz="1800" i="1" smtClean="0">
                                    <a:latin typeface="Cambria Math" panose="02040503050406030204" pitchFamily="18" charset="0"/>
                                  </a:rPr>
                                  <m:t>𝑉</m:t>
                                </m:r>
                                <m:r>
                                  <a:rPr lang="es-CR" sz="1800" i="1" smtClean="0">
                                    <a:latin typeface="Cambria Math" panose="02040503050406030204" pitchFamily="18" charset="0"/>
                                  </a:rPr>
                                  <m:t>.=</m:t>
                                </m:r>
                                <m:f>
                                  <m:fPr>
                                    <m:ctrlPr>
                                      <a:rPr lang="es-ES" sz="1800" i="1">
                                        <a:latin typeface="Cambria Math"/>
                                      </a:rPr>
                                    </m:ctrlPr>
                                  </m:fPr>
                                  <m:num>
                                    <m:r>
                                      <a:rPr lang="es-CR" sz="1800" i="1">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𝑒𝑛𝑡𝑟𝑒</m:t>
                                        </m:r>
                                      </m:sub>
                                    </m:sSub>
                                  </m:num>
                                  <m:den>
                                    <m:r>
                                      <a:rPr lang="es-CR" sz="1800" i="1">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𝑑𝑒𝑛𝑡𝑟𝑜</m:t>
                                        </m:r>
                                      </m:sub>
                                    </m:sSub>
                                  </m:den>
                                </m:f>
                              </m:oMath>
                            </m:oMathPara>
                          </a14:m>
                          <a:endParaRPr lang="es-CR" sz="1800" dirty="0">
                            <a:effectLst/>
                            <a:latin typeface="Calibri"/>
                            <a:ea typeface="Calibri"/>
                            <a:cs typeface="Times New Roman"/>
                          </a:endParaRPr>
                        </a:p>
                      </a:txBody>
                      <a:tcPr marL="68580" marR="68580" marT="0" marB="0" anchor="ctr"/>
                    </a:tc>
                  </a:tr>
                  <a:tr h="1653689">
                    <a:tc>
                      <a:txBody>
                        <a:bodyPr/>
                        <a:lstStyle/>
                        <a:p>
                          <a:pPr algn="ctr">
                            <a:lnSpc>
                              <a:spcPct val="115000"/>
                            </a:lnSpc>
                            <a:spcAft>
                              <a:spcPts val="0"/>
                            </a:spcAft>
                          </a:pPr>
                          <a:r>
                            <a:rPr lang="es-CR" sz="2000" dirty="0">
                              <a:effectLst/>
                            </a:rPr>
                            <a:t>Dentro de los muestras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ES" sz="2000" i="1" smtClean="0">
                                        <a:latin typeface="Cambria Math"/>
                                      </a:rPr>
                                    </m:ctrlPr>
                                  </m:naryPr>
                                  <m:sub>
                                    <m:r>
                                      <a:rPr lang="es-CR" sz="2000" i="1">
                                        <a:latin typeface="Cambria Math" panose="02040503050406030204" pitchFamily="18" charset="0"/>
                                      </a:rPr>
                                      <m:t>𝑗</m:t>
                                    </m:r>
                                    <m:r>
                                      <a:rPr lang="es-CR" sz="2000" i="1">
                                        <a:latin typeface="Cambria Math" panose="02040503050406030204" pitchFamily="18" charset="0"/>
                                      </a:rPr>
                                      <m:t>=1</m:t>
                                    </m:r>
                                  </m:sub>
                                  <m:sup>
                                    <m:r>
                                      <a:rPr lang="es-CR" sz="2000" i="1">
                                        <a:latin typeface="Cambria Math" panose="02040503050406030204" pitchFamily="18" charset="0"/>
                                      </a:rPr>
                                      <m:t>𝑘</m:t>
                                    </m:r>
                                  </m:sup>
                                  <m:e>
                                    <m:nary>
                                      <m:naryPr>
                                        <m:chr m:val="∑"/>
                                        <m:limLoc m:val="undOvr"/>
                                        <m:ctrlPr>
                                          <a:rPr lang="es-ES" sz="2000" i="1">
                                            <a:latin typeface="Cambria Math"/>
                                          </a:rPr>
                                        </m:ctrlPr>
                                      </m:naryPr>
                                      <m:sub>
                                        <m:r>
                                          <a:rPr lang="es-CR" sz="2000" i="1">
                                            <a:latin typeface="Cambria Math" panose="02040503050406030204" pitchFamily="18" charset="0"/>
                                          </a:rPr>
                                          <m:t>𝑖</m:t>
                                        </m:r>
                                        <m:r>
                                          <a:rPr lang="es-CR" sz="2000" i="1">
                                            <a:latin typeface="Cambria Math" panose="02040503050406030204" pitchFamily="18" charset="0"/>
                                          </a:rPr>
                                          <m:t>=1</m:t>
                                        </m:r>
                                      </m:sub>
                                      <m:sup>
                                        <m:sSub>
                                          <m:sSubPr>
                                            <m:ctrlPr>
                                              <a:rPr lang="es-ES" sz="2000" i="1">
                                                <a:latin typeface="Cambria Math"/>
                                              </a:rPr>
                                            </m:ctrlPr>
                                          </m:sSubPr>
                                          <m:e>
                                            <m:r>
                                              <a:rPr lang="es-CR" sz="2000" i="1">
                                                <a:latin typeface="Cambria Math" panose="02040503050406030204" pitchFamily="18" charset="0"/>
                                              </a:rPr>
                                              <m:t>𝑛</m:t>
                                            </m:r>
                                          </m:e>
                                          <m:sub>
                                            <m:r>
                                              <a:rPr lang="es-CR" sz="2000" i="1">
                                                <a:latin typeface="Cambria Math" panose="02040503050406030204" pitchFamily="18" charset="0"/>
                                              </a:rPr>
                                              <m:t>𝑗</m:t>
                                            </m:r>
                                          </m:sub>
                                        </m:sSub>
                                      </m:sup>
                                      <m:e>
                                        <m:sSup>
                                          <m:sSupPr>
                                            <m:ctrlPr>
                                              <a:rPr lang="es-ES" sz="2000" i="1">
                                                <a:latin typeface="Cambria Math"/>
                                              </a:rPr>
                                            </m:ctrlPr>
                                          </m:sSupPr>
                                          <m:e>
                                            <m:r>
                                              <a:rPr lang="es-CR" sz="2000" i="1">
                                                <a:latin typeface="Cambria Math" panose="02040503050406030204" pitchFamily="18" charset="0"/>
                                              </a:rPr>
                                              <m:t>(</m:t>
                                            </m:r>
                                            <m:sSub>
                                              <m:sSubPr>
                                                <m:ctrlPr>
                                                  <a:rPr lang="es-ES" sz="2000" i="1">
                                                    <a:latin typeface="Cambria Math"/>
                                                  </a:rPr>
                                                </m:ctrlPr>
                                              </m:sSubPr>
                                              <m:e>
                                                <m:r>
                                                  <a:rPr lang="es-CR" sz="2000" i="1">
                                                    <a:latin typeface="Cambria Math" panose="02040503050406030204" pitchFamily="18" charset="0"/>
                                                  </a:rPr>
                                                  <m:t>𝑥</m:t>
                                                </m:r>
                                              </m:e>
                                              <m:sub>
                                                <m:r>
                                                  <a:rPr lang="es-CR" sz="2000" i="1">
                                                    <a:latin typeface="Cambria Math" panose="02040503050406030204" pitchFamily="18" charset="0"/>
                                                  </a:rPr>
                                                  <m:t>𝑖𝑗</m:t>
                                                </m:r>
                                              </m:sub>
                                            </m:sSub>
                                            <m:r>
                                              <a:rPr lang="es-CR" sz="2000" i="1">
                                                <a:latin typeface="Cambria Math" panose="02040503050406030204" pitchFamily="18" charset="0"/>
                                              </a:rPr>
                                              <m:t>−</m:t>
                                            </m:r>
                                            <m:sSub>
                                              <m:sSubPr>
                                                <m:ctrlPr>
                                                  <a:rPr lang="es-ES" sz="2000" i="1">
                                                    <a:latin typeface="Cambria Math"/>
                                                  </a:rPr>
                                                </m:ctrlPr>
                                              </m:sSubPr>
                                              <m:e>
                                                <m:acc>
                                                  <m:accPr>
                                                    <m:chr m:val="̅"/>
                                                    <m:ctrlPr>
                                                      <a:rPr lang="es-ES" sz="2000" i="1">
                                                        <a:latin typeface="Cambria Math"/>
                                                      </a:rPr>
                                                    </m:ctrlPr>
                                                  </m:accPr>
                                                  <m:e>
                                                    <m:r>
                                                      <a:rPr lang="es-CR" sz="2000" i="1">
                                                        <a:latin typeface="Cambria Math" panose="02040503050406030204" pitchFamily="18" charset="0"/>
                                                      </a:rPr>
                                                      <m:t>𝑥</m:t>
                                                    </m:r>
                                                  </m:e>
                                                </m:acc>
                                              </m:e>
                                              <m:sub>
                                                <m:r>
                                                  <a:rPr lang="es-CR" sz="2000" i="1">
                                                    <a:latin typeface="Cambria Math" panose="02040503050406030204" pitchFamily="18" charset="0"/>
                                                  </a:rPr>
                                                  <m:t>.</m:t>
                                                </m:r>
                                                <m:r>
                                                  <a:rPr lang="es-CR" sz="2000" i="1">
                                                    <a:latin typeface="Cambria Math" panose="02040503050406030204" pitchFamily="18" charset="0"/>
                                                  </a:rPr>
                                                  <m:t>𝑗</m:t>
                                                </m:r>
                                              </m:sub>
                                            </m:sSub>
                                            <m:r>
                                              <a:rPr lang="es-CR" sz="2000" i="1">
                                                <a:latin typeface="Cambria Math" panose="02040503050406030204" pitchFamily="18" charset="0"/>
                                              </a:rPr>
                                              <m:t>)</m:t>
                                            </m:r>
                                          </m:e>
                                          <m:sup>
                                            <m:r>
                                              <a:rPr lang="es-CR" sz="2000" i="1">
                                                <a:latin typeface="Cambria Math" panose="02040503050406030204" pitchFamily="18" charset="0"/>
                                              </a:rPr>
                                              <m:t>2</m:t>
                                            </m:r>
                                          </m:sup>
                                        </m:sSup>
                                      </m:e>
                                    </m:nary>
                                  </m:e>
                                </m:nary>
                              </m:oMath>
                            </m:oMathPara>
                          </a14:m>
                          <a:endParaRPr lang="es-CR" sz="1800" dirty="0">
                            <a:effectLst/>
                            <a:latin typeface="Calibri"/>
                            <a:ea typeface="Calibri"/>
                            <a:cs typeface="Times New Roman"/>
                          </a:endParaRPr>
                        </a:p>
                      </a:txBody>
                      <a:tcPr marL="68580" marR="68580" marT="0" marB="0" anchor="ctr"/>
                    </a:tc>
                    <a:tc>
                      <a:txBody>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𝒏</m:t>
                                </m:r>
                                <m:r>
                                  <a:rPr lang="es-ES" sz="2000" b="1" i="0">
                                    <a:latin typeface="Cambria Math" panose="02040503050406030204" pitchFamily="18" charset="0"/>
                                  </a:rPr>
                                  <m:t>−</m:t>
                                </m:r>
                                <m:r>
                                  <a:rPr lang="es-ES" sz="2000" b="1" i="1">
                                    <a:latin typeface="Cambria Math" panose="02040503050406030204" pitchFamily="18" charset="0"/>
                                  </a:rPr>
                                  <m:t>𝒌</m:t>
                                </m:r>
                              </m:oMath>
                            </m:oMathPara>
                          </a14:m>
                          <a:endParaRPr lang="es-ES" sz="2000" b="1" dirty="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s-CR" sz="1800" i="1" smtClean="0">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𝑑𝑒𝑛𝑡𝑟𝑜</m:t>
                                    </m:r>
                                  </m:sub>
                                </m:sSub>
                                <m:r>
                                  <a:rPr lang="es-CR" sz="1800" i="1">
                                    <a:latin typeface="Cambria Math" panose="02040503050406030204" pitchFamily="18" charset="0"/>
                                  </a:rPr>
                                  <m:t>=</m:t>
                                </m:r>
                                <m:f>
                                  <m:fPr>
                                    <m:ctrlPr>
                                      <a:rPr lang="es-ES" sz="1800" i="1">
                                        <a:latin typeface="Cambria Math"/>
                                      </a:rPr>
                                    </m:ctrlPr>
                                  </m:fPr>
                                  <m:num>
                                    <m:nary>
                                      <m:naryPr>
                                        <m:chr m:val="∑"/>
                                        <m:limLoc m:val="undOvr"/>
                                        <m:ctrlPr>
                                          <a:rPr lang="es-ES" sz="1800" i="1">
                                            <a:latin typeface="Cambria Math"/>
                                          </a:rPr>
                                        </m:ctrlPr>
                                      </m:naryPr>
                                      <m:sub>
                                        <m:r>
                                          <a:rPr lang="es-CR" sz="1800" i="1">
                                            <a:latin typeface="Cambria Math" panose="02040503050406030204" pitchFamily="18" charset="0"/>
                                          </a:rPr>
                                          <m:t>𝑗</m:t>
                                        </m:r>
                                        <m:r>
                                          <a:rPr lang="es-CR" sz="1800" i="1">
                                            <a:latin typeface="Cambria Math" panose="02040503050406030204" pitchFamily="18" charset="0"/>
                                          </a:rPr>
                                          <m:t>=1</m:t>
                                        </m:r>
                                      </m:sub>
                                      <m:sup>
                                        <m:r>
                                          <a:rPr lang="es-CR" sz="1800" i="1">
                                            <a:latin typeface="Cambria Math" panose="02040503050406030204" pitchFamily="18" charset="0"/>
                                          </a:rPr>
                                          <m:t>𝑘</m:t>
                                        </m:r>
                                      </m:sup>
                                      <m:e>
                                        <m:nary>
                                          <m:naryPr>
                                            <m:chr m:val="∑"/>
                                            <m:limLoc m:val="undOvr"/>
                                            <m:ctrlPr>
                                              <a:rPr lang="es-ES" sz="1800" i="1">
                                                <a:latin typeface="Cambria Math"/>
                                              </a:rPr>
                                            </m:ctrlPr>
                                          </m:naryPr>
                                          <m:sub>
                                            <m:r>
                                              <a:rPr lang="es-CR" sz="1800" i="1">
                                                <a:latin typeface="Cambria Math" panose="02040503050406030204" pitchFamily="18" charset="0"/>
                                              </a:rPr>
                                              <m:t>𝑖</m:t>
                                            </m:r>
                                            <m:r>
                                              <a:rPr lang="es-CR" sz="1800" i="1">
                                                <a:latin typeface="Cambria Math" panose="02040503050406030204" pitchFamily="18" charset="0"/>
                                              </a:rPr>
                                              <m:t>=1</m:t>
                                            </m:r>
                                          </m:sub>
                                          <m:sup>
                                            <m:sSub>
                                              <m:sSubPr>
                                                <m:ctrlPr>
                                                  <a:rPr lang="es-ES" sz="1800" i="1">
                                                    <a:latin typeface="Cambria Math"/>
                                                  </a:rPr>
                                                </m:ctrlPr>
                                              </m:sSubPr>
                                              <m:e>
                                                <m:r>
                                                  <a:rPr lang="es-CR" sz="1800" i="1">
                                                    <a:latin typeface="Cambria Math" panose="02040503050406030204" pitchFamily="18" charset="0"/>
                                                  </a:rPr>
                                                  <m:t>𝑛</m:t>
                                                </m:r>
                                              </m:e>
                                              <m:sub>
                                                <m:r>
                                                  <a:rPr lang="es-CR" sz="1800" i="1">
                                                    <a:latin typeface="Cambria Math" panose="02040503050406030204" pitchFamily="18" charset="0"/>
                                                  </a:rPr>
                                                  <m:t>𝑗</m:t>
                                                </m:r>
                                              </m:sub>
                                            </m:sSub>
                                          </m:sup>
                                          <m:e>
                                            <m:sSup>
                                              <m:sSupPr>
                                                <m:ctrlPr>
                                                  <a:rPr lang="es-ES" sz="1800" i="1">
                                                    <a:latin typeface="Cambria Math"/>
                                                  </a:rPr>
                                                </m:ctrlPr>
                                              </m:sSupPr>
                                              <m:e>
                                                <m:r>
                                                  <a:rPr lang="es-CR" sz="1800" i="1">
                                                    <a:latin typeface="Cambria Math" panose="02040503050406030204" pitchFamily="18" charset="0"/>
                                                  </a:rPr>
                                                  <m:t>(</m:t>
                                                </m:r>
                                                <m:sSub>
                                                  <m:sSubPr>
                                                    <m:ctrlPr>
                                                      <a:rPr lang="es-ES" sz="1800" i="1">
                                                        <a:latin typeface="Cambria Math"/>
                                                      </a:rPr>
                                                    </m:ctrlPr>
                                                  </m:sSubPr>
                                                  <m:e>
                                                    <m:r>
                                                      <a:rPr lang="es-CR" sz="1800" i="1">
                                                        <a:latin typeface="Cambria Math" panose="02040503050406030204" pitchFamily="18" charset="0"/>
                                                      </a:rPr>
                                                      <m:t>𝑥</m:t>
                                                    </m:r>
                                                  </m:e>
                                                  <m:sub>
                                                    <m:r>
                                                      <a:rPr lang="es-CR" sz="1800" i="1">
                                                        <a:latin typeface="Cambria Math" panose="02040503050406030204" pitchFamily="18" charset="0"/>
                                                      </a:rPr>
                                                      <m:t>𝑖𝑗</m:t>
                                                    </m:r>
                                                  </m:sub>
                                                </m:sSub>
                                                <m:r>
                                                  <a:rPr lang="es-CR" sz="1800" i="1">
                                                    <a:latin typeface="Cambria Math" panose="02040503050406030204" pitchFamily="18" charset="0"/>
                                                  </a:rPr>
                                                  <m:t>−</m:t>
                                                </m:r>
                                                <m:sSub>
                                                  <m:sSubPr>
                                                    <m:ctrlPr>
                                                      <a:rPr lang="es-ES" sz="1800" i="1">
                                                        <a:latin typeface="Cambria Math"/>
                                                      </a:rPr>
                                                    </m:ctrlPr>
                                                  </m:sSubPr>
                                                  <m:e>
                                                    <m:acc>
                                                      <m:accPr>
                                                        <m:chr m:val="̅"/>
                                                        <m:ctrlPr>
                                                          <a:rPr lang="es-ES" sz="1800" i="1">
                                                            <a:latin typeface="Cambria Math"/>
                                                          </a:rPr>
                                                        </m:ctrlPr>
                                                      </m:accPr>
                                                      <m:e>
                                                        <m:r>
                                                          <a:rPr lang="es-CR" sz="1800" i="1">
                                                            <a:latin typeface="Cambria Math" panose="02040503050406030204" pitchFamily="18" charset="0"/>
                                                          </a:rPr>
                                                          <m:t>𝑥</m:t>
                                                        </m:r>
                                                      </m:e>
                                                    </m:acc>
                                                  </m:e>
                                                  <m:sub>
                                                    <m:r>
                                                      <a:rPr lang="es-CR" sz="1800" i="1">
                                                        <a:latin typeface="Cambria Math" panose="02040503050406030204" pitchFamily="18" charset="0"/>
                                                      </a:rPr>
                                                      <m:t>.</m:t>
                                                    </m:r>
                                                    <m:r>
                                                      <a:rPr lang="es-CR" sz="1800" i="1">
                                                        <a:latin typeface="Cambria Math" panose="02040503050406030204" pitchFamily="18" charset="0"/>
                                                      </a:rPr>
                                                      <m:t>𝑗</m:t>
                                                    </m:r>
                                                  </m:sub>
                                                </m:sSub>
                                                <m:r>
                                                  <a:rPr lang="es-CR" sz="1800" i="1">
                                                    <a:latin typeface="Cambria Math" panose="02040503050406030204" pitchFamily="18" charset="0"/>
                                                  </a:rPr>
                                                  <m:t>)</m:t>
                                                </m:r>
                                              </m:e>
                                              <m:sup>
                                                <m:r>
                                                  <a:rPr lang="es-CR" sz="1800" i="1">
                                                    <a:latin typeface="Cambria Math" panose="02040503050406030204" pitchFamily="18" charset="0"/>
                                                  </a:rPr>
                                                  <m:t>2</m:t>
                                                </m:r>
                                              </m:sup>
                                            </m:sSup>
                                          </m:e>
                                        </m:nary>
                                      </m:e>
                                    </m:nary>
                                  </m:num>
                                  <m:den>
                                    <m:r>
                                      <a:rPr lang="es-CR" sz="1800" i="1">
                                        <a:latin typeface="Cambria Math" panose="02040503050406030204" pitchFamily="18" charset="0"/>
                                      </a:rPr>
                                      <m:t>𝑛</m:t>
                                    </m:r>
                                    <m:r>
                                      <a:rPr lang="es-CR" sz="1800" i="1">
                                        <a:latin typeface="Cambria Math" panose="02040503050406030204" pitchFamily="18" charset="0"/>
                                      </a:rPr>
                                      <m:t>−</m:t>
                                    </m:r>
                                    <m:r>
                                      <a:rPr lang="es-CR" sz="1800" i="1">
                                        <a:latin typeface="Cambria Math" panose="02040503050406030204" pitchFamily="18" charset="0"/>
                                      </a:rPr>
                                      <m:t>𝑘</m:t>
                                    </m:r>
                                  </m:den>
                                </m:f>
                              </m:oMath>
                            </m:oMathPara>
                          </a14:m>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r h="948150">
                    <a:tc>
                      <a:txBody>
                        <a:bodyPr/>
                        <a:lstStyle/>
                        <a:p>
                          <a:pPr algn="ctr">
                            <a:lnSpc>
                              <a:spcPct val="115000"/>
                            </a:lnSpc>
                            <a:spcAft>
                              <a:spcPts val="0"/>
                            </a:spcAft>
                          </a:pPr>
                          <a:r>
                            <a:rPr lang="es-CR" sz="2000" dirty="0">
                              <a:effectLst/>
                            </a:rPr>
                            <a:t>Total</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CR" sz="2000" i="1" smtClean="0">
                                        <a:latin typeface="Cambria Math"/>
                                      </a:rPr>
                                    </m:ctrlPr>
                                  </m:naryPr>
                                  <m:sub>
                                    <m:r>
                                      <a:rPr lang="es-CR" sz="2000" i="1">
                                        <a:latin typeface="Cambria Math" panose="02040503050406030204" pitchFamily="18" charset="0"/>
                                      </a:rPr>
                                      <m:t>𝑗</m:t>
                                    </m:r>
                                    <m:r>
                                      <a:rPr lang="es-CR" sz="2000" i="1">
                                        <a:latin typeface="Cambria Math" panose="02040503050406030204" pitchFamily="18" charset="0"/>
                                      </a:rPr>
                                      <m:t>=1</m:t>
                                    </m:r>
                                  </m:sub>
                                  <m:sup>
                                    <m:r>
                                      <a:rPr lang="es-CR" sz="2000" i="1">
                                        <a:latin typeface="Cambria Math" panose="02040503050406030204" pitchFamily="18" charset="0"/>
                                      </a:rPr>
                                      <m:t>𝑘</m:t>
                                    </m:r>
                                  </m:sup>
                                  <m:e>
                                    <m:nary>
                                      <m:naryPr>
                                        <m:chr m:val="∑"/>
                                        <m:limLoc m:val="undOvr"/>
                                        <m:ctrlPr>
                                          <a:rPr lang="es-CR" sz="2000" i="1">
                                            <a:latin typeface="Cambria Math"/>
                                          </a:rPr>
                                        </m:ctrlPr>
                                      </m:naryPr>
                                      <m:sub>
                                        <m:r>
                                          <a:rPr lang="es-CR" sz="2000" i="1">
                                            <a:latin typeface="Cambria Math" panose="02040503050406030204" pitchFamily="18" charset="0"/>
                                          </a:rPr>
                                          <m:t>𝑖</m:t>
                                        </m:r>
                                        <m:r>
                                          <a:rPr lang="es-CR" sz="2000" i="1">
                                            <a:latin typeface="Cambria Math" panose="02040503050406030204" pitchFamily="18" charset="0"/>
                                          </a:rPr>
                                          <m:t>=1</m:t>
                                        </m:r>
                                      </m:sub>
                                      <m:sup>
                                        <m:sSub>
                                          <m:sSubPr>
                                            <m:ctrlPr>
                                              <a:rPr lang="es-CR" sz="2000" i="1">
                                                <a:latin typeface="Cambria Math"/>
                                              </a:rPr>
                                            </m:ctrlPr>
                                          </m:sSubPr>
                                          <m:e>
                                            <m:r>
                                              <a:rPr lang="es-CR" sz="2000" i="1">
                                                <a:latin typeface="Cambria Math" panose="02040503050406030204" pitchFamily="18" charset="0"/>
                                              </a:rPr>
                                              <m:t>𝑛</m:t>
                                            </m:r>
                                          </m:e>
                                          <m:sub>
                                            <m:r>
                                              <a:rPr lang="es-CR" sz="2000" i="1">
                                                <a:latin typeface="Cambria Math" panose="02040503050406030204" pitchFamily="18" charset="0"/>
                                              </a:rPr>
                                              <m:t>𝑗</m:t>
                                            </m:r>
                                          </m:sub>
                                        </m:sSub>
                                      </m:sup>
                                      <m:e>
                                        <m:sSup>
                                          <m:sSupPr>
                                            <m:ctrlPr>
                                              <a:rPr lang="es-CR" sz="2000" i="1">
                                                <a:latin typeface="Cambria Math"/>
                                              </a:rPr>
                                            </m:ctrlPr>
                                          </m:sSupPr>
                                          <m:e>
                                            <m:r>
                                              <a:rPr lang="es-CR" sz="2000" i="1">
                                                <a:latin typeface="Cambria Math" panose="02040503050406030204" pitchFamily="18" charset="0"/>
                                              </a:rPr>
                                              <m:t>(</m:t>
                                            </m:r>
                                            <m:sSub>
                                              <m:sSubPr>
                                                <m:ctrlPr>
                                                  <a:rPr lang="es-CR" sz="2000" i="1">
                                                    <a:latin typeface="Cambria Math"/>
                                                  </a:rPr>
                                                </m:ctrlPr>
                                              </m:sSubPr>
                                              <m:e>
                                                <m:r>
                                                  <a:rPr lang="es-CR" sz="2000" i="1">
                                                    <a:latin typeface="Cambria Math" panose="02040503050406030204" pitchFamily="18" charset="0"/>
                                                  </a:rPr>
                                                  <m:t>𝑥</m:t>
                                                </m:r>
                                              </m:e>
                                              <m:sub>
                                                <m:r>
                                                  <a:rPr lang="es-CR" sz="2000" i="1">
                                                    <a:latin typeface="Cambria Math" panose="02040503050406030204" pitchFamily="18" charset="0"/>
                                                  </a:rPr>
                                                  <m:t>𝑖𝑗</m:t>
                                                </m:r>
                                              </m:sub>
                                            </m:sSub>
                                            <m:r>
                                              <a:rPr lang="es-CR" sz="2000" i="1">
                                                <a:latin typeface="Cambria Math" panose="02040503050406030204" pitchFamily="18" charset="0"/>
                                              </a:rPr>
                                              <m:t>−</m:t>
                                            </m:r>
                                            <m:acc>
                                              <m:accPr>
                                                <m:chr m:val="̅"/>
                                                <m:ctrlPr>
                                                  <a:rPr lang="es-CR" sz="2000" i="1">
                                                    <a:latin typeface="Cambria Math"/>
                                                  </a:rPr>
                                                </m:ctrlPr>
                                              </m:accPr>
                                              <m:e>
                                                <m:sSub>
                                                  <m:sSubPr>
                                                    <m:ctrlPr>
                                                      <a:rPr lang="es-CR" sz="2000" i="1">
                                                        <a:latin typeface="Cambria Math"/>
                                                      </a:rPr>
                                                    </m:ctrlPr>
                                                  </m:sSubPr>
                                                  <m:e>
                                                    <m:r>
                                                      <a:rPr lang="es-CR" sz="2000" i="1">
                                                        <a:latin typeface="Cambria Math" panose="02040503050406030204" pitchFamily="18" charset="0"/>
                                                      </a:rPr>
                                                      <m:t>𝑥</m:t>
                                                    </m:r>
                                                  </m:e>
                                                  <m:sub>
                                                    <m:r>
                                                      <a:rPr lang="es-CR" sz="2000" i="1">
                                                        <a:latin typeface="Cambria Math" panose="02040503050406030204" pitchFamily="18" charset="0"/>
                                                      </a:rPr>
                                                      <m:t>..</m:t>
                                                    </m:r>
                                                  </m:sub>
                                                </m:sSub>
                                              </m:e>
                                            </m:acc>
                                            <m:r>
                                              <a:rPr lang="es-CR" sz="2000" i="1">
                                                <a:latin typeface="Cambria Math" panose="02040503050406030204" pitchFamily="18" charset="0"/>
                                              </a:rPr>
                                              <m:t>)</m:t>
                                            </m:r>
                                          </m:e>
                                          <m:sup>
                                            <m:r>
                                              <a:rPr lang="es-CR" sz="2000" i="1">
                                                <a:latin typeface="Cambria Math" panose="02040503050406030204" pitchFamily="18" charset="0"/>
                                              </a:rPr>
                                              <m:t>2</m:t>
                                            </m:r>
                                          </m:sup>
                                        </m:sSup>
                                      </m:e>
                                    </m:nary>
                                  </m:e>
                                </m:nary>
                              </m:oMath>
                            </m:oMathPara>
                          </a14:m>
                          <a:endParaRPr lang="es-CR" sz="1800" dirty="0">
                            <a:effectLst/>
                            <a:latin typeface="Calibri"/>
                            <a:ea typeface="Calibri"/>
                            <a:cs typeface="Times New Roman"/>
                          </a:endParaRPr>
                        </a:p>
                      </a:txBody>
                      <a:tcPr marL="68580" marR="68580" marT="0" marB="0" anchor="ctr"/>
                    </a:tc>
                    <a:tc>
                      <a:txBody>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𝒏</m:t>
                                </m:r>
                                <m:r>
                                  <a:rPr lang="es-ES" sz="2000" b="1" i="0">
                                    <a:latin typeface="Cambria Math" panose="02040503050406030204" pitchFamily="18" charset="0"/>
                                  </a:rPr>
                                  <m:t>−</m:t>
                                </m:r>
                                <m:r>
                                  <a:rPr lang="es-ES" sz="2000" b="1" i="0">
                                    <a:latin typeface="Cambria Math" panose="02040503050406030204" pitchFamily="18" charset="0"/>
                                  </a:rPr>
                                  <m:t>𝟏</m:t>
                                </m:r>
                              </m:oMath>
                            </m:oMathPara>
                          </a14:m>
                          <a:endParaRPr lang="es-ES" sz="2000" b="1" dirty="0"/>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bl>
              </a:graphicData>
            </a:graphic>
          </p:graphicFrame>
        </mc:Choice>
        <mc:Fallback xmlns="">
          <p:graphicFrame>
            <p:nvGraphicFramePr>
              <p:cNvPr id="4" name="1 Tabla"/>
              <p:cNvGraphicFramePr>
                <a:graphicFrameLocks noGrp="1"/>
              </p:cNvGraphicFramePr>
              <p:nvPr>
                <p:extLst>
                  <p:ext uri="{D42A27DB-BD31-4B8C-83A1-F6EECF244321}">
                    <p14:modId xmlns:p14="http://schemas.microsoft.com/office/powerpoint/2010/main" val="3591218180"/>
                  </p:ext>
                </p:extLst>
              </p:nvPr>
            </p:nvGraphicFramePr>
            <p:xfrm>
              <a:off x="272955" y="215745"/>
              <a:ext cx="11559654" cy="6583250"/>
            </p:xfrm>
            <a:graphic>
              <a:graphicData uri="http://schemas.openxmlformats.org/drawingml/2006/table">
                <a:tbl>
                  <a:tblPr firstRow="1" firstCol="1" bandRow="1">
                    <a:tableStyleId>{5C22544A-7EE6-4342-B048-85BDC9FD1C3A}</a:tableStyleId>
                  </a:tblPr>
                  <a:tblGrid>
                    <a:gridCol w="1624084"/>
                    <a:gridCol w="2593881"/>
                    <a:gridCol w="1884411"/>
                    <a:gridCol w="2836064"/>
                    <a:gridCol w="2621214"/>
                  </a:tblGrid>
                  <a:tr h="1844654">
                    <a:tc>
                      <a:txBody>
                        <a:bodyPr/>
                        <a:lstStyle/>
                        <a:p>
                          <a:pPr algn="ctr">
                            <a:lnSpc>
                              <a:spcPct val="115000"/>
                            </a:lnSpc>
                            <a:spcAft>
                              <a:spcPts val="0"/>
                            </a:spcAft>
                          </a:pPr>
                          <a:r>
                            <a:rPr lang="es-CR" sz="2000" dirty="0">
                              <a:effectLst/>
                            </a:rPr>
                            <a:t>Fuentes  de variación</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Suma de cuadrados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Grados de libertas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Cuadrado medio</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Razón de variación</a:t>
                          </a:r>
                          <a:endParaRPr lang="es-CR" sz="1800" dirty="0">
                            <a:effectLst/>
                            <a:latin typeface="Calibri"/>
                            <a:ea typeface="Calibri"/>
                            <a:cs typeface="Times New Roman"/>
                          </a:endParaRPr>
                        </a:p>
                      </a:txBody>
                      <a:tcPr marL="68580" marR="68580" marT="0" marB="0" anchor="ctr"/>
                    </a:tc>
                  </a:tr>
                  <a:tr h="2052460">
                    <a:tc>
                      <a:txBody>
                        <a:bodyPr/>
                        <a:lstStyle/>
                        <a:p>
                          <a:pPr algn="ctr">
                            <a:lnSpc>
                              <a:spcPct val="115000"/>
                            </a:lnSpc>
                            <a:spcAft>
                              <a:spcPts val="0"/>
                            </a:spcAft>
                          </a:pPr>
                          <a:r>
                            <a:rPr lang="es-CR" sz="2000" dirty="0">
                              <a:effectLst/>
                            </a:rPr>
                            <a:t>Entre muestras</a:t>
                          </a:r>
                          <a:endParaRPr lang="es-CR" sz="1800" dirty="0">
                            <a:effectLst/>
                            <a:latin typeface="Calibri"/>
                            <a:ea typeface="Calibri"/>
                            <a:cs typeface="Times New Roman"/>
                          </a:endParaRPr>
                        </a:p>
                      </a:txBody>
                      <a:tcPr marL="68580" marR="68580" marT="0" marB="0" anchor="ctr"/>
                    </a:tc>
                    <a:tc>
                      <a:txBody>
                        <a:bodyPr/>
                        <a:lstStyle/>
                        <a:p>
                          <a:endParaRPr lang="es-CR"/>
                        </a:p>
                      </a:txBody>
                      <a:tcPr marL="68580" marR="68580" marT="0" marB="0" anchor="ctr">
                        <a:blipFill rotWithShape="1">
                          <a:blip r:embed="rId2"/>
                          <a:stretch>
                            <a:fillRect l="-62676" t="-90179" r="-282864" b="-131548"/>
                          </a:stretch>
                        </a:blipFill>
                      </a:tcPr>
                    </a:tc>
                    <a:tc>
                      <a:txBody>
                        <a:bodyPr/>
                        <a:lstStyle/>
                        <a:p>
                          <a:endParaRPr lang="es-CR"/>
                        </a:p>
                      </a:txBody>
                      <a:tcPr marL="68580" marR="68580" marT="0" marB="0" anchor="ctr">
                        <a:blipFill rotWithShape="1">
                          <a:blip r:embed="rId2"/>
                          <a:stretch>
                            <a:fillRect l="-224272" t="-90179" r="-289968" b="-131548"/>
                          </a:stretch>
                        </a:blipFill>
                      </a:tcPr>
                    </a:tc>
                    <a:tc>
                      <a:txBody>
                        <a:bodyPr/>
                        <a:lstStyle/>
                        <a:p>
                          <a:endParaRPr lang="es-CR"/>
                        </a:p>
                      </a:txBody>
                      <a:tcPr marL="68580" marR="68580" marT="0" marB="0" anchor="ctr">
                        <a:blipFill rotWithShape="1">
                          <a:blip r:embed="rId2"/>
                          <a:stretch>
                            <a:fillRect l="-215484" t="-90179" r="-92688" b="-131548"/>
                          </a:stretch>
                        </a:blipFill>
                      </a:tcPr>
                    </a:tc>
                    <a:tc>
                      <a:txBody>
                        <a:bodyPr/>
                        <a:lstStyle/>
                        <a:p>
                          <a:endParaRPr lang="es-CR"/>
                        </a:p>
                      </a:txBody>
                      <a:tcPr marL="68580" marR="68580" marT="0" marB="0" anchor="ctr">
                        <a:blipFill rotWithShape="1">
                          <a:blip r:embed="rId2"/>
                          <a:stretch>
                            <a:fillRect l="-341163" t="-90179" r="-233" b="-131548"/>
                          </a:stretch>
                        </a:blipFill>
                      </a:tcPr>
                    </a:tc>
                  </a:tr>
                  <a:tr h="1653689">
                    <a:tc>
                      <a:txBody>
                        <a:bodyPr/>
                        <a:lstStyle/>
                        <a:p>
                          <a:pPr algn="ctr">
                            <a:lnSpc>
                              <a:spcPct val="115000"/>
                            </a:lnSpc>
                            <a:spcAft>
                              <a:spcPts val="0"/>
                            </a:spcAft>
                          </a:pPr>
                          <a:r>
                            <a:rPr lang="es-CR" sz="2000" dirty="0">
                              <a:effectLst/>
                            </a:rPr>
                            <a:t>Dentro de los muestras</a:t>
                          </a:r>
                          <a:endParaRPr lang="es-CR" sz="1800" dirty="0">
                            <a:effectLst/>
                            <a:latin typeface="Calibri"/>
                            <a:ea typeface="Calibri"/>
                            <a:cs typeface="Times New Roman"/>
                          </a:endParaRPr>
                        </a:p>
                      </a:txBody>
                      <a:tcPr marL="68580" marR="68580" marT="0" marB="0" anchor="ctr"/>
                    </a:tc>
                    <a:tc>
                      <a:txBody>
                        <a:bodyPr/>
                        <a:lstStyle/>
                        <a:p>
                          <a:endParaRPr lang="es-CR"/>
                        </a:p>
                      </a:txBody>
                      <a:tcPr marL="68580" marR="68580" marT="0" marB="0" anchor="ctr">
                        <a:blipFill rotWithShape="1">
                          <a:blip r:embed="rId2"/>
                          <a:stretch>
                            <a:fillRect l="-62676" t="-234926" r="-282864" b="-62500"/>
                          </a:stretch>
                        </a:blipFill>
                      </a:tcPr>
                    </a:tc>
                    <a:tc>
                      <a:txBody>
                        <a:bodyPr/>
                        <a:lstStyle/>
                        <a:p>
                          <a:endParaRPr lang="es-CR"/>
                        </a:p>
                      </a:txBody>
                      <a:tcPr marL="68580" marR="68580" marT="0" marB="0" anchor="ctr">
                        <a:blipFill rotWithShape="1">
                          <a:blip r:embed="rId2"/>
                          <a:stretch>
                            <a:fillRect l="-224272" t="-234926" r="-289968" b="-62500"/>
                          </a:stretch>
                        </a:blipFill>
                      </a:tcPr>
                    </a:tc>
                    <a:tc>
                      <a:txBody>
                        <a:bodyPr/>
                        <a:lstStyle/>
                        <a:p>
                          <a:endParaRPr lang="es-CR"/>
                        </a:p>
                      </a:txBody>
                      <a:tcPr marL="68580" marR="68580" marT="0" marB="0" anchor="ctr">
                        <a:blipFill rotWithShape="1">
                          <a:blip r:embed="rId2"/>
                          <a:stretch>
                            <a:fillRect l="-215484" t="-234926" r="-92688" b="-62500"/>
                          </a:stretch>
                        </a:blipFill>
                      </a:tcP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r h="1032447">
                    <a:tc>
                      <a:txBody>
                        <a:bodyPr/>
                        <a:lstStyle/>
                        <a:p>
                          <a:pPr algn="ctr">
                            <a:lnSpc>
                              <a:spcPct val="115000"/>
                            </a:lnSpc>
                            <a:spcAft>
                              <a:spcPts val="0"/>
                            </a:spcAft>
                          </a:pPr>
                          <a:r>
                            <a:rPr lang="es-CR" sz="2000" dirty="0">
                              <a:effectLst/>
                            </a:rPr>
                            <a:t>Total</a:t>
                          </a:r>
                          <a:endParaRPr lang="es-CR" sz="1800" dirty="0">
                            <a:effectLst/>
                            <a:latin typeface="Calibri"/>
                            <a:ea typeface="Calibri"/>
                            <a:cs typeface="Times New Roman"/>
                          </a:endParaRPr>
                        </a:p>
                      </a:txBody>
                      <a:tcPr marL="68580" marR="68580" marT="0" marB="0" anchor="ctr"/>
                    </a:tc>
                    <a:tc>
                      <a:txBody>
                        <a:bodyPr/>
                        <a:lstStyle/>
                        <a:p>
                          <a:endParaRPr lang="es-CR"/>
                        </a:p>
                      </a:txBody>
                      <a:tcPr marL="68580" marR="68580" marT="0" marB="0" anchor="ctr">
                        <a:blipFill rotWithShape="1">
                          <a:blip r:embed="rId2"/>
                          <a:stretch>
                            <a:fillRect l="-62676" t="-539053" r="-282864" b="-592"/>
                          </a:stretch>
                        </a:blipFill>
                      </a:tcPr>
                    </a:tc>
                    <a:tc>
                      <a:txBody>
                        <a:bodyPr/>
                        <a:lstStyle/>
                        <a:p>
                          <a:endParaRPr lang="es-CR"/>
                        </a:p>
                      </a:txBody>
                      <a:tcPr marL="68580" marR="68580" marT="0" marB="0" anchor="ctr">
                        <a:blipFill rotWithShape="1">
                          <a:blip r:embed="rId2"/>
                          <a:stretch>
                            <a:fillRect l="-224272" t="-539053" r="-289968" b="-592"/>
                          </a:stretch>
                        </a:blipFill>
                      </a:tcP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bl>
              </a:graphicData>
            </a:graphic>
          </p:graphicFrame>
        </mc:Fallback>
      </mc:AlternateContent>
      <p:sp>
        <p:nvSpPr>
          <p:cNvPr id="2" name="1 Rectángulo redondeado"/>
          <p:cNvSpPr/>
          <p:nvPr/>
        </p:nvSpPr>
        <p:spPr>
          <a:xfrm>
            <a:off x="9372600" y="2184400"/>
            <a:ext cx="2247900" cy="17653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227880534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32012" y="1174917"/>
            <a:ext cx="8353188" cy="5580725"/>
          </a:xfrm>
        </p:spPr>
        <p:txBody>
          <a:bodyPr>
            <a:normAutofit lnSpcReduction="10000"/>
          </a:bodyPr>
          <a:lstStyle/>
          <a:p>
            <a:pPr algn="just"/>
            <a:r>
              <a:rPr lang="es-CR" sz="2400" dirty="0"/>
              <a:t>Para tomar una </a:t>
            </a:r>
            <a:r>
              <a:rPr lang="es-CR" sz="2400" dirty="0" smtClean="0"/>
              <a:t>decisión </a:t>
            </a:r>
            <a:r>
              <a:rPr lang="es-CR" sz="2400" dirty="0"/>
              <a:t>es necesario comparar la </a:t>
            </a:r>
            <a:r>
              <a:rPr lang="es-CR" sz="2400" dirty="0" smtClean="0"/>
              <a:t>R.V calculada </a:t>
            </a:r>
            <a:r>
              <a:rPr lang="es-CR" sz="2400" dirty="0"/>
              <a:t>contra el valor critico de </a:t>
            </a:r>
            <a:r>
              <a:rPr lang="es-CR" sz="2400" i="1" dirty="0"/>
              <a:t>F, </a:t>
            </a:r>
            <a:r>
              <a:rPr lang="es-CR" sz="2400" dirty="0"/>
              <a:t>que puede obtenerse de la tabla </a:t>
            </a:r>
            <a:r>
              <a:rPr lang="es-CR" sz="2400" dirty="0" smtClean="0"/>
              <a:t>de la F de </a:t>
            </a:r>
            <a:r>
              <a:rPr lang="es-CR" sz="2400" dirty="0" err="1" smtClean="0"/>
              <a:t>Snedecor</a:t>
            </a:r>
            <a:r>
              <a:rPr lang="es-CR" sz="2400" dirty="0" smtClean="0"/>
              <a:t>, con grados de libertad “</a:t>
            </a:r>
            <a:r>
              <a:rPr lang="es-CR" sz="2400" i="1" dirty="0" smtClean="0"/>
              <a:t>k </a:t>
            </a:r>
            <a:r>
              <a:rPr lang="es-CR" sz="2400" dirty="0" smtClean="0"/>
              <a:t>– 1”  </a:t>
            </a:r>
            <a:r>
              <a:rPr lang="es-CR" sz="2400" dirty="0"/>
              <a:t>en el numerador y </a:t>
            </a:r>
            <a:r>
              <a:rPr lang="es-CR" sz="2400" dirty="0" smtClean="0"/>
              <a:t>“</a:t>
            </a:r>
            <a:r>
              <a:rPr lang="es-CR" sz="2400" i="1" dirty="0" smtClean="0"/>
              <a:t>N </a:t>
            </a:r>
            <a:r>
              <a:rPr lang="es-CR" sz="2400" dirty="0" smtClean="0"/>
              <a:t>– </a:t>
            </a:r>
            <a:r>
              <a:rPr lang="es-CR" sz="2400" i="1" dirty="0"/>
              <a:t>k</a:t>
            </a:r>
            <a:r>
              <a:rPr lang="es-CR" sz="2400" dirty="0" smtClean="0"/>
              <a:t>” en el </a:t>
            </a:r>
            <a:r>
              <a:rPr lang="es-ES" sz="2400" dirty="0" smtClean="0"/>
              <a:t>denominador.</a:t>
            </a:r>
          </a:p>
          <a:p>
            <a:pPr algn="just"/>
            <a:endParaRPr lang="es-CR" sz="2400" dirty="0"/>
          </a:p>
          <a:p>
            <a:pPr algn="just"/>
            <a:r>
              <a:rPr lang="es-CR" sz="2400" dirty="0"/>
              <a:t>Si el valor </a:t>
            </a:r>
            <a:r>
              <a:rPr lang="es-CR" sz="2400" dirty="0" smtClean="0"/>
              <a:t>calculado para la R.V. </a:t>
            </a:r>
            <a:r>
              <a:rPr lang="es-CR" sz="2400" dirty="0"/>
              <a:t>es mayor </a:t>
            </a:r>
            <a:r>
              <a:rPr lang="es-CR" sz="2400" dirty="0" smtClean="0"/>
              <a:t>o </a:t>
            </a:r>
            <a:r>
              <a:rPr lang="es-CR" sz="2400" dirty="0"/>
              <a:t>igual que el </a:t>
            </a:r>
            <a:r>
              <a:rPr lang="es-CR" sz="2400" dirty="0" smtClean="0"/>
              <a:t>valor crítico </a:t>
            </a:r>
            <a:r>
              <a:rPr lang="es-CR" sz="2400" i="1" dirty="0"/>
              <a:t>F, </a:t>
            </a:r>
            <a:r>
              <a:rPr lang="es-CR" sz="2400" dirty="0"/>
              <a:t>la </a:t>
            </a:r>
            <a:r>
              <a:rPr lang="es-CR" sz="2400" dirty="0" smtClean="0"/>
              <a:t>hipótesis nula </a:t>
            </a:r>
            <a:r>
              <a:rPr lang="es-CR" sz="2400" dirty="0"/>
              <a:t>es rechazada; pero si es menor que el valor </a:t>
            </a:r>
            <a:r>
              <a:rPr lang="es-CR" sz="2400" dirty="0" smtClean="0"/>
              <a:t>crítico de </a:t>
            </a:r>
            <a:r>
              <a:rPr lang="es-CR" sz="2400" i="1" dirty="0"/>
              <a:t>F, </a:t>
            </a:r>
            <a:r>
              <a:rPr lang="es-CR" sz="2400" dirty="0"/>
              <a:t>no se rechaza la </a:t>
            </a:r>
            <a:r>
              <a:rPr lang="es-CR" sz="2400" dirty="0" smtClean="0"/>
              <a:t>hipótesis </a:t>
            </a:r>
            <a:r>
              <a:rPr lang="es-ES" sz="2400" dirty="0" smtClean="0"/>
              <a:t>nula</a:t>
            </a:r>
            <a:r>
              <a:rPr lang="es-ES" sz="2400" dirty="0"/>
              <a:t>.</a:t>
            </a:r>
            <a:endParaRPr lang="es-ES" sz="2400" dirty="0" smtClean="0"/>
          </a:p>
          <a:p>
            <a:pPr algn="just"/>
            <a:endParaRPr lang="es-CR" sz="2400" dirty="0"/>
          </a:p>
          <a:p>
            <a:pPr algn="just"/>
            <a:r>
              <a:rPr lang="es-CR" sz="2400" dirty="0" smtClean="0"/>
              <a:t>Nótese que se utiliza por primera vez la F de </a:t>
            </a:r>
            <a:r>
              <a:rPr lang="es-CR" sz="2400" dirty="0" err="1" smtClean="0"/>
              <a:t>Snedecor</a:t>
            </a:r>
            <a:r>
              <a:rPr lang="es-CR" sz="2400" dirty="0" smtClean="0"/>
              <a:t>, y que también es la primera vez que se utiliza una distribución que posee dos grados de libertad.</a:t>
            </a:r>
          </a:p>
          <a:p>
            <a:pPr algn="just"/>
            <a:endParaRPr lang="es-CR" sz="2400" dirty="0"/>
          </a:p>
          <a:p>
            <a:pPr algn="just"/>
            <a:r>
              <a:rPr lang="es-CR" sz="2400" dirty="0" smtClean="0"/>
              <a:t>Nótese que la decisión se hace a través de variancias, y no medias…</a:t>
            </a:r>
            <a:endParaRPr lang="es-ES" sz="2400" dirty="0" smtClean="0"/>
          </a:p>
          <a:p>
            <a:endParaRPr lang="es-CR" sz="2400" dirty="0"/>
          </a:p>
          <a:p>
            <a:endParaRPr lang="es-ES" sz="2400" dirty="0"/>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regla de decisión</a:t>
            </a:r>
            <a:endParaRPr lang="es-ES" dirty="0"/>
          </a:p>
        </p:txBody>
      </p:sp>
      <p:pic>
        <p:nvPicPr>
          <p:cNvPr id="5" name="Picture 2" descr="http://mtweb.mtsu.edu/stats/dictionary/images/rrftes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34100" y="4178301"/>
            <a:ext cx="3027700" cy="24571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www.scrummastercertification.org/wp-content/uploads/2014/04/F-table-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9317" y="1170728"/>
            <a:ext cx="2789680" cy="2537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994790"/>
      </p:ext>
    </p:extLst>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idx="1"/>
          </p:nvPr>
        </p:nvSpPr>
        <p:spPr/>
        <p:txBody>
          <a:bodyPr/>
          <a:lstStyle/>
          <a:p>
            <a:endParaRPr lang="es-CR"/>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691" y="28576"/>
            <a:ext cx="7700963" cy="6806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842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421" y="873457"/>
            <a:ext cx="9182479" cy="5882185"/>
          </a:xfrm>
        </p:spPr>
        <p:txBody>
          <a:bodyPr>
            <a:normAutofit/>
          </a:bodyPr>
          <a:lstStyle/>
          <a:p>
            <a:pPr algn="just"/>
            <a:r>
              <a:rPr lang="es-CR" sz="2400" dirty="0" smtClean="0"/>
              <a:t>¿El </a:t>
            </a:r>
            <a:r>
              <a:rPr lang="es-CR" sz="2400" dirty="0"/>
              <a:t>rechazo de la </a:t>
            </a:r>
            <a:r>
              <a:rPr lang="es-CR" sz="2400" dirty="0" smtClean="0"/>
              <a:t>hipótesis </a:t>
            </a:r>
            <a:r>
              <a:rPr lang="es-CR" sz="2400" dirty="0"/>
              <a:t>acerca de las variancias implica un rechazo de la </a:t>
            </a:r>
            <a:r>
              <a:rPr lang="es-CR" sz="2400" dirty="0" smtClean="0"/>
              <a:t>hipótesis </a:t>
            </a:r>
            <a:r>
              <a:rPr lang="es-CR" sz="2400" dirty="0"/>
              <a:t>de la igualdad de las medias </a:t>
            </a:r>
            <a:r>
              <a:rPr lang="es-CR" sz="2400" dirty="0" smtClean="0"/>
              <a:t>poblacionales? La </a:t>
            </a:r>
            <a:r>
              <a:rPr lang="es-CR" sz="2400" dirty="0"/>
              <a:t>respuesta es </a:t>
            </a:r>
            <a:r>
              <a:rPr lang="es-CR" sz="2400" dirty="0" smtClean="0"/>
              <a:t>afirmativa… </a:t>
            </a:r>
          </a:p>
          <a:p>
            <a:pPr algn="just"/>
            <a:endParaRPr lang="es-CR" sz="2400" dirty="0"/>
          </a:p>
          <a:p>
            <a:pPr algn="just"/>
            <a:r>
              <a:rPr lang="es-CR" sz="2400" dirty="0" smtClean="0"/>
              <a:t>Un </a:t>
            </a:r>
            <a:r>
              <a:rPr lang="es-CR" sz="2400" dirty="0"/>
              <a:t>valor grande de </a:t>
            </a:r>
            <a:r>
              <a:rPr lang="es-CR" sz="2400" dirty="0" smtClean="0"/>
              <a:t>R.V</a:t>
            </a:r>
            <a:r>
              <a:rPr lang="es-CR" sz="2400" dirty="0"/>
              <a:t>. </a:t>
            </a:r>
            <a:r>
              <a:rPr lang="es-CR" sz="2400" dirty="0" smtClean="0"/>
              <a:t>resultó </a:t>
            </a:r>
            <a:r>
              <a:rPr lang="es-CR" sz="2400" dirty="0"/>
              <a:t>del hecho de que el cuadrado medio entre los grupos era considerablemente mayor que el cuadrado medio dentro de los grupos. </a:t>
            </a:r>
            <a:endParaRPr lang="es-CR" sz="2400" dirty="0" smtClean="0"/>
          </a:p>
          <a:p>
            <a:pPr algn="just"/>
            <a:endParaRPr lang="es-CR" sz="2400" dirty="0"/>
          </a:p>
          <a:p>
            <a:pPr algn="just"/>
            <a:r>
              <a:rPr lang="es-CR" sz="2400" dirty="0" smtClean="0"/>
              <a:t>Dado </a:t>
            </a:r>
            <a:r>
              <a:rPr lang="es-CR" sz="2400" dirty="0"/>
              <a:t>que el cuadrado medio entre los grupos se basa en la </a:t>
            </a:r>
            <a:r>
              <a:rPr lang="es-CR" sz="2400" dirty="0" smtClean="0"/>
              <a:t>dispersión </a:t>
            </a:r>
            <a:r>
              <a:rPr lang="es-CR" sz="2400" dirty="0"/>
              <a:t>de las medias muestrales en torno a su media, esta cantidad </a:t>
            </a:r>
            <a:r>
              <a:rPr lang="es-CR" sz="2400" dirty="0" smtClean="0"/>
              <a:t>será </a:t>
            </a:r>
            <a:r>
              <a:rPr lang="es-CR" sz="2400" dirty="0"/>
              <a:t>grande cuando exista una gran discrepancia entre los </a:t>
            </a:r>
            <a:r>
              <a:rPr lang="es-CR" sz="2400" dirty="0" smtClean="0"/>
              <a:t>tamaños </a:t>
            </a:r>
            <a:r>
              <a:rPr lang="es-CR" sz="2400" dirty="0"/>
              <a:t>de las medias muestrales. </a:t>
            </a:r>
            <a:endParaRPr lang="es-CR" sz="2400" dirty="0" smtClean="0"/>
          </a:p>
          <a:p>
            <a:pPr algn="just"/>
            <a:endParaRPr lang="es-CR" sz="2400" dirty="0"/>
          </a:p>
          <a:p>
            <a:pPr algn="just"/>
            <a:r>
              <a:rPr lang="es-CR" sz="2400" dirty="0" smtClean="0"/>
              <a:t>Debido </a:t>
            </a:r>
            <a:r>
              <a:rPr lang="es-CR" sz="2400" dirty="0"/>
              <a:t>a esto, un valor significativo de la </a:t>
            </a:r>
            <a:r>
              <a:rPr lang="es-CR" sz="2400" dirty="0" smtClean="0"/>
              <a:t>R.V. </a:t>
            </a:r>
            <a:r>
              <a:rPr lang="es-CR" sz="2400" dirty="0"/>
              <a:t>indica que se rechace la </a:t>
            </a:r>
            <a:r>
              <a:rPr lang="es-CR" sz="2400" dirty="0" smtClean="0"/>
              <a:t>hipótesis </a:t>
            </a:r>
            <a:r>
              <a:rPr lang="es-CR" sz="2400" dirty="0"/>
              <a:t>nula de la igualdad de las medias poblacionales. 	</a:t>
            </a:r>
          </a:p>
        </p:txBody>
      </p:sp>
      <p:sp>
        <p:nvSpPr>
          <p:cNvPr id="4" name="Título 1"/>
          <p:cNvSpPr>
            <a:spLocks noGrp="1"/>
          </p:cNvSpPr>
          <p:nvPr>
            <p:ph type="title"/>
          </p:nvPr>
        </p:nvSpPr>
        <p:spPr>
          <a:xfrm>
            <a:off x="177421" y="1"/>
            <a:ext cx="11900847" cy="777922"/>
          </a:xfrm>
        </p:spPr>
        <p:txBody>
          <a:bodyPr>
            <a:normAutofit fontScale="90000"/>
          </a:bodyPr>
          <a:lstStyle/>
          <a:p>
            <a:pPr algn="ctr"/>
            <a:r>
              <a:rPr lang="es-CR" dirty="0" smtClean="0"/>
              <a:t>Diseño de una vía: calculo de la estadística de prueba</a:t>
            </a:r>
            <a:endParaRPr lang="es-ES" dirty="0"/>
          </a:p>
        </p:txBody>
      </p:sp>
      <p:pic>
        <p:nvPicPr>
          <p:cNvPr id="36866" name="Picture 2" descr="https://agencelitterairelaens.files.wordpress.com/2013/08/bonhomme_ques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3637" y="1031874"/>
            <a:ext cx="1847850" cy="2482851"/>
          </a:xfrm>
          <a:prstGeom prst="rect">
            <a:avLst/>
          </a:prstGeom>
          <a:noFill/>
          <a:extLst>
            <a:ext uri="{909E8E84-426E-40DD-AFC4-6F175D3DCCD1}">
              <a14:hiddenFill xmlns:a14="http://schemas.microsoft.com/office/drawing/2010/main">
                <a:solidFill>
                  <a:srgbClr val="FFFFFF"/>
                </a:solidFill>
              </a14:hiddenFill>
            </a:ext>
          </a:extLst>
        </p:spPr>
      </p:pic>
      <p:pic>
        <p:nvPicPr>
          <p:cNvPr id="36868" name="Picture 4" descr="http://valinette.douleur-emotion.com/img-quanta/ManipulationPsychoInversee/secours-extincteurs-conseil-bonhomm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2676" y="4209171"/>
            <a:ext cx="2610738" cy="2348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215586"/>
      </p:ext>
    </p:extLst>
  </p:cSld>
  <p:clrMapOvr>
    <a:masterClrMapping/>
  </p:clrMapOvr>
  <p:transition spd="slow">
    <p:wip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help.plot.ly/static/images/how-to-make-a-boxplot/box-plot-all-points.png"/>
          <p:cNvPicPr>
            <a:picLocks noChangeAspect="1" noChangeArrowheads="1"/>
          </p:cNvPicPr>
          <p:nvPr/>
        </p:nvPicPr>
        <p:blipFill rotWithShape="1">
          <a:blip r:embed="rId2">
            <a:extLst>
              <a:ext uri="{28A0092B-C50C-407E-A947-70E740481C1C}">
                <a14:useLocalDpi xmlns:a14="http://schemas.microsoft.com/office/drawing/2010/main" val="0"/>
              </a:ext>
            </a:extLst>
          </a:blip>
          <a:srcRect t="14612" r="25940" b="24542"/>
          <a:stretch/>
        </p:blipFill>
        <p:spPr bwMode="auto">
          <a:xfrm>
            <a:off x="971501" y="566057"/>
            <a:ext cx="10113841" cy="6062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1596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phaerula.com/legacy/R/boxplotTwoWay.png"/>
          <p:cNvPicPr>
            <a:picLocks noChangeAspect="1" noChangeArrowheads="1"/>
          </p:cNvPicPr>
          <p:nvPr/>
        </p:nvPicPr>
        <p:blipFill rotWithShape="1">
          <a:blip r:embed="rId2">
            <a:extLst>
              <a:ext uri="{28A0092B-C50C-407E-A947-70E740481C1C}">
                <a14:useLocalDpi xmlns:a14="http://schemas.microsoft.com/office/drawing/2010/main" val="0"/>
              </a:ext>
            </a:extLst>
          </a:blip>
          <a:srcRect l="4117" t="7365" r="4018" b="6679"/>
          <a:stretch/>
        </p:blipFill>
        <p:spPr bwMode="auto">
          <a:xfrm>
            <a:off x="1927272" y="211015"/>
            <a:ext cx="7709098" cy="6410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148267"/>
      </p:ext>
    </p:extLst>
  </p:cSld>
  <p:clrMapOvr>
    <a:masterClrMapping/>
  </p:clrMapOvr>
  <p:transition spd="slow">
    <p:randomBar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8364" y="1539022"/>
            <a:ext cx="8625385" cy="4351338"/>
          </a:xfrm>
        </p:spPr>
        <p:txBody>
          <a:bodyPr/>
          <a:lstStyle/>
          <a:p>
            <a:r>
              <a:rPr lang="es-CR" dirty="0" smtClean="0"/>
              <a:t>Cuando se rechaza Ho se concluye que no todas las medias son iguales…</a:t>
            </a:r>
          </a:p>
          <a:p>
            <a:endParaRPr lang="es-CR" dirty="0"/>
          </a:p>
          <a:p>
            <a:r>
              <a:rPr lang="es-CR" dirty="0" smtClean="0"/>
              <a:t>Cuando no se rechaza Ho, se concluye que probablemente todas las medias poblacionales son iguales…</a:t>
            </a:r>
            <a:endParaRPr lang="es-ES" dirty="0"/>
          </a:p>
        </p:txBody>
      </p:sp>
      <p:sp>
        <p:nvSpPr>
          <p:cNvPr id="4" name="Título 1"/>
          <p:cNvSpPr>
            <a:spLocks noGrp="1"/>
          </p:cNvSpPr>
          <p:nvPr>
            <p:ph type="title"/>
          </p:nvPr>
        </p:nvSpPr>
        <p:spPr>
          <a:xfrm>
            <a:off x="327546" y="0"/>
            <a:ext cx="11559654" cy="1174917"/>
          </a:xfrm>
        </p:spPr>
        <p:txBody>
          <a:bodyPr>
            <a:normAutofit/>
          </a:bodyPr>
          <a:lstStyle/>
          <a:p>
            <a:pPr algn="ctr"/>
            <a:r>
              <a:rPr lang="es-CR" dirty="0" smtClean="0"/>
              <a:t>Diseño de una vía: conclusión</a:t>
            </a:r>
            <a:endParaRPr lang="es-ES" dirty="0"/>
          </a:p>
        </p:txBody>
      </p:sp>
      <p:pic>
        <p:nvPicPr>
          <p:cNvPr id="38914" name="Picture 2" descr="https://infodocenligne.files.wordpress.com/2013/04/bonhomme-interrog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2" y="4071938"/>
            <a:ext cx="3086100" cy="2314575"/>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descr="http://www.groupeconseilsmcg.com/media/blog/Barometre_bonhomme_ver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4664" y="1354098"/>
            <a:ext cx="3600796" cy="2317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0000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4427" y="163774"/>
            <a:ext cx="10515600" cy="832513"/>
          </a:xfrm>
        </p:spPr>
        <p:txBody>
          <a:bodyPr/>
          <a:lstStyle/>
          <a:p>
            <a:r>
              <a:rPr lang="es-CR" dirty="0" smtClean="0"/>
              <a:t>Ejemplo…</a:t>
            </a:r>
            <a:endParaRPr lang="es-ES" dirty="0"/>
          </a:p>
        </p:txBody>
      </p:sp>
      <p:sp>
        <p:nvSpPr>
          <p:cNvPr id="3" name="Marcador de contenido 2"/>
          <p:cNvSpPr>
            <a:spLocks noGrp="1"/>
          </p:cNvSpPr>
          <p:nvPr>
            <p:ph idx="1"/>
          </p:nvPr>
        </p:nvSpPr>
        <p:spPr>
          <a:xfrm>
            <a:off x="334028" y="1147762"/>
            <a:ext cx="8384378" cy="5514109"/>
          </a:xfrm>
        </p:spPr>
        <p:txBody>
          <a:bodyPr>
            <a:normAutofit fontScale="92500"/>
          </a:bodyPr>
          <a:lstStyle/>
          <a:p>
            <a:pPr algn="just"/>
            <a:r>
              <a:rPr lang="es-CR" sz="2400" dirty="0" smtClean="0"/>
              <a:t>Se desea investigar si el nivel de calcio consumido diariamente </a:t>
            </a:r>
            <a:r>
              <a:rPr lang="es-CR" sz="2400" dirty="0"/>
              <a:t>en la dieta como tratamiento no </a:t>
            </a:r>
            <a:r>
              <a:rPr lang="es-CR" sz="2400" dirty="0" smtClean="0"/>
              <a:t>farmacológico de </a:t>
            </a:r>
            <a:r>
              <a:rPr lang="es-CR" sz="2400" dirty="0"/>
              <a:t>la </a:t>
            </a:r>
            <a:r>
              <a:rPr lang="es-CR" sz="2400" dirty="0" smtClean="0"/>
              <a:t>presión sanguínea </a:t>
            </a:r>
            <a:r>
              <a:rPr lang="es-CR" sz="2400" dirty="0"/>
              <a:t>elevada puede influir </a:t>
            </a:r>
            <a:r>
              <a:rPr lang="es-CR" sz="2400" dirty="0" smtClean="0"/>
              <a:t>benéficamente la función </a:t>
            </a:r>
            <a:r>
              <a:rPr lang="es-CR" sz="2400" dirty="0"/>
              <a:t>endotelial </a:t>
            </a:r>
            <a:r>
              <a:rPr lang="es-CR" sz="2400" dirty="0" smtClean="0"/>
              <a:t>en la hipertensión </a:t>
            </a:r>
            <a:r>
              <a:rPr lang="es-CR" sz="2400" dirty="0"/>
              <a:t>experimental </a:t>
            </a:r>
            <a:r>
              <a:rPr lang="es-CR" sz="2400" dirty="0" err="1" smtClean="0"/>
              <a:t>mineralo</a:t>
            </a:r>
            <a:r>
              <a:rPr lang="es-CR" sz="2400" dirty="0" smtClean="0"/>
              <a:t>-corticoide-</a:t>
            </a:r>
            <a:r>
              <a:rPr lang="es-CR" sz="2400" dirty="0" err="1" smtClean="0"/>
              <a:t>NaCl</a:t>
            </a:r>
            <a:r>
              <a:rPr lang="es-CR" sz="2400" dirty="0" smtClean="0"/>
              <a:t>.</a:t>
            </a:r>
          </a:p>
          <a:p>
            <a:pPr algn="just"/>
            <a:endParaRPr lang="es-CR" sz="2400" dirty="0"/>
          </a:p>
          <a:p>
            <a:pPr algn="just"/>
            <a:r>
              <a:rPr lang="es-CR" sz="2400" dirty="0" smtClean="0"/>
              <a:t>Se estudio un tipo de mamífero tomando su presión sanguínea luego de 7 semanas, afectados a 4 tipos de dieta, además de su peso. </a:t>
            </a:r>
          </a:p>
          <a:p>
            <a:pPr algn="just"/>
            <a:endParaRPr lang="es-CR" sz="2400" dirty="0"/>
          </a:p>
          <a:p>
            <a:pPr algn="just"/>
            <a:r>
              <a:rPr lang="es-CR" sz="2400" dirty="0" smtClean="0"/>
              <a:t>Los niveles de tratamiento fueron: sin tratamiento (WKY), dieta rica en calcio (WKY – Ca), dieta con </a:t>
            </a:r>
            <a:r>
              <a:rPr lang="es-CR" sz="2400" dirty="0" err="1" smtClean="0"/>
              <a:t>deoxicorticosterona</a:t>
            </a:r>
            <a:r>
              <a:rPr lang="es-CR" sz="2400" dirty="0" smtClean="0"/>
              <a:t> y </a:t>
            </a:r>
            <a:r>
              <a:rPr lang="es-CR" sz="2400" dirty="0" err="1" smtClean="0"/>
              <a:t>NaCl</a:t>
            </a:r>
            <a:r>
              <a:rPr lang="es-CR" sz="2400" dirty="0" smtClean="0"/>
              <a:t> (DOC), y dieta rica en calcio y tratamiento (DOC-Ca)</a:t>
            </a:r>
          </a:p>
          <a:p>
            <a:pPr algn="just"/>
            <a:endParaRPr lang="es-CR" sz="2400" dirty="0"/>
          </a:p>
          <a:p>
            <a:pPr algn="just"/>
            <a:r>
              <a:rPr lang="es-CR" sz="2400" dirty="0" smtClean="0"/>
              <a:t>Se quiere sabe si los 4 tratamientos tienen  diferentes efectos en el peso promedio en la especie estudiada.</a:t>
            </a:r>
            <a:endParaRPr lang="es-CR" sz="2400" dirty="0"/>
          </a:p>
          <a:p>
            <a:endParaRPr lang="es-ES" sz="2400" dirty="0"/>
          </a:p>
        </p:txBody>
      </p:sp>
      <p:pic>
        <p:nvPicPr>
          <p:cNvPr id="40962" name="Picture 2" descr="http://www.rocklinvet.com/wp-content/uploads/2015/05/ve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8137" y="1384300"/>
            <a:ext cx="2503816" cy="1801812"/>
          </a:xfrm>
          <a:prstGeom prst="rect">
            <a:avLst/>
          </a:prstGeom>
          <a:noFill/>
          <a:extLst>
            <a:ext uri="{909E8E84-426E-40DD-AFC4-6F175D3DCCD1}">
              <a14:hiddenFill xmlns:a14="http://schemas.microsoft.com/office/drawing/2010/main">
                <a:solidFill>
                  <a:srgbClr val="FFFFFF"/>
                </a:solidFill>
              </a14:hiddenFill>
            </a:ext>
          </a:extLst>
        </p:spPr>
      </p:pic>
      <p:pic>
        <p:nvPicPr>
          <p:cNvPr id="40964" name="Picture 4" descr="http://www.hillspet.be/images/weurg/pw_standalone_slide_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8137" y="3667125"/>
            <a:ext cx="2571750"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873823"/>
      </p:ext>
    </p:extLst>
  </p:cSld>
  <p:clrMapOvr>
    <a:masterClrMapping/>
  </p:clrMapOvr>
  <p:transition spd="slow">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0789" y="933149"/>
            <a:ext cx="10515600" cy="4351338"/>
          </a:xfrm>
        </p:spPr>
        <p:txBody>
          <a:bodyPr>
            <a:normAutofit/>
          </a:bodyPr>
          <a:lstStyle/>
          <a:p>
            <a:r>
              <a:rPr lang="es-CR" sz="2400" dirty="0"/>
              <a:t>Los datos corresponden a los pesos de </a:t>
            </a:r>
            <a:r>
              <a:rPr lang="es-CR" sz="2400" dirty="0" smtClean="0"/>
              <a:t>la especie al </a:t>
            </a:r>
            <a:r>
              <a:rPr lang="es-CR" sz="2400" dirty="0"/>
              <a:t>final del estudio</a:t>
            </a:r>
            <a:r>
              <a:rPr lang="es-CR" sz="2400" dirty="0" smtClean="0"/>
              <a:t>, junto </a:t>
            </a:r>
            <a:r>
              <a:rPr lang="es-CR" sz="2400" dirty="0"/>
              <a:t>con los totales del tratamiento y las </a:t>
            </a:r>
            <a:r>
              <a:rPr lang="es-CR" sz="2400" dirty="0" smtClean="0"/>
              <a:t>medias (ver siguiente cuadro) </a:t>
            </a:r>
            <a:endParaRPr lang="es-ES" sz="2400" dirty="0"/>
          </a:p>
        </p:txBody>
      </p:sp>
      <p:sp>
        <p:nvSpPr>
          <p:cNvPr id="4" name="Título 1"/>
          <p:cNvSpPr>
            <a:spLocks noGrp="1"/>
          </p:cNvSpPr>
          <p:nvPr>
            <p:ph type="title"/>
          </p:nvPr>
        </p:nvSpPr>
        <p:spPr>
          <a:xfrm>
            <a:off x="674427" y="66789"/>
            <a:ext cx="10515600" cy="832513"/>
          </a:xfrm>
        </p:spPr>
        <p:txBody>
          <a:bodyPr/>
          <a:lstStyle/>
          <a:p>
            <a:r>
              <a:rPr lang="es-CR" dirty="0" smtClean="0"/>
              <a:t>Ejemplo…  1. Datos</a:t>
            </a:r>
            <a:endParaRPr lang="es-ES" dirty="0"/>
          </a:p>
        </p:txBody>
      </p:sp>
      <p:graphicFrame>
        <p:nvGraphicFramePr>
          <p:cNvPr id="6" name="5 Tabla"/>
          <p:cNvGraphicFramePr>
            <a:graphicFrameLocks noGrp="1"/>
          </p:cNvGraphicFramePr>
          <p:nvPr>
            <p:extLst>
              <p:ext uri="{D42A27DB-BD31-4B8C-83A1-F6EECF244321}">
                <p14:modId xmlns:p14="http://schemas.microsoft.com/office/powerpoint/2010/main" val="3958702092"/>
              </p:ext>
            </p:extLst>
          </p:nvPr>
        </p:nvGraphicFramePr>
        <p:xfrm>
          <a:off x="450850" y="1714500"/>
          <a:ext cx="4248151" cy="4897755"/>
        </p:xfrm>
        <a:graphic>
          <a:graphicData uri="http://schemas.openxmlformats.org/drawingml/2006/table">
            <a:tbl>
              <a:tblPr>
                <a:tableStyleId>{5C22544A-7EE6-4342-B048-85BDC9FD1C3A}</a:tableStyleId>
              </a:tblPr>
              <a:tblGrid>
                <a:gridCol w="755936"/>
                <a:gridCol w="766583"/>
                <a:gridCol w="681408"/>
                <a:gridCol w="681408"/>
                <a:gridCol w="681408"/>
                <a:gridCol w="681408"/>
              </a:tblGrid>
              <a:tr h="228600">
                <a:tc>
                  <a:txBody>
                    <a:bodyPr/>
                    <a:lstStyle/>
                    <a:p>
                      <a:pPr algn="l" fontAlgn="b"/>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DOC</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WKY</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DOC-Ca</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WKY-Ca</a:t>
                      </a:r>
                      <a:endParaRPr lang="es-CR" sz="1400" b="1"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336</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328</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342</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346</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315</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284</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269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343</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dirty="0">
                          <a:effectLst/>
                        </a:rPr>
                        <a:t>299</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334</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368</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348</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353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277</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315</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374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303</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313</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356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301</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354</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346</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319</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276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289</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279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322</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305</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308</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325</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dirty="0">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269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372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300</a:t>
                      </a:r>
                      <a:endParaRPr lang="es-CR" sz="1400" b="0" i="0" u="none" strike="noStrike">
                        <a:solidFill>
                          <a:srgbClr val="000000"/>
                        </a:solidFill>
                        <a:effectLst/>
                        <a:latin typeface="Calibri"/>
                      </a:endParaRPr>
                    </a:p>
                  </a:txBody>
                  <a:tcPr marL="9525" marR="9525" marT="9525" marB="0" anchor="b"/>
                </a:tc>
                <a:tc>
                  <a:txBody>
                    <a:bodyPr/>
                    <a:lstStyle/>
                    <a:p>
                      <a:pPr algn="ctr" fontAlgn="b"/>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dirty="0">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311</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 </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 </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Total</a:t>
                      </a:r>
                      <a:endParaRPr lang="es-CR" sz="1400" b="1" i="0" u="none" strike="noStrike" dirty="0">
                        <a:solidFill>
                          <a:srgbClr val="000000"/>
                        </a:solidFill>
                        <a:effectLst/>
                        <a:latin typeface="Calibri"/>
                      </a:endParaRPr>
                    </a:p>
                  </a:txBody>
                  <a:tcPr marL="9525" marR="9525" marT="9525" marB="0" anchor="b"/>
                </a:tc>
              </a:tr>
              <a:tr h="245745">
                <a:tc>
                  <a:txBody>
                    <a:bodyPr/>
                    <a:lstStyle/>
                    <a:p>
                      <a:pPr algn="l" fontAlgn="b"/>
                      <a:r>
                        <a:rPr lang="es-CR" sz="1400" b="1" u="none" strike="noStrike" dirty="0">
                          <a:effectLst/>
                        </a:rPr>
                        <a:t>Promedio</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a:effectLst/>
                        </a:rPr>
                        <a:t>309,38</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343,13</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302,50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321,43</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318,64</a:t>
                      </a:r>
                      <a:endParaRPr lang="es-CR" sz="1400" b="1" i="0" u="none" strike="noStrike" dirty="0">
                        <a:solidFill>
                          <a:srgbClr val="000000"/>
                        </a:solidFill>
                        <a:effectLst/>
                        <a:latin typeface="Calibri"/>
                      </a:endParaRPr>
                    </a:p>
                  </a:txBody>
                  <a:tcPr marL="9525" marR="9525" marT="9525" marB="0" anchor="b"/>
                </a:tc>
              </a:tr>
              <a:tr h="245745">
                <a:tc>
                  <a:txBody>
                    <a:bodyPr/>
                    <a:lstStyle/>
                    <a:p>
                      <a:pPr algn="l" fontAlgn="b"/>
                      <a:r>
                        <a:rPr lang="es-CR" sz="1400" b="1" u="none" strike="noStrike">
                          <a:effectLst/>
                        </a:rPr>
                        <a:t>Total</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4950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5147</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4840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4500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19437</a:t>
                      </a:r>
                      <a:endParaRPr lang="es-CR" sz="1400" b="1" i="0" u="none" strike="noStrike" dirty="0">
                        <a:solidFill>
                          <a:srgbClr val="000000"/>
                        </a:solidFill>
                        <a:effectLst/>
                        <a:latin typeface="Calibri"/>
                      </a:endParaRPr>
                    </a:p>
                  </a:txBody>
                  <a:tcPr marL="9525" marR="9525" marT="9525" marB="0" anchor="b"/>
                </a:tc>
              </a:tr>
              <a:tr h="245745">
                <a:tc>
                  <a:txBody>
                    <a:bodyPr/>
                    <a:lstStyle/>
                    <a:p>
                      <a:pPr algn="l" fontAlgn="b"/>
                      <a:r>
                        <a:rPr lang="es-CR" sz="1400" b="1" u="none" strike="noStrike">
                          <a:effectLst/>
                        </a:rPr>
                        <a:t>Muestra</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16</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15</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16</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14</a:t>
                      </a:r>
                      <a:endParaRPr lang="es-CR" sz="1400" b="1" i="0" u="none" strike="noStrike" dirty="0">
                        <a:solidFill>
                          <a:srgbClr val="000000"/>
                        </a:solidFill>
                        <a:effectLst/>
                        <a:latin typeface="Calibri"/>
                      </a:endParaRPr>
                    </a:p>
                  </a:txBody>
                  <a:tcPr marL="9525" marR="9525" marT="9525" marB="0" anchor="b"/>
                </a:tc>
                <a:tc>
                  <a:txBody>
                    <a:bodyPr/>
                    <a:lstStyle/>
                    <a:p>
                      <a:pPr algn="l" fontAlgn="b"/>
                      <a:endParaRPr lang="es-CR" sz="1400" b="1" i="0" u="none" strike="noStrike" dirty="0">
                        <a:solidFill>
                          <a:srgbClr val="000000"/>
                        </a:solidFill>
                        <a:effectLst/>
                        <a:latin typeface="Calibri"/>
                      </a:endParaRPr>
                    </a:p>
                  </a:txBody>
                  <a:tcPr marL="9525" marR="9525" marT="9525" marB="0" anchor="b"/>
                </a:tc>
              </a:tr>
            </a:tbl>
          </a:graphicData>
        </a:graphic>
      </p:graphicFrame>
      <p:pic>
        <p:nvPicPr>
          <p:cNvPr id="1028" name="Picture 4" descr="http://datorama.com/wp-content/uploads/2014/05/pc.gif"/>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0633" y="2071686"/>
            <a:ext cx="3802117" cy="3802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211699"/>
      </p:ext>
    </p:extLst>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74427" y="66789"/>
            <a:ext cx="10515600" cy="832513"/>
          </a:xfrm>
        </p:spPr>
        <p:txBody>
          <a:bodyPr/>
          <a:lstStyle/>
          <a:p>
            <a:r>
              <a:rPr lang="es-CR" dirty="0" smtClean="0"/>
              <a:t>Ejemplo…  1. Datos</a:t>
            </a:r>
            <a:endParaRPr lang="es-E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5572" y="1288422"/>
            <a:ext cx="7833447" cy="5430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068450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42454" y="1188316"/>
            <a:ext cx="10515600" cy="5461866"/>
          </a:xfrm>
        </p:spPr>
        <p:txBody>
          <a:bodyPr>
            <a:normAutofit/>
          </a:bodyPr>
          <a:lstStyle/>
          <a:p>
            <a:pPr marL="0" indent="0">
              <a:buNone/>
            </a:pPr>
            <a:r>
              <a:rPr lang="es-CR" sz="2400" dirty="0" smtClean="0"/>
              <a:t>2. </a:t>
            </a:r>
            <a:r>
              <a:rPr lang="es-CR" sz="2400" b="1" dirty="0" smtClean="0"/>
              <a:t>Supuestos</a:t>
            </a:r>
            <a:r>
              <a:rPr lang="es-CR" sz="2400" dirty="0" smtClean="0"/>
              <a:t>: los </a:t>
            </a:r>
            <a:r>
              <a:rPr lang="es-CR" sz="2400" dirty="0"/>
              <a:t>cuatro conjuntos de datos </a:t>
            </a:r>
            <a:r>
              <a:rPr lang="es-CR" sz="2400" dirty="0" smtClean="0"/>
              <a:t>forman muestras </a:t>
            </a:r>
            <a:r>
              <a:rPr lang="es-CR" sz="2400" dirty="0"/>
              <a:t>aleatorias simples e independientes, </a:t>
            </a:r>
            <a:r>
              <a:rPr lang="es-CR" sz="2400" dirty="0" smtClean="0"/>
              <a:t>extraídas </a:t>
            </a:r>
            <a:r>
              <a:rPr lang="es-CR" sz="2400" dirty="0"/>
              <a:t>de </a:t>
            </a:r>
            <a:r>
              <a:rPr lang="es-CR" sz="2400" dirty="0" smtClean="0"/>
              <a:t>cuatro poblaciones </a:t>
            </a:r>
            <a:r>
              <a:rPr lang="es-CR" sz="2400" dirty="0"/>
              <a:t>que son similares excepto por la </a:t>
            </a:r>
            <a:r>
              <a:rPr lang="es-CR" sz="2400" dirty="0" smtClean="0"/>
              <a:t>condición estudiada. Además las poblaciones </a:t>
            </a:r>
            <a:r>
              <a:rPr lang="es-CR" sz="2400" dirty="0"/>
              <a:t>de mediciones siguen una </a:t>
            </a:r>
            <a:r>
              <a:rPr lang="es-CR" sz="2400" dirty="0" smtClean="0"/>
              <a:t>distribución normal </a:t>
            </a:r>
            <a:r>
              <a:rPr lang="es-CR" sz="2400" dirty="0"/>
              <a:t>con variancias iguales</a:t>
            </a:r>
            <a:r>
              <a:rPr lang="es-CR" sz="2400" dirty="0" smtClean="0"/>
              <a:t>.</a:t>
            </a:r>
          </a:p>
          <a:p>
            <a:pPr marL="0" indent="0">
              <a:buNone/>
            </a:pPr>
            <a:endParaRPr lang="es-CR" sz="2400" dirty="0"/>
          </a:p>
          <a:p>
            <a:pPr marL="0" indent="0">
              <a:buNone/>
            </a:pPr>
            <a:r>
              <a:rPr lang="es-CR" sz="2400" dirty="0" smtClean="0"/>
              <a:t>3. </a:t>
            </a:r>
            <a:r>
              <a:rPr lang="es-CR" sz="2400" b="1" dirty="0" smtClean="0"/>
              <a:t>Hipótesis</a:t>
            </a:r>
            <a:r>
              <a:rPr lang="es-CR" sz="2400" dirty="0" smtClean="0"/>
              <a:t>: </a:t>
            </a:r>
          </a:p>
          <a:p>
            <a:pPr marL="0" indent="0">
              <a:buNone/>
            </a:pPr>
            <a:endParaRPr lang="es-CR" sz="2400" dirty="0"/>
          </a:p>
          <a:p>
            <a:pPr marL="0" indent="0">
              <a:buNone/>
            </a:pPr>
            <a:endParaRPr lang="es-CR" sz="2400" dirty="0" smtClean="0"/>
          </a:p>
          <a:p>
            <a:pPr marL="0" indent="0">
              <a:buNone/>
            </a:pPr>
            <a:endParaRPr lang="es-CR" sz="2400" dirty="0"/>
          </a:p>
          <a:p>
            <a:pPr marL="0" indent="0">
              <a:buNone/>
            </a:pPr>
            <a:r>
              <a:rPr lang="es-CR" sz="2400" dirty="0" smtClean="0"/>
              <a:t>4. </a:t>
            </a:r>
            <a:r>
              <a:rPr lang="es-CR" sz="2400" b="1" dirty="0" smtClean="0"/>
              <a:t>Estadística de prueba</a:t>
            </a:r>
            <a:r>
              <a:rPr lang="es-CR" sz="2400" dirty="0" smtClean="0"/>
              <a:t>: </a:t>
            </a: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2549236" y="3104695"/>
                <a:ext cx="6096000" cy="94461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0</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1</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2</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3</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4</m:t>
                          </m:r>
                        </m:sub>
                      </m:sSub>
                    </m:oMath>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𝐴</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𝑖</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𝑗</m:t>
                          </m:r>
                        </m:sub>
                      </m:sSub>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2549236" y="3104695"/>
                <a:ext cx="6096000" cy="944618"/>
              </a:xfrm>
              <a:prstGeom prst="rect">
                <a:avLst/>
              </a:prstGeom>
              <a:blipFill rotWithShape="1">
                <a:blip r:embed="rId2"/>
                <a:stretch>
                  <a:fillRect b="-5161"/>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5 Rectángulo"/>
              <p:cNvSpPr/>
              <p:nvPr/>
            </p:nvSpPr>
            <p:spPr>
              <a:xfrm>
                <a:off x="3980250" y="4900352"/>
                <a:ext cx="3307241" cy="84850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𝑅</m:t>
                      </m:r>
                      <m:r>
                        <a:rPr lang="es-CR" sz="2400" i="1">
                          <a:latin typeface="Cambria Math"/>
                        </a:rPr>
                        <m:t>.</m:t>
                      </m:r>
                      <m:r>
                        <a:rPr lang="es-CR" sz="2400" i="1">
                          <a:latin typeface="Cambria Math"/>
                        </a:rPr>
                        <m:t>𝑉</m:t>
                      </m:r>
                      <m:r>
                        <a:rPr lang="es-CR" sz="2400" i="1">
                          <a:latin typeface="Cambria Math"/>
                        </a:rPr>
                        <m:t>.=</m:t>
                      </m:r>
                      <m:f>
                        <m:fPr>
                          <m:ctrlPr>
                            <a:rPr lang="es-CR" sz="2400" i="1">
                              <a:latin typeface="Cambria Math"/>
                            </a:rPr>
                          </m:ctrlPr>
                        </m:fPr>
                        <m:num>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𝑒𝑛𝑡𝑟𝑒</m:t>
                              </m:r>
                            </m:sub>
                          </m:sSub>
                        </m:num>
                        <m:den>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𝑑𝑒𝑛𝑡𝑟𝑜</m:t>
                              </m:r>
                            </m:sub>
                          </m:sSub>
                        </m:den>
                      </m:f>
                      <m:r>
                        <a:rPr lang="es-CR" sz="2400" i="1">
                          <a:latin typeface="Cambria Math"/>
                        </a:rPr>
                        <m:t> </m:t>
                      </m:r>
                    </m:oMath>
                  </m:oMathPara>
                </a14:m>
                <a:endParaRPr lang="es-CR" sz="2400" dirty="0"/>
              </a:p>
            </p:txBody>
          </p:sp>
        </mc:Choice>
        <mc:Fallback xmlns="">
          <p:sp>
            <p:nvSpPr>
              <p:cNvPr id="6" name="5 Rectángulo"/>
              <p:cNvSpPr>
                <a:spLocks noRot="1" noChangeAspect="1" noMove="1" noResize="1" noEditPoints="1" noAdjustHandles="1" noChangeArrowheads="1" noChangeShapeType="1" noTextEdit="1"/>
              </p:cNvSpPr>
              <p:nvPr/>
            </p:nvSpPr>
            <p:spPr>
              <a:xfrm>
                <a:off x="3980250" y="4900352"/>
                <a:ext cx="3307241" cy="848502"/>
              </a:xfrm>
              <a:prstGeom prst="rect">
                <a:avLst/>
              </a:prstGeom>
              <a:blipFill rotWithShape="1">
                <a:blip r:embed="rId3"/>
                <a:stretch>
                  <a:fillRect/>
                </a:stretch>
              </a:blipFill>
            </p:spPr>
            <p:txBody>
              <a:bodyPr/>
              <a:lstStyle/>
              <a:p>
                <a:r>
                  <a:rPr lang="es-CR">
                    <a:noFill/>
                  </a:rPr>
                  <a:t> </a:t>
                </a:r>
              </a:p>
            </p:txBody>
          </p:sp>
        </mc:Fallback>
      </mc:AlternateContent>
      <p:pic>
        <p:nvPicPr>
          <p:cNvPr id="5122" name="Picture 2" descr="https://www.thefsforum.co.uk/app/uploads/2015/09/DataFSF-750x37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3746" y="3104695"/>
            <a:ext cx="3991066" cy="335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475238"/>
      </p:ext>
    </p:extLst>
  </p:cSld>
  <p:clrMapOvr>
    <a:masterClrMapping/>
  </p:clrMapOvr>
  <p:transition spd="slow">
    <p:wheel spokes="1"/>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242454" y="1188316"/>
                <a:ext cx="8233079" cy="5475720"/>
              </a:xfrm>
            </p:spPr>
            <p:txBody>
              <a:bodyPr>
                <a:normAutofit/>
              </a:bodyPr>
              <a:lstStyle/>
              <a:p>
                <a:pPr marL="0" indent="0" algn="just">
                  <a:buNone/>
                </a:pPr>
                <a:r>
                  <a:rPr lang="es-CR" sz="2400" dirty="0" smtClean="0"/>
                  <a:t>5. </a:t>
                </a:r>
                <a:r>
                  <a:rPr lang="es-CR" sz="2400" b="1" dirty="0" smtClean="0"/>
                  <a:t>Distribución de la estadística de prueba</a:t>
                </a:r>
                <a:r>
                  <a:rPr lang="es-CR" sz="2400" dirty="0" smtClean="0"/>
                  <a:t>:  si Ho es verdadera, y se cumple con las condiciones, entonces R.V. sigue una distribución F con los grados de libertad correspondientes, respectivamente, del numerador (k-1) y denominador  (n-k), en este caso 3 (4-1) y 57 (61-4).</a:t>
                </a:r>
              </a:p>
              <a:p>
                <a:pPr marL="0" indent="0">
                  <a:buNone/>
                </a:pPr>
                <a:endParaRPr lang="es-CR" sz="2400" dirty="0"/>
              </a:p>
              <a:p>
                <a:pPr marL="0" indent="0">
                  <a:buNone/>
                </a:pPr>
                <a:r>
                  <a:rPr lang="es-CR" sz="2400" dirty="0" smtClean="0"/>
                  <a:t>6. </a:t>
                </a:r>
                <a:r>
                  <a:rPr lang="es-CR" sz="2400" b="1" dirty="0" smtClean="0"/>
                  <a:t>Regla de decisión</a:t>
                </a:r>
                <a:r>
                  <a:rPr lang="es-CR" sz="2400" dirty="0" smtClean="0"/>
                  <a:t>: supóngase que </a:t>
                </a:r>
                <a14:m>
                  <m:oMath xmlns:m="http://schemas.openxmlformats.org/officeDocument/2006/math">
                    <m:r>
                      <a:rPr lang="es-CR" sz="2400" i="1">
                        <a:latin typeface="Cambria Math"/>
                      </a:rPr>
                      <m:t>𝛼</m:t>
                    </m:r>
                    <m:r>
                      <a:rPr lang="es-CR" sz="2400" i="1">
                        <a:latin typeface="Cambria Math"/>
                      </a:rPr>
                      <m:t>=0.05</m:t>
                    </m:r>
                  </m:oMath>
                </a14:m>
                <a:r>
                  <a:rPr lang="es-CR" sz="2400" dirty="0" smtClean="0"/>
                  <a:t>. El valor crítico para una F con 3 gados en el numerador y 57 en el denominador sería de</a:t>
                </a:r>
              </a:p>
              <a:p>
                <a:pPr marL="0" indent="0">
                  <a:buNone/>
                </a:pPr>
                <a:r>
                  <a:rPr lang="es-CR" sz="2400" dirty="0" smtClean="0"/>
                  <a:t>De F(3,57)= 3,34.</a:t>
                </a:r>
              </a:p>
              <a:p>
                <a:pPr marL="0" indent="0">
                  <a:buNone/>
                </a:pPr>
                <a:endParaRPr lang="es-CR" sz="2400" dirty="0"/>
              </a:p>
              <a:p>
                <a:pPr marL="0" indent="0">
                  <a:buNone/>
                </a:pPr>
                <a:r>
                  <a:rPr lang="es-CR" sz="2400" dirty="0" smtClean="0"/>
                  <a:t>Por lo tanto, la hipótesis no se rechaza si el valor calculado es menor a 3.34,  y se rechaza si es superior a 3.34.</a:t>
                </a:r>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242454" y="1188316"/>
                <a:ext cx="8233079" cy="5475720"/>
              </a:xfrm>
              <a:blipFill rotWithShape="1">
                <a:blip r:embed="rId2"/>
                <a:stretch>
                  <a:fillRect l="-1185" t="-1559" r="-1111"/>
                </a:stretch>
              </a:blipFill>
            </p:spPr>
            <p:txBody>
              <a:bodyPr/>
              <a:lstStyle/>
              <a:p>
                <a:r>
                  <a:rPr lang="es-CR">
                    <a:noFill/>
                  </a:rPr>
                  <a:t> </a:t>
                </a:r>
              </a:p>
            </p:txBody>
          </p:sp>
        </mc:Fallback>
      </mc:AlternateContent>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pic>
        <p:nvPicPr>
          <p:cNvPr id="4098" name="Picture 2" descr="https://upload.wikimedia.org/wikipedia/commons/thumb/9/92/F_pdf.svg/2000px-F_pdf.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87658" y="1471612"/>
            <a:ext cx="3048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mtweb.mtsu.edu/stats/dictionary/images/rrftest.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07958" y="4121152"/>
            <a:ext cx="3027700" cy="2457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08850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416" y="1500620"/>
            <a:ext cx="8667750" cy="504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cxnSp>
        <p:nvCxnSpPr>
          <p:cNvPr id="6" name="5 Conector recto de flecha"/>
          <p:cNvCxnSpPr/>
          <p:nvPr/>
        </p:nvCxnSpPr>
        <p:spPr>
          <a:xfrm>
            <a:off x="7716982" y="4447309"/>
            <a:ext cx="0" cy="11360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6 Rectángulo redondeado"/>
          <p:cNvSpPr/>
          <p:nvPr/>
        </p:nvSpPr>
        <p:spPr>
          <a:xfrm>
            <a:off x="6262254" y="3241964"/>
            <a:ext cx="2909455" cy="8866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Zona de rechazo</a:t>
            </a:r>
            <a:endParaRPr lang="es-CR" dirty="0"/>
          </a:p>
        </p:txBody>
      </p:sp>
    </p:spTree>
    <p:extLst>
      <p:ext uri="{BB962C8B-B14F-4D97-AF65-F5344CB8AC3E}">
        <p14:creationId xmlns:p14="http://schemas.microsoft.com/office/powerpoint/2010/main" val="1901131593"/>
      </p:ext>
    </p:extLst>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86403" y="1377343"/>
            <a:ext cx="10515600" cy="4838412"/>
          </a:xfrm>
        </p:spPr>
        <p:txBody>
          <a:bodyPr/>
          <a:lstStyle/>
          <a:p>
            <a:pPr marL="0" indent="0">
              <a:buNone/>
            </a:pPr>
            <a:r>
              <a:rPr lang="es-CR" dirty="0" smtClean="0"/>
              <a:t>7. </a:t>
            </a:r>
            <a:r>
              <a:rPr lang="es-CR" b="1" dirty="0" smtClean="0"/>
              <a:t>Cálculo de la estadística de prueba</a:t>
            </a:r>
            <a:r>
              <a:rPr lang="es-CR" dirty="0" smtClean="0"/>
              <a:t>: la suma de cuadrados</a:t>
            </a:r>
            <a:endParaRPr lang="es-CR"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427572" y="2366096"/>
                <a:ext cx="8664038" cy="485646"/>
              </a:xfrm>
              <a:prstGeom prst="rect">
                <a:avLst/>
              </a:prstGeom>
            </p:spPr>
            <p:txBody>
              <a:bodyPr wrap="none">
                <a:spAutoFit/>
              </a:bodyPr>
              <a:lstStyle/>
              <a:p>
                <a14:m>
                  <m:oMath xmlns:m="http://schemas.openxmlformats.org/officeDocument/2006/math">
                    <m:r>
                      <a:rPr lang="es-CR" b="0" i="1" smtClean="0">
                        <a:latin typeface="Cambria Math"/>
                      </a:rPr>
                      <m:t>𝑆</m:t>
                    </m:r>
                    <m:sSub>
                      <m:sSubPr>
                        <m:ctrlPr>
                          <a:rPr lang="es-CR" b="0" i="1" smtClean="0">
                            <a:latin typeface="Cambria Math"/>
                          </a:rPr>
                        </m:ctrlPr>
                      </m:sSubPr>
                      <m:e>
                        <m:r>
                          <a:rPr lang="es-CR" b="0" i="1" smtClean="0">
                            <a:latin typeface="Cambria Math"/>
                          </a:rPr>
                          <m:t>𝐶</m:t>
                        </m:r>
                      </m:e>
                      <m:sub>
                        <m:r>
                          <a:rPr lang="es-CR" b="0" i="1" smtClean="0">
                            <a:latin typeface="Cambria Math"/>
                          </a:rPr>
                          <m:t>𝑒𝑛𝑡𝑟𝑒</m:t>
                        </m:r>
                      </m:sub>
                    </m:sSub>
                    <m:r>
                      <a:rPr lang="es-CR" b="0" i="1" smtClean="0">
                        <a:latin typeface="Cambria Math"/>
                      </a:rPr>
                      <m:t>=</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sSub>
                          <m:sSubPr>
                            <m:ctrlPr>
                              <a:rPr lang="es-CR" i="1">
                                <a:latin typeface="Cambria Math"/>
                              </a:rPr>
                            </m:ctrlPr>
                          </m:sSubPr>
                          <m:e>
                            <m:r>
                              <a:rPr lang="es-CR" i="1">
                                <a:latin typeface="Cambria Math"/>
                              </a:rPr>
                              <m:t>𝑛</m:t>
                            </m:r>
                          </m:e>
                          <m:sub>
                            <m:r>
                              <a:rPr lang="es-CR" i="1">
                                <a:latin typeface="Cambria Math"/>
                              </a:rPr>
                              <m:t>𝑗</m:t>
                            </m:r>
                          </m:sub>
                        </m:sSub>
                        <m:sSup>
                          <m:sSupPr>
                            <m:ctrlPr>
                              <a:rPr lang="es-CR" i="1" smtClean="0">
                                <a:latin typeface="Cambria Math"/>
                              </a:rPr>
                            </m:ctrlPr>
                          </m:sSupPr>
                          <m:e>
                            <m:d>
                              <m:dPr>
                                <m:ctrlPr>
                                  <a:rPr lang="es-CR" i="1">
                                    <a:latin typeface="Cambria Math"/>
                                  </a:rPr>
                                </m:ctrlPr>
                              </m:dPr>
                              <m:e>
                                <m:sSub>
                                  <m:sSubPr>
                                    <m:ctrlPr>
                                      <a:rPr lang="es-CR" i="1">
                                        <a:latin typeface="Cambria Math"/>
                                      </a:rPr>
                                    </m:ctrlPr>
                                  </m:sSubPr>
                                  <m:e>
                                    <m:acc>
                                      <m:accPr>
                                        <m:chr m:val="̅"/>
                                        <m:ctrlPr>
                                          <a:rPr lang="es-CR" i="1">
                                            <a:latin typeface="Cambria Math"/>
                                          </a:rPr>
                                        </m:ctrlPr>
                                      </m:accPr>
                                      <m:e>
                                        <m:r>
                                          <a:rPr lang="es-CR" i="1">
                                            <a:latin typeface="Cambria Math"/>
                                          </a:rPr>
                                          <m:t>𝑥</m:t>
                                        </m:r>
                                      </m:e>
                                    </m:acc>
                                  </m:e>
                                  <m:sub>
                                    <m:r>
                                      <a:rPr lang="es-CR" i="1">
                                        <a:latin typeface="Cambria Math"/>
                                      </a:rPr>
                                      <m:t>.</m:t>
                                    </m:r>
                                    <m:r>
                                      <a:rPr lang="es-CR" i="1">
                                        <a:latin typeface="Cambria Math"/>
                                      </a:rPr>
                                      <m:t>𝑗</m:t>
                                    </m:r>
                                  </m:sub>
                                </m:sSub>
                                <m:r>
                                  <a:rPr lang="es-CR" i="1">
                                    <a:latin typeface="Cambria Math"/>
                                  </a:rPr>
                                  <m:t>−</m:t>
                                </m:r>
                                <m:sSub>
                                  <m:sSubPr>
                                    <m:ctrlPr>
                                      <a:rPr lang="es-CR" i="1">
                                        <a:latin typeface="Cambria Math"/>
                                      </a:rPr>
                                    </m:ctrlPr>
                                  </m:sSubPr>
                                  <m:e>
                                    <m:acc>
                                      <m:accPr>
                                        <m:chr m:val="̅"/>
                                        <m:ctrlPr>
                                          <a:rPr lang="es-CR" i="1">
                                            <a:latin typeface="Cambria Math"/>
                                          </a:rPr>
                                        </m:ctrlPr>
                                      </m:accPr>
                                      <m:e>
                                        <m:r>
                                          <a:rPr lang="es-CR" i="1">
                                            <a:latin typeface="Cambria Math"/>
                                          </a:rPr>
                                          <m:t>𝑥</m:t>
                                        </m:r>
                                      </m:e>
                                    </m:acc>
                                  </m:e>
                                  <m:sub>
                                    <m:r>
                                      <a:rPr lang="es-CR" i="1">
                                        <a:latin typeface="Cambria Math"/>
                                      </a:rPr>
                                      <m:t>..</m:t>
                                    </m:r>
                                  </m:sub>
                                </m:sSub>
                              </m:e>
                            </m:d>
                          </m:e>
                          <m:sup>
                            <m:r>
                              <a:rPr lang="es-CR" i="1">
                                <a:latin typeface="Cambria Math"/>
                              </a:rPr>
                              <m:t>2</m:t>
                            </m:r>
                          </m:sup>
                        </m:sSup>
                      </m:e>
                    </m:nary>
                    <m:r>
                      <a:rPr lang="es-CR" b="0" i="1" smtClean="0">
                        <a:latin typeface="Cambria Math"/>
                      </a:rPr>
                      <m:t>=</m:t>
                    </m:r>
                  </m:oMath>
                </a14:m>
                <a:r>
                  <a:rPr lang="es-CR" dirty="0" smtClean="0"/>
                  <a:t> 16*</a:t>
                </a:r>
                <a14:m>
                  <m:oMath xmlns:m="http://schemas.openxmlformats.org/officeDocument/2006/math">
                    <m:sSup>
                      <m:sSupPr>
                        <m:ctrlPr>
                          <a:rPr lang="es-CR" i="1">
                            <a:latin typeface="Cambria Math"/>
                          </a:rPr>
                        </m:ctrlPr>
                      </m:sSupPr>
                      <m:e>
                        <m:d>
                          <m:dPr>
                            <m:ctrlPr>
                              <a:rPr lang="es-CR" i="1">
                                <a:latin typeface="Cambria Math"/>
                              </a:rPr>
                            </m:ctrlPr>
                          </m:dPr>
                          <m:e>
                            <m:r>
                              <a:rPr lang="es-CR" b="0" i="1" smtClean="0">
                                <a:latin typeface="Cambria Math"/>
                              </a:rPr>
                              <m:t>309,38</m:t>
                            </m:r>
                            <m:r>
                              <a:rPr lang="es-CR" i="1">
                                <a:latin typeface="Cambria Math"/>
                              </a:rPr>
                              <m:t>−</m:t>
                            </m:r>
                            <m:r>
                              <a:rPr lang="es-CR" b="0" i="1" smtClean="0">
                                <a:latin typeface="Cambria Math"/>
                              </a:rPr>
                              <m:t>318,64</m:t>
                            </m:r>
                          </m:e>
                        </m:d>
                      </m:e>
                      <m:sup>
                        <m:r>
                          <a:rPr lang="es-CR" i="1">
                            <a:latin typeface="Cambria Math"/>
                          </a:rPr>
                          <m:t>2</m:t>
                        </m:r>
                      </m:sup>
                    </m:sSup>
                    <m:r>
                      <a:rPr lang="es-CR" b="0" i="1" smtClean="0">
                        <a:latin typeface="Cambria Math"/>
                      </a:rPr>
                      <m:t>+…+14∗</m:t>
                    </m:r>
                    <m:sSup>
                      <m:sSupPr>
                        <m:ctrlPr>
                          <a:rPr lang="es-CR" i="1">
                            <a:latin typeface="Cambria Math"/>
                          </a:rPr>
                        </m:ctrlPr>
                      </m:sSupPr>
                      <m:e>
                        <m:d>
                          <m:dPr>
                            <m:ctrlPr>
                              <a:rPr lang="es-CR" i="1">
                                <a:latin typeface="Cambria Math"/>
                              </a:rPr>
                            </m:ctrlPr>
                          </m:dPr>
                          <m:e>
                            <m:r>
                              <a:rPr lang="es-CR" b="0" i="1" smtClean="0">
                                <a:latin typeface="Cambria Math"/>
                              </a:rPr>
                              <m:t>321,43</m:t>
                            </m:r>
                            <m:r>
                              <a:rPr lang="es-CR" i="1">
                                <a:latin typeface="Cambria Math"/>
                              </a:rPr>
                              <m:t>−</m:t>
                            </m:r>
                            <m:r>
                              <a:rPr lang="es-CR" b="0" i="1" smtClean="0">
                                <a:latin typeface="Cambria Math"/>
                              </a:rPr>
                              <m:t>318,64</m:t>
                            </m:r>
                          </m:e>
                        </m:d>
                      </m:e>
                      <m:sup>
                        <m:r>
                          <a:rPr lang="es-CR" i="1">
                            <a:latin typeface="Cambria Math"/>
                          </a:rPr>
                          <m:t>2</m:t>
                        </m:r>
                      </m:sup>
                    </m:sSup>
                  </m:oMath>
                </a14:m>
                <a:endParaRPr lang="es-CR" dirty="0"/>
              </a:p>
            </p:txBody>
          </p:sp>
        </mc:Choice>
        <mc:Fallback xmlns="">
          <p:sp>
            <p:nvSpPr>
              <p:cNvPr id="5" name="4 Rectángulo"/>
              <p:cNvSpPr>
                <a:spLocks noRot="1" noChangeAspect="1" noMove="1" noResize="1" noEditPoints="1" noAdjustHandles="1" noChangeArrowheads="1" noChangeShapeType="1" noTextEdit="1"/>
              </p:cNvSpPr>
              <p:nvPr/>
            </p:nvSpPr>
            <p:spPr>
              <a:xfrm>
                <a:off x="427572" y="2366096"/>
                <a:ext cx="8664038" cy="485646"/>
              </a:xfrm>
              <a:prstGeom prst="rect">
                <a:avLst/>
              </a:prstGeom>
              <a:blipFill rotWithShape="1">
                <a:blip r:embed="rId2"/>
                <a:stretch>
                  <a:fillRect t="-73750" b="-133750"/>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5 Rectángulo"/>
              <p:cNvSpPr/>
              <p:nvPr/>
            </p:nvSpPr>
            <p:spPr>
              <a:xfrm>
                <a:off x="427572" y="3246704"/>
                <a:ext cx="28686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i="1">
                          <a:latin typeface="Cambria Math"/>
                        </a:rPr>
                        <m:t>=</m:t>
                      </m:r>
                      <m:r>
                        <a:rPr lang="es-CR" sz="2400" b="0" i="1" smtClean="0">
                          <a:latin typeface="Cambria Math"/>
                        </a:rPr>
                        <m:t>14649,15</m:t>
                      </m:r>
                    </m:oMath>
                  </m:oMathPara>
                </a14:m>
                <a:endParaRPr lang="es-CR" sz="2400" dirty="0"/>
              </a:p>
            </p:txBody>
          </p:sp>
        </mc:Choice>
        <mc:Fallback xmlns="">
          <p:sp>
            <p:nvSpPr>
              <p:cNvPr id="6" name="5 Rectángulo"/>
              <p:cNvSpPr>
                <a:spLocks noRot="1" noChangeAspect="1" noMove="1" noResize="1" noEditPoints="1" noAdjustHandles="1" noChangeArrowheads="1" noChangeShapeType="1" noTextEdit="1"/>
              </p:cNvSpPr>
              <p:nvPr/>
            </p:nvSpPr>
            <p:spPr>
              <a:xfrm>
                <a:off x="427572" y="3246704"/>
                <a:ext cx="2868670" cy="461665"/>
              </a:xfrm>
              <a:prstGeom prst="rect">
                <a:avLst/>
              </a:prstGeom>
              <a:blipFill rotWithShape="1">
                <a:blip r:embed="rId3"/>
                <a:stretch>
                  <a:fillRect b="-1333"/>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7" name="6 Rectángulo"/>
              <p:cNvSpPr/>
              <p:nvPr/>
            </p:nvSpPr>
            <p:spPr>
              <a:xfrm>
                <a:off x="427570" y="3978631"/>
                <a:ext cx="10600647" cy="449418"/>
              </a:xfrm>
              <a:prstGeom prst="rect">
                <a:avLst/>
              </a:prstGeom>
            </p:spPr>
            <p:txBody>
              <a:bodyPr wrap="square">
                <a:spAutoFit/>
              </a:bodyPr>
              <a:lstStyle/>
              <a:p>
                <a14:m>
                  <m:oMath xmlns:m="http://schemas.openxmlformats.org/officeDocument/2006/math">
                    <m:r>
                      <a:rPr lang="es-CR" b="0" i="1" smtClean="0">
                        <a:latin typeface="Cambria Math"/>
                      </a:rPr>
                      <m:t>𝑆</m:t>
                    </m:r>
                    <m:sSub>
                      <m:sSubPr>
                        <m:ctrlPr>
                          <a:rPr lang="es-CR" b="0" i="1" smtClean="0">
                            <a:latin typeface="Cambria Math"/>
                          </a:rPr>
                        </m:ctrlPr>
                      </m:sSubPr>
                      <m:e>
                        <m:r>
                          <a:rPr lang="es-CR" b="0" i="1" smtClean="0">
                            <a:latin typeface="Cambria Math"/>
                          </a:rPr>
                          <m:t>𝐶</m:t>
                        </m:r>
                      </m:e>
                      <m:sub>
                        <m:r>
                          <a:rPr lang="es-CR" b="0" i="1" smtClean="0">
                            <a:latin typeface="Cambria Math"/>
                          </a:rPr>
                          <m:t>𝑑𝑒𝑛𝑡𝑟𝑜</m:t>
                        </m:r>
                      </m:sub>
                    </m:sSub>
                    <m:r>
                      <a:rPr lang="es-CR" b="0" i="1" smtClean="0">
                        <a:latin typeface="Cambria Math"/>
                      </a:rPr>
                      <m:t>=</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nary>
                          <m:naryPr>
                            <m:chr m:val="∑"/>
                            <m:limLoc m:val="undOvr"/>
                            <m:ctrlPr>
                              <a:rPr lang="es-CR" i="1">
                                <a:latin typeface="Cambria Math"/>
                              </a:rPr>
                            </m:ctrlPr>
                          </m:naryPr>
                          <m:sub>
                            <m:r>
                              <a:rPr lang="es-CR" i="1">
                                <a:latin typeface="Cambria Math"/>
                              </a:rPr>
                              <m:t>𝑖</m:t>
                            </m:r>
                            <m:r>
                              <a:rPr lang="es-CR" i="1">
                                <a:latin typeface="Cambria Math"/>
                              </a:rPr>
                              <m:t>=1</m:t>
                            </m:r>
                          </m:sub>
                          <m:sup>
                            <m:sSub>
                              <m:sSubPr>
                                <m:ctrlPr>
                                  <a:rPr lang="es-CR" i="1">
                                    <a:latin typeface="Cambria Math"/>
                                  </a:rPr>
                                </m:ctrlPr>
                              </m:sSubPr>
                              <m:e>
                                <m:r>
                                  <a:rPr lang="es-CR" i="1">
                                    <a:latin typeface="Cambria Math"/>
                                  </a:rPr>
                                  <m:t>𝑛</m:t>
                                </m:r>
                              </m:e>
                              <m:sub>
                                <m:r>
                                  <a:rPr lang="es-CR" i="1">
                                    <a:latin typeface="Cambria Math"/>
                                  </a:rPr>
                                  <m:t>𝑗</m:t>
                                </m:r>
                              </m:sub>
                            </m:sSub>
                          </m:sup>
                          <m:e>
                            <m:sSup>
                              <m:sSupPr>
                                <m:ctrlPr>
                                  <a:rPr lang="es-CR" i="1">
                                    <a:latin typeface="Cambria Math"/>
                                  </a:rPr>
                                </m:ctrlPr>
                              </m:sSupPr>
                              <m:e>
                                <m:r>
                                  <a:rPr lang="es-CR" i="1">
                                    <a:latin typeface="Cambria Math"/>
                                  </a:rPr>
                                  <m:t>(</m:t>
                                </m:r>
                                <m:sSub>
                                  <m:sSubPr>
                                    <m:ctrlPr>
                                      <a:rPr lang="es-CR" i="1">
                                        <a:latin typeface="Cambria Math"/>
                                      </a:rPr>
                                    </m:ctrlPr>
                                  </m:sSubPr>
                                  <m:e>
                                    <m:r>
                                      <a:rPr lang="es-CR" i="1">
                                        <a:latin typeface="Cambria Math"/>
                                      </a:rPr>
                                      <m:t>𝑥</m:t>
                                    </m:r>
                                  </m:e>
                                  <m:sub>
                                    <m:r>
                                      <a:rPr lang="es-CR" i="1">
                                        <a:latin typeface="Cambria Math"/>
                                      </a:rPr>
                                      <m:t>𝑖𝑗</m:t>
                                    </m:r>
                                  </m:sub>
                                </m:sSub>
                                <m:r>
                                  <a:rPr lang="es-CR" i="1">
                                    <a:latin typeface="Cambria Math"/>
                                  </a:rPr>
                                  <m:t>−</m:t>
                                </m:r>
                                <m:sSub>
                                  <m:sSubPr>
                                    <m:ctrlPr>
                                      <a:rPr lang="es-CR" i="1">
                                        <a:latin typeface="Cambria Math"/>
                                      </a:rPr>
                                    </m:ctrlPr>
                                  </m:sSubPr>
                                  <m:e>
                                    <m:acc>
                                      <m:accPr>
                                        <m:chr m:val="̅"/>
                                        <m:ctrlPr>
                                          <a:rPr lang="es-CR" i="1">
                                            <a:latin typeface="Cambria Math"/>
                                          </a:rPr>
                                        </m:ctrlPr>
                                      </m:accPr>
                                      <m:e>
                                        <m:r>
                                          <a:rPr lang="es-CR" i="1">
                                            <a:latin typeface="Cambria Math"/>
                                          </a:rPr>
                                          <m:t>𝑥</m:t>
                                        </m:r>
                                      </m:e>
                                    </m:acc>
                                  </m:e>
                                  <m:sub>
                                    <m:r>
                                      <a:rPr lang="es-CR" i="1">
                                        <a:latin typeface="Cambria Math"/>
                                      </a:rPr>
                                      <m:t>.</m:t>
                                    </m:r>
                                    <m:r>
                                      <a:rPr lang="es-CR" i="1">
                                        <a:latin typeface="Cambria Math"/>
                                      </a:rPr>
                                      <m:t>𝑗</m:t>
                                    </m:r>
                                  </m:sub>
                                </m:sSub>
                                <m:r>
                                  <a:rPr lang="es-CR" i="1">
                                    <a:latin typeface="Cambria Math"/>
                                  </a:rPr>
                                  <m:t>)</m:t>
                                </m:r>
                              </m:e>
                              <m:sup>
                                <m:r>
                                  <a:rPr lang="es-CR" i="1">
                                    <a:latin typeface="Cambria Math"/>
                                  </a:rPr>
                                  <m:t>2</m:t>
                                </m:r>
                              </m:sup>
                            </m:sSup>
                          </m:e>
                        </m:nary>
                      </m:e>
                    </m:nary>
                    <m:r>
                      <a:rPr lang="es-CR" b="0" i="1" smtClean="0">
                        <a:latin typeface="Cambria Math"/>
                      </a:rPr>
                      <m:t>=</m:t>
                    </m:r>
                    <m:sSup>
                      <m:sSupPr>
                        <m:ctrlPr>
                          <a:rPr lang="es-CR" i="1">
                            <a:latin typeface="Cambria Math"/>
                          </a:rPr>
                        </m:ctrlPr>
                      </m:sSupPr>
                      <m:e>
                        <m:r>
                          <a:rPr lang="es-CR" i="1">
                            <a:latin typeface="Cambria Math"/>
                          </a:rPr>
                          <m:t>(</m:t>
                        </m:r>
                        <m:r>
                          <a:rPr lang="es-CR" b="0" i="1" smtClean="0">
                            <a:latin typeface="Cambria Math"/>
                          </a:rPr>
                          <m:t>336</m:t>
                        </m:r>
                        <m:r>
                          <a:rPr lang="es-CR" i="1">
                            <a:latin typeface="Cambria Math"/>
                          </a:rPr>
                          <m:t>−</m:t>
                        </m:r>
                        <m:r>
                          <a:rPr lang="es-CR" b="0" i="1" smtClean="0">
                            <a:latin typeface="Cambria Math"/>
                          </a:rPr>
                          <m:t>309,38</m:t>
                        </m:r>
                        <m:r>
                          <a:rPr lang="es-CR" i="1">
                            <a:latin typeface="Cambria Math"/>
                          </a:rPr>
                          <m:t>)</m:t>
                        </m:r>
                      </m:e>
                      <m:sup>
                        <m:r>
                          <a:rPr lang="es-CR" i="1">
                            <a:latin typeface="Cambria Math"/>
                          </a:rPr>
                          <m:t>2</m:t>
                        </m:r>
                      </m:sup>
                    </m:sSup>
                    <m:r>
                      <a:rPr lang="es-CR" b="0" i="1" smtClean="0">
                        <a:latin typeface="Cambria Math"/>
                      </a:rPr>
                      <m:t>+…+</m:t>
                    </m:r>
                    <m:sSup>
                      <m:sSupPr>
                        <m:ctrlPr>
                          <a:rPr lang="es-CR" i="1">
                            <a:latin typeface="Cambria Math"/>
                          </a:rPr>
                        </m:ctrlPr>
                      </m:sSupPr>
                      <m:e>
                        <m:d>
                          <m:dPr>
                            <m:ctrlPr>
                              <a:rPr lang="es-CR" i="1">
                                <a:latin typeface="Cambria Math"/>
                              </a:rPr>
                            </m:ctrlPr>
                          </m:dPr>
                          <m:e>
                            <m:r>
                              <a:rPr lang="es-CR" i="1">
                                <a:latin typeface="Cambria Math"/>
                              </a:rPr>
                              <m:t>3</m:t>
                            </m:r>
                            <m:r>
                              <a:rPr lang="es-CR" b="0" i="1" smtClean="0">
                                <a:latin typeface="Cambria Math"/>
                              </a:rPr>
                              <m:t>28</m:t>
                            </m:r>
                            <m:r>
                              <a:rPr lang="es-CR" i="1">
                                <a:latin typeface="Cambria Math"/>
                              </a:rPr>
                              <m:t>−</m:t>
                            </m:r>
                            <m:r>
                              <a:rPr lang="es-CR" b="0" i="1" smtClean="0">
                                <a:latin typeface="Cambria Math"/>
                              </a:rPr>
                              <m:t>343,13</m:t>
                            </m:r>
                          </m:e>
                        </m:d>
                      </m:e>
                      <m:sup>
                        <m:r>
                          <a:rPr lang="es-CR" i="1">
                            <a:latin typeface="Cambria Math"/>
                          </a:rPr>
                          <m:t>2</m:t>
                        </m:r>
                      </m:sup>
                    </m:sSup>
                    <m:r>
                      <a:rPr lang="es-CR" b="0" i="1" smtClean="0">
                        <a:latin typeface="Cambria Math"/>
                      </a:rPr>
                      <m:t>+…+</m:t>
                    </m:r>
                    <m:sSup>
                      <m:sSupPr>
                        <m:ctrlPr>
                          <a:rPr lang="es-CR" i="1">
                            <a:latin typeface="Cambria Math"/>
                          </a:rPr>
                        </m:ctrlPr>
                      </m:sSupPr>
                      <m:e>
                        <m:d>
                          <m:dPr>
                            <m:ctrlPr>
                              <a:rPr lang="es-CR" i="1">
                                <a:latin typeface="Cambria Math"/>
                              </a:rPr>
                            </m:ctrlPr>
                          </m:dPr>
                          <m:e>
                            <m:r>
                              <a:rPr lang="es-CR" i="1">
                                <a:latin typeface="Cambria Math"/>
                              </a:rPr>
                              <m:t>3</m:t>
                            </m:r>
                            <m:r>
                              <a:rPr lang="es-CR" b="0" i="1" smtClean="0">
                                <a:latin typeface="Cambria Math"/>
                              </a:rPr>
                              <m:t>04</m:t>
                            </m:r>
                            <m:r>
                              <a:rPr lang="es-CR" i="1">
                                <a:latin typeface="Cambria Math"/>
                              </a:rPr>
                              <m:t>−</m:t>
                            </m:r>
                            <m:r>
                              <a:rPr lang="es-CR" b="0" i="1" smtClean="0">
                                <a:latin typeface="Cambria Math"/>
                              </a:rPr>
                              <m:t>302,50</m:t>
                            </m:r>
                          </m:e>
                        </m:d>
                      </m:e>
                      <m:sup>
                        <m:r>
                          <a:rPr lang="es-CR" i="1">
                            <a:latin typeface="Cambria Math"/>
                          </a:rPr>
                          <m:t>2</m:t>
                        </m:r>
                      </m:sup>
                    </m:sSup>
                  </m:oMath>
                </a14:m>
                <a:r>
                  <a:rPr lang="es-CR" dirty="0" smtClean="0"/>
                  <a:t>+…</a:t>
                </a:r>
                <a:endParaRPr lang="es-CR" dirty="0"/>
              </a:p>
            </p:txBody>
          </p:sp>
        </mc:Choice>
        <mc:Fallback xmlns="">
          <p:sp>
            <p:nvSpPr>
              <p:cNvPr id="7" name="6 Rectángulo"/>
              <p:cNvSpPr>
                <a:spLocks noRot="1" noChangeAspect="1" noMove="1" noResize="1" noEditPoints="1" noAdjustHandles="1" noChangeArrowheads="1" noChangeShapeType="1" noTextEdit="1"/>
              </p:cNvSpPr>
              <p:nvPr/>
            </p:nvSpPr>
            <p:spPr>
              <a:xfrm>
                <a:off x="427570" y="3978631"/>
                <a:ext cx="10600647" cy="449418"/>
              </a:xfrm>
              <a:prstGeom prst="rect">
                <a:avLst/>
              </a:prstGeom>
              <a:blipFill rotWithShape="1">
                <a:blip r:embed="rId4"/>
                <a:stretch>
                  <a:fillRect t="-89041" b="-147945"/>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8" name="7 Rectángulo"/>
              <p:cNvSpPr/>
              <p:nvPr/>
            </p:nvSpPr>
            <p:spPr>
              <a:xfrm>
                <a:off x="427572" y="4676950"/>
                <a:ext cx="34294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r>
                        <a:rPr lang="es-CR" sz="2400" i="1">
                          <a:latin typeface="Cambria Math"/>
                        </a:rPr>
                        <m:t>=</m:t>
                      </m:r>
                      <m:r>
                        <a:rPr lang="es-CR" sz="2400" b="0" i="1" smtClean="0">
                          <a:latin typeface="Cambria Math"/>
                        </a:rPr>
                        <m:t>23210.9023 </m:t>
                      </m:r>
                    </m:oMath>
                  </m:oMathPara>
                </a14:m>
                <a:endParaRPr lang="es-CR" sz="2400" dirty="0"/>
              </a:p>
            </p:txBody>
          </p:sp>
        </mc:Choice>
        <mc:Fallback xmlns="">
          <p:sp>
            <p:nvSpPr>
              <p:cNvPr id="8" name="7 Rectángulo"/>
              <p:cNvSpPr>
                <a:spLocks noRot="1" noChangeAspect="1" noMove="1" noResize="1" noEditPoints="1" noAdjustHandles="1" noChangeArrowheads="1" noChangeShapeType="1" noTextEdit="1"/>
              </p:cNvSpPr>
              <p:nvPr/>
            </p:nvSpPr>
            <p:spPr>
              <a:xfrm>
                <a:off x="427572" y="4676950"/>
                <a:ext cx="3429465" cy="461665"/>
              </a:xfrm>
              <a:prstGeom prst="rect">
                <a:avLst/>
              </a:prstGeom>
              <a:blipFill rotWithShape="1">
                <a:blip r:embed="rId5"/>
                <a:stretch>
                  <a:fillRect b="-1316"/>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9" name="8 Rectángulo"/>
              <p:cNvSpPr/>
              <p:nvPr/>
            </p:nvSpPr>
            <p:spPr>
              <a:xfrm>
                <a:off x="427570" y="5541565"/>
                <a:ext cx="66489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b="0" i="1" smtClean="0">
                          <a:latin typeface="Cambria Math"/>
                        </a:rPr>
                        <m:t> </m:t>
                      </m:r>
                      <m:r>
                        <a:rPr lang="es-CR" sz="2400" i="1">
                          <a:latin typeface="Cambria Math"/>
                        </a:rPr>
                        <m:t>=</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b="0" i="1" smtClean="0">
                          <a:latin typeface="Cambria Math"/>
                        </a:rPr>
                        <m:t> </m:t>
                      </m:r>
                      <m:r>
                        <a:rPr lang="es-CR" sz="2400" i="1" smtClean="0">
                          <a:latin typeface="Cambria Math"/>
                        </a:rPr>
                        <m:t>+</m:t>
                      </m:r>
                      <m:r>
                        <a:rPr lang="es-CR" sz="2400" b="0" i="1" smtClean="0">
                          <a:latin typeface="Cambria Math"/>
                        </a:rPr>
                        <m:t> </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oMath>
                  </m:oMathPara>
                </a14:m>
                <a:endParaRPr lang="es-CR" sz="2400" dirty="0"/>
              </a:p>
            </p:txBody>
          </p:sp>
        </mc:Choice>
        <mc:Fallback xmlns="">
          <p:sp>
            <p:nvSpPr>
              <p:cNvPr id="9" name="8 Rectángulo"/>
              <p:cNvSpPr>
                <a:spLocks noRot="1" noChangeAspect="1" noMove="1" noResize="1" noEditPoints="1" noAdjustHandles="1" noChangeArrowheads="1" noChangeShapeType="1" noTextEdit="1"/>
              </p:cNvSpPr>
              <p:nvPr/>
            </p:nvSpPr>
            <p:spPr>
              <a:xfrm>
                <a:off x="427570" y="5541565"/>
                <a:ext cx="6648919" cy="461665"/>
              </a:xfrm>
              <a:prstGeom prst="rect">
                <a:avLst/>
              </a:prstGeom>
              <a:blipFill rotWithShape="1">
                <a:blip r:embed="rId6"/>
                <a:stretch>
                  <a:fillRect l="-183" b="-1316"/>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10" name="9 Rectángulo"/>
              <p:cNvSpPr/>
              <p:nvPr/>
            </p:nvSpPr>
            <p:spPr>
              <a:xfrm>
                <a:off x="427568" y="6155606"/>
                <a:ext cx="66489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b="0" i="1" smtClean="0">
                          <a:latin typeface="Cambria Math"/>
                        </a:rPr>
                        <m:t> </m:t>
                      </m:r>
                      <m:r>
                        <a:rPr lang="es-CR" sz="2400" i="1">
                          <a:latin typeface="Cambria Math"/>
                        </a:rPr>
                        <m:t>=</m:t>
                      </m:r>
                      <m:r>
                        <m:rPr>
                          <m:nor/>
                        </m:rPr>
                        <a:rPr lang="es-CR" sz="2400"/>
                        <m:t>37860.0547</m:t>
                      </m:r>
                    </m:oMath>
                  </m:oMathPara>
                </a14:m>
                <a:endParaRPr lang="es-CR" sz="2400" dirty="0"/>
              </a:p>
            </p:txBody>
          </p:sp>
        </mc:Choice>
        <mc:Fallback xmlns="">
          <p:sp>
            <p:nvSpPr>
              <p:cNvPr id="10" name="9 Rectángulo"/>
              <p:cNvSpPr>
                <a:spLocks noRot="1" noChangeAspect="1" noMove="1" noResize="1" noEditPoints="1" noAdjustHandles="1" noChangeArrowheads="1" noChangeShapeType="1" noTextEdit="1"/>
              </p:cNvSpPr>
              <p:nvPr/>
            </p:nvSpPr>
            <p:spPr>
              <a:xfrm>
                <a:off x="427568" y="6155606"/>
                <a:ext cx="6648919" cy="461665"/>
              </a:xfrm>
              <a:prstGeom prst="rect">
                <a:avLst/>
              </a:prstGeom>
              <a:blipFill rotWithShape="1">
                <a:blip r:embed="rId7"/>
                <a:stretch>
                  <a:fillRect l="-183" b="-1316"/>
                </a:stretch>
              </a:blipFill>
            </p:spPr>
            <p:txBody>
              <a:bodyPr/>
              <a:lstStyle/>
              <a:p>
                <a:r>
                  <a:rPr lang="es-CR">
                    <a:noFill/>
                  </a:rPr>
                  <a:t> </a:t>
                </a:r>
              </a:p>
            </p:txBody>
          </p:sp>
        </mc:Fallback>
      </mc:AlternateContent>
      <p:pic>
        <p:nvPicPr>
          <p:cNvPr id="11266" name="Picture 2" descr="https://www.winnipegsd.ca/schools/Sacre-Coeur/StudentResources/Links/Documents/MATH_logo.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7893" y="4770437"/>
            <a:ext cx="5514513" cy="178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0904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42454" y="994351"/>
            <a:ext cx="10515600" cy="5711249"/>
          </a:xfrm>
        </p:spPr>
        <p:txBody>
          <a:bodyPr/>
          <a:lstStyle/>
          <a:p>
            <a:pPr marL="0" indent="0">
              <a:buNone/>
            </a:pPr>
            <a:r>
              <a:rPr lang="es-CR" dirty="0"/>
              <a:t>7. </a:t>
            </a:r>
            <a:r>
              <a:rPr lang="es-CR" b="1" dirty="0"/>
              <a:t>Cálculo de la estadística de prueba</a:t>
            </a:r>
            <a:r>
              <a:rPr lang="es-CR" dirty="0" smtClean="0"/>
              <a:t>:  </a:t>
            </a:r>
            <a:r>
              <a:rPr lang="es-CR" b="1" dirty="0" smtClean="0"/>
              <a:t>grados de libertad</a:t>
            </a:r>
          </a:p>
          <a:p>
            <a:pPr marL="0" indent="0">
              <a:buNone/>
            </a:pPr>
            <a:endParaRPr lang="es-CR" dirty="0"/>
          </a:p>
          <a:p>
            <a:pPr marL="0" indent="0">
              <a:buNone/>
            </a:pPr>
            <a:endParaRPr lang="es-CR" dirty="0" smtClean="0"/>
          </a:p>
          <a:p>
            <a:pPr marL="0" indent="0">
              <a:buNone/>
            </a:pPr>
            <a:endParaRPr lang="es-CR" dirty="0"/>
          </a:p>
          <a:p>
            <a:pPr marL="0" indent="0">
              <a:buNone/>
            </a:pPr>
            <a:r>
              <a:rPr lang="es-CR" b="1" dirty="0" smtClean="0"/>
              <a:t>Cuadrado</a:t>
            </a:r>
            <a:r>
              <a:rPr lang="es-CR" dirty="0" smtClean="0"/>
              <a:t> </a:t>
            </a:r>
            <a:r>
              <a:rPr lang="es-CR" b="1" dirty="0" smtClean="0"/>
              <a:t>medio</a:t>
            </a:r>
          </a:p>
          <a:p>
            <a:pPr marL="0" indent="0">
              <a:buNone/>
            </a:pPr>
            <a:endParaRPr lang="es-CR" b="1" dirty="0"/>
          </a:p>
          <a:p>
            <a:pPr marL="0" indent="0">
              <a:buNone/>
            </a:pPr>
            <a:endParaRPr lang="es-CR" b="1" dirty="0" smtClean="0"/>
          </a:p>
          <a:p>
            <a:pPr marL="0" indent="0">
              <a:buNone/>
            </a:pPr>
            <a:endParaRPr lang="es-CR" b="1" dirty="0"/>
          </a:p>
          <a:p>
            <a:pPr marL="0" indent="0">
              <a:buNone/>
            </a:pPr>
            <a:r>
              <a:rPr lang="es-CR" b="1" dirty="0" smtClean="0"/>
              <a:t>Razón de variancia</a:t>
            </a:r>
            <a:endParaRPr lang="es-CR" b="1"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mc:AlternateContent xmlns:mc="http://schemas.openxmlformats.org/markup-compatibility/2006" xmlns:a14="http://schemas.microsoft.com/office/drawing/2010/main">
        <mc:Choice Requires="a14">
          <p:sp>
            <p:nvSpPr>
              <p:cNvPr id="5" name="Rectángulo 1"/>
              <p:cNvSpPr/>
              <p:nvPr/>
            </p:nvSpPr>
            <p:spPr>
              <a:xfrm>
                <a:off x="597776" y="1823589"/>
                <a:ext cx="297805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𝒆𝒏𝒕𝒓𝒆</m:t>
                          </m:r>
                        </m:sub>
                      </m:sSub>
                      <m:r>
                        <a:rPr lang="es-ES" sz="2400" b="1" i="0">
                          <a:latin typeface="Cambria Math" panose="02040503050406030204" pitchFamily="18" charset="0"/>
                        </a:rPr>
                        <m:t>=</m:t>
                      </m:r>
                      <m:r>
                        <a:rPr lang="es-ES" sz="2400" b="1" i="1">
                          <a:latin typeface="Cambria Math" panose="02040503050406030204" pitchFamily="18" charset="0"/>
                        </a:rPr>
                        <m:t>𝒌</m:t>
                      </m:r>
                      <m:r>
                        <a:rPr lang="es-ES" sz="2400" b="1" i="0">
                          <a:latin typeface="Cambria Math" panose="02040503050406030204" pitchFamily="18" charset="0"/>
                        </a:rPr>
                        <m:t>−</m:t>
                      </m:r>
                      <m:r>
                        <a:rPr lang="es-ES" sz="2400" b="1" i="0">
                          <a:latin typeface="Cambria Math" panose="02040503050406030204" pitchFamily="18" charset="0"/>
                        </a:rPr>
                        <m:t>𝟏</m:t>
                      </m:r>
                      <m:r>
                        <a:rPr lang="es-CR" sz="2400" b="1" i="0" smtClean="0">
                          <a:latin typeface="Cambria Math"/>
                        </a:rPr>
                        <m:t>=</m:t>
                      </m:r>
                      <m:r>
                        <a:rPr lang="es-CR" sz="2400" b="1" i="0" smtClean="0">
                          <a:latin typeface="Cambria Math"/>
                        </a:rPr>
                        <m:t>𝟑</m:t>
                      </m:r>
                    </m:oMath>
                  </m:oMathPara>
                </a14:m>
                <a:endParaRPr lang="es-ES" sz="2400" b="1" dirty="0"/>
              </a:p>
            </p:txBody>
          </p:sp>
        </mc:Choice>
        <mc:Fallback xmlns="">
          <p:sp>
            <p:nvSpPr>
              <p:cNvPr id="5" name="Rectángulo 1"/>
              <p:cNvSpPr>
                <a:spLocks noRot="1" noChangeAspect="1" noMove="1" noResize="1" noEditPoints="1" noAdjustHandles="1" noChangeArrowheads="1" noChangeShapeType="1" noTextEdit="1"/>
              </p:cNvSpPr>
              <p:nvPr/>
            </p:nvSpPr>
            <p:spPr>
              <a:xfrm>
                <a:off x="597776" y="1823589"/>
                <a:ext cx="2978059" cy="461665"/>
              </a:xfrm>
              <a:prstGeom prst="rect">
                <a:avLst/>
              </a:prstGeom>
              <a:blipFill rotWithShape="1">
                <a:blip r:embed="rId2"/>
                <a:stretch>
                  <a:fillRect/>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Rectángulo 4"/>
              <p:cNvSpPr/>
              <p:nvPr/>
            </p:nvSpPr>
            <p:spPr>
              <a:xfrm>
                <a:off x="4809558" y="1823588"/>
                <a:ext cx="3327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𝒅𝒆𝒏𝒕𝒓𝒐</m:t>
                          </m:r>
                        </m:sub>
                      </m:sSub>
                      <m:r>
                        <a:rPr lang="es-ES" sz="2400" b="1" i="0">
                          <a:latin typeface="Cambria Math" panose="02040503050406030204" pitchFamily="18" charset="0"/>
                        </a:rPr>
                        <m:t>=</m:t>
                      </m:r>
                      <m:r>
                        <a:rPr lang="es-ES" sz="2400" b="1" i="1">
                          <a:latin typeface="Cambria Math" panose="02040503050406030204" pitchFamily="18" charset="0"/>
                        </a:rPr>
                        <m:t>𝒏</m:t>
                      </m:r>
                      <m:r>
                        <a:rPr lang="es-ES" sz="2400" b="1" i="0">
                          <a:latin typeface="Cambria Math" panose="02040503050406030204" pitchFamily="18" charset="0"/>
                        </a:rPr>
                        <m:t>−</m:t>
                      </m:r>
                      <m:r>
                        <a:rPr lang="es-ES" sz="2400" b="1" i="1">
                          <a:latin typeface="Cambria Math" panose="02040503050406030204" pitchFamily="18" charset="0"/>
                        </a:rPr>
                        <m:t>𝒌</m:t>
                      </m:r>
                      <m:r>
                        <a:rPr lang="es-CR" sz="2400" b="1" i="1" smtClean="0">
                          <a:latin typeface="Cambria Math"/>
                        </a:rPr>
                        <m:t>=</m:t>
                      </m:r>
                      <m:r>
                        <a:rPr lang="es-CR" sz="2400" b="1" i="1" smtClean="0">
                          <a:latin typeface="Cambria Math"/>
                        </a:rPr>
                        <m:t>𝟓𝟕</m:t>
                      </m:r>
                    </m:oMath>
                  </m:oMathPara>
                </a14:m>
                <a:endParaRPr lang="es-ES" sz="2400" b="1" dirty="0"/>
              </a:p>
            </p:txBody>
          </p:sp>
        </mc:Choice>
        <mc:Fallback xmlns="">
          <p:sp>
            <p:nvSpPr>
              <p:cNvPr id="6" name="Rectángulo 4"/>
              <p:cNvSpPr>
                <a:spLocks noRot="1" noChangeAspect="1" noMove="1" noResize="1" noEditPoints="1" noAdjustHandles="1" noChangeArrowheads="1" noChangeShapeType="1" noTextEdit="1"/>
              </p:cNvSpPr>
              <p:nvPr/>
            </p:nvSpPr>
            <p:spPr>
              <a:xfrm>
                <a:off x="4809558" y="1823588"/>
                <a:ext cx="3327514" cy="461665"/>
              </a:xfrm>
              <a:prstGeom prst="rect">
                <a:avLst/>
              </a:prstGeom>
              <a:blipFill rotWithShape="1">
                <a:blip r:embed="rId3"/>
                <a:stretch>
                  <a:fillRect b="-2632"/>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7" name="Rectángulo 5"/>
              <p:cNvSpPr/>
              <p:nvPr/>
            </p:nvSpPr>
            <p:spPr>
              <a:xfrm>
                <a:off x="9202811" y="1823587"/>
                <a:ext cx="19585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𝒕𝒐𝒕𝒂𝒍</m:t>
                          </m:r>
                        </m:sub>
                      </m:sSub>
                      <m:r>
                        <a:rPr lang="es-ES" sz="2400" b="1" i="0">
                          <a:latin typeface="Cambria Math" panose="02040503050406030204" pitchFamily="18" charset="0"/>
                        </a:rPr>
                        <m:t>=</m:t>
                      </m:r>
                      <m:r>
                        <a:rPr lang="es-CR" sz="2400" b="1" i="1" smtClean="0">
                          <a:latin typeface="Cambria Math"/>
                        </a:rPr>
                        <m:t>𝟔𝟎</m:t>
                      </m:r>
                    </m:oMath>
                  </m:oMathPara>
                </a14:m>
                <a:endParaRPr lang="es-ES" sz="2400" b="1" dirty="0"/>
              </a:p>
            </p:txBody>
          </p:sp>
        </mc:Choice>
        <mc:Fallback xmlns="">
          <p:sp>
            <p:nvSpPr>
              <p:cNvPr id="7" name="Rectángulo 5"/>
              <p:cNvSpPr>
                <a:spLocks noRot="1" noChangeAspect="1" noMove="1" noResize="1" noEditPoints="1" noAdjustHandles="1" noChangeArrowheads="1" noChangeShapeType="1" noTextEdit="1"/>
              </p:cNvSpPr>
              <p:nvPr/>
            </p:nvSpPr>
            <p:spPr>
              <a:xfrm>
                <a:off x="9202811" y="1823587"/>
                <a:ext cx="1958549" cy="461665"/>
              </a:xfrm>
              <a:prstGeom prst="rect">
                <a:avLst/>
              </a:prstGeom>
              <a:blipFill rotWithShape="1">
                <a:blip r:embed="rId4"/>
                <a:stretch>
                  <a:fillRect b="-2632"/>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8" name="7 Rectángulo"/>
              <p:cNvSpPr/>
              <p:nvPr/>
            </p:nvSpPr>
            <p:spPr>
              <a:xfrm>
                <a:off x="6603574" y="3748242"/>
                <a:ext cx="4557786"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b="0" i="1" smtClean="0">
                          <a:latin typeface="Cambria Math"/>
                        </a:rPr>
                        <m:t>𝐶</m:t>
                      </m:r>
                      <m:sSub>
                        <m:sSubPr>
                          <m:ctrlPr>
                            <a:rPr lang="es-CR" sz="2400" b="0" i="1" smtClean="0">
                              <a:latin typeface="Cambria Math"/>
                            </a:rPr>
                          </m:ctrlPr>
                        </m:sSubPr>
                        <m:e>
                          <m:r>
                            <a:rPr lang="es-CR" sz="2400" b="0" i="1" smtClean="0">
                              <a:latin typeface="Cambria Math"/>
                            </a:rPr>
                            <m:t>𝑀</m:t>
                          </m:r>
                        </m:e>
                        <m:sub>
                          <m:r>
                            <a:rPr lang="es-CR" sz="2400" b="0" i="1" smtClean="0">
                              <a:latin typeface="Cambria Math"/>
                            </a:rPr>
                            <m:t>𝑑𝑒𝑛𝑡𝑟𝑜</m:t>
                          </m:r>
                        </m:sub>
                      </m:sSub>
                      <m:r>
                        <a:rPr lang="es-CR" sz="2400" i="1">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b="0" i="1" smtClean="0">
                                  <a:latin typeface="Cambria Math"/>
                                </a:rPr>
                                <m:t>𝑑𝑒𝑛𝑡𝑟𝑜</m:t>
                              </m:r>
                            </m:sub>
                          </m:sSub>
                        </m:num>
                        <m:den>
                          <m:r>
                            <a:rPr lang="es-CR" sz="2400" b="0" i="1" smtClean="0">
                              <a:latin typeface="Cambria Math"/>
                            </a:rPr>
                            <m:t>𝑛</m:t>
                          </m:r>
                          <m:r>
                            <a:rPr lang="es-CR" sz="2400" i="1">
                              <a:latin typeface="Cambria Math"/>
                            </a:rPr>
                            <m:t>−</m:t>
                          </m:r>
                          <m:r>
                            <a:rPr lang="es-CR" sz="2400" b="0" i="1" smtClean="0">
                              <a:latin typeface="Cambria Math"/>
                            </a:rPr>
                            <m:t>𝑘</m:t>
                          </m:r>
                        </m:den>
                      </m:f>
                      <m:r>
                        <a:rPr lang="es-CR" sz="2400" b="0" i="1" smtClean="0">
                          <a:latin typeface="Cambria Math"/>
                        </a:rPr>
                        <m:t>=</m:t>
                      </m:r>
                      <m:r>
                        <m:rPr>
                          <m:nor/>
                        </m:rPr>
                        <a:rPr lang="es-CR" sz="2400"/>
                        <m:t>407.2088</m:t>
                      </m:r>
                    </m:oMath>
                  </m:oMathPara>
                </a14:m>
                <a:endParaRPr lang="es-CR" sz="2400" dirty="0"/>
              </a:p>
            </p:txBody>
          </p:sp>
        </mc:Choice>
        <mc:Fallback xmlns="">
          <p:sp>
            <p:nvSpPr>
              <p:cNvPr id="8" name="7 Rectángulo"/>
              <p:cNvSpPr>
                <a:spLocks noRot="1" noChangeAspect="1" noMove="1" noResize="1" noEditPoints="1" noAdjustHandles="1" noChangeArrowheads="1" noChangeShapeType="1" noTextEdit="1"/>
              </p:cNvSpPr>
              <p:nvPr/>
            </p:nvSpPr>
            <p:spPr>
              <a:xfrm>
                <a:off x="6603574" y="3748242"/>
                <a:ext cx="4557786" cy="786241"/>
              </a:xfrm>
              <a:prstGeom prst="rect">
                <a:avLst/>
              </a:prstGeom>
              <a:blipFill rotWithShape="1">
                <a:blip r:embed="rId5"/>
                <a:stretch>
                  <a:fillRect/>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9" name="8 Rectángulo"/>
              <p:cNvSpPr/>
              <p:nvPr/>
            </p:nvSpPr>
            <p:spPr>
              <a:xfrm>
                <a:off x="597776" y="3748242"/>
                <a:ext cx="4406014"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b="0" i="1" smtClean="0">
                          <a:latin typeface="Cambria Math"/>
                        </a:rPr>
                        <m:t>𝐶</m:t>
                      </m:r>
                      <m:sSub>
                        <m:sSubPr>
                          <m:ctrlPr>
                            <a:rPr lang="es-CR" sz="2400" b="0" i="1" smtClean="0">
                              <a:latin typeface="Cambria Math"/>
                            </a:rPr>
                          </m:ctrlPr>
                        </m:sSubPr>
                        <m:e>
                          <m:r>
                            <a:rPr lang="es-CR" sz="2400" b="0" i="1" smtClean="0">
                              <a:latin typeface="Cambria Math"/>
                            </a:rPr>
                            <m:t>𝑀</m:t>
                          </m:r>
                        </m:e>
                        <m:sub>
                          <m:r>
                            <a:rPr lang="es-CR" sz="2400" b="0" i="1" smtClean="0">
                              <a:latin typeface="Cambria Math"/>
                            </a:rPr>
                            <m:t>𝑒𝑛𝑡𝑟𝑒</m:t>
                          </m:r>
                        </m:sub>
                      </m:sSub>
                      <m:r>
                        <a:rPr lang="es-CR" sz="2400" i="1">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i="1">
                                  <a:latin typeface="Cambria Math"/>
                                </a:rPr>
                                <m:t>𝑒𝑛𝑡𝑟𝑒</m:t>
                              </m:r>
                            </m:sub>
                          </m:sSub>
                        </m:num>
                        <m:den>
                          <m:r>
                            <a:rPr lang="es-CR" sz="2400" i="1">
                              <a:latin typeface="Cambria Math"/>
                            </a:rPr>
                            <m:t>𝑘</m:t>
                          </m:r>
                          <m:r>
                            <a:rPr lang="es-CR" sz="2400" i="1">
                              <a:latin typeface="Cambria Math"/>
                            </a:rPr>
                            <m:t>−1</m:t>
                          </m:r>
                        </m:den>
                      </m:f>
                      <m:r>
                        <a:rPr lang="es-CR" sz="2400" b="0" i="1" smtClean="0">
                          <a:latin typeface="Cambria Math"/>
                        </a:rPr>
                        <m:t>=</m:t>
                      </m:r>
                      <m:r>
                        <m:rPr>
                          <m:nor/>
                        </m:rPr>
                        <a:rPr lang="es-CR" sz="2400"/>
                        <m:t>4883.0503</m:t>
                      </m:r>
                    </m:oMath>
                  </m:oMathPara>
                </a14:m>
                <a:endParaRPr lang="es-CR" sz="2400" dirty="0"/>
              </a:p>
            </p:txBody>
          </p:sp>
        </mc:Choice>
        <mc:Fallback xmlns="">
          <p:sp>
            <p:nvSpPr>
              <p:cNvPr id="9" name="8 Rectángulo"/>
              <p:cNvSpPr>
                <a:spLocks noRot="1" noChangeAspect="1" noMove="1" noResize="1" noEditPoints="1" noAdjustHandles="1" noChangeArrowheads="1" noChangeShapeType="1" noTextEdit="1"/>
              </p:cNvSpPr>
              <p:nvPr/>
            </p:nvSpPr>
            <p:spPr>
              <a:xfrm>
                <a:off x="597776" y="3748242"/>
                <a:ext cx="4406014" cy="786177"/>
              </a:xfrm>
              <a:prstGeom prst="rect">
                <a:avLst/>
              </a:prstGeom>
              <a:blipFill rotWithShape="1">
                <a:blip r:embed="rId6"/>
                <a:stretch>
                  <a:fillRect/>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10" name="9 Rectángulo"/>
              <p:cNvSpPr/>
              <p:nvPr/>
            </p:nvSpPr>
            <p:spPr>
              <a:xfrm>
                <a:off x="3575835" y="5620788"/>
                <a:ext cx="4561237" cy="84850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smtClean="0">
                          <a:latin typeface="Cambria Math"/>
                        </a:rPr>
                        <m:t>𝑅</m:t>
                      </m:r>
                      <m:r>
                        <a:rPr lang="es-CR" sz="2400" i="1" smtClean="0">
                          <a:latin typeface="Cambria Math"/>
                        </a:rPr>
                        <m:t>.</m:t>
                      </m:r>
                      <m:r>
                        <a:rPr lang="es-CR" sz="2400" i="1" smtClean="0">
                          <a:latin typeface="Cambria Math"/>
                        </a:rPr>
                        <m:t>𝑉</m:t>
                      </m:r>
                      <m:r>
                        <a:rPr lang="es-CR" sz="2400" i="1" smtClean="0">
                          <a:latin typeface="Cambria Math"/>
                        </a:rPr>
                        <m:t>.=</m:t>
                      </m:r>
                      <m:f>
                        <m:fPr>
                          <m:ctrlPr>
                            <a:rPr lang="es-CR" sz="2400" i="1">
                              <a:latin typeface="Cambria Math"/>
                            </a:rPr>
                          </m:ctrlPr>
                        </m:fPr>
                        <m:num>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𝑒𝑛𝑡𝑟𝑒</m:t>
                              </m:r>
                            </m:sub>
                          </m:sSub>
                        </m:num>
                        <m:den>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𝑑𝑒𝑛𝑡𝑟𝑜</m:t>
                              </m:r>
                            </m:sub>
                          </m:sSub>
                        </m:den>
                      </m:f>
                      <m:r>
                        <a:rPr lang="es-CR" sz="2400" b="0" i="1" smtClean="0">
                          <a:latin typeface="Cambria Math"/>
                        </a:rPr>
                        <m:t>=11.99</m:t>
                      </m:r>
                    </m:oMath>
                  </m:oMathPara>
                </a14:m>
                <a:endParaRPr lang="es-CR" sz="2400" dirty="0"/>
              </a:p>
            </p:txBody>
          </p:sp>
        </mc:Choice>
        <mc:Fallback xmlns="">
          <p:sp>
            <p:nvSpPr>
              <p:cNvPr id="10" name="9 Rectángulo"/>
              <p:cNvSpPr>
                <a:spLocks noRot="1" noChangeAspect="1" noMove="1" noResize="1" noEditPoints="1" noAdjustHandles="1" noChangeArrowheads="1" noChangeShapeType="1" noTextEdit="1"/>
              </p:cNvSpPr>
              <p:nvPr/>
            </p:nvSpPr>
            <p:spPr>
              <a:xfrm>
                <a:off x="3575835" y="5620788"/>
                <a:ext cx="4561237" cy="848502"/>
              </a:xfrm>
              <a:prstGeom prst="rect">
                <a:avLst/>
              </a:prstGeom>
              <a:blipFill rotWithShape="1">
                <a:blip r:embed="rId7"/>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179191896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20700" y="1355725"/>
            <a:ext cx="10515600" cy="4351338"/>
          </a:xfrm>
        </p:spPr>
        <p:txBody>
          <a:bodyPr>
            <a:normAutofit/>
          </a:bodyPr>
          <a:lstStyle/>
          <a:p>
            <a:pPr marL="0" indent="0">
              <a:buNone/>
            </a:pPr>
            <a:r>
              <a:rPr lang="es-CR" sz="2400" dirty="0" smtClean="0"/>
              <a:t>El cuadro del análisis de variancia es el siguiente</a:t>
            </a: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graphicFrame>
        <p:nvGraphicFramePr>
          <p:cNvPr id="5" name="1 Tabla"/>
          <p:cNvGraphicFramePr>
            <a:graphicFrameLocks noGrp="1"/>
          </p:cNvGraphicFramePr>
          <p:nvPr>
            <p:extLst>
              <p:ext uri="{D42A27DB-BD31-4B8C-83A1-F6EECF244321}">
                <p14:modId xmlns:p14="http://schemas.microsoft.com/office/powerpoint/2010/main" val="3763667295"/>
              </p:ext>
            </p:extLst>
          </p:nvPr>
        </p:nvGraphicFramePr>
        <p:xfrm>
          <a:off x="540592" y="2196945"/>
          <a:ext cx="10647124" cy="4026054"/>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1118418">
                <a:tc>
                  <a:txBody>
                    <a:bodyPr/>
                    <a:lstStyle/>
                    <a:p>
                      <a:pPr algn="ctr">
                        <a:lnSpc>
                          <a:spcPct val="115000"/>
                        </a:lnSpc>
                        <a:spcAft>
                          <a:spcPts val="0"/>
                        </a:spcAft>
                      </a:pPr>
                      <a:r>
                        <a:rPr lang="es-CR" sz="2000" dirty="0">
                          <a:effectLst/>
                        </a:rPr>
                        <a:t>Fuentes  de variación</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Suma de cuadrados</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Grados de libertas</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Cuadrado medio</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a:effectLst/>
                        </a:rPr>
                        <a:t>Razón de variación</a:t>
                      </a:r>
                      <a:endParaRPr lang="es-CR" sz="2000">
                        <a:effectLst/>
                        <a:latin typeface="Calibri"/>
                        <a:ea typeface="Calibri"/>
                        <a:cs typeface="Times New Roman"/>
                      </a:endParaRPr>
                    </a:p>
                  </a:txBody>
                  <a:tcPr marL="68580" marR="68580" marT="0" marB="0" anchor="ctr"/>
                </a:tc>
              </a:tr>
              <a:tr h="1244411">
                <a:tc>
                  <a:txBody>
                    <a:bodyPr/>
                    <a:lstStyle/>
                    <a:p>
                      <a:pPr algn="ctr">
                        <a:lnSpc>
                          <a:spcPct val="115000"/>
                        </a:lnSpc>
                        <a:spcAft>
                          <a:spcPts val="0"/>
                        </a:spcAft>
                      </a:pPr>
                      <a:r>
                        <a:rPr lang="es-CR" sz="2000" dirty="0">
                          <a:effectLst/>
                        </a:rPr>
                        <a:t>Entre muestras</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14649.1514</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smtClean="0">
                          <a:effectLst/>
                          <a:latin typeface="Calibri"/>
                          <a:ea typeface="Calibri"/>
                          <a:cs typeface="Times New Roman"/>
                        </a:rPr>
                        <a:t>3</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4883.0503</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11.99</a:t>
                      </a:r>
                      <a:endParaRPr lang="es-CR" sz="2000" dirty="0">
                        <a:effectLst/>
                        <a:latin typeface="Calibri"/>
                        <a:ea typeface="Calibri"/>
                        <a:cs typeface="Times New Roman"/>
                      </a:endParaRPr>
                    </a:p>
                  </a:txBody>
                  <a:tcPr marL="68580" marR="68580" marT="0" marB="0" anchor="ctr"/>
                </a:tc>
              </a:tr>
              <a:tr h="1088360">
                <a:tc>
                  <a:txBody>
                    <a:bodyPr/>
                    <a:lstStyle/>
                    <a:p>
                      <a:pPr algn="ctr">
                        <a:lnSpc>
                          <a:spcPct val="115000"/>
                        </a:lnSpc>
                        <a:spcAft>
                          <a:spcPts val="0"/>
                        </a:spcAft>
                      </a:pPr>
                      <a:r>
                        <a:rPr lang="es-CR" sz="2000">
                          <a:effectLst/>
                        </a:rPr>
                        <a:t>Dentro de los muestras</a:t>
                      </a:r>
                      <a:endParaRPr lang="es-CR" sz="20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23210.9023</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smtClean="0">
                          <a:effectLst/>
                          <a:latin typeface="Calibri"/>
                          <a:ea typeface="Calibri"/>
                          <a:cs typeface="Times New Roman"/>
                        </a:rPr>
                        <a:t>57</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407.2088</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endParaRPr lang="es-CR" sz="2000" dirty="0">
                        <a:effectLst/>
                        <a:latin typeface="Calibri"/>
                        <a:ea typeface="Calibri"/>
                        <a:cs typeface="Times New Roman"/>
                      </a:endParaRPr>
                    </a:p>
                  </a:txBody>
                  <a:tcPr marL="68580" marR="68580" marT="0" marB="0" anchor="ctr"/>
                </a:tc>
              </a:tr>
              <a:tr h="574865">
                <a:tc>
                  <a:txBody>
                    <a:bodyPr/>
                    <a:lstStyle/>
                    <a:p>
                      <a:pPr algn="ctr">
                        <a:lnSpc>
                          <a:spcPct val="115000"/>
                        </a:lnSpc>
                        <a:spcAft>
                          <a:spcPts val="0"/>
                        </a:spcAft>
                      </a:pPr>
                      <a:r>
                        <a:rPr lang="es-CR" sz="2000" dirty="0">
                          <a:effectLst/>
                        </a:rPr>
                        <a:t>Total</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37860.0547</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smtClean="0">
                          <a:effectLst/>
                          <a:latin typeface="Calibri"/>
                          <a:ea typeface="Calibri"/>
                          <a:cs typeface="Times New Roman"/>
                        </a:rPr>
                        <a:t>60</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endParaRPr lang="es-CR" sz="2000" dirty="0">
                        <a:effectLst/>
                        <a:latin typeface="Calibri"/>
                        <a:ea typeface="Calibri"/>
                        <a:cs typeface="Times New Roman"/>
                      </a:endParaRPr>
                    </a:p>
                  </a:txBody>
                  <a:tcPr marL="68580" marR="68580" marT="0" marB="0" anchor="ctr"/>
                </a:tc>
              </a:tr>
            </a:tbl>
          </a:graphicData>
        </a:graphic>
      </p:graphicFrame>
    </p:spTree>
    <p:extLst>
      <p:ext uri="{BB962C8B-B14F-4D97-AF65-F5344CB8AC3E}">
        <p14:creationId xmlns:p14="http://schemas.microsoft.com/office/powerpoint/2010/main" val="38201197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5581" y="1299152"/>
            <a:ext cx="10515600" cy="4351338"/>
          </a:xfrm>
        </p:spPr>
        <p:txBody>
          <a:bodyPr>
            <a:normAutofit/>
          </a:bodyPr>
          <a:lstStyle/>
          <a:p>
            <a:pPr marL="0" indent="0">
              <a:buNone/>
            </a:pPr>
            <a:r>
              <a:rPr lang="es-CR" sz="2400" dirty="0" smtClean="0"/>
              <a:t>8. </a:t>
            </a:r>
            <a:r>
              <a:rPr lang="es-CR" sz="2400" b="1" dirty="0" smtClean="0"/>
              <a:t>Decisión estadística</a:t>
            </a:r>
            <a:r>
              <a:rPr lang="es-CR" sz="2400" dirty="0" smtClean="0"/>
              <a:t>: 11.99 &gt; 3,34. Se rechaza la hipótesis nula…</a:t>
            </a: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065"/>
          <a:stretch/>
        </p:blipFill>
        <p:spPr bwMode="auto">
          <a:xfrm>
            <a:off x="1845252" y="2215866"/>
            <a:ext cx="8365546" cy="4336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5 Conector recto de flecha"/>
          <p:cNvCxnSpPr/>
          <p:nvPr/>
        </p:nvCxnSpPr>
        <p:spPr>
          <a:xfrm>
            <a:off x="9088581" y="4650788"/>
            <a:ext cx="0" cy="9758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6 Rectángulo redondeado"/>
          <p:cNvSpPr/>
          <p:nvPr/>
        </p:nvSpPr>
        <p:spPr>
          <a:xfrm>
            <a:off x="7633854" y="3410281"/>
            <a:ext cx="2317462" cy="7616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Zona de rechazo</a:t>
            </a:r>
            <a:endParaRPr lang="es-CR" dirty="0"/>
          </a:p>
        </p:txBody>
      </p:sp>
      <p:sp>
        <p:nvSpPr>
          <p:cNvPr id="10" name="9 Elipse"/>
          <p:cNvSpPr/>
          <p:nvPr/>
        </p:nvSpPr>
        <p:spPr>
          <a:xfrm>
            <a:off x="9861261" y="6276108"/>
            <a:ext cx="180109" cy="16625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R"/>
          </a:p>
        </p:txBody>
      </p:sp>
      <p:sp>
        <p:nvSpPr>
          <p:cNvPr id="11" name="10 CuadroTexto"/>
          <p:cNvSpPr txBox="1"/>
          <p:nvPr/>
        </p:nvSpPr>
        <p:spPr>
          <a:xfrm>
            <a:off x="9739745" y="6359235"/>
            <a:ext cx="2452255" cy="369332"/>
          </a:xfrm>
          <a:prstGeom prst="rect">
            <a:avLst/>
          </a:prstGeom>
          <a:noFill/>
        </p:spPr>
        <p:txBody>
          <a:bodyPr wrap="square" rtlCol="0">
            <a:spAutoFit/>
          </a:bodyPr>
          <a:lstStyle/>
          <a:p>
            <a:r>
              <a:rPr lang="es-CR" dirty="0" smtClean="0"/>
              <a:t>11.99</a:t>
            </a:r>
            <a:endParaRPr lang="es-CR" dirty="0"/>
          </a:p>
        </p:txBody>
      </p:sp>
    </p:spTree>
    <p:extLst>
      <p:ext uri="{BB962C8B-B14F-4D97-AF65-F5344CB8AC3E}">
        <p14:creationId xmlns:p14="http://schemas.microsoft.com/office/powerpoint/2010/main" val="208325071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06400" y="1066800"/>
            <a:ext cx="8305800" cy="5651500"/>
          </a:xfrm>
        </p:spPr>
        <p:txBody>
          <a:bodyPr>
            <a:normAutofit/>
          </a:bodyPr>
          <a:lstStyle/>
          <a:p>
            <a:pPr marL="0" indent="0" algn="just">
              <a:buNone/>
            </a:pPr>
            <a:r>
              <a:rPr lang="es-CR" sz="2400" dirty="0" smtClean="0"/>
              <a:t>9. </a:t>
            </a:r>
            <a:r>
              <a:rPr lang="es-CR" sz="2400" b="1" dirty="0" smtClean="0"/>
              <a:t>Conclusión</a:t>
            </a:r>
            <a:r>
              <a:rPr lang="es-CR" sz="2400" dirty="0" smtClean="0"/>
              <a:t>: dado que se rechazó Ho, se concluye </a:t>
            </a:r>
            <a:r>
              <a:rPr lang="es-CR" sz="2400" dirty="0"/>
              <a:t>que la </a:t>
            </a:r>
            <a:r>
              <a:rPr lang="es-CR" sz="2400" dirty="0" smtClean="0"/>
              <a:t>hipótesis</a:t>
            </a:r>
            <a:r>
              <a:rPr lang="es-CR" sz="2400" dirty="0"/>
              <a:t> </a:t>
            </a:r>
            <a:r>
              <a:rPr lang="es-CR" sz="2400" dirty="0" smtClean="0"/>
              <a:t>alternativa </a:t>
            </a:r>
            <a:r>
              <a:rPr lang="es-CR" sz="2400" dirty="0"/>
              <a:t>es verdadera. Es decir, se </a:t>
            </a:r>
            <a:r>
              <a:rPr lang="es-CR" sz="2400" dirty="0" smtClean="0"/>
              <a:t>concluye que </a:t>
            </a:r>
            <a:r>
              <a:rPr lang="es-CR" sz="2400" dirty="0"/>
              <a:t>los cuatro </a:t>
            </a:r>
            <a:r>
              <a:rPr lang="es-CR" sz="2400" dirty="0" smtClean="0"/>
              <a:t>tratamientos no </a:t>
            </a:r>
            <a:r>
              <a:rPr lang="es-CR" sz="2400" dirty="0"/>
              <a:t>tienen el mismo efecto en </a:t>
            </a:r>
            <a:r>
              <a:rPr lang="es-CR" sz="2400" dirty="0" smtClean="0"/>
              <a:t>promedio.</a:t>
            </a:r>
          </a:p>
          <a:p>
            <a:pPr marL="0" indent="0" algn="just">
              <a:buNone/>
            </a:pPr>
            <a:endParaRPr lang="es-CR" sz="2400" dirty="0"/>
          </a:p>
          <a:p>
            <a:pPr marL="0" indent="0" algn="just">
              <a:buNone/>
            </a:pPr>
            <a:r>
              <a:rPr lang="es-CR" sz="2400" dirty="0" smtClean="0"/>
              <a:t>10. </a:t>
            </a:r>
            <a:r>
              <a:rPr lang="es-CR" sz="2400" b="1" dirty="0" smtClean="0"/>
              <a:t>Valor de </a:t>
            </a:r>
            <a:r>
              <a:rPr lang="es-CR" sz="2400" b="1" i="1" dirty="0" smtClean="0"/>
              <a:t>p</a:t>
            </a:r>
            <a:r>
              <a:rPr lang="es-CR" sz="2400" dirty="0" smtClean="0"/>
              <a:t>. Puesto que 11.99 &gt; 4.77, por valores de l tabla se sabe que p &lt;0,005 para esta prueba.</a:t>
            </a:r>
          </a:p>
          <a:p>
            <a:pPr marL="0" indent="0" algn="just">
              <a:buNone/>
            </a:pPr>
            <a:endParaRPr lang="es-CR" sz="2400" dirty="0" smtClean="0"/>
          </a:p>
          <a:p>
            <a:pPr marL="0" indent="0" algn="just">
              <a:buNone/>
            </a:pPr>
            <a:endParaRPr lang="es-CR" sz="2400" dirty="0"/>
          </a:p>
          <a:p>
            <a:pPr marL="0" indent="0" algn="just">
              <a:buNone/>
            </a:pPr>
            <a:r>
              <a:rPr lang="es-CR" sz="2400" b="1" dirty="0" smtClean="0"/>
              <a:t>Advertencia: </a:t>
            </a:r>
            <a:r>
              <a:rPr lang="es-CR" sz="2400" dirty="0" smtClean="0"/>
              <a:t>el diseño </a:t>
            </a:r>
            <a:r>
              <a:rPr lang="es-CR" sz="2400" dirty="0"/>
              <a:t>completamente aleatorizado es </a:t>
            </a:r>
            <a:r>
              <a:rPr lang="es-CR" sz="2400" dirty="0" smtClean="0"/>
              <a:t>sencillo. </a:t>
            </a:r>
            <a:r>
              <a:rPr lang="es-CR" sz="2400" dirty="0"/>
              <a:t>Sin embargo, se debe utilizar </a:t>
            </a:r>
            <a:r>
              <a:rPr lang="es-CR" sz="2400" dirty="0" smtClean="0"/>
              <a:t>cuando </a:t>
            </a:r>
            <a:r>
              <a:rPr lang="es-CR" sz="2400" dirty="0"/>
              <a:t>las unidades </a:t>
            </a:r>
            <a:r>
              <a:rPr lang="es-CR" sz="2400" dirty="0" smtClean="0"/>
              <a:t>que reciben </a:t>
            </a:r>
            <a:r>
              <a:rPr lang="es-CR" sz="2400" dirty="0"/>
              <a:t>los tratamientos son </a:t>
            </a:r>
            <a:r>
              <a:rPr lang="es-CR" sz="2400" dirty="0" smtClean="0"/>
              <a:t>homogéneas. </a:t>
            </a:r>
            <a:r>
              <a:rPr lang="es-CR" sz="2400" dirty="0"/>
              <a:t>Si las unidades experimentales no </a:t>
            </a:r>
            <a:r>
              <a:rPr lang="es-CR" sz="2400" dirty="0" smtClean="0"/>
              <a:t>son homogéneas, ya sea por las características o las condiciones, se de aplicar alguna otra variación.</a:t>
            </a:r>
            <a:endParaRPr lang="es-CR" sz="2400" dirty="0"/>
          </a:p>
          <a:p>
            <a:pPr marL="0" indent="0" algn="just">
              <a:buNone/>
            </a:pP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y terminamos….</a:t>
            </a:r>
            <a:endParaRPr lang="es-ES" dirty="0"/>
          </a:p>
        </p:txBody>
      </p:sp>
      <p:pic>
        <p:nvPicPr>
          <p:cNvPr id="5" name="Picture 2" descr="http://mtweb.mtsu.edu/stats/dictionary/images/rrftes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1263" y="1149351"/>
            <a:ext cx="3027700" cy="2457112"/>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leadership.cpsc.gov/robinson/wp-content/uploads/sites/6/2015/12/1195442352382851478zeimusu_Warning_sign_svg_hi.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68578" y="4420850"/>
            <a:ext cx="2273070" cy="189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255494"/>
      </p:ext>
    </p:extLst>
  </p:cSld>
  <p:clrMapOvr>
    <a:masterClrMapping/>
  </p:clrMapOvr>
  <p:transition spd="slow">
    <p:randomBar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23900" y="242862"/>
            <a:ext cx="10515600" cy="2271732"/>
          </a:xfrm>
        </p:spPr>
        <p:txBody>
          <a:bodyPr>
            <a:normAutofit/>
          </a:bodyPr>
          <a:lstStyle/>
          <a:p>
            <a:pPr marL="0" indent="0" algn="ctr">
              <a:buNone/>
            </a:pPr>
            <a:r>
              <a:rPr lang="es-CR" sz="4000" dirty="0"/>
              <a:t>¿</a:t>
            </a:r>
            <a:r>
              <a:rPr lang="es-CR" sz="4000" dirty="0" smtClean="0"/>
              <a:t>Las pruebas de comparaciones de medias se pudieron </a:t>
            </a:r>
            <a:r>
              <a:rPr lang="es-CR" sz="4000" dirty="0" smtClean="0"/>
              <a:t>haber calculado </a:t>
            </a:r>
            <a:r>
              <a:rPr lang="es-CR" sz="4000" dirty="0" smtClean="0"/>
              <a:t>mediante el método de análisis de variancia?</a:t>
            </a:r>
            <a:endParaRPr lang="es-CR" sz="4000" dirty="0"/>
          </a:p>
        </p:txBody>
      </p:sp>
      <p:pic>
        <p:nvPicPr>
          <p:cNvPr id="41986" name="Picture 2" descr="https://elblogdeltaller.files.wordpress.com/2012/05/dud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2826" y="2359027"/>
            <a:ext cx="3665350" cy="4170361"/>
          </a:xfrm>
          <a:prstGeom prst="rect">
            <a:avLst/>
          </a:prstGeom>
          <a:noFill/>
          <a:extLst>
            <a:ext uri="{909E8E84-426E-40DD-AFC4-6F175D3DCCD1}">
              <a14:hiddenFill xmlns:a14="http://schemas.microsoft.com/office/drawing/2010/main">
                <a:solidFill>
                  <a:srgbClr val="FFFFFF"/>
                </a:solidFill>
              </a14:hiddenFill>
            </a:ext>
          </a:extLst>
        </p:spPr>
      </p:pic>
      <p:pic>
        <p:nvPicPr>
          <p:cNvPr id="41988" name="Picture 4" descr="http://1.bp.blogspot.com/-aRWPfV2qUf4/U9olH7vErKI/AAAAAAAABNs/QV-k1B9h0Qc/s1600/stick_figure_question_mark_1600_clr_7059.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073"/>
          <a:stretch/>
        </p:blipFill>
        <p:spPr bwMode="auto">
          <a:xfrm>
            <a:off x="6761106" y="2211909"/>
            <a:ext cx="4036291" cy="4317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8057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Tree>
    <p:extLst>
      <p:ext uri="{BB962C8B-B14F-4D97-AF65-F5344CB8AC3E}">
        <p14:creationId xmlns:p14="http://schemas.microsoft.com/office/powerpoint/2010/main" val="1216964816"/>
      </p:ext>
    </p:extLst>
  </p:cSld>
  <p:clrMapOvr>
    <a:masterClrMapping/>
  </p:clrMapOvr>
  <p:transition spd="slow">
    <p:randomBar dir="ver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La diferencia de medias</a:t>
            </a:r>
            <a:endParaRPr lang="es-ES" dirty="0"/>
          </a:p>
        </p:txBody>
      </p:sp>
      <p:sp>
        <p:nvSpPr>
          <p:cNvPr id="3" name="Marcador de contenido 2"/>
          <p:cNvSpPr>
            <a:spLocks noGrp="1"/>
          </p:cNvSpPr>
          <p:nvPr>
            <p:ph idx="1"/>
          </p:nvPr>
        </p:nvSpPr>
        <p:spPr>
          <a:xfrm>
            <a:off x="566737" y="1897063"/>
            <a:ext cx="10515600" cy="4351338"/>
          </a:xfrm>
        </p:spPr>
        <p:txBody>
          <a:bodyPr/>
          <a:lstStyle/>
          <a:p>
            <a:r>
              <a:rPr lang="es-ES" dirty="0"/>
              <a:t>NO ver con alumnos de audiología 2016.</a:t>
            </a:r>
          </a:p>
          <a:p>
            <a:pPr marL="0" indent="0">
              <a:buNone/>
            </a:pPr>
            <a:endParaRPr lang="es-ES" dirty="0"/>
          </a:p>
        </p:txBody>
      </p:sp>
    </p:spTree>
    <p:extLst>
      <p:ext uri="{BB962C8B-B14F-4D97-AF65-F5344CB8AC3E}">
        <p14:creationId xmlns:p14="http://schemas.microsoft.com/office/powerpoint/2010/main" val="925526080"/>
      </p:ext>
    </p:extLst>
  </p:cSld>
  <p:clrMapOvr>
    <a:masterClrMapping/>
  </p:clrMapOvr>
  <p:transition spd="slow">
    <p:push dir="u"/>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
        <p:nvSpPr>
          <p:cNvPr id="17" name="Elipse 16"/>
          <p:cNvSpPr/>
          <p:nvPr/>
        </p:nvSpPr>
        <p:spPr>
          <a:xfrm>
            <a:off x="5902088"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ES" dirty="0"/>
          </a:p>
        </p:txBody>
      </p:sp>
      <p:sp>
        <p:nvSpPr>
          <p:cNvPr id="18" name="Rectángulo redondeado 17"/>
          <p:cNvSpPr/>
          <p:nvPr/>
        </p:nvSpPr>
        <p:spPr>
          <a:xfrm>
            <a:off x="8375744"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diseños</a:t>
            </a:r>
            <a:endParaRPr lang="es-ES" dirty="0"/>
          </a:p>
        </p:txBody>
      </p:sp>
    </p:spTree>
    <p:extLst>
      <p:ext uri="{BB962C8B-B14F-4D97-AF65-F5344CB8AC3E}">
        <p14:creationId xmlns:p14="http://schemas.microsoft.com/office/powerpoint/2010/main" val="4106848789"/>
      </p:ext>
    </p:extLst>
  </p:cSld>
  <p:clrMapOvr>
    <a:masterClrMapping/>
  </p:clrMapOvr>
  <p:transition spd="slow">
    <p:randomBar dir="vert"/>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00100" y="161925"/>
            <a:ext cx="10515600" cy="1171575"/>
          </a:xfrm>
        </p:spPr>
        <p:txBody>
          <a:bodyPr/>
          <a:lstStyle/>
          <a:p>
            <a:r>
              <a:rPr lang="es-ES" dirty="0" smtClean="0"/>
              <a:t>Otros diseños </a:t>
            </a:r>
            <a:endParaRPr lang="es-ES" dirty="0"/>
          </a:p>
        </p:txBody>
      </p:sp>
      <p:sp>
        <p:nvSpPr>
          <p:cNvPr id="3" name="Marcador de contenido 2"/>
          <p:cNvSpPr>
            <a:spLocks noGrp="1"/>
          </p:cNvSpPr>
          <p:nvPr>
            <p:ph idx="1"/>
          </p:nvPr>
        </p:nvSpPr>
        <p:spPr>
          <a:xfrm>
            <a:off x="838200" y="1622425"/>
            <a:ext cx="10515600" cy="4351338"/>
          </a:xfrm>
        </p:spPr>
        <p:txBody>
          <a:bodyPr/>
          <a:lstStyle/>
          <a:p>
            <a:r>
              <a:rPr lang="es-ES" dirty="0"/>
              <a:t>NO ver con alumnos de audiología 2016.</a:t>
            </a:r>
          </a:p>
          <a:p>
            <a:pPr marL="0" indent="0">
              <a:buNone/>
            </a:pPr>
            <a:endParaRPr lang="es-ES" dirty="0"/>
          </a:p>
        </p:txBody>
      </p:sp>
    </p:spTree>
    <p:extLst>
      <p:ext uri="{BB962C8B-B14F-4D97-AF65-F5344CB8AC3E}">
        <p14:creationId xmlns:p14="http://schemas.microsoft.com/office/powerpoint/2010/main" val="295015781"/>
      </p:ext>
    </p:extLst>
  </p:cSld>
  <p:clrMapOvr>
    <a:masterClrMapping/>
  </p:clrMapOvr>
  <p:transition spd="slow">
    <p:push di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Elipse 7"/>
          <p:cNvSpPr/>
          <p:nvPr/>
        </p:nvSpPr>
        <p:spPr>
          <a:xfrm>
            <a:off x="5902088"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ES" dirty="0"/>
          </a:p>
        </p:txBody>
      </p:sp>
      <p:sp>
        <p:nvSpPr>
          <p:cNvPr id="9" name="Elipse 8"/>
          <p:cNvSpPr/>
          <p:nvPr/>
        </p:nvSpPr>
        <p:spPr>
          <a:xfrm>
            <a:off x="5902088"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
        <p:nvSpPr>
          <p:cNvPr id="15" name="Rectángulo redondeado 14"/>
          <p:cNvSpPr/>
          <p:nvPr/>
        </p:nvSpPr>
        <p:spPr>
          <a:xfrm>
            <a:off x="8375744"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diseños</a:t>
            </a:r>
            <a:endParaRPr lang="es-ES" dirty="0"/>
          </a:p>
        </p:txBody>
      </p:sp>
      <p:sp>
        <p:nvSpPr>
          <p:cNvPr id="16" name="Rectángulo redondeado 15"/>
          <p:cNvSpPr/>
          <p:nvPr/>
        </p:nvSpPr>
        <p:spPr>
          <a:xfrm>
            <a:off x="8375744" y="5583571"/>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Efectos fijos o aleatorios</a:t>
            </a:r>
            <a:endParaRPr lang="es-ES" dirty="0"/>
          </a:p>
        </p:txBody>
      </p:sp>
    </p:spTree>
    <p:extLst>
      <p:ext uri="{BB962C8B-B14F-4D97-AF65-F5344CB8AC3E}">
        <p14:creationId xmlns:p14="http://schemas.microsoft.com/office/powerpoint/2010/main" val="2352321904"/>
      </p:ext>
    </p:extLst>
  </p:cSld>
  <p:clrMapOvr>
    <a:masterClrMapping/>
  </p:clrMapOvr>
  <p:transition spd="slow">
    <p:randomBar dir="ver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25500" y="98425"/>
            <a:ext cx="10515600" cy="815975"/>
          </a:xfrm>
        </p:spPr>
        <p:txBody>
          <a:bodyPr/>
          <a:lstStyle/>
          <a:p>
            <a:pPr algn="ctr"/>
            <a:r>
              <a:rPr lang="es-ES" dirty="0" smtClean="0"/>
              <a:t>Efectos fijos o aleatorios </a:t>
            </a:r>
            <a:endParaRPr lang="es-ES" dirty="0"/>
          </a:p>
        </p:txBody>
      </p:sp>
      <p:sp>
        <p:nvSpPr>
          <p:cNvPr id="3" name="Marcador de contenido 2"/>
          <p:cNvSpPr>
            <a:spLocks noGrp="1"/>
          </p:cNvSpPr>
          <p:nvPr>
            <p:ph idx="1"/>
          </p:nvPr>
        </p:nvSpPr>
        <p:spPr>
          <a:xfrm>
            <a:off x="381000" y="1304925"/>
            <a:ext cx="10515600" cy="4351338"/>
          </a:xfrm>
        </p:spPr>
        <p:txBody>
          <a:bodyPr/>
          <a:lstStyle/>
          <a:p>
            <a:r>
              <a:rPr lang="es-ES" dirty="0" smtClean="0"/>
              <a:t>NO ver con alumnos de audiología 2016.</a:t>
            </a:r>
            <a:endParaRPr lang="es-ES" dirty="0"/>
          </a:p>
        </p:txBody>
      </p:sp>
    </p:spTree>
    <p:extLst>
      <p:ext uri="{BB962C8B-B14F-4D97-AF65-F5344CB8AC3E}">
        <p14:creationId xmlns:p14="http://schemas.microsoft.com/office/powerpoint/2010/main" val="3703102946"/>
      </p:ext>
    </p:extLst>
  </p:cSld>
  <p:clrMapOvr>
    <a:masterClrMapping/>
  </p:clrMapOvr>
  <p:transition spd="slow">
    <p:push dir="u"/>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98425"/>
            <a:ext cx="10515600" cy="968375"/>
          </a:xfrm>
        </p:spPr>
        <p:txBody>
          <a:bodyPr/>
          <a:lstStyle/>
          <a:p>
            <a:pPr algn="ctr"/>
            <a:r>
              <a:rPr lang="es-ES" dirty="0" smtClean="0"/>
              <a:t>Conclusión y discusión</a:t>
            </a:r>
            <a:endParaRPr lang="es-ES" dirty="0"/>
          </a:p>
        </p:txBody>
      </p:sp>
      <p:sp>
        <p:nvSpPr>
          <p:cNvPr id="3" name="Marcador de contenido 2"/>
          <p:cNvSpPr>
            <a:spLocks noGrp="1"/>
          </p:cNvSpPr>
          <p:nvPr>
            <p:ph idx="1"/>
          </p:nvPr>
        </p:nvSpPr>
        <p:spPr>
          <a:xfrm>
            <a:off x="179388" y="1227136"/>
            <a:ext cx="8235950" cy="5473702"/>
          </a:xfrm>
        </p:spPr>
        <p:txBody>
          <a:bodyPr>
            <a:normAutofit/>
          </a:bodyPr>
          <a:lstStyle/>
          <a:p>
            <a:pPr algn="just"/>
            <a:r>
              <a:rPr lang="es-ES" sz="2400" dirty="0" smtClean="0"/>
              <a:t>El análisis de variancia se utiliza cuando se quiere hacer comparaciones para más de 2 medias.</a:t>
            </a:r>
          </a:p>
          <a:p>
            <a:pPr algn="just"/>
            <a:endParaRPr lang="es-ES" sz="2400" dirty="0"/>
          </a:p>
          <a:p>
            <a:pPr algn="just"/>
            <a:r>
              <a:rPr lang="es-ES" sz="2400" dirty="0" smtClean="0"/>
              <a:t>A diferencia de lo anterior, se debe </a:t>
            </a:r>
            <a:r>
              <a:rPr lang="es-ES" sz="2400" dirty="0" err="1" smtClean="0"/>
              <a:t>particionar</a:t>
            </a:r>
            <a:r>
              <a:rPr lang="es-ES" sz="2400" dirty="0" smtClean="0"/>
              <a:t> las fuentes de variación para obtener los resultados.</a:t>
            </a:r>
          </a:p>
          <a:p>
            <a:pPr algn="just"/>
            <a:endParaRPr lang="es-ES" sz="2400" dirty="0"/>
          </a:p>
          <a:p>
            <a:pPr algn="just"/>
            <a:r>
              <a:rPr lang="es-ES" sz="2400" dirty="0" smtClean="0"/>
              <a:t>Se introdujo la tabla F de </a:t>
            </a:r>
            <a:r>
              <a:rPr lang="es-ES" sz="2400" dirty="0" err="1" smtClean="0"/>
              <a:t>Snedecor</a:t>
            </a:r>
            <a:r>
              <a:rPr lang="es-ES" sz="2400" dirty="0" smtClean="0"/>
              <a:t> para poder obtener el resultado del análisis de variancia.</a:t>
            </a:r>
          </a:p>
          <a:p>
            <a:pPr algn="just"/>
            <a:endParaRPr lang="es-ES" sz="2400" dirty="0"/>
          </a:p>
          <a:p>
            <a:pPr algn="just"/>
            <a:r>
              <a:rPr lang="es-ES" sz="2400" dirty="0" smtClean="0"/>
              <a:t>Al rechazar el análisis de variancia, se debe verificar en grupos es que existen las diferencias.</a:t>
            </a:r>
          </a:p>
          <a:p>
            <a:pPr algn="just"/>
            <a:endParaRPr lang="es-ES" sz="2400" dirty="0"/>
          </a:p>
          <a:p>
            <a:pPr algn="just"/>
            <a:r>
              <a:rPr lang="es-ES" sz="2400" dirty="0" smtClean="0"/>
              <a:t>Se deben contemplar otras variaciones del ANOVA…</a:t>
            </a:r>
            <a:endParaRPr lang="es-ES" sz="2400" dirty="0"/>
          </a:p>
        </p:txBody>
      </p:sp>
      <p:pic>
        <p:nvPicPr>
          <p:cNvPr id="43010" name="Picture 2" descr="http://definicion.mx/wp-content/uploads/2014/04/hipotesis-350x3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3964" y="1071562"/>
            <a:ext cx="2900362" cy="2900362"/>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http://2.bp.blogspot.com/-k8ZqFzk8UNA/VX27BDD-79I/AAAAAAAAGYI/C2UvJLcbJDM/s1600/hip_tesi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43014" name="Picture 6" descr="http://2.bp.blogspot.com/-k8ZqFzk8UNA/VX27BDD-79I/AAAAAAAAGYI/C2UvJLcbJDM/s1600/hip_tesi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8757" y="4386263"/>
            <a:ext cx="239077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3636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ejemplosde.info/wp-content/uploads/2013/08/Ejemplos-de-oraciones-interrogativas-clasificaci%C3%B3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0546" y="174056"/>
            <a:ext cx="6510624" cy="6510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1449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 name="Picture 2" descr="http://2.bp.blogspot.com/_l2oFLpsvMhc/RveAYgMqnQI/AAAAAAAAAII/I2Fp0nyNDhw/s400/20070326114706-fin.jpg"/>
          <p:cNvPicPr>
            <a:picLocks noChangeAspect="1" noChangeArrowheads="1"/>
          </p:cNvPicPr>
          <p:nvPr/>
        </p:nvPicPr>
        <p:blipFill>
          <a:blip r:embed="rId2" cstate="print"/>
          <a:srcRect/>
          <a:stretch>
            <a:fillRect/>
          </a:stretch>
        </p:blipFill>
        <p:spPr bwMode="auto">
          <a:xfrm>
            <a:off x="0" y="0"/>
            <a:ext cx="12192000" cy="6858000"/>
          </a:xfrm>
          <a:prstGeom prst="rect">
            <a:avLst/>
          </a:prstGeom>
          <a:noFill/>
        </p:spPr>
      </p:pic>
    </p:spTree>
    <p:extLst>
      <p:ext uri="{BB962C8B-B14F-4D97-AF65-F5344CB8AC3E}">
        <p14:creationId xmlns:p14="http://schemas.microsoft.com/office/powerpoint/2010/main" val="737569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1592</TotalTime>
  <Words>4859</Words>
  <Application>Microsoft Office PowerPoint</Application>
  <PresentationFormat>Personalizado</PresentationFormat>
  <Paragraphs>744</Paragraphs>
  <Slides>67</Slides>
  <Notes>1</Notes>
  <HiddenSlides>0</HiddenSlides>
  <MMClips>0</MMClips>
  <ScaleCrop>false</ScaleCrop>
  <HeadingPairs>
    <vt:vector size="4" baseType="variant">
      <vt:variant>
        <vt:lpstr>Tema</vt:lpstr>
      </vt:variant>
      <vt:variant>
        <vt:i4>1</vt:i4>
      </vt:variant>
      <vt:variant>
        <vt:lpstr>Títulos de diapositiva</vt:lpstr>
      </vt:variant>
      <vt:variant>
        <vt:i4>67</vt:i4>
      </vt:variant>
    </vt:vector>
  </HeadingPairs>
  <TitlesOfParts>
    <vt:vector size="68" baseType="lpstr">
      <vt:lpstr>Tema de Office</vt:lpstr>
      <vt:lpstr>Análisis de variancia</vt:lpstr>
      <vt:lpstr>Introducción</vt:lpstr>
      <vt:lpstr>Índice</vt:lpstr>
      <vt:lpstr>Índice</vt:lpstr>
      <vt:lpstr>Fundamentos del ANOVA</vt:lpstr>
      <vt:lpstr>Fundamentos del ANOVA</vt:lpstr>
      <vt:lpstr>Fundamentos del ANOVA</vt:lpstr>
      <vt:lpstr>Índice</vt:lpstr>
      <vt:lpstr>Etapas de un ANOVA</vt:lpstr>
      <vt:lpstr>Recordatorio: Pasos de una prueba de hipótesis: resumen</vt:lpstr>
      <vt:lpstr>Índice</vt:lpstr>
      <vt:lpstr>Diseño de una vía: fundamentos </vt:lpstr>
      <vt:lpstr>Diseño de una vía: fundamentos </vt:lpstr>
      <vt:lpstr>Diseño de una vía: descripción de los datos</vt:lpstr>
      <vt:lpstr>Diseño de una vía: descripción de los datos</vt:lpstr>
      <vt:lpstr>Diseño de una vía: supuestos</vt:lpstr>
      <vt:lpstr>Diseño de una vía: supuestos – el modelo</vt:lpstr>
      <vt:lpstr>Presentación de PowerPoint</vt:lpstr>
      <vt:lpstr>Presentación de PowerPoint</vt:lpstr>
      <vt:lpstr>Diseño de una vía: supuestos</vt:lpstr>
      <vt:lpstr>Diseño de una vía: hipótesis</vt:lpstr>
      <vt:lpstr>Diseño de una vía: estadística de prueba</vt:lpstr>
      <vt:lpstr>Presentación de PowerPoint</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Presentación de PowerPoint</vt:lpstr>
      <vt:lpstr>Diseño de una vía: estadística de prueba – grados de libertad</vt:lpstr>
      <vt:lpstr>Presentación de PowerPoint</vt:lpstr>
      <vt:lpstr>Presentación de PowerPoint</vt:lpstr>
      <vt:lpstr>Diseño de una vía: cuadrado medio </vt:lpstr>
      <vt:lpstr>Presentación de PowerPoint</vt:lpstr>
      <vt:lpstr>Presentación de PowerPoint</vt:lpstr>
      <vt:lpstr>Diseño de una vía: estadística de prueba</vt:lpstr>
      <vt:lpstr>Presentación de PowerPoint</vt:lpstr>
      <vt:lpstr>Diseño de una vía: regla de decisión</vt:lpstr>
      <vt:lpstr>Presentación de PowerPoint</vt:lpstr>
      <vt:lpstr>Diseño de una vía: calculo de la estadística de prueba</vt:lpstr>
      <vt:lpstr>Presentación de PowerPoint</vt:lpstr>
      <vt:lpstr>Presentación de PowerPoint</vt:lpstr>
      <vt:lpstr>Diseño de una vía: conclusión</vt:lpstr>
      <vt:lpstr>Ejemplo…</vt:lpstr>
      <vt:lpstr>Ejemplo…  1. Datos</vt:lpstr>
      <vt:lpstr>Ejemplo…  1. Datos</vt:lpstr>
      <vt:lpstr>Ejemplo…  seguimos….</vt:lpstr>
      <vt:lpstr>Ejemplo…  seguimos….</vt:lpstr>
      <vt:lpstr>Ejemplo…  seguimos….</vt:lpstr>
      <vt:lpstr>Ejemplo…  seguimos….</vt:lpstr>
      <vt:lpstr>Ejemplo…  seguimos….</vt:lpstr>
      <vt:lpstr>Ejemplo…  seguimos….</vt:lpstr>
      <vt:lpstr>Ejemplo…  seguimos….</vt:lpstr>
      <vt:lpstr>Ejemplo…  y terminamos….</vt:lpstr>
      <vt:lpstr>Presentación de PowerPoint</vt:lpstr>
      <vt:lpstr>Índice</vt:lpstr>
      <vt:lpstr>La diferencia de medias</vt:lpstr>
      <vt:lpstr>Índice</vt:lpstr>
      <vt:lpstr>Otros diseños </vt:lpstr>
      <vt:lpstr>Índice</vt:lpstr>
      <vt:lpstr>Efectos fijos o aleatorios </vt:lpstr>
      <vt:lpstr>Conclusión y discusión</vt:lpstr>
      <vt:lpstr>Presentación de PowerPoint</vt:lpstr>
      <vt:lpstr>Presentación de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varianc</dc:title>
  <dc:creator>Oscar</dc:creator>
  <cp:lastModifiedBy>Oscar Centeno Mora</cp:lastModifiedBy>
  <cp:revision>97</cp:revision>
  <dcterms:created xsi:type="dcterms:W3CDTF">2016-05-15T02:18:32Z</dcterms:created>
  <dcterms:modified xsi:type="dcterms:W3CDTF">2016-05-23T22:01:03Z</dcterms:modified>
</cp:coreProperties>
</file>