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57"/>
  </p:notesMasterIdLst>
  <p:sldIdLst>
    <p:sldId id="256" r:id="rId2"/>
    <p:sldId id="257" r:id="rId3"/>
    <p:sldId id="258" r:id="rId4"/>
    <p:sldId id="271" r:id="rId5"/>
    <p:sldId id="279" r:id="rId6"/>
    <p:sldId id="272" r:id="rId7"/>
    <p:sldId id="261" r:id="rId8"/>
    <p:sldId id="280" r:id="rId9"/>
    <p:sldId id="282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7" r:id="rId24"/>
    <p:sldId id="274" r:id="rId25"/>
    <p:sldId id="262" r:id="rId26"/>
    <p:sldId id="263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6" r:id="rId35"/>
    <p:sldId id="275" r:id="rId36"/>
    <p:sldId id="264" r:id="rId37"/>
    <p:sldId id="307" r:id="rId38"/>
    <p:sldId id="308" r:id="rId39"/>
    <p:sldId id="309" r:id="rId40"/>
    <p:sldId id="310" r:id="rId41"/>
    <p:sldId id="313" r:id="rId42"/>
    <p:sldId id="266" r:id="rId43"/>
    <p:sldId id="315" r:id="rId44"/>
    <p:sldId id="316" r:id="rId45"/>
    <p:sldId id="317" r:id="rId46"/>
    <p:sldId id="318" r:id="rId47"/>
    <p:sldId id="319" r:id="rId48"/>
    <p:sldId id="314" r:id="rId49"/>
    <p:sldId id="268" r:id="rId50"/>
    <p:sldId id="321" r:id="rId51"/>
    <p:sldId id="324" r:id="rId52"/>
    <p:sldId id="322" r:id="rId53"/>
    <p:sldId id="323" r:id="rId54"/>
    <p:sldId id="269" r:id="rId55"/>
    <p:sldId id="270" r:id="rId5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4" autoAdjust="0"/>
    <p:restoredTop sz="91030" autoAdjust="0"/>
  </p:normalViewPr>
  <p:slideViewPr>
    <p:cSldViewPr snapToGrid="0">
      <p:cViewPr varScale="1">
        <p:scale>
          <a:sx n="67" d="100"/>
          <a:sy n="67" d="100"/>
        </p:scale>
        <p:origin x="-111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A84E2-6887-4DA9-9867-0000AE6DB8F7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C578-11DC-42D6-9480-CD2F6966CD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05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BC578-11DC-42D6-9480-CD2F6966CDD3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8940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78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76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E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60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36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41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421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8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394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579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38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68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F4433D-3AC4-486D-89DB-78BE6AD47EC2}" type="datetimeFigureOut">
              <a:rPr lang="es-ES" smtClean="0"/>
              <a:t>09/05/2016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13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gif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gif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470.png"/><Relationship Id="rId4" Type="http://schemas.openxmlformats.org/officeDocument/2006/relationships/image" Target="../media/image4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 smtClean="0"/>
              <a:t>Comparación de medias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1560" y="6032309"/>
            <a:ext cx="7891272" cy="600365"/>
          </a:xfrm>
        </p:spPr>
        <p:txBody>
          <a:bodyPr/>
          <a:lstStyle/>
          <a:p>
            <a:r>
              <a:rPr lang="es-CR" dirty="0" smtClean="0"/>
              <a:t>Oscar Centeno Mora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159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5699" y="280052"/>
            <a:ext cx="10058400" cy="1152963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5699" y="1548201"/>
            <a:ext cx="6422773" cy="4702473"/>
          </a:xfrm>
        </p:spPr>
        <p:txBody>
          <a:bodyPr/>
          <a:lstStyle/>
          <a:p>
            <a:r>
              <a:rPr lang="es-CR" dirty="0" smtClean="0"/>
              <a:t>El tema anterior presentó la prueba de hipótesis como método de inferencia estadística.</a:t>
            </a:r>
          </a:p>
          <a:p>
            <a:endParaRPr lang="es-CR" dirty="0"/>
          </a:p>
          <a:p>
            <a:r>
              <a:rPr lang="es-CR" dirty="0" smtClean="0"/>
              <a:t>El desarrollo de la prueba de hipótesis se utilizó bajo el estadístico de diferencia sobre una única media.</a:t>
            </a:r>
          </a:p>
          <a:p>
            <a:endParaRPr lang="es-CR" dirty="0"/>
          </a:p>
          <a:p>
            <a:r>
              <a:rPr lang="es-CR" dirty="0" smtClean="0"/>
              <a:t>Las formas bilaterales y unilaterales para plantear la prueba de hipótesis en la comparación de una media fueron las siguientes: </a:t>
            </a:r>
            <a:endParaRPr lang="es-E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04" y="5424948"/>
            <a:ext cx="15710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300" y="5424948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212" y="5424948"/>
            <a:ext cx="15252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521" y="5496956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lecha derecha 7"/>
          <p:cNvSpPr/>
          <p:nvPr/>
        </p:nvSpPr>
        <p:spPr>
          <a:xfrm>
            <a:off x="7434955" y="5588149"/>
            <a:ext cx="1149488" cy="82572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http://www.comohacerunaintroduccion.com/wp-content/uploads/2013/07/hacer-una-introduccion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699" y="1006475"/>
            <a:ext cx="32004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3135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2869" y="1589143"/>
            <a:ext cx="8115095" cy="4934485"/>
          </a:xfrm>
        </p:spPr>
        <p:txBody>
          <a:bodyPr/>
          <a:lstStyle/>
          <a:p>
            <a:pPr algn="just"/>
            <a:r>
              <a:rPr lang="es-CR" dirty="0" smtClean="0"/>
              <a:t>Nos interesaría saber si hay diferencias estadísticas entre hombres y mujeres, o entre dos tipos de clases de animales, entre la pierna derecha y la izquierda, y si el porcentaje difiere para dos tipos de poblaciones, entre otros.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A las diferencias anteriores se les conoce como comparación de medias, y se suelen trabajar bajo el enfoque de pruebas de hipótesis, cambiando tanto la forma de plantear la hipótesis como los estadísticas de prueba.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capítulo de comparación de medias presentará las diferencias de medias para dos poblaciones independientes, dependientes y para la comparación cuando se trabaja con proporciones o porcentajes.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55699" y="280052"/>
            <a:ext cx="10058400" cy="1152963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2" name="AutoShape 2" descr="data:image/jpeg;base64,/9j/4AAQSkZJRgABAQAAAQABAAD/2wCEAAkGBxAPDxAPDxAPDQ8QEBAQDw4WDxANEhAQFhEYFhYRFRUYHSggGB8lGxMWITEhJSkrLi4uGB8zODMtNygtLysBCgoKDg0OFxAQGywaHR83KzcrKystKys3LzU3Ky0uNTU3KystLTcrKy0rLS0tKystLy0rKysrLS0tMC03Ny0rN//AABEIAOEA4QMBIgACEQEDEQH/xAAbAAEAAgMBAQAAAAAAAAAAAAAAAQYDBAUCB//EAEEQAAICAQEFBQUGAwQLAQAAAAABAgMRBAUGEiExE0FRYXEigZGhsSMyUmJywQcU0UJUkuEVM0NTgpOissLw8ST/xAAZAQEBAQEBAQAAAAAAAAAAAAAAAQQDAgX/xAAkEQEAAgICAQIHAAAAAAAAAAAAAQIDEQQhMRJRBRMiMkFh0f/aAAwDAQACEQMRAD8A+4gAAAAAAAAAAAAAAAAAAAAAAAAAAAAAAAAAAAAIJAAAAAAAAAAAAAAAAAAAAADzKSR4doGUGLtQrQMoITySAAAAAAAAAAAAAAAAAAAAAAAAAAAAAADDfeo+v0J1FvBFy8PqceeoyBtyuPLuNJ3Hh2gdBXEq45vbDtwOpC/BuU2qS8+9HBV5sabVcMk+7v8AQDtghMkAAAAAAAAAAAAAAAAAAAAAAAAAAAOTty7HDHxyzjO03N5Z4sj+j/yf+RxJWgbvanntvMxabTymuL7sOifVyfhFd55jppWycalKzHJtc4p/mn0XosgZXqF4mfS1uz7rivWWDLp92JvnZaoflhHL/wAUv6G9Ddqlf7TUN+PbSj9Cdr01pbNuXSKl6SX7mvLig8STi/B8jqPYSX3NRqq/S9yXwlk09Zs3WKL4bYaqP4ZR7KfxXJsdjs7Ot4qovw5fBm2VHZW3exk6L4Sq55w1iUfP8y80WWWtrWFxx9pZXNPMX0ZUbIITySAAAAAAAAAAAAAAAAABBIAAAAABW974YVc/WL9/NfRlcpkm8yeIrmy67fqjLTW8TwlHiT8Gua/p7yj7Mo7azEv9XW05L8UvB+K/97+QdzRad6lKU8w0+PZh92Vq88dI+S6ndrtjCKjBKMV0ikkkaKs5EOYG7LVM8/zLNJyPLkB0I6l+JmhqjlcZsaWLk/JdWBsbS0NWphw2R84yXKUH4xfcUPalV2jt4ZS4mlmE10nDPh3Nd6PorK5vdR2lbSSc4JTh59cx9Gsr/wCAdPdTaHb0Z/C+H5HaKRudqHVU+fsyfEotYlju4vB+JbdHrI25x1XX+oG0AAAAAgEgAAAAAAAAAAAAAAAg1NZtCFXXm/BAcjfXUcNEa847SfP9MVxP6Z9xx9j1cEFlYb5teb7v2MW9G0ndKHLCiuFLznZCD+UmdTSe0kQZ4ntI9wqMsaijX4Rwm4qTLXVBdU39ANKjTSm+XTvZ066lFYXx8SXbFL9kjVu1b/srHn1A2mcPeGa5Yabw01yeOmM/Fnu++T6ts420beTA5+h1DjhZLJsC77ZL8UZL9/2Pn1W0l2kornwzxJeGeZdt1LOO9Nd0JN/T9wLmAAAAAAAAAAAAAAAAAQ2BINeeoXdzNe7WuKz7PoBk2hq1XHl1+hRtrbT5vmbm2Nt14k5zjB9+ZJJ+j7yo6+cpWyrScpxayl7XVZTWOq59RtfTOt/htay/irlP8KjL3RthJ/KLLhsl8UV39CjRhY261BWJJdpwtTklJSjJcvJv5Fi3K1uYuqb+0pl2c/F46S965k2LlVUbMaT3p48kZiowqkiVJnAGnOk1bazqtGC2jPkBwNVyKxtrUcMZPwWX5Ivs9BD+1mXyRRf4lbYhVV/IaaMf5jUpKfClmFTffjxxj0yBw9xt356+F9in2XHf2nE48WYxzGK+c/gj6lsLYsNJXwxbnN/fseE35JdyNXcrY60ejqrxiXDFy5YfTv8Ar7zvASAAAAAgAkACCQAAAAhkZA9HO2lq1GSi3hYy/Py+Rrbc3l0mjj9talLurXtTf/Cj5dvR/EntrIdjTGNcG8uTfHNPu5cl8/cc7ZaV6mWzBwM+aPVWvXv4fR7doeBqzvcupXNh7dq1VSshLylF9Yy70zdt2jCKy5I6RO2W1ZrMxPUw+Z75q7/SFtMVOyUnGVcUnJ8Ml3e9Msmi0t1UdMtQuztuiqpVyk48LWeCc+Hm4vGPVmLW7e1lts46SFWmi3wvWShx3Sj4Vx7lzfN/QuW7e6Okr0q1t0Z6vVyjKyWoum7JcSb4eFfdilhckjlTHq0z7tvI5fzcVKa+1T5K2Tz206ZrlFwUYRis84qOMP38z1TO3TThqISdtkVi5YUXbDOeSXLK7jPfHEmeGdWB9O3Y25VrKYyrlnlzXRxfemu5nbPhcYW0WdvpZumz+1+Cf6o9Pf8AQvGwd+pzSjqqHGXTtIe0n54f7E2L4Dk07xaSX+2jB+E1Kt/9SPVm8Wiisy1VCXj2kSjqHmTKntD+Iez6k1CyWpn3RrrnNN/qaUfmcG3ejV658MYvRUS5KEPtdTavDK5QXpz8wLHvLvLGjiqoSt1CXNcuClY+/Y+706srW4u7M773tDV5sbk3By6zlj73odnYu6WVF3x7OpPiVGcynLOeK2XeXOEFFJJJJcklywgJRIAAAAAAAAAAAADy5GltPadeng5zlhLhyvDLwmfF99d/dXO22hWOmuMscMPZcl4uXXw7znkyRSNtfD4luTeaxMRrzt9U2/vno9HlTsVliT+yg1KWfB/h958x3k/ihqbsxp//ADQ/LLM2vOXd7viU3RaDVax5ri+Hvsk+GK88s62ztkaWNvZRjbtjWf3ehN1w/XPKSXqZptkyfqH2q4eHxO5+u3vP8cjTU6vXTxVCy5vrN8TXq5M7Gn3f0tE1HV2z1upf3dBpou6bf4ZOOcF/2ZuPrtRFLW3Q2fpv7jpXiTXhZdjr6fEu2wd3NJoIcGlohSn96eHKyb8ZzlmUn6s6UwRHlk5Pxa9+qqBs3c7XauChKFOwtJ17KEY36ua/NN4UH8S3aHcPQ1JZjbc11lZdZa38WWfBJoiNPj3vNp3KsbY3NpvcJVNaXgXC1GtOMo93LKw/M29txVGjVUOns1rxxjP7fM7hXN7rPZrj+pleVE1MOZruJu3o1ZcgMWAo88puPo8EtkxYGzVqbcY4014OCZubP2I9bYq52RgsNpqpS6eWUaFbLBuxZw6ivzbXxWCahdujov4f6WDTnKdr9FBfBFj0OzKaFiquEPNLm/V9TcBUQkSAAAAAAACCQAAAAhkgD5lvvXGnVzt1N7ortceBuKlCS4EuBeeU8lRs0depuhPRaO3W3zxCKlxRpWOtrm0ouPPrk+720xmsSjGa8GlJfBkxrSWFhJd2MHmaxLpTJak7r0+c7N/hxbeoy2pqHOKw/wCR0/2FC/LOX3pr0wXzZey6NLWqtNVXRWukIRUV78dTcwSWI082tNvIACvIAABU97ZZsjHwgvnkthU95Y5vf6YgVW+BoWs7ltRz9XpuQHMcwpmb/Rd8qrL4Q4q63ibXX1S8u80K5Ngb9UztbJsxOEvCUX8GcTT1tnc0FWMAfSkyTX0NvHXCXjFfE2AAAAAAAAAAAAAAACCQAIJAAAAAAAAAFX3kj9svOC+pZytb0tKyD/K/qBxZIwXVEyvI7TIFm3PqX8tKLSadk014rBRt4Nk/ymplWl9nL26v0Nvl7mmi+bovNU/Kz9kYd99ndrpu0S9ul8XrB8pL4c/cBSNMjr6VHK0zOnp5gXDd67Nbi+sZcvR/55OsVjYWo4bEs8pez/QsyAkAAAAAAAAAAAAAAAAAAAAAAAAAACob3S+2ivyL6st5Ud7F9tH9C+rA4DRDMvCebFyYFx3Tq4dLF985Tl88fsde6tSjKL5qSaa8mjX2TVwUVR6Yrjn1ay/qbTA+QW5qsnW+sJyh/heP2PcNSzPvXVwa2/HfLi+Kyc6AHb2VqpO6tZ6zj/3H0tHzLd6GdTTn/eRPpqAkAAAAAAAAAAAAAAAAAAAAAAAAAACq7wR473jniMV8s/uWiUsZb6JZKdqdcnOUu+TbAxfybNbU6Zr0Nla1EvUp+YF1rWEl4JITeE2+iy2a2y9V2tUZ9/NP1TwbUugHyrbM3dfZZ+KT9y7l8jFTo36HW2xoXprmn92Tbrljk456eq6GCi1AbmxtI4W1z5ezJN+mS/ootOpSLDsHX8blW3nCyvJd6+YHaAAAAAAAAAAAAAAAAAAAAgCQAAAAHmccrD5p8n6Fa1O59cm3XdbXn+z7NiXx5/Ms4Apstyp92rf/ACl/U9VbmTTXFqpNeCrSf1LgANbZ+jjRVGuGWo55t5bbeW2bIAGrtDQ13w7O2PHH3pp+Ka5plX1G5TTbp1Diu6M4cWPesFyAFIW6Gq/vFX+GZ3dgbEem4pTs7Wcklnh4Ul1ePE7QAhEgAAAAAAAAAAABAZIAhEgACAAJAAAAAAAAAAAAAAAAAAAAAAAAAAAAAAA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sp>
        <p:nvSpPr>
          <p:cNvPr id="5" name="AutoShape 4" descr="http://dnav.pgr.gob.do/Repository/Images/Static/supervision_monitoreo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2054" name="Picture 6" descr="http://elecuatoriano.net/wp-content/uploads/2012/04/monitoreo-busqued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2" r="20507"/>
          <a:stretch/>
        </p:blipFill>
        <p:spPr bwMode="auto">
          <a:xfrm>
            <a:off x="9006839" y="1589722"/>
            <a:ext cx="2914651" cy="22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15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5879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7" name="13 Rectángulo redondeado"/>
          <p:cNvSpPr/>
          <p:nvPr/>
        </p:nvSpPr>
        <p:spPr>
          <a:xfrm>
            <a:off x="7320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Aplicaciones 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9604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6365" y="85270"/>
            <a:ext cx="10959921" cy="900724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Recordatorio: Pasos </a:t>
            </a:r>
            <a:r>
              <a:rPr lang="es-CR" sz="3400" dirty="0"/>
              <a:t>de una prueba de hipótesis: resumen</a:t>
            </a:r>
          </a:p>
        </p:txBody>
      </p:sp>
      <p:sp>
        <p:nvSpPr>
          <p:cNvPr id="2" name="1 Rectángulo redondeado"/>
          <p:cNvSpPr/>
          <p:nvPr/>
        </p:nvSpPr>
        <p:spPr>
          <a:xfrm>
            <a:off x="206355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Evaluar los datos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494387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Revisar las suposiciones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7968208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Formular la hipótesis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7968208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Seleccionar la estadística de prueba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943872" y="2127590"/>
            <a:ext cx="1728192" cy="143462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Determinar la distribución de estad. de prueba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2063552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Formular la regla de decisión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2063552" y="3717032"/>
            <a:ext cx="1728192" cy="90536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Calcular la estadística de prueba</a:t>
            </a:r>
          </a:p>
        </p:txBody>
      </p:sp>
      <p:sp>
        <p:nvSpPr>
          <p:cNvPr id="5" name="4 Decisión"/>
          <p:cNvSpPr/>
          <p:nvPr/>
        </p:nvSpPr>
        <p:spPr>
          <a:xfrm>
            <a:off x="6168008" y="3202180"/>
            <a:ext cx="2448272" cy="1883004"/>
          </a:xfrm>
          <a:prstGeom prst="flowChartDecision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Decisión estadística</a:t>
            </a:r>
          </a:p>
        </p:txBody>
      </p:sp>
      <p:sp>
        <p:nvSpPr>
          <p:cNvPr id="13" name="12 Elipse"/>
          <p:cNvSpPr/>
          <p:nvPr/>
        </p:nvSpPr>
        <p:spPr>
          <a:xfrm>
            <a:off x="4727848" y="4725144"/>
            <a:ext cx="1296144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No rechazar Ho</a:t>
            </a:r>
          </a:p>
        </p:txBody>
      </p:sp>
      <p:sp>
        <p:nvSpPr>
          <p:cNvPr id="15" name="14 Elipse"/>
          <p:cNvSpPr/>
          <p:nvPr/>
        </p:nvSpPr>
        <p:spPr>
          <a:xfrm>
            <a:off x="8688288" y="4725144"/>
            <a:ext cx="1368152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Rechazar Ho</a:t>
            </a:r>
          </a:p>
        </p:txBody>
      </p:sp>
      <p:cxnSp>
        <p:nvCxnSpPr>
          <p:cNvPr id="16" name="15 Conector recto"/>
          <p:cNvCxnSpPr>
            <a:stCxn id="5" idx="2"/>
            <a:endCxn id="13" idx="6"/>
          </p:cNvCxnSpPr>
          <p:nvPr/>
        </p:nvCxnSpPr>
        <p:spPr>
          <a:xfrm flipH="1">
            <a:off x="6023992" y="5085184"/>
            <a:ext cx="1368152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stCxn id="5" idx="2"/>
            <a:endCxn id="15" idx="2"/>
          </p:cNvCxnSpPr>
          <p:nvPr/>
        </p:nvCxnSpPr>
        <p:spPr>
          <a:xfrm>
            <a:off x="7392144" y="5085184"/>
            <a:ext cx="1296144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19 Rectángulo"/>
          <p:cNvSpPr/>
          <p:nvPr/>
        </p:nvSpPr>
        <p:spPr>
          <a:xfrm>
            <a:off x="4439816" y="6021288"/>
            <a:ext cx="1944216" cy="78129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H0 no pude ser rechazada</a:t>
            </a:r>
          </a:p>
        </p:txBody>
      </p:sp>
      <p:sp>
        <p:nvSpPr>
          <p:cNvPr id="22" name="21 Rectángulo"/>
          <p:cNvSpPr/>
          <p:nvPr/>
        </p:nvSpPr>
        <p:spPr>
          <a:xfrm>
            <a:off x="8256241" y="6021287"/>
            <a:ext cx="2171723" cy="78129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HA es estadísticamente cierta</a:t>
            </a:r>
          </a:p>
        </p:txBody>
      </p:sp>
      <p:cxnSp>
        <p:nvCxnSpPr>
          <p:cNvPr id="23" name="22 Conector recto de flecha"/>
          <p:cNvCxnSpPr>
            <a:stCxn id="2" idx="3"/>
          </p:cNvCxnSpPr>
          <p:nvPr/>
        </p:nvCxnSpPr>
        <p:spPr>
          <a:xfrm>
            <a:off x="3791744" y="1556792"/>
            <a:ext cx="100148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stCxn id="6" idx="3"/>
          </p:cNvCxnSpPr>
          <p:nvPr/>
        </p:nvCxnSpPr>
        <p:spPr>
          <a:xfrm>
            <a:off x="6672064" y="155679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>
            <a:stCxn id="7" idx="2"/>
          </p:cNvCxnSpPr>
          <p:nvPr/>
        </p:nvCxnSpPr>
        <p:spPr>
          <a:xfrm>
            <a:off x="8832304" y="191683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8" idx="1"/>
          </p:cNvCxnSpPr>
          <p:nvPr/>
        </p:nvCxnSpPr>
        <p:spPr>
          <a:xfrm flipH="1">
            <a:off x="6816080" y="281693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9" idx="1"/>
          </p:cNvCxnSpPr>
          <p:nvPr/>
        </p:nvCxnSpPr>
        <p:spPr>
          <a:xfrm flipH="1" flipV="1">
            <a:off x="3915177" y="2816932"/>
            <a:ext cx="10286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5" name="1024 Conector recto de flecha"/>
          <p:cNvCxnSpPr>
            <a:stCxn id="10" idx="2"/>
          </p:cNvCxnSpPr>
          <p:nvPr/>
        </p:nvCxnSpPr>
        <p:spPr>
          <a:xfrm>
            <a:off x="2927648" y="321297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8" name="1027 Conector recto de flecha"/>
          <p:cNvCxnSpPr>
            <a:stCxn id="11" idx="3"/>
          </p:cNvCxnSpPr>
          <p:nvPr/>
        </p:nvCxnSpPr>
        <p:spPr>
          <a:xfrm>
            <a:off x="3791744" y="4169715"/>
            <a:ext cx="22322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1030 Conector recto"/>
          <p:cNvCxnSpPr>
            <a:stCxn id="13" idx="4"/>
            <a:endCxn id="20" idx="0"/>
          </p:cNvCxnSpPr>
          <p:nvPr/>
        </p:nvCxnSpPr>
        <p:spPr>
          <a:xfrm>
            <a:off x="5375920" y="5733256"/>
            <a:ext cx="0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1032 Conector recto"/>
          <p:cNvCxnSpPr>
            <a:stCxn id="15" idx="4"/>
          </p:cNvCxnSpPr>
          <p:nvPr/>
        </p:nvCxnSpPr>
        <p:spPr>
          <a:xfrm>
            <a:off x="9372364" y="5733256"/>
            <a:ext cx="0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 flipH="1">
            <a:off x="3791744" y="6453336"/>
            <a:ext cx="6128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1847528" y="6104092"/>
            <a:ext cx="1728192" cy="69848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35794435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851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58" y="109182"/>
            <a:ext cx="12089742" cy="770961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Medias independientes con igual variancia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259" y="880144"/>
            <a:ext cx="8990226" cy="5977856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El primer tipo de comparación de medias se realiza bajo la suposición de dos población que son independientes.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La prueba de </a:t>
            </a:r>
            <a:r>
              <a:rPr lang="es-CR" dirty="0" smtClean="0"/>
              <a:t>hipótesis </a:t>
            </a:r>
            <a:r>
              <a:rPr lang="es-CR" dirty="0"/>
              <a:t>que involucra la diferencia entre las medias de 2</a:t>
            </a:r>
            <a:r>
              <a:rPr lang="es-CR" dirty="0" smtClean="0"/>
              <a:t> poblaciones se </a:t>
            </a:r>
            <a:r>
              <a:rPr lang="es-CR" dirty="0"/>
              <a:t>utiliza con mas frecuencia para determinar si es razonable </a:t>
            </a:r>
            <a:r>
              <a:rPr lang="es-CR" dirty="0" smtClean="0"/>
              <a:t>o </a:t>
            </a:r>
            <a:r>
              <a:rPr lang="es-CR" dirty="0"/>
              <a:t>no </a:t>
            </a:r>
            <a:r>
              <a:rPr lang="es-CR" dirty="0" smtClean="0"/>
              <a:t>concluir si dos poblaciones </a:t>
            </a:r>
            <a:r>
              <a:rPr lang="es-CR" dirty="0"/>
              <a:t>son distintas entre </a:t>
            </a:r>
            <a:r>
              <a:rPr lang="es-CR" dirty="0" smtClean="0"/>
              <a:t>si.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En este caso se puede encontrar diversas posibilidades:</a:t>
            </a:r>
          </a:p>
          <a:p>
            <a:pPr marL="0" indent="0" algn="just">
              <a:buNone/>
            </a:pPr>
            <a:r>
              <a:rPr lang="es-CR" dirty="0"/>
              <a:t>	</a:t>
            </a:r>
            <a:r>
              <a:rPr lang="es-CR" dirty="0" smtClean="0"/>
              <a:t>-Comparación de medias con variancias conocidas</a:t>
            </a:r>
          </a:p>
          <a:p>
            <a:pPr marL="0" indent="0" algn="just">
              <a:buNone/>
            </a:pPr>
            <a:r>
              <a:rPr lang="es-CR" dirty="0"/>
              <a:t>	</a:t>
            </a:r>
            <a:r>
              <a:rPr lang="es-CR" dirty="0" smtClean="0"/>
              <a:t>-</a:t>
            </a:r>
            <a:r>
              <a:rPr lang="es-CR" dirty="0"/>
              <a:t> Comparación de medias con variancias </a:t>
            </a:r>
            <a:r>
              <a:rPr lang="es-CR" dirty="0" smtClean="0"/>
              <a:t>desconocidas iguales</a:t>
            </a:r>
          </a:p>
          <a:p>
            <a:pPr marL="0" indent="0" algn="just">
              <a:buNone/>
            </a:pPr>
            <a:r>
              <a:rPr lang="es-CR" dirty="0" smtClean="0"/>
              <a:t>               - </a:t>
            </a:r>
            <a:r>
              <a:rPr lang="es-CR" dirty="0"/>
              <a:t>Comparación de medias con variancias desconocidas </a:t>
            </a:r>
            <a:r>
              <a:rPr lang="es-CR" dirty="0" smtClean="0"/>
              <a:t>diferentes</a:t>
            </a:r>
          </a:p>
          <a:p>
            <a:pPr marL="0" indent="0" algn="just">
              <a:buNone/>
            </a:pPr>
            <a:endParaRPr lang="es-CR" dirty="0" smtClean="0"/>
          </a:p>
          <a:p>
            <a:pPr algn="just">
              <a:lnSpc>
                <a:spcPct val="100000"/>
              </a:lnSpc>
            </a:pPr>
            <a:r>
              <a:rPr lang="es-CR" dirty="0" smtClean="0"/>
              <a:t>Recordar que todas las pruebas pueden ser bilaterales o unilaterales. </a:t>
            </a:r>
          </a:p>
          <a:p>
            <a:pPr>
              <a:lnSpc>
                <a:spcPct val="100000"/>
              </a:lnSpc>
            </a:pPr>
            <a:endParaRPr lang="es-CR" dirty="0" smtClean="0"/>
          </a:p>
          <a:p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pic>
        <p:nvPicPr>
          <p:cNvPr id="3074" name="Picture 2" descr="http://3.bp.blogspot.com/-hPSpfXTP9So/VHD2OqpLziI/AAAAAAAAAJA/93jcPiXcGnE/s1600/ID-1004487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5" t="3932" r="13762" b="4324"/>
          <a:stretch/>
        </p:blipFill>
        <p:spPr bwMode="auto">
          <a:xfrm>
            <a:off x="9429750" y="1074420"/>
            <a:ext cx="2634844" cy="258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thinkinganewworld.files.wordpress.com/2015/08/comparar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r="6869"/>
          <a:stretch/>
        </p:blipFill>
        <p:spPr bwMode="auto">
          <a:xfrm>
            <a:off x="9429750" y="4123852"/>
            <a:ext cx="2634844" cy="190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811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12143" y="1422659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A grosso modo, al realizar comparaciones de medias para dos poblaciones supuestas como “independientes”, se busca ver si a nivel de la posición, existe alguna diferencia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dirty="0" smtClean="0"/>
                  <a:t> 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CR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dirty="0" smtClean="0"/>
                  <a:t>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143" y="1422659"/>
                <a:ext cx="10058400" cy="4050792"/>
              </a:xfrm>
              <a:blipFill rotWithShape="0">
                <a:blip r:embed="rId2"/>
                <a:stretch>
                  <a:fillRect l="-242" t="-15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 rotWithShape="1">
          <a:blip r:embed="rId3" cstate="print"/>
          <a:srcRect b="9337"/>
          <a:stretch/>
        </p:blipFill>
        <p:spPr bwMode="auto">
          <a:xfrm>
            <a:off x="649291" y="2797555"/>
            <a:ext cx="5385274" cy="326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163773" y="102495"/>
            <a:ext cx="11409528" cy="1180395"/>
          </a:xfrm>
        </p:spPr>
        <p:txBody>
          <a:bodyPr/>
          <a:lstStyle/>
          <a:p>
            <a:r>
              <a:rPr lang="es-CR" dirty="0" smtClean="0"/>
              <a:t>Medias independientes con igual variancia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3160972" y="6047865"/>
                <a:ext cx="471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972" y="6047865"/>
                <a:ext cx="47102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"/>
          <p:cNvPicPr>
            <a:picLocks noChangeAspect="1" noChangeArrowheads="1"/>
          </p:cNvPicPr>
          <p:nvPr/>
        </p:nvPicPr>
        <p:blipFill rotWithShape="1">
          <a:blip r:embed="rId3" cstate="print"/>
          <a:srcRect b="9337"/>
          <a:stretch/>
        </p:blipFill>
        <p:spPr bwMode="auto">
          <a:xfrm>
            <a:off x="6034565" y="2797555"/>
            <a:ext cx="5385274" cy="326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8542200" y="6019961"/>
                <a:ext cx="4763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C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200" y="6019961"/>
                <a:ext cx="47634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recto 16"/>
          <p:cNvCxnSpPr/>
          <p:nvPr/>
        </p:nvCxnSpPr>
        <p:spPr>
          <a:xfrm>
            <a:off x="768197" y="6060069"/>
            <a:ext cx="10200679" cy="13648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4342389" y="6271168"/>
                <a:ext cx="305229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R" sz="2400" dirty="0" smtClean="0"/>
                  <a:t>¿</a:t>
                </a:r>
                <a14:m>
                  <m:oMath xmlns:m="http://schemas.openxmlformats.org/officeDocument/2006/math">
                    <m:r>
                      <a:rPr lang="es-CR" sz="2400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s-E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400" dirty="0" smtClean="0"/>
                  <a:t>?</a:t>
                </a:r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389" y="6271168"/>
                <a:ext cx="3052293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2000" b="-29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733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3773" y="1451706"/>
            <a:ext cx="10058400" cy="5271065"/>
          </a:xfrm>
        </p:spPr>
        <p:txBody>
          <a:bodyPr/>
          <a:lstStyle/>
          <a:p>
            <a:r>
              <a:rPr lang="es-CR" dirty="0" smtClean="0"/>
              <a:t>La prueba de hipótesis de </a:t>
            </a:r>
            <a:r>
              <a:rPr lang="es-CR" dirty="0" err="1" smtClean="0"/>
              <a:t>diferendencia</a:t>
            </a:r>
            <a:r>
              <a:rPr lang="es-CR" dirty="0" smtClean="0"/>
              <a:t> de medias de dos poblaciones independientes establece si es posible determinar o no la diferencia de medias de las poblaciones. </a:t>
            </a:r>
          </a:p>
          <a:p>
            <a:endParaRPr lang="es-CR" dirty="0"/>
          </a:p>
          <a:p>
            <a:r>
              <a:rPr lang="es-CR" dirty="0" smtClean="0"/>
              <a:t>Las pruebas de hipótesis se plantean como: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endParaRPr lang="es-CR" dirty="0" smtClean="0"/>
          </a:p>
          <a:p>
            <a:r>
              <a:rPr lang="es-CR" dirty="0" smtClean="0"/>
              <a:t>En norma, las etapas vistas en el capítulos se deben de llevar a cabo, pero para acortar camino, lo que interesa en esta prueba específica es el estadístico de prueba:</a:t>
            </a:r>
            <a:endParaRPr lang="es-CR" dirty="0"/>
          </a:p>
          <a:p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102495"/>
            <a:ext cx="12192000" cy="118039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Medias independientes con variancia conocida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373747" y="3634406"/>
                <a:ext cx="6533882" cy="1289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747" y="3634406"/>
                <a:ext cx="6533882" cy="12891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2836067" y="5748337"/>
                <a:ext cx="278499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067" y="5748337"/>
                <a:ext cx="2784993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://www.rsablogs.org.uk/wp-content/uploads/2014/06/Stick-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534" y="2034540"/>
            <a:ext cx="3041067" cy="303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45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15422" y="1477946"/>
                <a:ext cx="7924159" cy="464000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dirty="0" smtClean="0"/>
                  <a:t>Un equipo de investigadores desea saber si los datos que han recolectado proporcionan la </a:t>
                </a:r>
                <a:r>
                  <a:rPr lang="es-CR" dirty="0"/>
                  <a:t>evidencia suficiente para indicar una diferencia entre las </a:t>
                </a:r>
                <a:r>
                  <a:rPr lang="es-CR" dirty="0" smtClean="0"/>
                  <a:t>concentraciones medias </a:t>
                </a:r>
                <a:r>
                  <a:rPr lang="es-CR" dirty="0"/>
                  <a:t>de acido ú</a:t>
                </a:r>
                <a:r>
                  <a:rPr lang="es-CR" dirty="0" smtClean="0"/>
                  <a:t>rico </a:t>
                </a:r>
                <a:r>
                  <a:rPr lang="es-CR" dirty="0"/>
                  <a:t>en el suero de individuos normales e individuos con </a:t>
                </a:r>
                <a:r>
                  <a:rPr lang="es-CR" dirty="0" smtClean="0"/>
                  <a:t>síndrome de </a:t>
                </a:r>
                <a:r>
                  <a:rPr lang="es-CR" dirty="0"/>
                  <a:t>Down. Los datos consisten en las lecturas de acido </a:t>
                </a:r>
                <a:r>
                  <a:rPr lang="es-CR" dirty="0" err="1"/>
                  <a:t>urico</a:t>
                </a:r>
                <a:r>
                  <a:rPr lang="es-CR" dirty="0"/>
                  <a:t> en el suero de </a:t>
                </a:r>
                <a:r>
                  <a:rPr lang="es-CR" dirty="0" smtClean="0"/>
                  <a:t>12 individuos </a:t>
                </a:r>
                <a:r>
                  <a:rPr lang="es-CR" dirty="0"/>
                  <a:t>can </a:t>
                </a:r>
                <a:r>
                  <a:rPr lang="es-CR" dirty="0" err="1"/>
                  <a:t>sindrome</a:t>
                </a:r>
                <a:r>
                  <a:rPr lang="es-CR" dirty="0"/>
                  <a:t> de Down y 15 individuos sanos. Las medias </a:t>
                </a:r>
                <a:r>
                  <a:rPr lang="es-CR" dirty="0" smtClean="0"/>
                  <a:t>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r>
                  <a:rPr lang="es-ES" dirty="0" smtClean="0"/>
                  <a:t> mg/100 ml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r>
                  <a:rPr lang="es-ES" dirty="0" smtClean="0"/>
                  <a:t> </a:t>
                </a:r>
                <a:r>
                  <a:rPr lang="es-ES" dirty="0"/>
                  <a:t>mg/100 </a:t>
                </a:r>
                <a:r>
                  <a:rPr lang="es-ES" dirty="0" smtClean="0"/>
                  <a:t>ml. </a:t>
                </a:r>
                <a:endParaRPr lang="es-ES" dirty="0"/>
              </a:p>
              <a:p>
                <a:pPr algn="just"/>
                <a:endParaRPr lang="es-ES" dirty="0"/>
              </a:p>
              <a:p>
                <a:pPr algn="just"/>
                <a:r>
                  <a:rPr lang="es-CR" dirty="0" smtClean="0"/>
                  <a:t>Solución: </a:t>
                </a:r>
                <a:r>
                  <a:rPr lang="es-CR" dirty="0"/>
                  <a:t>Se </a:t>
                </a:r>
                <a:r>
                  <a:rPr lang="es-CR" dirty="0" smtClean="0"/>
                  <a:t>podrá </a:t>
                </a:r>
                <a:r>
                  <a:rPr lang="es-CR" dirty="0"/>
                  <a:t>decir que los datos ofrecen evidencia de que las medias </a:t>
                </a:r>
                <a:r>
                  <a:rPr lang="es-CR" dirty="0" smtClean="0"/>
                  <a:t>poblacionales son </a:t>
                </a:r>
                <a:r>
                  <a:rPr lang="es-CR" dirty="0"/>
                  <a:t>diferentes si es posible rechazar la </a:t>
                </a:r>
                <a:r>
                  <a:rPr lang="es-CR" dirty="0" smtClean="0"/>
                  <a:t>hipótesis </a:t>
                </a:r>
                <a:r>
                  <a:rPr lang="es-CR" dirty="0"/>
                  <a:t>nula que </a:t>
                </a:r>
                <a:r>
                  <a:rPr lang="es-CR" dirty="0" smtClean="0"/>
                  <a:t>indica que </a:t>
                </a:r>
                <a:r>
                  <a:rPr lang="es-CR" dirty="0"/>
                  <a:t>las medias son iguales. La </a:t>
                </a:r>
                <a:r>
                  <a:rPr lang="es-CR" dirty="0" smtClean="0"/>
                  <a:t>conclusión </a:t>
                </a:r>
                <a:r>
                  <a:rPr lang="es-CR" dirty="0"/>
                  <a:t>se obtiene mediante el </a:t>
                </a:r>
                <a:r>
                  <a:rPr lang="es-CR" dirty="0" smtClean="0"/>
                  <a:t>procedimiento de </a:t>
                </a:r>
                <a:r>
                  <a:rPr lang="es-CR" dirty="0"/>
                  <a:t>los diez pasos de la prueba de </a:t>
                </a:r>
                <a:r>
                  <a:rPr lang="es-CR" dirty="0" smtClean="0"/>
                  <a:t>hipótesis.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422" y="1477946"/>
                <a:ext cx="7924159" cy="4640001"/>
              </a:xfrm>
              <a:blipFill rotWithShape="1">
                <a:blip r:embed="rId2"/>
                <a:stretch>
                  <a:fillRect l="-385" t="-1312" r="-76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sp>
        <p:nvSpPr>
          <p:cNvPr id="2" name="AutoShape 2" descr="data:image/jpeg;base64,/9j/4AAQSkZJRgABAQAAAQABAAD/2wCEAAkGBxITEhUSEhIWFRUVFRcYEhIVFhUWGBUVFRUXFxcVFRUYHSggGBolHRcVITEhJSkrLi4uFx8zODMtNygtLisBCgoKDg0OGxAQGTUlHx8tLSsrLSstNysrLS0tKy8tLS0rKystLy0uKy0vKysrKy0rKy0tKy4rLSstKy0tLS0tLf/AABEIAQ4AuwMBIgACEQEDEQH/xAAbAAABBQEBAAAAAAAAAAAAAAAAAQIDBAYFB//EAEsQAAEDAgIGBQcGCwYHAAAAAAEAAgMEERIhBQYxQVFxIjJhgZETYnKhscHRIzNCUpKzBxQkNHOCorLD4fAVU1WTo/EWF1Rjg8LS/8QAGQEBAQEBAQEAAAAAAAAAAAAAAAQDAQIF/8QAIxEBAAICAgEEAwEAAAAAAAAAAAECAxEEMjEUIUFREkKBYf/aAAwDAQACEQMRAD8A9xQhCASONsylUTjdBKhCEAhCEAhCEAhCRxQKhNuUoKBUIXD0JrE2oeWtjLQMNiSDfFEyXYNmTwNu0IO4hCEAhCEAhCECEpQVG83T2oFQShRF3ggHFOa1DWp6AQhCAQhCAQhCAKoaR0iyEDFdznmzGNF3PPADw8VfXA04XRTQ1GAvjYHMlwi7mNcOuG7xe1wM7cUDKvTlRG3F+JOzIFvKtGbjYbuNkHTFYM/7PdfgJmf/ACkrdKMnLIacF7nOa5xwuAjY11y5+IAjZkN5yWjAQZw6drP8Of8A5zPgs5q1PJEXujiMzg+JuBrg24/EobuBO7L1r0ZYbUaJwleCOqRiz2FlLTsI7do9feHW/t+r/wAOk/zGJH6xVLc3aPkGYAvLEMzsAudq0i4mt9I6Sn6AxOjeyRrd7jGcVh2lBX/4mkb0pqKeNg6z+i8NHEgHZ6+AK0EMrXtD2kFrgC1w2EEXBC5UWm4Z4z5M4nOYfknDC7MWs5rtmeXBWdB0/k4I4za7GgG2y/Z2IL6jc6/JBf4JWt8EA1qehCATQxOQgEIQgEISOdZAqaXjioHyE/BMQWg4cU5U05kpHaEFpBSNdfMJUDWMA2ADknIQgFkdTh8tUHzz9zTfBa5ZTVAWmqP0h+5pkGrVGpk6XJXlzZeu7n7kDBgBxBjQ7e+wxHsJ2qenmu8Dfa9uw394UWSjgcPLtz+iRbuJQdTBmnoQgEIQgEIQgEIQgFTkkuezcp6l1mn+tqohyCW6LqLEjEgkukJUeJIXIJ4JrG24+1XlxZHLq00mJoPYglQhCAWX1W/OKkf9z+BSrULL6s/nNT+k/gUqDULjyj5V/P3BdhciT5x/NAqrU7vylnJ/7qtBUqX85j/X/dQaJCEIBCEIBCEIBCEIKukT0O8Lnh66WkGXjd2Z+Ga4Hl0F3GjGqJqE38ZCC/jSGRUPxkJDUoLUki62iTeMcz7VmXzrUaMZaJt94v45+9BaQhCAWX1Z/Oan0/4FKtQsvqyfymo9M/cUiDULi1MwZI7EMiciu0o3wNO0esj2IOAdLMLixoJcN3Phbal0XC8zNe4YQMVmnbm3bxXRZSN8q7bawyxOt3i+fer7GAZAAdgyQOQhCAQhCAQhI4oC6W6Zbsui28IHrI6bpzC7zHdU/wDqtaCo6mnbI0seLg7R/WwpA87lrrKs7SXaupp7ViSO7o+mz9pvMb+YWXmpXjaCveoedy6Y0kpW111xI6d/ArTaA1Xlls+S7I/2neiN3M+tNQbld0BSGZ9z1G9Y8fN5lbZQ0tMyNoYwWaNg954lTLw9BMaTc8NyRxSsCB6yuqp/KKj0z9xSLVLJ6pH5ef03fc0iDWIQhBQiDvKnpXBOz7R+Hgr65kE15y3O4JNsJ2dLO9rbx4rpoBJdBKbbsugehMtvCcCgVNO1OSEIEJskARY/zUdbUiKNz3bGi/M7h3mw70iNh09QyMXe4NHEm3+65FXrNE3JgdIezojxPwWWrax0ji95uT4NHADcFEJFdTi1jsktyJ+HSrdYKh/VIjHBouTzJ/kqzK5h+caQeIFwVXCbKFrOCkxrTOM1one0tRXN2Rt/WI9gV/R+tEzABJaQcTk7xGXqXHcE2y7GCmtacnNfe9txSaywP6xLD5wy8Quk2ZrhdpBbxBBHivOWjs7lc0fXuhfiZm2/TZuI4cxxWF+LH6tacif2b5rU9MhlDmhzTcOAIPYRcJ6iVhZLVD5+f9I77mkWtWU1S+fqP0jvuaVBq0IQghj67uyymUMPWdzCmQNdtCDklITbFAW/rgnAIASoBCEIBZ/XGW0bGfWfc8mgn2lq0CxWstaJJrA3bGC0Hi49Y+oDuK249d3j/GWa2qOBO5PonXbnt+CilTNFSZuHBx9gPvX0tIXSULzmpVASuw5JUhalbtTkmSEFXUYAANpNgpKc3C4ulan5eNvY4+Fh7116Ry5Drc6pz4qcDexzm+u49RHguysfqnWBkpjJsJB0fTG7vF/ALYL5mev43lfitukBY/VucMnmv9KVw/0KVaiuqMDTbrWy+KymqtOHzPLr3ZIXW4u/F6UZ8dqz+GjZoQhcEMPWdzUyhi67+72KZAIQhAIQhAIQhALLaw6FjZHjiBBv1L9HYdm8LUqjpIXsOZXqt7V8S82rFvLymqr8Fw+N7e0DEPVmn6BfiaX52e4lpIIuB0b59rSO5ajT9M3A422A+xU9JUYhdHEPoQxN7w3M+NyrcWa1p1KXLjisbhGCoCpWqu5yphgkYU4FRxJy5JDgaS0ZUSy+Vp4XTGEWe1paLB4cbnER/d7rlXtAwSy4XSSNYw54WDO3pHetV+D352q5Q/xUunNTJC8yUcjWYiSYX3DQTmSxwBwjzbeGxRZctvymu1eOkfjE6WtHUdOx/lWMHlLW8oek4DsxdXusuy6tNtqxcOgdKN+jEf8AyfyXVpKatZ87Ddu9zHtdb9Xae4FTz7todN1VmbgnkCfGyox6Zp4nEtFnONjhabl1mgg9tms8AnxTyfRLCL73EHvyTnvqLi3kyL9IhxuBxAIzXJemmach7EqRpySrghb84e1qmUL+u3tBHhmpkAhCEAhCEAhCEAufXO6XID4roLmVjc3G/wDVgg4dYzHJHH9aRoI80G7v2QVS1nN6p/YGj9kH3rtaKpC6pLz1Y25em/L1NDvtBZ/WJ96uYcCz7piqwd/4nzdf6qEqqSrB2KsValSwHNS2UEO1Thcl2HW1ANp6gcWxnwL/AIrcLCajH8qlHGL2OHxW7Xzs/eVuHpAQhCyaKdXouKQ3czP6zS5pPMtIJ71ltV6MPmlxOeQx5wgvdawjgcARvze458VtVlNUfnp/0jvuqZBpaQ9EdmSmUFJsPMqdBDPtae23iplDV9W/AgqZAIQhAIQShAIQhALjTyXJHEn2/wCy6jnXXBLiS0jMEm55AuJ9RQdTQ0RDCSc3Oce6+EDwAWE0y+9ZUemPUxoW70dIASy/nD2H3eK87rZb1dT+lcPDL3Knjd5YZ+p5Vcqc7FXKtSHxbVYVeLarC5LsOjqWbVjxxhd6nsW8JXn+qbrVo7Ynj90+5b4KHkd1mHqW54JQUmxINvtWDU9ZTVL56f03fdUy1ayWqx+VqPSf91TINPR9Qd/tKmUdMOiOSkQR1A6J5J0ZyHIIkGR5FNpz0RyQSIQo3OvyQDzfJPamNapEAonO8FKmBiAa1cepjMZcGgG13Rg7HeafZ3rtqppKmL29HrNzb28QefwQcLQukoBIDeUOfZoEhaQwkjoC2eZsLm+5Y97b1FQ7jNKf9Ry1Roql0sb3U4LcbDm5t2YXXxOF9mV8rlZOmddzncXOPi4lV8ePeU+efZZdsVdWXbFWVcJT4tqsqtFtVpJdhPq661dF5weP9Nx9y9CHArzfRTrVkB8+32mub716UQoeT2V4OpoTgEAJVO2CyGrR+UqPSf8Ad0y16x+rfzlR6bv3KdBrYuqOQ9iemx7ByTkCP2Hko6XqhLUOs0nsSxNs0DsCBHO8ENb4JcCegEIQgEIQgEIQgZK+zSeAJ8AvK6JvRHLNemaXfhgldwiefBpXm1OMlXxY8puR8Hv2KsrMuxVlWmPi2q2qbdqtrkuwia/DNC/6srD3B4uvUl5PpDq3G0bF6tE+4B4gHxCk5Me8SpwT5OQhClUBZDVofKVHpP8A3IPgtespqmPlZ/Sf+5Ag1ER6I5BPUFK7LCdrfZuKnQQVOeFvE58htU6hizcXbtjfeVMgEIQgEIQgEIQgEIQgqaWpnSQyRtIDntLQTsz4rzytp3QOwS2abX23FuNwvTljtcKTHIcvoha48s08M744v5Zl1Sw7Ht+0E9kDnC7WuN94BIPIhZ3SdFhuvYdVYsNHTN4QR+tgK29VP0z9PH28/dA9ubmOAGZJBAA4knYmv0hENsjfEH2L0nTkGOmmZ9aKRviwheNUOj8QBXPUz9Hp4+2hooDVHycJBNibm4AHMj2L0uiiLI2McblrGtJG8gAErHam0nk5W5bnexbhY5Mk38taY4r4CEIWb2FlNUT8tN6b/U2FatZTVMfLzek/2QoNNLFc4gbHjx7CmYHnJxAHZe5VhCBALZJUIQCEIQCEIQCEIQCEJCUCri6QjxOce7wFl1KiWw7Ts+KoFqDBax0ORyXoOrswdSwOH90wHm1oBHiCuHpalDgUmpVVhbJAfoOxM9F97j7QJ/WQabSMwZFI87GscT3NJWA1foOiMty0etVVdjYRtld0vQZYnxOH1p2j6YNaEC0jQx7D22+0Le8LJaZ/CiRI+OBjGhj3ML5LuJLSWnogjDmN91samK4IXieucNUdIyOxuEhc1zJGuIDWg3ZYHYARs3kFB359ZdITZipmA4RRAWHNgVnR9BXStxunlDNpfM7CLcekLrrVWuksrOg1ri0DyjrlsEZtnidtcb/RFz2LgtbU1j8LWyVLgcybMhjPJ3QZbtxP4AbEFufS8VOLmsllO7yWFjL9jyOn3Byz1Brc7G4vMmBxIIacOdmZ4w0m9gNw7ludG/g1a446ua53xQ3Hc+d/TfzGFaFmo+jg0tbSsAO0guxcy4m5PaUHn8M0MgxNqpm+nhwjnLECG/rWKSrqNIQN8pFUTuZ9djxOz7JB9i0GkvwYsBx0lQ6J24OzH2hYhZ6ekraNxNRA4t/6qlOfN7Rk79YXQTaA/CjUiWOKdrJg97WFzWmOQYiBew6J27LBewrxtpbKRPE+725iopuhMw2t8rD9LLbt5L0XVzWSKdjWukb5WwDssIe4bS0bj5pzCDvoQhAIQhAJCUqadqBpCNnJOJTbIKcj7knwTHJklHM09AscPOJaeWQIPqUTqepP0WDtLz7mlBR0vOGi5UWgdESNLpn9FzwAGfVaM8+08N1l1qTQwDg+V2Nw6otZrTxA3ntK6mBBl9N0Tg5k20Nu1w4BxGfiPWunTHohdN8QIIIuCLEcQVzDo2Rnzbmlu5r7gjsxAG/ggc9eR661rW1r8ZErDYYGvPRsAMLy3NnSuSN+a9SqKSqIIHkm+djcbdtsC8gloWwmaB7WmUPDjI4ZhgN5HZ7iA7PjzQbfVzQUVVEyWSRsjBk2liaY4onWBLHt6zni422Bvs2LYxAsAa0ANAyAAAA7AMgsN+DGNh8v5CRz2DC1974RJm7CNxcA7M9rVvm0rjtKCM1bhuTfx08FabSgKTyLeCCmJnFPdCXAguyIsRxB2hWDAE0wHcUGO/5b04e+VtRMwnNpBYBFvNjhuW9hNlgdJVrXSmNzmy4XdGra10eNrd8jR1hvDuzK9161rPTTSUs0cbsLnMIB323tHaRcd68ardEyeTFQSWwNOMNBIDGk5gH6+6+26D3jQjj+Lw3kEp8m35RpxB+Q6Qd9Idu9XLcVm9QqJ8NJGx52lz2NORYySzg0jcblxtuxW3LSoC28JwKaE4BAqQhKhAzP+adZKhAiEqECIslQgSyLJUIIpW+G9cXSGqdHUSNlmhxObe3SeAQdzmg4XDsIXfQgpUGi4YWBkMbY2DY1oAA5AK1gT0IGYUYU9CBmFGBPQgidEDtC5L9U6IvxmnaTixWu7DjvfEY74S6+d7XXbQgjbEBkAlsdnrT0IEASoQ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6148" name="Picture 4" descr="http://thumbs.dreamstime.com/z/d-white-people-patient-hospital-serum-background-49018020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" t="4054" r="21434" b="626"/>
          <a:stretch/>
        </p:blipFill>
        <p:spPr bwMode="auto">
          <a:xfrm>
            <a:off x="8766040" y="1408620"/>
            <a:ext cx="2652529" cy="422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6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3773" y="1282890"/>
                <a:ext cx="8846884" cy="547851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ver el enunciado</a:t>
                </a:r>
              </a:p>
              <a:p>
                <a:pPr marL="0" indent="0" algn="just">
                  <a:buNone/>
                </a:pPr>
                <a:r>
                  <a:rPr lang="es-CR" b="1" dirty="0" smtClean="0"/>
                  <a:t>2.Supuestos</a:t>
                </a:r>
                <a:r>
                  <a:rPr lang="es-CR" dirty="0" smtClean="0"/>
                  <a:t>: </a:t>
                </a:r>
                <a:r>
                  <a:rPr lang="es-CR" dirty="0"/>
                  <a:t>l</a:t>
                </a:r>
                <a:r>
                  <a:rPr lang="es-CR" dirty="0" smtClean="0"/>
                  <a:t>os </a:t>
                </a:r>
                <a:r>
                  <a:rPr lang="es-CR" dirty="0"/>
                  <a:t>datos corresponden </a:t>
                </a:r>
                <a:r>
                  <a:rPr lang="es-CR" dirty="0" smtClean="0"/>
                  <a:t>a dos </a:t>
                </a:r>
                <a:r>
                  <a:rPr lang="es-CR" dirty="0"/>
                  <a:t>muestras aleatorias </a:t>
                </a:r>
                <a:r>
                  <a:rPr lang="es-CR" dirty="0" smtClean="0"/>
                  <a:t>simples e </a:t>
                </a:r>
                <a:r>
                  <a:rPr lang="es-CR" dirty="0"/>
                  <a:t>independientes, cada una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que </a:t>
                </a:r>
                <a:r>
                  <a:rPr lang="es-CR" dirty="0" smtClean="0"/>
                  <a:t>sigue una distribución </a:t>
                </a:r>
                <a:r>
                  <a:rPr lang="es-CR" dirty="0"/>
                  <a:t>normal, con una variancia igual a 1 para </a:t>
                </a:r>
                <a:r>
                  <a:rPr lang="es-CR" dirty="0" smtClean="0"/>
                  <a:t>la población </a:t>
                </a:r>
                <a:r>
                  <a:rPr lang="es-CR" dirty="0"/>
                  <a:t>con </a:t>
                </a:r>
                <a:r>
                  <a:rPr lang="es-CR" dirty="0" smtClean="0"/>
                  <a:t>síndrome </a:t>
                </a:r>
                <a:r>
                  <a:rPr lang="es-CR" dirty="0"/>
                  <a:t>de Down, y de 1.5 para la </a:t>
                </a:r>
                <a:r>
                  <a:rPr lang="es-CR" dirty="0" smtClean="0"/>
                  <a:t>población </a:t>
                </a:r>
                <a:r>
                  <a:rPr lang="es-CR" dirty="0"/>
                  <a:t>sana</a:t>
                </a:r>
                <a:r>
                  <a:rPr lang="es-CR" dirty="0" smtClean="0"/>
                  <a:t>.</a:t>
                </a:r>
              </a:p>
              <a:p>
                <a:pPr marL="0" indent="0" algn="just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r>
                  <a:rPr lang="es-CR" dirty="0" smtClean="0"/>
                  <a:t>4. </a:t>
                </a:r>
                <a:r>
                  <a:rPr lang="es-CR" b="1" dirty="0" smtClean="0"/>
                  <a:t>Estadística de prueba</a:t>
                </a:r>
                <a:r>
                  <a:rPr lang="es-CR" dirty="0" smtClean="0"/>
                  <a:t>:</a:t>
                </a:r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r>
                  <a:rPr lang="es-CR" dirty="0" smtClean="0"/>
                  <a:t>5. </a:t>
                </a:r>
                <a:r>
                  <a:rPr lang="es-CR" b="1" dirty="0" smtClean="0"/>
                  <a:t>Distribución de la estadística de prueba</a:t>
                </a:r>
                <a:r>
                  <a:rPr lang="es-CR" dirty="0" smtClean="0"/>
                  <a:t>: </a:t>
                </a:r>
                <a:r>
                  <a:rPr lang="es-ES" dirty="0"/>
                  <a:t>Cuando la </a:t>
                </a:r>
                <a:r>
                  <a:rPr lang="es-ES" dirty="0" smtClean="0"/>
                  <a:t>hipótesis nula </a:t>
                </a:r>
                <a:r>
                  <a:rPr lang="es-CR" dirty="0" smtClean="0"/>
                  <a:t>es </a:t>
                </a:r>
                <a:r>
                  <a:rPr lang="es-CR" dirty="0"/>
                  <a:t>verdadera, 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sigue una </a:t>
                </a:r>
                <a:r>
                  <a:rPr lang="es-CR" dirty="0" smtClean="0"/>
                  <a:t>distribución normal </a:t>
                </a:r>
                <a:r>
                  <a:rPr lang="es-ES" dirty="0" err="1" smtClean="0"/>
                  <a:t>estandar</a:t>
                </a:r>
                <a:r>
                  <a:rPr lang="es-ES" dirty="0"/>
                  <a:t>.</a:t>
                </a:r>
                <a:endParaRPr lang="es-CR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773" y="1282890"/>
                <a:ext cx="8846884" cy="5478518"/>
              </a:xfrm>
              <a:blipFill rotWithShape="0">
                <a:blip r:embed="rId2"/>
                <a:stretch>
                  <a:fillRect l="-758" t="-1112" r="-689" b="-10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289424" y="4550602"/>
                <a:ext cx="278499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424" y="4550602"/>
                <a:ext cx="2784993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pic>
        <p:nvPicPr>
          <p:cNvPr id="7170" name="Picture 2" descr="http://cdn.xl.thumbs.canstockphoto.com/canstock1007006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1" t="8517" r="7718" b="12359"/>
          <a:stretch/>
        </p:blipFill>
        <p:spPr bwMode="auto">
          <a:xfrm>
            <a:off x="9246870" y="1821678"/>
            <a:ext cx="2583180" cy="316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13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3773" y="1469634"/>
                <a:ext cx="8078706" cy="49311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6. Regla de decisión: Sea </a:t>
                </a:r>
                <a:r>
                  <a:rPr lang="el-G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=0.05. Los valores críticos de </a:t>
                </a:r>
                <a:r>
                  <a:rPr lang="es-C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± 1.96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menos que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−1.96 &lt;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𝑐𝑎𝑙𝑐𝑢𝑙𝑎𝑑𝑎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&lt;1.96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Las regiones de rechazo y no rechazo se muestran a continuación.</a:t>
                </a:r>
                <a:b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773" y="1469634"/>
                <a:ext cx="8078706" cy="4931166"/>
              </a:xfrm>
              <a:blipFill rotWithShape="0">
                <a:blip r:embed="rId2"/>
                <a:stretch>
                  <a:fillRect l="-830" t="-1236" r="-6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5" y="2965144"/>
            <a:ext cx="7416824" cy="324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pic>
        <p:nvPicPr>
          <p:cNvPr id="8194" name="Picture 2" descr="http://www.hometrainingtools.com/media/catalog/product/cache/1/image/9df78eab33525d08d6e5fb8d27136e95/D/E/DE-RULER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695" y="1565910"/>
            <a:ext cx="3473131" cy="359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61510" y="1374433"/>
                <a:ext cx="9387797" cy="47430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7. </a:t>
                </a:r>
                <a:r>
                  <a:rPr lang="es-CR" b="1" dirty="0" smtClean="0"/>
                  <a:t>Cálculo de la estadística de prueba</a:t>
                </a:r>
                <a:r>
                  <a:rPr lang="es-CR" dirty="0" smtClean="0"/>
                  <a:t>: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: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 smtClean="0"/>
                  <a:t> porque </a:t>
                </a:r>
                <a:r>
                  <a:rPr lang="es-ES" dirty="0"/>
                  <a:t>2.57 &gt;1.96.</a:t>
                </a:r>
              </a:p>
              <a:p>
                <a:pPr marL="0" indent="0">
                  <a:buNone/>
                </a:pPr>
                <a:endParaRPr lang="es-C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 se concluye que, de acuerdo con estos datos, hay indicios de que las medidas de las poblaciones son diferentes.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 </a:t>
                </a:r>
                <a:r>
                  <a:rPr lang="es-CR" b="1" dirty="0" smtClean="0"/>
                  <a:t>Valor de p</a:t>
                </a:r>
                <a:r>
                  <a:rPr lang="es-CR" dirty="0" smtClean="0"/>
                  <a:t>. Para esta prueba, p=0.0102.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510" y="1374433"/>
                <a:ext cx="9387797" cy="4743032"/>
              </a:xfrm>
              <a:blipFill rotWithShape="0">
                <a:blip r:embed="rId2"/>
                <a:stretch>
                  <a:fillRect l="-649" t="-12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458129" y="2001625"/>
                <a:ext cx="3865161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4.5−3.4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1.1</m:t>
                          </m:r>
                        </m:num>
                        <m:den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0.4282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=2.57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129" y="2001625"/>
                <a:ext cx="3865161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0" y="102495"/>
            <a:ext cx="12192000" cy="118039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Medias independientes con variancia conocida</a:t>
            </a:r>
            <a:endParaRPr lang="es-ES" dirty="0"/>
          </a:p>
        </p:txBody>
      </p:sp>
      <p:pic>
        <p:nvPicPr>
          <p:cNvPr id="9218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470" y="5018723"/>
            <a:ext cx="1696573" cy="120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0054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479" y="1503223"/>
            <a:ext cx="10058400" cy="4050792"/>
          </a:xfrm>
        </p:spPr>
        <p:txBody>
          <a:bodyPr/>
          <a:lstStyle/>
          <a:p>
            <a:pPr algn="just"/>
            <a:r>
              <a:rPr lang="es-CR" dirty="0" smtClean="0"/>
              <a:t>Cuando las </a:t>
            </a:r>
            <a:r>
              <a:rPr lang="es-CR" dirty="0"/>
              <a:t>variancias poblacionales no se conocen, existen dos posibilidades. Las </a:t>
            </a:r>
            <a:r>
              <a:rPr lang="es-CR" dirty="0" smtClean="0"/>
              <a:t>variancias de </a:t>
            </a:r>
            <a:r>
              <a:rPr lang="es-CR" dirty="0"/>
              <a:t>dos poblaciones pueden ser iguales </a:t>
            </a:r>
            <a:r>
              <a:rPr lang="es-CR" dirty="0" smtClean="0"/>
              <a:t>o </a:t>
            </a:r>
            <a:r>
              <a:rPr lang="es-CR" dirty="0"/>
              <a:t>pueden ser diferentes. Se considera </a:t>
            </a:r>
            <a:r>
              <a:rPr lang="es-CR" dirty="0" smtClean="0"/>
              <a:t>primero el </a:t>
            </a:r>
            <a:r>
              <a:rPr lang="es-CR" dirty="0"/>
              <a:t>caso donde se </a:t>
            </a:r>
            <a:r>
              <a:rPr lang="es-CR" dirty="0" smtClean="0"/>
              <a:t>sabe</a:t>
            </a:r>
            <a:r>
              <a:rPr lang="es-CR" dirty="0"/>
              <a:t>, </a:t>
            </a:r>
            <a:r>
              <a:rPr lang="es-CR" dirty="0" smtClean="0"/>
              <a:t>o </a:t>
            </a:r>
            <a:r>
              <a:rPr lang="es-CR" dirty="0"/>
              <a:t>es razonable suponer, que son iguales.</a:t>
            </a:r>
            <a:endParaRPr lang="es-ES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4524778" y="2564506"/>
            <a:ext cx="2648754" cy="22666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Variancias desconocidas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901521" y="5100034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Poblaciones con variancias iguales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7931240" y="5100034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Población con variancias desiguales</a:t>
            </a:r>
            <a:endParaRPr lang="es-ES" dirty="0"/>
          </a:p>
        </p:txBody>
      </p:sp>
      <p:cxnSp>
        <p:nvCxnSpPr>
          <p:cNvPr id="9" name="Conector recto de flecha 8"/>
          <p:cNvCxnSpPr>
            <a:stCxn id="5" idx="3"/>
          </p:cNvCxnSpPr>
          <p:nvPr/>
        </p:nvCxnSpPr>
        <p:spPr>
          <a:xfrm flipH="1">
            <a:off x="3696237" y="4499240"/>
            <a:ext cx="1216442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5" idx="5"/>
          </p:cNvCxnSpPr>
          <p:nvPr/>
        </p:nvCxnSpPr>
        <p:spPr>
          <a:xfrm>
            <a:off x="6785631" y="4499240"/>
            <a:ext cx="1145609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2202287" y="3773510"/>
            <a:ext cx="0" cy="105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4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1387310"/>
            <a:ext cx="8782490" cy="5296825"/>
          </a:xfrm>
        </p:spPr>
        <p:txBody>
          <a:bodyPr/>
          <a:lstStyle/>
          <a:p>
            <a:pPr marL="0" indent="0" algn="just">
              <a:buNone/>
            </a:pPr>
            <a:r>
              <a:rPr lang="es-CR" b="1" i="1" dirty="0"/>
              <a:t>Poblaciones con variancias </a:t>
            </a:r>
            <a:r>
              <a:rPr lang="es-CR" b="1" i="1" dirty="0" smtClean="0"/>
              <a:t>iguales. </a:t>
            </a:r>
            <a:r>
              <a:rPr lang="es-CR" dirty="0"/>
              <a:t>Cuando se desconocen las </a:t>
            </a:r>
            <a:r>
              <a:rPr lang="es-CR" dirty="0" smtClean="0"/>
              <a:t>variancias de </a:t>
            </a:r>
            <a:r>
              <a:rPr lang="es-CR" dirty="0"/>
              <a:t>las poblaciones, pero se supone que son iguales</a:t>
            </a:r>
            <a:r>
              <a:rPr lang="es-CR" dirty="0" smtClean="0"/>
              <a:t>, es </a:t>
            </a:r>
            <a:r>
              <a:rPr lang="es-CR" dirty="0"/>
              <a:t>adecuado ponderar las variancias de las </a:t>
            </a:r>
            <a:r>
              <a:rPr lang="es-CR" dirty="0" smtClean="0"/>
              <a:t>muestras por </a:t>
            </a:r>
            <a:r>
              <a:rPr lang="es-CR" dirty="0"/>
              <a:t>medio de la siguiente </a:t>
            </a:r>
            <a:r>
              <a:rPr lang="es-CR" dirty="0" smtClean="0"/>
              <a:t>fórmula:</a:t>
            </a:r>
          </a:p>
          <a:p>
            <a:pPr marL="0" indent="0" algn="just">
              <a:buNone/>
            </a:pPr>
            <a:endParaRPr lang="es-CR" dirty="0"/>
          </a:p>
          <a:p>
            <a:pPr marL="0" indent="0" algn="just">
              <a:buNone/>
            </a:pPr>
            <a:endParaRPr lang="es-CR" dirty="0" smtClean="0"/>
          </a:p>
          <a:p>
            <a:pPr marL="0" indent="0" algn="just">
              <a:buNone/>
            </a:pPr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Se trabaja sobre el mismo planteamiento de hipótesis: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907658" y="2865744"/>
                <a:ext cx="3535647" cy="693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658" y="2865744"/>
                <a:ext cx="3535647" cy="6934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408540" y="4651836"/>
                <a:ext cx="6533882" cy="1289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40" y="4651836"/>
                <a:ext cx="6533882" cy="12891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4338" name="Picture 2" descr="http://cdn.mysitemyway.com/etc-mysitemyway/icons/legacy-previews/icons/blue-metallic-orbs-icons-alphanumeric/069639-blue-metallic-orb-icon-alphanumeric-equal-sig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388" y="1492545"/>
            <a:ext cx="2354055" cy="274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data:image/jpeg;base64,/9j/4AAQSkZJRgABAQAAAQABAAD/2wCEAAkGBxITEhUQExIWFRUVFhcXGBcVFhcVFxgYFxcXGRgYGBoYHSggGB4nHRYYIzEhJSkrLi4uFx8zODMtNygtLisBCgoKDg0OGxAQGjclICUtLSswLS0tLS8tLTItLS0tLS0tLTUtLS0tLS0tLS0tLS0tLS0tLS0tLS0tLS01LS0tLf/AABEIAM8A8wMBIgACEQEDEQH/xAAbAAEBAAMBAQEAAAAAAAAAAAAABgEFBwQCA//EAEMQAAEDAgQCBwQHBwMDBQAAAAEAAgMEEQUGEiExQRMiUWFxgZEyobHBBxQjQlJysjM0U2JzgtGS4fAkwvEVFjVDVP/EABkBAQADAQEAAAAAAAAAAAAAAAACAwQBBf/EACwRAAMAAgICAQQBAgcBAAAAAAABAgMREiExQQQTIlFhgVKhMjNiY3GR8BT/2gAMAwEAAhEDEQA/AO4oiIAiIgMFLr8a6pbGx0jjZrGlx8ALqGrsyyBw1zOiJAPRxRtfoB3HSFx3dbiApKWyvJlmPJf3RaPLmLulvG/SXNa14c24bJG72XgHgdiCOS9eO4q2nidK7e2zR+J3If8AOxc096Oq1x5HzjWNRUzdUh3PstG7neA+agcUznUSkhhETOxu7vNx+QC1FRUS1M2o3fI82AHuAHIBWmD5Niib0tSQ42uWk2Y3xPPx4K5TMLswvLkzPUdIhZKmR56z3vPe5zvmkdVJGeq97D3OLfmuivzXQw9SPcD+Ezq/ILMeaaCbqP2vt9qzq+u4UvqP+kh9Gd/4+yXwrOdRGQJLSt532d5OHzV/g2MRVDNcbvFp2c094U3jWTYpG9LSkNNrht7sd4Hl8FGUdVLTS6m3a9hsWnn2tcOwrjmb8eSay5ML1faO0BZWvwXFG1ETZW89iObXDiD/AM5hbBZ/B6Caa2giIh0IiIAiIgCIiAIiIAiIgCIiAIiIAiLBQGUup7MuZ46Xqga5CLhvADvceQU3HV4tUddmpjTuLBjB5FwuVNQ32U1nlPS7ZbY5S9LBLFe2pjhfs2XMKpkdQ7pxMyMuA1tk1CzrWJaQDrBtew3XuxebE44y2Z0nRnYkBhFjyLmi4CrMo4hBNC1jGhro2gObYX2+8O0HtU1uFsz01mri+v8Ak0NBhlWSyanOhscYjb0oLTKLlxJbbYEuNr9gU/juLTzvtMbFhI0gWDTwO3M7cV12R4aC4mwAJJ7AOK4viM/SSySfje9w83Ej5KWJ8nsr+THCUk/JbZDwpscRq5ALuB0k/dYL3Pnbj2BTmZswPqXkAkRA9Vvb/Me0/BWOaHdDh+hu12sj8ja/uuuZruNcnyZHPXCVjX8hYWUVxjN7lbML6Z4a4kwuNnNP3b7am/Mc1v8AP+ENcwVbBuLB9vvNPsu8th4FQRXTMAd0+G6Hb9SSPf8Al1Bvpt6KnIuLVI2YK5y8dE99HmIlk5hJ6soNvzt/2uPRdKuuIUVU6N7ZW7OaQR/gqvr8+F0RbHEWyEW1EgtHaRzK5kxt10T+N8iZjjT8FDi2a4YXdG0Olk4FsYvY9hPyXkhzswECaCWEHm9pt57AqYrKp1GxkMXVmewPlltd3W3DWk8Nl5qHMUt9E7jNE7Z7X2O3MtPEELixbWyVfJarWzq0EzXtDmkOaRcEG4IX6hR+U3GGpmodWpjQJIyew2+Th5gqwCpa0zZjvkthERcJhERAEREAREQBERAEREAXkxSrEUT5TwY0u8bDYL1rSZ0aTRTW/CD5BzSfcuryRt6lsjcAha7psRqesIzcDjqf/tdoAWuxPMlTM4npCxvJrDpA8xuVsmdbCSG/dmu712J9QpZapSbezyclOUkva2bzCM0TxOs9xljPtMf1jbnYnn3L98xUn1aVlRTOLY5W6mFp4do8LEGymyqrMA04fSNds7d3gLE/MJS00Ip1DT9dmor8fqZm6JJSW8wAGg+OkC61q6NgGUIBC10zNb3tBNybNuL2Fuy/FTGcMCFNICy/Rvva++kji2/ncJNy3xO5MORTzorczN6fDtbd+qyTyFifddczV9kHF2ujNI/i0Etv95p3I8rnbsKnsz5dfTPLmgmEnqu/D/K7/KjjfF8WTzz9SVkRokRFcYwumYC3oMN1O2+zkf8A6rkD3hSeVcuPqHh7wRC03J/Fb7re3vK3f0gYuA0UjCL7F9uQHst9bHw8VTb5NSjZgX04eSv4I3CKTpZo4vxuaDbs5+4FX2ZsrQmncYYg2Rgu3TxcBxB7drqe+j2nDqrUfuRucPEkN+Dl00qOWvuLPjYVWNt+zl2LUzqpjKqEayGNZKwbua5ote3YQvFhmBSyOu5pZGN3veC0Bo48eKr8z5fDA+rp3OikaC5wabNcOJ4cDxWuwHCJq1nS1E8hjDrBt/atxv2D3rqv7SFYfv012bDKv29XPWAWj0iJneAG7+jR6qxC/CjpWRsEbGhrWiwAX7hU09noY44zoyiIokwiIgCIiAIiIAiIgCIiAL8qqEPa5jhcOBB8Dsv1WCgfZzKilNBPJTTt1QybHbYt3AeBz2O/+y+qjKBk69LKyWM7i7rOHcTve3fYrcfSVG3oonfeDyB22Lbn3gKawHLlTO3pIz0beTiXN1eGncrQn1y2eZc6r6bW0e+myuyC0tZKxrG/cBuXd3f4ALEIfiNWHaS2GOwtya0G9uzU4+5e+lyE4uvPPq7mg3P9zj8lY4fh8cLBHGwNaOzme0nmVF3/ACy3Hgb61pf3Z6WtXhxvC21ETonc9webXDgQtgsKnZscprTOL1lLLTS6XXY9hu1wuL2OzmnsVlgudI3t6OqABtbVa7HDvFtvgqbGMHiqGaJG3twdwc09oKgcVyVURkmO0reVtneh4+S0Kptd+TA8WTC9x2imdlzD5uuzSL/wn2HoDZG5ew+Drv07fxX3Hodiudy0MzDZ0UjT3scPkkNBM82bFI49zHH5LvD/AFEfrf7fZa45nVjWmKlFza2u1mtH8o5/BQkkhcS5xJJNyTuSe2/NU2FZInkIMp6Jvfu/0G3qrOjyvSMbp6Fru0vGpx8z8lzlMeDrxZc3ddI5hhGIvp5WzM4i9weDgeIP/OSvGZ8ptNy2QO/DYfG61Gc8sMhZ9YhFmggOZyF/vN7PDvWryzhUcmuonNoYfa/mdxt4f5C6+NLkyMPLirgj24tmWoq2OiigIY7jpDnuI7CQLBYy7mN9IOhmidovcXBa5t+OzhuOa/KszjPfTAGwxj2WhrSbd9xb0C/ahzOJrQVjGyMdtr02c0na+3xFk49a10Fe73y7/sdAw+ujmYJI3BzTzHwPYe5eoLnWGudQVvQlxMUpAB5EONmu8QdiuihUUtG/Fk5rvyjKIiiWhERAEREAREQBERAEREAWsxjGGQBoIc97zZkbN3OPyHetkVC5icenqSSQWwxAFu7mxOfaVzR22upStlWW3M9GpzT9bnJlfGAyMGzWOa8sHMusb8hv3LoGBOYaeIs9no229P8AK5vhgpWSsdFLPr1CwETOt/L7W4O+ytMkP+zlDQRGJ36AdiBxI9SVO/Bm+O923+SkCysLKqNwREQBYWUQGLJZZRAYsiyiA02bmn6nNb8PzCim/wDxJ0/x+vbxFv8AtXSaqBr2OY4Xa4EHwK5thsopJJaGqH2UmxPua8dxAHgQrI8GT5C+7b9rRLoVSVmTpx1oC2aM7tcHNBt33Nj5L9qDLHRfb1jmxsbvouC5xHI228hue5aHkkwLBe9aGb79HRX/AGnRC/b9y3vuulM4LneHB2IV3TEWii0kDsaD1W+JIuuihZ76SR6Hx+269GURFWagiIgCIiAIiIAiIgCIiAwQtRjeDdMWyseY5mXDX2uCDxa4feb3LnZx+q//AEScfxLo2WJ3PpYnvcXOLdydydyieiNSqWmaOHLlTcj/AKeEHYyQsIkIPG1zZvkqjDqFkMbYmCzWj/yT2lelFJ02RjHM+DKLlmJ41VNmkaJpAA9wAB2ABNrK0yXVSSUwdI4udreLu42B2USw36IiAIl0QBYWVH55xZ7dNNEXa3G7iwkEC/VaLb3J+HegK+6ypvK+DSxgSzySOeRsxz3ENHfc2LvgqNACtZjWBxVLdMg3HsuGzm+B+S/PHsfjpQNYLnOvpaOfffgFpstZimqaktdZrBG4hg4X1NsSeJ4ono45TWmeB2TKqMnoKiw/M6M+em4UxjFJPHJpn1auRc4uuO1pPELsqmM/wNdSl5tdjmlp57mxHofcrseR8jHn+NKhuT5+juMCl1c3SOv5WAVUFzfImPNhcYJDZjzdridg7gQey+266O0qGRNUy341Ksa0fSIigaAiIgCLQ50qZI6YujcWu1tF2mxsTuorDMaqjNG0zyEF7AQTsQXC6A6miIgCIiAIiIDiBVVTZt6CmihiYHPa3rF3sg3OwHMqVPNW2WMrQy04ll1Fz72s4t0gEgcOJ25rh08FNnioDrvaxzeYALTbuN1fYfWNmjbKz2Xi47RyIPeCD6LkFdT9HJJHe+h7m37dJI+S6JkB16Xwkf8AI/NdOGkr84zMlewRxENe4C4N9ie9VGV8RdUQCVwaDqcLN2GxXM8Y/by/1H/qKv8AIH7oPzv+KA0lZnWdkj2Bkdmvc3geDSR2r9qnPDhEzQ1plIu876Wm5sAOZspPE/20v9ST9TlV5My9DLEZpW67uLWgkgAN2JsFw6eSlzzUB3Xax7eYA0nyN/krvDK5k0bZWHqu9QeBB7CCuY5owxtPUGNnskBzRxIB5d+4PuVF9G9SbTRE7DS8d17g/ALpw3eYcxx021tchFwwbWHa48gpGbOtSTdrY2/2l3vJWixCrMsj5XcXOJ8ByHpZXGUcvQmnbLJGHukuesLgC9gAPK64DXUGepAbSxtc3tZs4eRNj7lbUlYyWMSxuu0i4P8Alc0zdhbKefSwWY5ocBxte4I35bLc/RxVHVLCfZ0h47jfSfiPRAT2N4zJUua54aC0EDTfmb8z3L4wbFX00hkYASWlvWvaxI7PBbPOmExU742xNLQ5pJuS65B71+OT8NjnnMcrdTRGXWBI3BaOXigLzLeJungErwAdThtsLA96k8crpcQl+rU4+zYblx2abbaiezjYc+KoMehZSUMrYQWi1huTYvcATc781LBjo6GCGL9pWPNzwJA2Dbnxb71bjXsy/Irf2+vZ+TsDom9SSuGvnpbdoPed16mSVVCGyslFRTHsN2/PQe8G3wWvGTqz+EP9bf8AK3mWMDqoy+GZg6CRpDhqabG2xAHp6dispr29mWJe+p1+0V9BiDJYmzMPVIvc8rcQewhSGKZ6dqLYGDSDbU+5v3gDkvyyY17oaulB3F9P5iC0+ukKTsWOsRZzTuDyI5EKmlp6PQxXynbKH/3nWDchljwvGfdut7lzN/SvEMrQ1ztmub7JPYQeBWpmze2WPop6Zrm89Ly30uNvIr34DLhkrg1sOiS4sJLm54jS7UQSoFhvc0Yk6CAytDSQ5os4XG5UtQ5xmfIxhjjs57QbA33IG263mfv3Q/nZ8VAYR+3i/qM/UF0HWMVxBkETpX8ByHEk8AO9Q1VnmoJPRsY0cgQXn4rfZ+pXvpw5ovofqdb8NiL+V1B4PiTqeQStDXEXFncCD2EcD3oDctzrVtPWDPAsI+ar8tZhZVAjToe3i299u1p5hSlVmWnnLTUUpJHAteefbwJ8FSZZNC+76ZjWvAsQbh4BtxuTcbDfuQFFdFiyIDiR5/8AO1dVyh+5w/lP6ipk5Cl/jM/0uVhglCYYGQkglotccOJKA5bjv7zP/Wk/WVd/R9+6n+o75LW4hkiWSWSQSsAe9zgCHXGok296ostYU6mh6Jzg46i642427fBAcxxj9vL/AFH/AKir/IH7oPzv+K1dbkeV8j5BMwBznOtZ3M3VJlvCnU0Iic4OOpxuBYbnvQHLsU/bS/1H/rKpcoZligjMMxIAcS1wBcN+INt+PxU1if7aX+o/9ZW9wnK31imbMx+l+pwIdu0gHbhuFwGtzLiYqJ3SNBDbBrb7Gw5nzKo/o3pz9tJyOlo8rk/ELy0uQ5SftJGNbz03cfLYBXGH0LIYxFGLNHqTxJPaSug5HidGYZXxO4tcQO8cj5hWeUsyQNgbFK8Mcy4F72Lb3Fj58Fu8ey9FVDrdV4Fg8De3YRzCkpsiTg9WSNw7TdvyQGtzXijaifWz2GgNaTtfmTbkLn3LffRxRG8k5GxAY3v3u74BYw/IZuDNKLfhZe5/uPDyCtKWmbGwRsaGtaLADgEBDfSSPtIT/I74havJ2IRwVGuR2lpY5t7E73B3t4K6zJgQqmBurS5pu11r8eIPdw9FInItTf24/G7v8ICrxLRWUcnRHUHA6TYi7mG4494UfQxmqpBTtNp6ZxcwcCWkm4HePiB2q1y3hb6eHonODjqJuL2seW6js90fQTsqIiWGTUSWm1nNtcjxvurMb9GX5E6+/wDhk1M+ZrtDjI13Cxc8H0ut1R4U9sL6mpkljaB9m0PIe93LY3sF7MOxrEpG3ji6QfjMY+JIBXtpsr1NQ8SVsmw+4Dfy22aPerar8mWMe+52xkkCnppauUOs4jgLktG2q35nH0WMUzBh8xu+B7j+KwafUG6tBSs0dHpGi2nTba3C1uxRuIZDOomGUAH7rwdu4EcfNZ6rk9no444SpMV2V6MxGaOcsGkuF3Nc07bd/vuoppNwRx2t235KnGRan8UfqT/2reYHktkThJK7pHDcNAs0HtP4lwmfpncn6j1uN47+PNQWE/t4v6jP1BdQzHhTqiEwtcGkuabm9tvBTdFkeVkjHmZhDXNdazuRugKTG8biptPShx1Xtpbfha/PbipYVWG1MoYYTGXffuGC/K9jbdWGLYYyojMcg7wRxae0KLqchzA9SVjhy1AtPnxCA8+ZsvwU7A+OYkkgaHFriQeJBAC8mTXuFXHp56g78tje/oPQL3xZEqCd3xgeJPyVXl7LkdLdwOuQixeRbbsA5cB4oDdXREQGUREAREQBERAcvr8t1bpZHCEkOkeQbt4FxIPHsKtMnUUkVMI5G6XBzjY2OxO3BbxEAsiIgCIiAIiIAsLK/CtqGxsdI7gxpcfAC6HGfb3AXJNh2lRFdNHX10cIOqKEOJI4ONxcDuuGj1WrxjFNVnVJe90jdbYWP6OONjvZDiN3OI3WcvzRRSx1UWro9QilY4guj6T2HAji0kce4q2Z12Y7y8qU+vZ0qOMAAAWA2AHJfYCwF9Ko2IxZZREOmLLKIgCIiALBWUKAwgKkczYq7W+ISOjjha10r2W1uL/YjZfhftU3h2IsdIGwvlgkJsxzpTK0u5Ne13bw27VNQ2iis6T0dSuincPzLG6Npl6km4e3sc0lp94Rc4sn9aCjREUSwIiIAiIgCIiAIiIAiIgCIiALx4vS9LDJF+Njm+oXsWEONbWjmhknJtDIGSta1k0TyxrtUbdIc3WLOBFuBX6wRTzOjp3TdI8yNdI1mgxxsab9ZzW7uJGwv6qgz3Swmme94aHgDQ7bVquNu8dyk8p446mDwIHSNcQbtB2IFuNiLK9dztGClwycX4OotX0tDguaIKg6ASyT8D9ifA8Ct6FS1rybppUtoyiIuEgiIgCIiAIV8udYXU/X5xpYyW6zIR/DFx/q4LqTfgjVzPlmnzJTmOeUlwY2o6N8ch9ls0QsA7sBC18dRVMOqepaxg/AYnveeQjDQbk9pXzmrNLKmMRMY4DUHEutfbgAAe9bH6OMOiLXzloLw7SLj2RYG48b+5Xdqdswbm8vGWfNBlEyRiSVxbI+7nA2uNRJF++xCK7sir5s0/8AzSfSIigaAiIgCIiAIiIAiIgCIiAIiIAvkr6WHIDntbM2pqJ5prmnpLjTycb2A/ucD7lqp82VN/s3CJg9ljGt0gchuN17qWkcRXUX/wBhdrYPxBjy63mLeqlCCNiLEbEHl4rVKT8nk5bpeP8A3ZTNmFbG92kMqoW9IHsGnpGt43A+8Nt/BXGV8TNRTMkPtbtd+ZuxPnsfNQOVWGNs1W7ZjYnMH8z32sB28Peqb6OZW/Vi3UNQe4kcxsLFQyLp6L/j09rftdlY94AuTYKXxTPEEZLYwZSObTZv+o8fILRZuxx9RL9VgJLL6erv0juzb7o+S/ePBaOjY19WekkIuIxuPADn4nZRUJLv/oneeqeo8LyzLfpDdfenFv6hv+lbzCM408xDXExPOwD7WPcHDZT4zLQHqmhGnhcNjv6f7rFbl2CojM9E7ccYj8ADu093AqTmfa0QnJk8zXL9HRAUJUFkrM1v+mndw2Y5xtb+RxPz8FW4riscEZke4Cw2F93HkAOaqcNPRqjLNTyJHNWKS1E4oYL2vpdYnrEcQT+FvNeaWKgo+pIz6zMPaG2hp7Owe8r4yc6zaurO72Rki++7tTifMgKWc8klxNydyTxJO5K0TPo8+8mly9sqY8Tw6bqSUvQX4PZaw8dNvgV8/a4bO1zXdJDJzHB7fhqA5/LhLKrpndLhcjXbmCQFhPIXG3o5w80pcTkXz3+V3s6LDMHtD2m4cAQe4oo7LOLObTRt3OkEejnAIqnjZsn5M6LdERVGoIiIAiIgCIiAIiIAiIgCIiAJZEQE3mXLplcKiB3Rzs4HgHW7TyPf5LQTSVN/t8OZK/hrDePedNwV0Iopq2ii8Kb2nogjgVZV26bTBE32Y2jh/aPiT5LU5hyvJSt6Rr9bNgSLtIvwuOYXU1rMxwF9LM0Dcxm3lv8AJdWR7IX8aXP7Iv6P6ZodLUuFxE3buJBJt5D3qaxCtfNI6V5uXG/gOQHcFU5CcHx1NPfd7bjzBb8x6qPkjLSWuFi0kEdhB3CvnumYcn+VP4MLZ5cxJ0E7Hg9UkNeO1pO/pxWsXpwulMs0cTeLnAeV7k+l1OvBTDfJa8m4z3QiOqJA6sjQ+3fwd8L+a8eH5dqZ2dJGy7eRcQ2/5bra/SHNrqWxt3LWAf3OJsPePVdEpYQxjWDg1ob6CypduZRtnBOTJW/CObZVm6GeSlnBaJm9G4Hazt7X8dR38FqMawqSmkLHja50u5OHIj/Cuc+4RG+F1RfS+McfxC46p9dlPUOZKmKMNli6aLl0jXcOXW4HzC7NN9ojkxqfsfrwycgic9wYxpc48ANyVUYyBSUTaO4Msp1yW5Ds9wHkVlma5T1KWlZG47Xa0vPoAPetllzKsjpPrNWSXX1BpIJvyL+W3If+Eqvycx4/U9/vwbfL+DiOnjY8dbTcjsLiXW96LfWRUc2blhlI+kRFEuCIiAIiIAiIgCIiAIiIAiIgCIiAIiIAvlwX0iA5ZidNJh9WJIx1Lks7C0+0w/8AOwrb1WGU2IDpoJBHNbrsdzP8w437wrHEsPjmYY5GhzT7j2g8ioXEMjzMdqgk1DkCdDx58D47K5Un+mYbxVG9Lc/g8rcjVV7Exgduo/Cy2kbabDGF2oS1JFrdnl91vfxK1P8A6XiZ6mqS3Defb9a2OFZEeXB9Q8W46WEknxdy8rqbe/8AEyqJ/onv9mnwegqqiX601geWvDiXnS1zgQbD08lusYzBI8P1tfCyIhro2us+SR1zbWB1WgAnbirelpmRtDGNDWtFgBsApbNeEm75dJdFIG6w0tD2PZcNkbq2dsbEKvkqoueGscdPv2S0dQyYauu3oS2R0ZlfIx7A4B1g7g4X8wV1SNoIHYudYBgwl1Mi1FjiGySP0tswEEsYwEm5IFyeS6QwWFlzJ+ifxk2tswIwOS+gsoqzUERE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4342" name="Picture 6" descr="http://taxonomia-de-las-tics.wikispaces.com/file/view/hip%C3%B3tesis.jpg/150304947/328x279/hip%C3%B3tesi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159" y="4447225"/>
            <a:ext cx="1996708" cy="169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2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13763" y="1282889"/>
                <a:ext cx="10202214" cy="4744423"/>
              </a:xfrm>
            </p:spPr>
            <p:txBody>
              <a:bodyPr/>
              <a:lstStyle/>
              <a:p>
                <a:pPr algn="just"/>
                <a:r>
                  <a:rPr lang="es-CR" dirty="0"/>
                  <a:t>Cuando cada una de las dos muestras aleatorias simples e independientes se </a:t>
                </a:r>
                <a:r>
                  <a:rPr lang="es-CR" dirty="0" smtClean="0"/>
                  <a:t>extrae de </a:t>
                </a:r>
                <a:r>
                  <a:rPr lang="es-CR" dirty="0"/>
                  <a:t>una </a:t>
                </a:r>
                <a:r>
                  <a:rPr lang="es-CR" dirty="0" smtClean="0"/>
                  <a:t>población </a:t>
                </a:r>
                <a:r>
                  <a:rPr lang="es-CR" dirty="0"/>
                  <a:t>que sigue una </a:t>
                </a:r>
                <a:r>
                  <a:rPr lang="es-CR" dirty="0" smtClean="0"/>
                  <a:t>distribución </a:t>
                </a:r>
                <a:r>
                  <a:rPr lang="es-CR" dirty="0"/>
                  <a:t>normal y las dos poblaciones </a:t>
                </a:r>
                <a:r>
                  <a:rPr lang="es-CR" dirty="0" smtClean="0"/>
                  <a:t>tienen variancias </a:t>
                </a:r>
                <a:r>
                  <a:rPr lang="es-CR" dirty="0"/>
                  <a:t>desconocidas pero iguales, 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</a:t>
                </a:r>
                <a:r>
                  <a:rPr lang="es-CR" dirty="0" smtClean="0"/>
                  <a:t>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dirty="0" smtClean="0"/>
                  <a:t> se obtiene a partir del siguiente estadístico </a:t>
                </a:r>
              </a:p>
              <a:p>
                <a:endParaRPr lang="es-ES" dirty="0"/>
              </a:p>
              <a:p>
                <a:pPr marL="0" indent="0">
                  <a:buNone/>
                </a:pPr>
                <a:r>
                  <a:rPr lang="es-ES" dirty="0" smtClean="0"/>
                  <a:t> 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 smtClean="0"/>
              </a:p>
              <a:p>
                <a:r>
                  <a:rPr lang="es-CR" dirty="0" smtClean="0"/>
                  <a:t>El anterior estadísticos sigue una distribución t de </a:t>
                </a:r>
                <a:r>
                  <a:rPr lang="es-CR" dirty="0" err="1" smtClean="0"/>
                  <a:t>Student</a:t>
                </a:r>
                <a:r>
                  <a:rPr lang="es-CR" dirty="0" smtClean="0"/>
                  <a:t> con n1+n2 – 2, grados de libertad. 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63" y="1282889"/>
                <a:ext cx="10202214" cy="4744423"/>
              </a:xfrm>
              <a:blipFill rotWithShape="0">
                <a:blip r:embed="rId2"/>
                <a:stretch>
                  <a:fillRect l="-299" t="-1284" r="-5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831959" y="3040540"/>
                <a:ext cx="2765822" cy="1229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959" y="3040540"/>
                <a:ext cx="2765822" cy="12291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5362" name="Picture 2" descr="https://investigacionescolar.files.wordpress.com/2013/03/idea-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277" y="2702599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upload.wikimedia.org/wikipedia/commons/thumb/4/41/Student_t_pdf.svg/325px-Student_t_pdf.sv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97" y="5159719"/>
            <a:ext cx="2006894" cy="160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40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0290" y="1081828"/>
            <a:ext cx="10186287" cy="4050792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Un estudio </a:t>
            </a:r>
            <a:r>
              <a:rPr lang="es-CR" dirty="0" smtClean="0"/>
              <a:t>tiene </a:t>
            </a:r>
            <a:r>
              <a:rPr lang="es-CR" dirty="0"/>
              <a:t>como objetivo </a:t>
            </a:r>
            <a:r>
              <a:rPr lang="es-CR" dirty="0" smtClean="0"/>
              <a:t>examinar las características </a:t>
            </a:r>
            <a:r>
              <a:rPr lang="es-CR" dirty="0"/>
              <a:t>de </a:t>
            </a:r>
            <a:r>
              <a:rPr lang="es-CR" dirty="0" smtClean="0"/>
              <a:t>destrucción </a:t>
            </a:r>
            <a:r>
              <a:rPr lang="es-CR" dirty="0"/>
              <a:t>pulmonar en personas que fuman </a:t>
            </a:r>
            <a:r>
              <a:rPr lang="es-CR" dirty="0" smtClean="0"/>
              <a:t>cigarros antes </a:t>
            </a:r>
            <a:r>
              <a:rPr lang="es-CR" dirty="0"/>
              <a:t>de desarrollar un marcado enfisema pulmonar. Se practicaron mediciones </a:t>
            </a:r>
            <a:r>
              <a:rPr lang="es-CR" dirty="0" smtClean="0"/>
              <a:t>de tres índices </a:t>
            </a:r>
            <a:r>
              <a:rPr lang="es-CR" dirty="0"/>
              <a:t>de </a:t>
            </a:r>
            <a:r>
              <a:rPr lang="es-CR" dirty="0" smtClean="0"/>
              <a:t>destrucción </a:t>
            </a:r>
            <a:r>
              <a:rPr lang="es-CR" dirty="0"/>
              <a:t>pulmonar en los pulmones de personas longevas que </a:t>
            </a:r>
            <a:r>
              <a:rPr lang="es-CR" dirty="0" smtClean="0"/>
              <a:t>no fumaban </a:t>
            </a:r>
            <a:r>
              <a:rPr lang="es-CR" dirty="0"/>
              <a:t>y en personas con tabaquismo que murieron repentinamente fuera </a:t>
            </a:r>
            <a:r>
              <a:rPr lang="es-CR" dirty="0" smtClean="0"/>
              <a:t>del </a:t>
            </a:r>
            <a:r>
              <a:rPr lang="es-ES" dirty="0" smtClean="0"/>
              <a:t>hospital </a:t>
            </a:r>
            <a:r>
              <a:rPr lang="es-ES" dirty="0"/>
              <a:t>por causas no respiratorias. Una </a:t>
            </a:r>
            <a:r>
              <a:rPr lang="es-ES" dirty="0" smtClean="0"/>
              <a:t>calificación </a:t>
            </a:r>
            <a:r>
              <a:rPr lang="es-ES" dirty="0"/>
              <a:t>alta indica un mayor </a:t>
            </a:r>
            <a:r>
              <a:rPr lang="es-ES" dirty="0" smtClean="0"/>
              <a:t>daño </a:t>
            </a:r>
            <a:r>
              <a:rPr lang="es-CR" dirty="0" smtClean="0"/>
              <a:t>pulmonar</a:t>
            </a:r>
            <a:r>
              <a:rPr lang="es-CR" dirty="0"/>
              <a:t>. </a:t>
            </a:r>
            <a:r>
              <a:rPr lang="es-CR" dirty="0" smtClean="0"/>
              <a:t>La siguiente tabla muestran </a:t>
            </a:r>
            <a:r>
              <a:rPr lang="es-CR" dirty="0"/>
              <a:t>las calificaciones </a:t>
            </a:r>
            <a:r>
              <a:rPr lang="es-CR" dirty="0" smtClean="0"/>
              <a:t>producidas </a:t>
            </a:r>
            <a:r>
              <a:rPr lang="es-CR" dirty="0"/>
              <a:t>e</a:t>
            </a:r>
            <a:r>
              <a:rPr lang="es-CR" dirty="0" smtClean="0"/>
              <a:t>n una </a:t>
            </a:r>
            <a:r>
              <a:rPr lang="es-CR" dirty="0"/>
              <a:t>muestra de nueve personas que </a:t>
            </a:r>
            <a:r>
              <a:rPr lang="es-CR" dirty="0" smtClean="0"/>
              <a:t>no fuman </a:t>
            </a:r>
            <a:r>
              <a:rPr lang="es-CR" dirty="0"/>
              <a:t>y 16 fumadores. Se pretende saber si es posible concluir, con base en los </a:t>
            </a:r>
            <a:r>
              <a:rPr lang="es-CR" dirty="0" smtClean="0"/>
              <a:t>datos, que </a:t>
            </a:r>
            <a:r>
              <a:rPr lang="es-CR" dirty="0"/>
              <a:t>las personas que </a:t>
            </a:r>
            <a:r>
              <a:rPr lang="es-CR" dirty="0" smtClean="0"/>
              <a:t>sí </a:t>
            </a:r>
            <a:r>
              <a:rPr lang="es-CR" dirty="0"/>
              <a:t>fuman, en general, tienen los pulmones mas </a:t>
            </a:r>
            <a:r>
              <a:rPr lang="es-CR" dirty="0" smtClean="0"/>
              <a:t>dañados que </a:t>
            </a:r>
            <a:r>
              <a:rPr lang="es-CR" dirty="0"/>
              <a:t>las personas no </a:t>
            </a:r>
            <a:r>
              <a:rPr lang="es-CR" dirty="0" smtClean="0"/>
              <a:t>fumadoras.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30" y="4347202"/>
            <a:ext cx="8990409" cy="2210344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0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7" y="1503221"/>
            <a:ext cx="10058400" cy="4936215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1. </a:t>
            </a:r>
            <a:r>
              <a:rPr lang="es-CR" b="1" dirty="0" smtClean="0"/>
              <a:t>Datos</a:t>
            </a:r>
            <a:r>
              <a:rPr lang="es-CR" dirty="0" smtClean="0"/>
              <a:t>: ver el enunciado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s-CR" dirty="0" smtClean="0"/>
              <a:t>2. </a:t>
            </a:r>
            <a:r>
              <a:rPr lang="es-CR" b="1" dirty="0" smtClean="0"/>
              <a:t>Supuestos</a:t>
            </a:r>
            <a:r>
              <a:rPr lang="es-CR" dirty="0" smtClean="0"/>
              <a:t>: los datos corresponden a dos muestras aleatorias simples </a:t>
            </a:r>
            <a:r>
              <a:rPr lang="es-ES" dirty="0" smtClean="0"/>
              <a:t>e     </a:t>
            </a:r>
          </a:p>
          <a:p>
            <a:pPr marL="0" indent="0">
              <a:buNone/>
            </a:pPr>
            <a:r>
              <a:rPr lang="es-ES" dirty="0" smtClean="0"/>
              <a:t>   independientes. </a:t>
            </a:r>
            <a:r>
              <a:rPr lang="es-CR" dirty="0" smtClean="0"/>
              <a:t>No se conocen las variancias poblacionales, pero se supone que </a:t>
            </a:r>
          </a:p>
          <a:p>
            <a:pPr marL="0" indent="0">
              <a:buNone/>
            </a:pPr>
            <a:r>
              <a:rPr lang="es-CR" dirty="0" smtClean="0"/>
              <a:t>   </a:t>
            </a:r>
            <a:r>
              <a:rPr lang="es-ES" dirty="0" smtClean="0"/>
              <a:t>son iguales.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3.  </a:t>
            </a:r>
            <a:r>
              <a:rPr lang="es-CR" b="1" dirty="0" smtClean="0"/>
              <a:t>Hipótesis</a:t>
            </a:r>
            <a:r>
              <a:rPr lang="es-CR" dirty="0" smtClean="0"/>
              <a:t>: 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4. </a:t>
            </a:r>
            <a:r>
              <a:rPr lang="es-CR" b="1" dirty="0" smtClean="0"/>
              <a:t>Estadística de prueba</a:t>
            </a:r>
            <a:r>
              <a:rPr lang="es-CR" dirty="0" smtClean="0"/>
              <a:t>:  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2473897" y="4132977"/>
                <a:ext cx="39214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97" y="4132977"/>
                <a:ext cx="3921458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3930526" y="5210317"/>
                <a:ext cx="2765822" cy="1229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26" y="5210317"/>
                <a:ext cx="2765822" cy="12291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6386" name="Picture 2" descr="https://encrypted-tbn1.gstatic.com/images?q=tbn:ANd9GcQccW9BWfUWTSjR87FQ9xTbOgbXMpg_xDGpF0iv1yvPTL4Seor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3" y="3708907"/>
            <a:ext cx="3270635" cy="229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8327" y="1425949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5. </a:t>
                </a:r>
                <a:r>
                  <a:rPr lang="es-CR" b="1" dirty="0" smtClean="0"/>
                  <a:t>Distribución estadística de prueba</a:t>
                </a:r>
                <a:r>
                  <a:rPr lang="es-CR" dirty="0"/>
                  <a:t>:</a:t>
                </a:r>
                <a:r>
                  <a:rPr lang="es-CR" dirty="0" smtClean="0"/>
                  <a:t> </a:t>
                </a:r>
                <a:r>
                  <a:rPr lang="es-ES" dirty="0"/>
                  <a:t>Cuando la </a:t>
                </a:r>
                <a:r>
                  <a:rPr lang="es-ES" dirty="0" smtClean="0"/>
                  <a:t>hipótesis nula </a:t>
                </a:r>
                <a:r>
                  <a:rPr lang="es-CR" dirty="0" smtClean="0"/>
                  <a:t>es verdadera </a:t>
                </a:r>
                <a:r>
                  <a:rPr lang="es-CR" dirty="0"/>
                  <a:t>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sigue una </a:t>
                </a:r>
                <a:r>
                  <a:rPr lang="es-CR" dirty="0" smtClean="0"/>
                  <a:t>distribución t de </a:t>
                </a:r>
                <a:r>
                  <a:rPr lang="es-CR" dirty="0" err="1" smtClean="0"/>
                  <a:t>Student</a:t>
                </a:r>
                <a:r>
                  <a:rPr lang="es-CR" dirty="0" smtClean="0"/>
                  <a:t> con n1+n2-2 grados de libertad</a:t>
                </a:r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6. </a:t>
                </a:r>
                <a:r>
                  <a:rPr lang="es-CR" b="1" dirty="0" smtClean="0"/>
                  <a:t>Regla de decisión</a:t>
                </a:r>
                <a:r>
                  <a:rPr lang="es-CR" dirty="0" smtClean="0"/>
                  <a:t>: </a:t>
                </a:r>
                <a:r>
                  <a:rPr lang="es-CR" dirty="0"/>
                  <a:t>Sea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=0.05. Los valores críticos de </a:t>
                </a:r>
                <a:r>
                  <a:rPr lang="es-C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0687</m:t>
                    </m:r>
                  </m:oMath>
                </a14:m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menos que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0687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𝑐𝑎𝑙𝑐𝑢𝑙𝑎𝑑𝑎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0687.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 regiones de rechazo y no rechazo se muestran a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continuación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(siguiente filmina).</a:t>
                </a:r>
              </a:p>
              <a:p>
                <a:pPr marL="0" indent="0">
                  <a:buNone/>
                </a:pPr>
                <a:endParaRPr lang="es-C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327" y="1425949"/>
                <a:ext cx="10058400" cy="4050792"/>
              </a:xfrm>
              <a:blipFill rotWithShape="0">
                <a:blip r:embed="rId2"/>
                <a:stretch>
                  <a:fillRect l="-667" t="-16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7410" name="Picture 2" descr="https://www-304.ibm.com/connections/blogs/gooddecision/resource/BLOGS_UPLOADED_IMAGES/DataOrProces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080" y="3750364"/>
            <a:ext cx="2680390" cy="291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5" name="Picture 2" descr="normal-bil-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689" y="1600742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2970817" y="5395314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7723345" y="539531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1814844" y="539531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1458649" y="5611338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7723345" y="5619575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1637" y="5623500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816741" y="1744859"/>
            <a:ext cx="941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607DB2"/>
                </a:solidFill>
                <a:latin typeface="Symbol" pitchFamily="18" charset="2"/>
              </a:rPr>
              <a:t>a</a:t>
            </a:r>
            <a:r>
              <a:rPr lang="es-ES" dirty="0">
                <a:solidFill>
                  <a:srgbClr val="607DB2"/>
                </a:solidFill>
                <a:latin typeface="Tahoma" pitchFamily="34" charset="0"/>
              </a:rPr>
              <a:t>=0.05</a:t>
            </a:r>
          </a:p>
        </p:txBody>
      </p:sp>
      <p:cxnSp>
        <p:nvCxnSpPr>
          <p:cNvPr id="13" name="12 Conector recto"/>
          <p:cNvCxnSpPr/>
          <p:nvPr/>
        </p:nvCxnSpPr>
        <p:spPr>
          <a:xfrm flipV="1">
            <a:off x="3042825" y="4752682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7795353" y="4752682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994144" y="3549138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764017" y="3549138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2621880" y="396059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>
            <a:off x="8218537" y="410461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84399" y="5031422"/>
            <a:ext cx="9717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-2.0687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7435313" y="5031422"/>
            <a:ext cx="8883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607DB2"/>
                </a:solidFill>
                <a:latin typeface="Tahoma" pitchFamily="34" charset="0"/>
              </a:rPr>
              <a:t>2.0687</a:t>
            </a:r>
          </a:p>
        </p:txBody>
      </p:sp>
    </p:spTree>
    <p:extLst>
      <p:ext uri="{BB962C8B-B14F-4D97-AF65-F5344CB8AC3E}">
        <p14:creationId xmlns:p14="http://schemas.microsoft.com/office/powerpoint/2010/main" val="76431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 0.30417 C -0.51823 0.30532 -0.50977 0.30694 -0.50938 0.30254 C -0.50899 0.29815 -0.5155 0.27963 -0.52409 0.27731 C -0.53281 0.27546 -0.55404 0.28171 -0.56146 0.29004 C -0.56888 0.29838 -0.57696 0.31736 -0.5694 0.32731 C -0.56198 0.33704 -0.5392 0.34282 -0.51615 0.35046 C -0.4931 0.3581 -0.47487 0.36759 -0.43073 0.37384 C -0.38659 0.37986 -0.32097 0.38958 -0.25209 0.38634 C -0.18321 0.3831 -0.06524 0.36551 -0.01732 0.35393 C 0.0306 0.34236 0.03008 0.32708 0.03594 0.31667 C 0.04179 0.30625 0.02799 0.2956 0.01862 0.2919 C 0.00924 0.28796 -0.01198 0.29028 -0.02018 0.29352 C -0.02826 0.29676 -0.03125 0.30694 -0.03073 0.31134 C -0.03021 0.31574 -0.02696 0.31921 -0.01732 0.32014 C -0.00781 0.32106 0.01601 0.32592 0.02656 0.31667 C 0.03711 0.30717 0.04479 0.29329 0.04648 0.26504 C 0.0483 0.2368 0.04518 0.1919 0.03737 0.14768 C 0.02955 0.10324 0.01471 0.05162 2.5E-6 1.48148E-6 " pathEditMode="relative" rAng="0" ptsTypes="AAAAAAAAAAAAAAAAAA">
                                      <p:cBhvr>
                                        <p:cTn id="1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7 C -0.51823 0.30556 -0.50976 0.30695 -0.50937 0.30255 C -0.50898 0.29815 -0.51549 0.27963 -0.52408 0.27755 C -0.53281 0.27547 -0.55403 0.28172 -0.56145 0.29005 C -0.56888 0.29838 -0.57695 0.31737 -0.5694 0.32732 C -0.56198 0.33727 -0.53919 0.34283 -0.51614 0.35047 C -0.4931 0.35811 -0.47487 0.3676 -0.43073 0.37385 C -0.38658 0.37987 -0.32096 0.38959 -0.25221 0.38635 C -0.1832 0.38311 -0.06562 0.36551 -0.01731 0.35394 C 0.0306 0.34237 0.02995 0.32709 0.03594 0.31667 C 0.04167 0.30625 0.028 0.29584 0.01849 0.2919 C 0.00925 0.28797 -0.01198 0.29028 -0.02018 0.29352 C -0.02825 0.29676 -0.03125 0.30695 -0.03073 0.31135 C -0.0302 0.31575 -0.02695 0.31922 -0.01731 0.32014 C -0.00781 0.32107 0.01602 0.32593 0.02631 0.31667 C 0.03711 0.30741 0.0448 0.29329 0.04636 0.26505 C 0.04805 0.23681 0.04519 0.1919 0.03737 0.14769 C 0.02956 0.10325 0.01459 0.05162 -3.95833E-6 -4.44444E-6 " pathEditMode="relative" rAng="0" ptsTypes="AAAAAAAAAAAAAAAAAA">
                                      <p:cBhvr>
                                        <p:cTn id="15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7 C -0.51823 0.30556 -0.50976 0.30695 -0.50937 0.30255 C -0.50898 0.29815 -0.51549 0.27963 -0.52409 0.27755 C -0.53281 0.27547 -0.55404 0.28172 -0.56146 0.29005 C -0.56888 0.29838 -0.57695 0.31737 -0.5694 0.32732 C -0.56198 0.33727 -0.53919 0.34283 -0.51614 0.35047 C -0.4931 0.35811 -0.47487 0.3676 -0.43073 0.37385 C -0.38659 0.37987 -0.32096 0.38959 -0.25208 0.38635 C -0.1832 0.38311 -0.06523 0.36551 -0.01732 0.35394 C 0.0306 0.34237 0.03008 0.32709 0.03594 0.31667 C 0.0418 0.30625 0.028 0.29584 0.01862 0.2919 C 0.00925 0.28797 -0.01198 0.29028 -0.02018 0.29352 C -0.02825 0.29676 -0.03125 0.30695 -0.03073 0.31135 C -0.03021 0.31575 -0.02695 0.31922 -0.01732 0.32014 C -0.00781 0.32107 0.01602 0.32593 0.02656 0.31667 C 0.03711 0.30741 0.04479 0.29329 0.04649 0.26505 C 0.04831 0.23681 0.04518 0.1919 0.03737 0.14769 C 0.02956 0.10325 0.01471 0.05162 -1.25E-6 -4.44444E-6 " pathEditMode="relative" rAng="0" ptsTypes="AAAAAAAAAAAAAAAAAA">
                                      <p:cBhvr>
                                        <p:cTn id="19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 0.30416 C -0.51823 0.30555 -0.50977 0.30694 -0.50938 0.30254 C -0.50899 0.29814 -0.5155 0.27963 -0.52409 0.27754 C -0.53282 0.27546 -0.55404 0.28171 -0.56146 0.29004 C -0.56888 0.29838 -0.57696 0.31736 -0.56941 0.32731 C -0.56198 0.33727 -0.5392 0.34282 -0.51615 0.35046 C -0.4931 0.3581 -0.47487 0.36759 -0.43073 0.37384 C -0.38659 0.37986 -0.32097 0.38958 -0.25248 0.38634 C -0.18321 0.3831 -0.06563 0.36551 -0.01732 0.35393 C 0.0306 0.34236 0.02994 0.32708 0.03593 0.31666 C 0.04166 0.30625 0.02799 0.29583 0.01849 0.29189 C 0.00924 0.28796 -0.01198 0.29027 -0.02019 0.29352 C -0.02826 0.29676 -0.03125 0.30694 -0.03073 0.31134 C -0.03021 0.31574 -0.02696 0.31921 -0.01732 0.32014 C -0.00782 0.32106 0.01601 0.32592 0.0263 0.31666 C 0.03711 0.3074 0.04479 0.29328 0.04635 0.26504 C 0.04804 0.2368 0.04518 0.19189 0.03737 0.14768 C 0.02955 0.10324 0.01458 0.05162 3.95833E-6 3.33333E-6 " pathEditMode="relative" rAng="0" ptsTypes="AAAAAAAAAAAAAAAAAA">
                                      <p:cBhvr>
                                        <p:cTn id="23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6 C -0.51823 0.30555 -0.50976 0.30694 -0.50937 0.30254 C -0.50898 0.29814 -0.51549 0.27963 -0.52408 0.27754 C -0.53281 0.27546 -0.55403 0.28171 -0.56145 0.29004 C -0.56888 0.29838 -0.57695 0.31736 -0.5694 0.32731 C -0.56198 0.33727 -0.53919 0.34282 -0.51614 0.35046 C -0.49309 0.3581 -0.47487 0.36759 -0.43073 0.37384 C -0.38658 0.37986 -0.32096 0.38958 -0.25208 0.38634 C -0.1832 0.3831 -0.06523 0.36551 -0.01731 0.35393 C 0.0306 0.34236 0.03008 0.32708 0.03594 0.31666 C 0.0418 0.30625 0.028 0.29583 0.01862 0.29189 C 0.00925 0.28796 -0.01198 0.29027 -0.02018 0.29352 C -0.02825 0.29676 -0.03125 0.30694 -0.03073 0.31134 C -0.0302 0.31574 -0.02695 0.31921 -0.01731 0.32014 C -0.00781 0.32106 0.01602 0.32592 0.02657 0.31666 C 0.03711 0.3074 0.0448 0.29328 0.04649 0.26504 C 0.04831 0.2368 0.04519 0.19189 0.03737 0.14768 C 0.02956 0.10324 0.01472 0.05162 -3.95833E-6 3.33333E-6 " pathEditMode="relative" rAng="0" ptsTypes="AAAAAAAAAAAAAAAAAA">
                                      <p:cBhvr>
                                        <p:cTn id="27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48631" y="1468192"/>
                <a:ext cx="8653701" cy="52030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es-C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Cálculo de la estadística de prueba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partir de los datos muestrales tenemos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17.5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4.4711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12.4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4.8992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Se calcula la variancia ponderada: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4.4711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4.8492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15+8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=21.2165</m:t>
                      </m:r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Y obtenemos el estadístico: 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31" y="1468192"/>
                <a:ext cx="8653701" cy="5203064"/>
              </a:xfrm>
              <a:blipFill rotWithShape="0">
                <a:blip r:embed="rId2"/>
                <a:stretch>
                  <a:fillRect l="-704" t="-12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715169" y="5466042"/>
                <a:ext cx="3920624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17.5−12.4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21.2165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21.2165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=2.6573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169" y="5466042"/>
                <a:ext cx="3920624" cy="9744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4" name="Picture 2" descr="https://blog.udemy.com/wp-content/uploads/2014/03/bigstock-Graph-and-diagram-icon-set-47989364-1-300x30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644" y="1934818"/>
            <a:ext cx="3449574" cy="385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5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71358" y="1387313"/>
                <a:ext cx="9593859" cy="4050792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: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 smtClean="0"/>
                  <a:t> dado que 2.6573 </a:t>
                </a:r>
                <a:r>
                  <a:rPr lang="es-E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2.0687</a:t>
                </a:r>
                <a:r>
                  <a:rPr lang="es-ES" dirty="0"/>
                  <a:t>, es decir, 2.6573 cae dentro de la región de rechazo.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</a:t>
                </a:r>
                <a:r>
                  <a:rPr lang="es-CR" dirty="0"/>
                  <a:t>Con base en estos resultados, se puede concluir </a:t>
                </a:r>
                <a:r>
                  <a:rPr lang="es-CR" dirty="0" smtClean="0"/>
                  <a:t>que las </a:t>
                </a:r>
                <a:r>
                  <a:rPr lang="es-CR" dirty="0"/>
                  <a:t>dos medias poblacionales son diferentes, es decir, se </a:t>
                </a:r>
                <a:r>
                  <a:rPr lang="es-CR" dirty="0" smtClean="0"/>
                  <a:t>concluye que</a:t>
                </a:r>
                <a:r>
                  <a:rPr lang="es-CR" dirty="0"/>
                  <a:t>, </a:t>
                </a:r>
                <a:r>
                  <a:rPr lang="es-CR" dirty="0" smtClean="0"/>
                  <a:t>según indican los índices  </a:t>
                </a:r>
                <a:r>
                  <a:rPr lang="es-CR" b="1" dirty="0"/>
                  <a:t>del </a:t>
                </a:r>
                <a:r>
                  <a:rPr lang="es-CR" dirty="0"/>
                  <a:t>estudio, las personas que </a:t>
                </a:r>
                <a:r>
                  <a:rPr lang="es-CR" dirty="0" smtClean="0"/>
                  <a:t>sí fuman tienen </a:t>
                </a:r>
                <a:r>
                  <a:rPr lang="es-CR" dirty="0"/>
                  <a:t>los pulmones mas </a:t>
                </a:r>
                <a:r>
                  <a:rPr lang="es-CR" dirty="0" smtClean="0"/>
                  <a:t>dañador que </a:t>
                </a:r>
                <a:r>
                  <a:rPr lang="es-CR" dirty="0"/>
                  <a:t>las personas que no fuman</a:t>
                </a:r>
                <a:r>
                  <a:rPr lang="es-CR" dirty="0" smtClean="0"/>
                  <a:t>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 </a:t>
                </a:r>
                <a:r>
                  <a:rPr lang="es-CR" b="1" dirty="0" smtClean="0"/>
                  <a:t>Valor de p</a:t>
                </a:r>
                <a:r>
                  <a:rPr lang="es-CR" dirty="0" smtClean="0"/>
                  <a:t>:  para esta prueba </a:t>
                </a:r>
                <a:r>
                  <a:rPr lang="es-CR" dirty="0"/>
                  <a:t>.01&gt; </a:t>
                </a:r>
                <a:r>
                  <a:rPr lang="es-CR" i="1" dirty="0"/>
                  <a:t>p</a:t>
                </a:r>
                <a:r>
                  <a:rPr lang="es-CR" i="1" dirty="0" smtClean="0"/>
                  <a:t> </a:t>
                </a:r>
                <a:r>
                  <a:rPr lang="es-CR" dirty="0" smtClean="0"/>
                  <a:t>&gt;.</a:t>
                </a:r>
                <a:r>
                  <a:rPr lang="es-CR" dirty="0"/>
                  <a:t>005, porque 2.500 &lt; </a:t>
                </a:r>
                <a:r>
                  <a:rPr lang="es-CR" dirty="0" smtClean="0"/>
                  <a:t>2.6573 </a:t>
                </a:r>
                <a:r>
                  <a:rPr lang="es-ES" dirty="0" smtClean="0"/>
                  <a:t>&lt; </a:t>
                </a:r>
                <a:r>
                  <a:rPr lang="es-ES" dirty="0"/>
                  <a:t>2.8073.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358" y="1387313"/>
                <a:ext cx="9593859" cy="4050792"/>
              </a:xfrm>
              <a:blipFill rotWithShape="0">
                <a:blip r:embed="rId2"/>
                <a:stretch>
                  <a:fillRect l="-699" t="-1657" r="-6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5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179" y="4597590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730" y="4732399"/>
            <a:ext cx="2415070" cy="171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900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4524778" y="1547080"/>
            <a:ext cx="2648754" cy="22666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Variancias desconocidas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901521" y="4082608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Poblaciones con variancias iguales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7931240" y="4082608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Población con variancias desiguales</a:t>
            </a:r>
            <a:endParaRPr lang="es-ES" dirty="0"/>
          </a:p>
        </p:txBody>
      </p:sp>
      <p:cxnSp>
        <p:nvCxnSpPr>
          <p:cNvPr id="9" name="Conector recto de flecha 8"/>
          <p:cNvCxnSpPr>
            <a:stCxn id="5" idx="3"/>
          </p:cNvCxnSpPr>
          <p:nvPr/>
        </p:nvCxnSpPr>
        <p:spPr>
          <a:xfrm flipH="1">
            <a:off x="3696237" y="3481814"/>
            <a:ext cx="1216442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5" idx="5"/>
          </p:cNvCxnSpPr>
          <p:nvPr/>
        </p:nvCxnSpPr>
        <p:spPr>
          <a:xfrm>
            <a:off x="6785631" y="3481814"/>
            <a:ext cx="1145609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9285667" y="2424136"/>
            <a:ext cx="0" cy="105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7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4630674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9088" y="218940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1510" y="1361555"/>
            <a:ext cx="8177183" cy="5374096"/>
          </a:xfrm>
        </p:spPr>
        <p:txBody>
          <a:bodyPr/>
          <a:lstStyle/>
          <a:p>
            <a:pPr algn="just"/>
            <a:r>
              <a:rPr lang="es-CR" dirty="0"/>
              <a:t>En el </a:t>
            </a:r>
            <a:r>
              <a:rPr lang="es-CR" dirty="0" smtClean="0"/>
              <a:t>análisis sobre la </a:t>
            </a:r>
            <a:r>
              <a:rPr lang="es-CR" dirty="0"/>
              <a:t>diferencia entre las medias de dos poblaciones, </a:t>
            </a:r>
            <a:r>
              <a:rPr lang="es-CR" dirty="0" smtClean="0"/>
              <a:t>antes se supuso </a:t>
            </a:r>
            <a:r>
              <a:rPr lang="es-CR" dirty="0"/>
              <a:t>que las muestras </a:t>
            </a:r>
            <a:r>
              <a:rPr lang="es-CR" dirty="0" smtClean="0"/>
              <a:t>provenían de dos poblaciones independientes</a:t>
            </a:r>
            <a:r>
              <a:rPr lang="es-CR" dirty="0"/>
              <a:t>. </a:t>
            </a:r>
            <a:endParaRPr lang="es-CR" dirty="0" smtClean="0"/>
          </a:p>
          <a:p>
            <a:pPr algn="just"/>
            <a:r>
              <a:rPr lang="es-CR" dirty="0" smtClean="0"/>
              <a:t>El supuesto anterior no siempre es válido. Por ejemplo, un método </a:t>
            </a:r>
            <a:r>
              <a:rPr lang="es-CR" dirty="0"/>
              <a:t>que se utiliza </a:t>
            </a:r>
            <a:r>
              <a:rPr lang="es-CR" dirty="0" smtClean="0"/>
              <a:t>con frecuencia </a:t>
            </a:r>
            <a:r>
              <a:rPr lang="es-CR" dirty="0"/>
              <a:t>para averiguar la eficacia de un tratamiento </a:t>
            </a:r>
            <a:r>
              <a:rPr lang="es-CR" dirty="0" smtClean="0"/>
              <a:t>o </a:t>
            </a:r>
            <a:r>
              <a:rPr lang="es-CR" dirty="0"/>
              <a:t>procedimiento </a:t>
            </a:r>
            <a:r>
              <a:rPr lang="es-CR" dirty="0" smtClean="0"/>
              <a:t>experimental es </a:t>
            </a:r>
            <a:r>
              <a:rPr lang="es-CR" dirty="0"/>
              <a:t>aquel que hace uso de observaciones relacionadas que resultan </a:t>
            </a:r>
            <a:r>
              <a:rPr lang="es-CR" dirty="0" smtClean="0"/>
              <a:t>de muestras </a:t>
            </a:r>
            <a:r>
              <a:rPr lang="es-CR" dirty="0"/>
              <a:t>no </a:t>
            </a:r>
            <a:r>
              <a:rPr lang="es-CR" dirty="0" smtClean="0"/>
              <a:t>independientes</a:t>
            </a:r>
            <a:r>
              <a:rPr lang="es-CR" dirty="0"/>
              <a:t>. </a:t>
            </a:r>
            <a:endParaRPr lang="es-CR" dirty="0" smtClean="0"/>
          </a:p>
          <a:p>
            <a:pPr algn="just"/>
            <a:r>
              <a:rPr lang="es-CR" dirty="0" smtClean="0"/>
              <a:t>Una </a:t>
            </a:r>
            <a:r>
              <a:rPr lang="es-CR" dirty="0"/>
              <a:t>prueba de </a:t>
            </a:r>
            <a:r>
              <a:rPr lang="es-CR" dirty="0" smtClean="0"/>
              <a:t>hipótesis </a:t>
            </a:r>
            <a:r>
              <a:rPr lang="es-CR" dirty="0"/>
              <a:t>que se basa en este </a:t>
            </a:r>
            <a:r>
              <a:rPr lang="es-CR" dirty="0" smtClean="0"/>
              <a:t>tipo de </a:t>
            </a:r>
            <a:r>
              <a:rPr lang="es-CR" dirty="0"/>
              <a:t>datos se conoce como prueba de </a:t>
            </a:r>
            <a:r>
              <a:rPr lang="es-CR" i="1" dirty="0" smtClean="0"/>
              <a:t>comparaciones </a:t>
            </a:r>
            <a:r>
              <a:rPr lang="es-CR" i="1" dirty="0"/>
              <a:t>par </a:t>
            </a:r>
            <a:r>
              <a:rPr lang="es-CR" i="1" dirty="0" smtClean="0"/>
              <a:t>parejas o comparaciones pareadas.</a:t>
            </a:r>
          </a:p>
          <a:p>
            <a:r>
              <a:rPr lang="es-CR" i="1" dirty="0" smtClean="0"/>
              <a:t>Ejemplos de medidas pareadas son: </a:t>
            </a:r>
            <a:r>
              <a:rPr lang="es-CR" dirty="0"/>
              <a:t>mismos individuos pueden ser examinados antes y </a:t>
            </a:r>
            <a:r>
              <a:rPr lang="es-CR" dirty="0" smtClean="0"/>
              <a:t>después, </a:t>
            </a:r>
            <a:r>
              <a:rPr lang="es-CR" dirty="0"/>
              <a:t>formar parejas de animales del mismo sexo de una </a:t>
            </a:r>
            <a:r>
              <a:rPr lang="es-CR" dirty="0" smtClean="0"/>
              <a:t>misma </a:t>
            </a:r>
            <a:r>
              <a:rPr lang="es-ES" dirty="0" smtClean="0"/>
              <a:t>camada, </a:t>
            </a:r>
            <a:r>
              <a:rPr lang="es-ES" dirty="0"/>
              <a:t>pares </a:t>
            </a:r>
            <a:r>
              <a:rPr lang="es-ES" dirty="0" smtClean="0"/>
              <a:t>de gemelos, brazo derecho e izquierdo, etc.</a:t>
            </a:r>
            <a:endParaRPr lang="es-ES" dirty="0"/>
          </a:p>
        </p:txBody>
      </p:sp>
      <p:sp>
        <p:nvSpPr>
          <p:cNvPr id="4" name="AutoShape 2" descr="Résultat de recherche d'images pour &quot;asociació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028" name="Picture 4" descr="http://www.progestion.org/images/index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975" y="1203325"/>
            <a:ext cx="26670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image.shutterstock.com/z/stock-vector-vector-illustration-two-arms-with-hands-123761842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14" b="7084"/>
          <a:stretch/>
        </p:blipFill>
        <p:spPr bwMode="auto">
          <a:xfrm>
            <a:off x="9695963" y="3875088"/>
            <a:ext cx="1417024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3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06963" y="1451707"/>
                <a:ext cx="8074152" cy="5206670"/>
              </a:xfrm>
            </p:spPr>
            <p:txBody>
              <a:bodyPr/>
              <a:lstStyle/>
              <a:p>
                <a:pPr algn="just"/>
                <a:r>
                  <a:rPr lang="es-CR" dirty="0"/>
                  <a:t>En lugar de </a:t>
                </a:r>
                <a:r>
                  <a:rPr lang="es-CR" dirty="0" smtClean="0"/>
                  <a:t>llevar </a:t>
                </a:r>
                <a:r>
                  <a:rPr lang="es-CR" dirty="0"/>
                  <a:t>a cabo el </a:t>
                </a:r>
                <a:r>
                  <a:rPr lang="es-CR" dirty="0" smtClean="0"/>
                  <a:t>análisis </a:t>
                </a:r>
                <a:r>
                  <a:rPr lang="es-CR" dirty="0"/>
                  <a:t>con observaciones individuales, se </a:t>
                </a:r>
                <a:r>
                  <a:rPr lang="es-CR" dirty="0" smtClean="0"/>
                  <a:t>puede </a:t>
                </a:r>
                <a:r>
                  <a:rPr lang="es-ES" dirty="0" smtClean="0"/>
                  <a:t>utilizar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 smtClean="0"/>
                  <a:t>, </a:t>
                </a:r>
                <a:r>
                  <a:rPr lang="es-CR" dirty="0"/>
                  <a:t>la diferencia entre pares de observaciones, como variables de </a:t>
                </a:r>
                <a:r>
                  <a:rPr lang="es-CR" dirty="0" smtClean="0"/>
                  <a:t>interés.</a:t>
                </a:r>
              </a:p>
              <a:p>
                <a:pPr algn="just"/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algn="just"/>
                <a:r>
                  <a:rPr lang="es-CR" dirty="0"/>
                  <a:t>Cuando las </a:t>
                </a:r>
                <a:r>
                  <a:rPr lang="es-CR" i="1" dirty="0"/>
                  <a:t>n </a:t>
                </a:r>
                <a:r>
                  <a:rPr lang="es-CR" dirty="0"/>
                  <a:t>diferencias de las muestras calculadas de los </a:t>
                </a:r>
                <a:r>
                  <a:rPr lang="es-CR" i="1" dirty="0"/>
                  <a:t>n </a:t>
                </a:r>
                <a:r>
                  <a:rPr lang="es-CR" dirty="0"/>
                  <a:t>pares de </a:t>
                </a:r>
                <a:r>
                  <a:rPr lang="es-CR" dirty="0" smtClean="0"/>
                  <a:t>mediciones forman </a:t>
                </a:r>
                <a:r>
                  <a:rPr lang="es-CR" dirty="0"/>
                  <a:t>una muestra aleatoria simple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de </a:t>
                </a:r>
                <a:r>
                  <a:rPr lang="es-CR" dirty="0" smtClean="0"/>
                  <a:t>diferencias </a:t>
                </a:r>
                <a:r>
                  <a:rPr lang="es-CR" dirty="0"/>
                  <a:t>que siguen una </a:t>
                </a:r>
                <a:r>
                  <a:rPr lang="es-CR" dirty="0" smtClean="0"/>
                  <a:t>distribución </a:t>
                </a:r>
                <a:r>
                  <a:rPr lang="es-CR" dirty="0"/>
                  <a:t>normal, </a:t>
                </a:r>
                <a:r>
                  <a:rPr lang="es-CR" dirty="0" smtClean="0"/>
                  <a:t>la prueba de hipótesis y la estadística de la </a:t>
                </a:r>
                <a:r>
                  <a:rPr lang="es-CR" dirty="0"/>
                  <a:t>prueba </a:t>
                </a:r>
                <a:r>
                  <a:rPr lang="es-CR" dirty="0" smtClean="0"/>
                  <a:t>para la hipótesis respecto a </a:t>
                </a:r>
                <a:r>
                  <a:rPr lang="es-CR" dirty="0"/>
                  <a:t>la diferencia de la media </a:t>
                </a:r>
                <a:r>
                  <a:rPr lang="es-CR" dirty="0" smtClean="0"/>
                  <a:t>poblacional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se establece como 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963" y="1451707"/>
                <a:ext cx="8074152" cy="5206670"/>
              </a:xfrm>
              <a:blipFill rotWithShape="0">
                <a:blip r:embed="rId2"/>
                <a:stretch>
                  <a:fillRect l="-378" t="-1171" r="-7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421634" y="2626148"/>
                <a:ext cx="16448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634" y="2626148"/>
                <a:ext cx="1644809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176320" y="5897768"/>
                <a:ext cx="166134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320" y="5897768"/>
                <a:ext cx="1661349" cy="70852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736250" y="6067366"/>
                <a:ext cx="29379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0" y="6067366"/>
                <a:ext cx="29379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redondeado 8"/>
          <p:cNvSpPr/>
          <p:nvPr/>
        </p:nvSpPr>
        <p:spPr>
          <a:xfrm>
            <a:off x="736250" y="5195209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10" name="Rectángulo redondeado 9"/>
          <p:cNvSpPr/>
          <p:nvPr/>
        </p:nvSpPr>
        <p:spPr>
          <a:xfrm>
            <a:off x="5565011" y="5191234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p:pic>
        <p:nvPicPr>
          <p:cNvPr id="2050" name="Picture 2" descr="http://thumbs.dreamstime.com/z/comparaci%C3%B3n-ambiental-16906861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64"/>
          <a:stretch/>
        </p:blipFill>
        <p:spPr bwMode="auto">
          <a:xfrm>
            <a:off x="8813800" y="1450360"/>
            <a:ext cx="2910852" cy="185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abondance.com/actualites/wp-content/uploads/2013/10/tools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752" y="4065067"/>
            <a:ext cx="2152948" cy="215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7698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51662" y="1348676"/>
                <a:ext cx="8318851" cy="5348338"/>
              </a:xfrm>
            </p:spPr>
            <p:txBody>
              <a:bodyPr/>
              <a:lstStyle/>
              <a:p>
                <a:r>
                  <a:rPr lang="es-CR" dirty="0" smtClean="0"/>
                  <a:t>Refiriendonos al estadístico anteriores, se tiene que: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s-ES" dirty="0" smtClean="0"/>
                  <a:t> es la diferencia de media muestral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es la diferencia de la media poblacional supuesta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</m:sSub>
                  </m:oMath>
                </a14:m>
                <a:r>
                  <a:rPr lang="es-E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s-CR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s-CR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ES" dirty="0" smtClean="0"/>
                  <a:t> </a:t>
                </a:r>
                <a:r>
                  <a:rPr lang="es-ES" i="1" dirty="0" smtClean="0"/>
                  <a:t>n</a:t>
                </a:r>
                <a:r>
                  <a:rPr lang="es-ES" dirty="0" smtClean="0"/>
                  <a:t> es el número de diferencias muestrales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es la desviación estándar de las diferencias muestrales</a:t>
                </a:r>
              </a:p>
              <a:p>
                <a:r>
                  <a:rPr lang="es-CR" dirty="0" smtClean="0"/>
                  <a:t>Cuando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CR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 smtClean="0"/>
                  <a:t>es verdadera, la estadística de prueba sigue una distribución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dirty="0" smtClean="0"/>
                  <a:t> de </a:t>
                </a:r>
                <a:r>
                  <a:rPr lang="es-ES" dirty="0" err="1" smtClean="0"/>
                  <a:t>Student</a:t>
                </a:r>
                <a:r>
                  <a:rPr lang="es-ES" dirty="0" smtClean="0"/>
                  <a:t> con n-1 grados de libertad.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662" y="1348676"/>
                <a:ext cx="8318851" cy="5348338"/>
              </a:xfrm>
              <a:blipFill rotWithShape="0">
                <a:blip r:embed="rId2"/>
                <a:stretch>
                  <a:fillRect l="-293" t="-11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694037" y="2961308"/>
                <a:ext cx="166134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037" y="2961308"/>
                <a:ext cx="1661349" cy="70852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redondeado 5"/>
          <p:cNvSpPr/>
          <p:nvPr/>
        </p:nvSpPr>
        <p:spPr>
          <a:xfrm>
            <a:off x="953939" y="2061668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p:pic>
        <p:nvPicPr>
          <p:cNvPr id="1026" name="Picture 2" descr="http://seguros.elmejortrato.com.ar/image.axd?picture=2011%2F6%2Fnavegador_calculador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0" y="1601070"/>
            <a:ext cx="42862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40270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4694" y="1245645"/>
            <a:ext cx="7005206" cy="5168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dirty="0" smtClean="0"/>
              <a:t>Se condujo </a:t>
            </a:r>
            <a:r>
              <a:rPr lang="es-CR" dirty="0"/>
              <a:t>un estudio para determinar la perdida </a:t>
            </a:r>
            <a:r>
              <a:rPr lang="es-CR" dirty="0" smtClean="0"/>
              <a:t>de peso</a:t>
            </a:r>
            <a:r>
              <a:rPr lang="es-CR" dirty="0"/>
              <a:t>, la </a:t>
            </a:r>
            <a:r>
              <a:rPr lang="es-CR" dirty="0" smtClean="0"/>
              <a:t>composición </a:t>
            </a:r>
            <a:r>
              <a:rPr lang="es-CR" dirty="0"/>
              <a:t>corporal, la </a:t>
            </a:r>
            <a:r>
              <a:rPr lang="es-CR" dirty="0" smtClean="0"/>
              <a:t>distribución </a:t>
            </a:r>
            <a:r>
              <a:rPr lang="es-CR" dirty="0"/>
              <a:t>de grasa corporal y la tasa </a:t>
            </a:r>
            <a:r>
              <a:rPr lang="es-CR" dirty="0" smtClean="0"/>
              <a:t>metabólica en </a:t>
            </a:r>
            <a:r>
              <a:rPr lang="es-CR" dirty="0"/>
              <a:t>reposo en individuos obesos antes y </a:t>
            </a:r>
            <a:r>
              <a:rPr lang="es-CR" dirty="0" smtClean="0"/>
              <a:t>después </a:t>
            </a:r>
            <a:r>
              <a:rPr lang="es-CR" dirty="0"/>
              <a:t>de 12 semanas de tratamiento </a:t>
            </a:r>
            <a:r>
              <a:rPr lang="es-CR" dirty="0" smtClean="0"/>
              <a:t>con dieta </a:t>
            </a:r>
            <a:r>
              <a:rPr lang="es-CR" dirty="0"/>
              <a:t>muy baja en </a:t>
            </a:r>
            <a:r>
              <a:rPr lang="es-CR" dirty="0" smtClean="0"/>
              <a:t>calorías </a:t>
            </a:r>
            <a:r>
              <a:rPr lang="es-CR" dirty="0"/>
              <a:t>(DMBC), y comparar </a:t>
            </a:r>
            <a:r>
              <a:rPr lang="es-CR" dirty="0" smtClean="0"/>
              <a:t>la hidrodensitometría </a:t>
            </a:r>
            <a:r>
              <a:rPr lang="es-CR" dirty="0"/>
              <a:t>con </a:t>
            </a:r>
            <a:r>
              <a:rPr lang="es-CR" dirty="0" smtClean="0"/>
              <a:t>el análisis </a:t>
            </a:r>
            <a:r>
              <a:rPr lang="es-CR" dirty="0"/>
              <a:t> </a:t>
            </a:r>
            <a:r>
              <a:rPr lang="es-CR" dirty="0" smtClean="0"/>
              <a:t>de impedancia </a:t>
            </a:r>
            <a:r>
              <a:rPr lang="es-CR" dirty="0" err="1" smtClean="0"/>
              <a:t>bioeléctrica</a:t>
            </a:r>
            <a:r>
              <a:rPr lang="es-CR" dirty="0"/>
              <a:t>. Los 17 individuos (nueve mujeres y ocho </a:t>
            </a:r>
            <a:r>
              <a:rPr lang="es-CR" dirty="0" smtClean="0"/>
              <a:t>hombres) que </a:t>
            </a:r>
            <a:r>
              <a:rPr lang="es-CR" dirty="0"/>
              <a:t>participaron en el estudio eran pacientes externos de un programa de </a:t>
            </a:r>
            <a:r>
              <a:rPr lang="es-CR" dirty="0" smtClean="0"/>
              <a:t>tratamiento con </a:t>
            </a:r>
            <a:r>
              <a:rPr lang="es-CR" dirty="0"/>
              <a:t>base hospitalaria para la obesidad. Los pesos de las mujeres antes </a:t>
            </a:r>
            <a:r>
              <a:rPr lang="es-CR" dirty="0" smtClean="0"/>
              <a:t>y después </a:t>
            </a:r>
            <a:r>
              <a:rPr lang="es-CR" dirty="0"/>
              <a:t>del tratamiento de 12 semanas de DMBC se muestran en la tabla </a:t>
            </a:r>
            <a:r>
              <a:rPr lang="es-CR" dirty="0" smtClean="0"/>
              <a:t>7.4.1 (siguiente filmina). Se pretende </a:t>
            </a:r>
            <a:r>
              <a:rPr lang="es-CR" dirty="0"/>
              <a:t>saber si estos datos ofrecen suficiente evidencia que permita concluir </a:t>
            </a:r>
            <a:r>
              <a:rPr lang="es-CR" dirty="0" smtClean="0"/>
              <a:t>que el </a:t>
            </a:r>
            <a:r>
              <a:rPr lang="es-CR" dirty="0"/>
              <a:t>tratamiento es eficaz para reducir el peso en mujeres obesas.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2050" name="Picture 2" descr="https://patriciavidal.files.wordpress.com/2011/06/canc_t13-perdida-de-peso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430" y="1245645"/>
            <a:ext cx="3707532" cy="40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4779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77421" y="1619132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Solución:</a:t>
                </a:r>
              </a:p>
              <a:p>
                <a:endParaRPr lang="es-CR" dirty="0"/>
              </a:p>
              <a:p>
                <a:r>
                  <a:rPr lang="es-CR" dirty="0"/>
                  <a:t>Se puede decir que existe la suficiente evidencia para concluir que </a:t>
                </a:r>
                <a:r>
                  <a:rPr lang="es-CR" dirty="0" smtClean="0"/>
                  <a:t>el programa </a:t>
                </a:r>
                <a:r>
                  <a:rPr lang="es-CR" dirty="0"/>
                  <a:t>de dietas es eficaz si es posible rechazar la hip6tesis nula </a:t>
                </a:r>
                <a:r>
                  <a:rPr lang="es-CR" dirty="0" smtClean="0"/>
                  <a:t>que indica </a:t>
                </a:r>
                <a:r>
                  <a:rPr lang="es-CR" dirty="0"/>
                  <a:t>que el cambio en la media de la </a:t>
                </a:r>
                <a:r>
                  <a:rPr lang="es-CR" dirty="0" err="1"/>
                  <a:t>poblacion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CR" i="1" dirty="0"/>
                  <a:t> </a:t>
                </a:r>
                <a:r>
                  <a:rPr lang="es-CR" dirty="0"/>
                  <a:t>es cero </a:t>
                </a:r>
                <a:r>
                  <a:rPr lang="es-CR" dirty="0" smtClean="0"/>
                  <a:t>o </a:t>
                </a:r>
                <a:r>
                  <a:rPr lang="es-CR" dirty="0"/>
                  <a:t>positivo. </a:t>
                </a:r>
                <a:r>
                  <a:rPr lang="es-CR" dirty="0" smtClean="0"/>
                  <a:t>Es posible </a:t>
                </a:r>
                <a:r>
                  <a:rPr lang="es-CR" dirty="0"/>
                  <a:t>tomar una </a:t>
                </a:r>
                <a:r>
                  <a:rPr lang="es-CR" dirty="0" err="1"/>
                  <a:t>decision</a:t>
                </a:r>
                <a:r>
                  <a:rPr lang="es-CR" dirty="0"/>
                  <a:t> por medio del procedimiento de los </a:t>
                </a:r>
                <a:r>
                  <a:rPr lang="es-CR" dirty="0" smtClean="0"/>
                  <a:t>diez pasos </a:t>
                </a:r>
                <a:r>
                  <a:rPr lang="es-CR" dirty="0"/>
                  <a:t>de la prueba de </a:t>
                </a:r>
                <a:r>
                  <a:rPr lang="es-CR" dirty="0" err="1"/>
                  <a:t>hipotesis</a:t>
                </a:r>
                <a:r>
                  <a:rPr lang="es-CR" dirty="0"/>
                  <a:t>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421" y="1619132"/>
                <a:ext cx="10058400" cy="4050792"/>
              </a:xfrm>
              <a:blipFill rotWithShape="0">
                <a:blip r:embed="rId2"/>
                <a:stretch>
                  <a:fillRect l="-242" t="-1657" r="-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72" y="4223396"/>
            <a:ext cx="9022983" cy="15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11222" y="1201739"/>
                <a:ext cx="10121893" cy="477146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 corresponden </a:t>
                </a:r>
                <a:r>
                  <a:rPr lang="es-CR" dirty="0"/>
                  <a:t>al peso de nueve individuos </a:t>
                </a:r>
                <a:r>
                  <a:rPr lang="es-CR" dirty="0" smtClean="0"/>
                  <a:t>antes y después </a:t>
                </a:r>
                <a:r>
                  <a:rPr lang="es-CR" dirty="0"/>
                  <a:t>del </a:t>
                </a:r>
                <a:r>
                  <a:rPr lang="es-CR" dirty="0" smtClean="0"/>
                  <a:t>programa </a:t>
                </a:r>
                <a:r>
                  <a:rPr lang="es-CR" dirty="0"/>
                  <a:t>experimental </a:t>
                </a:r>
                <a:r>
                  <a:rPr lang="es-CR" dirty="0" smtClean="0"/>
                  <a:t>de dieta</a:t>
                </a:r>
                <a:r>
                  <a:rPr lang="es-CR" dirty="0"/>
                  <a:t>. EI </a:t>
                </a:r>
                <a:r>
                  <a:rPr lang="es-CR" dirty="0" smtClean="0"/>
                  <a:t>análisis estadístico se </a:t>
                </a:r>
                <a:r>
                  <a:rPr lang="es-CR" dirty="0"/>
                  <a:t>aplica sobre la diferencia entre los pesos de antes y </a:t>
                </a:r>
                <a:r>
                  <a:rPr lang="es-CR" dirty="0" smtClean="0"/>
                  <a:t>después.  Los datos restantes son: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R" dirty="0" smtClean="0"/>
                  <a:t> </a:t>
                </a:r>
                <a:r>
                  <a:rPr lang="es-ES" dirty="0"/>
                  <a:t>-34.0, -25.5, -22.8, -21.4, </a:t>
                </a:r>
                <a:br>
                  <a:rPr lang="es-ES" dirty="0"/>
                </a:br>
                <a:r>
                  <a:rPr lang="es-ES" dirty="0" smtClean="0"/>
                  <a:t>-</a:t>
                </a:r>
                <a:r>
                  <a:rPr lang="es-ES" dirty="0"/>
                  <a:t>23.1, -22.7, -19.0, -</a:t>
                </a:r>
                <a:r>
                  <a:rPr lang="es-ES" dirty="0" smtClean="0"/>
                  <a:t>20.5 y </a:t>
                </a:r>
                <a:r>
                  <a:rPr lang="es-ES" dirty="0"/>
                  <a:t>-14.3.</a:t>
                </a:r>
                <a:endParaRPr lang="es-CR" dirty="0" smtClean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2. </a:t>
                </a:r>
                <a:r>
                  <a:rPr lang="es-CR" b="1" dirty="0" smtClean="0"/>
                  <a:t>Supuestos</a:t>
                </a:r>
                <a:r>
                  <a:rPr lang="es-CR" dirty="0" smtClean="0"/>
                  <a:t> : las diferencias </a:t>
                </a:r>
                <a:r>
                  <a:rPr lang="es-CR" dirty="0"/>
                  <a:t>que se observan forman la </a:t>
                </a:r>
                <a:r>
                  <a:rPr lang="es-CR" dirty="0" smtClean="0"/>
                  <a:t>muestra aleatoria </a:t>
                </a:r>
                <a:r>
                  <a:rPr lang="es-CR" dirty="0"/>
                  <a:t>simple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de diferencias con </a:t>
                </a:r>
                <a:r>
                  <a:rPr lang="es-CR" dirty="0" smtClean="0"/>
                  <a:t>distribución normal </a:t>
                </a:r>
                <a:r>
                  <a:rPr lang="es-CR" dirty="0"/>
                  <a:t>que </a:t>
                </a:r>
                <a:r>
                  <a:rPr lang="es-CR" dirty="0" smtClean="0"/>
                  <a:t>podrían </a:t>
                </a:r>
                <a:r>
                  <a:rPr lang="es-CR" dirty="0"/>
                  <a:t>ser generadas bajo las mismas circunstancias</a:t>
                </a:r>
                <a:r>
                  <a:rPr lang="es-CR" dirty="0" smtClean="0"/>
                  <a:t>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las hipótesis </a:t>
                </a:r>
                <a:r>
                  <a:rPr lang="es-CR" dirty="0"/>
                  <a:t>nula y alternativa deben establecerse </a:t>
                </a:r>
                <a:r>
                  <a:rPr lang="es-CR" dirty="0" smtClean="0"/>
                  <a:t>de acuerdo </a:t>
                </a:r>
                <a:r>
                  <a:rPr lang="es-CR" dirty="0"/>
                  <a:t>con la manera de </a:t>
                </a:r>
                <a:r>
                  <a:rPr lang="es-CR" dirty="0" smtClean="0"/>
                  <a:t>efectuar </a:t>
                </a:r>
                <a:r>
                  <a:rPr lang="es-CR" dirty="0"/>
                  <a:t>la resta de las mediciones </a:t>
                </a:r>
                <a:r>
                  <a:rPr lang="es-CR" dirty="0" smtClean="0"/>
                  <a:t>para obtener </a:t>
                </a:r>
                <a:r>
                  <a:rPr lang="es-CR" dirty="0"/>
                  <a:t>las </a:t>
                </a:r>
                <a:r>
                  <a:rPr lang="es-CR" dirty="0" smtClean="0"/>
                  <a:t>diferencias. </a:t>
                </a:r>
                <a:r>
                  <a:rPr lang="es-CR" dirty="0"/>
                  <a:t>En este </a:t>
                </a:r>
                <a:r>
                  <a:rPr lang="es-CR" dirty="0" smtClean="0"/>
                  <a:t>caso, </a:t>
                </a:r>
                <a:r>
                  <a:rPr lang="es-CR" dirty="0"/>
                  <a:t>se pretende saber si </a:t>
                </a:r>
                <a:r>
                  <a:rPr lang="es-CR" dirty="0" smtClean="0"/>
                  <a:t>es posible concluir </a:t>
                </a:r>
                <a:r>
                  <a:rPr lang="es-CR" dirty="0"/>
                  <a:t>que el programa </a:t>
                </a:r>
                <a:r>
                  <a:rPr lang="es-CR" dirty="0" smtClean="0"/>
                  <a:t>es </a:t>
                </a:r>
                <a:r>
                  <a:rPr lang="es-CR" dirty="0"/>
                  <a:t>eficaz para reducir el </a:t>
                </a:r>
                <a:r>
                  <a:rPr lang="es-CR" dirty="0" smtClean="0"/>
                  <a:t>peso. Si </a:t>
                </a:r>
                <a:r>
                  <a:rPr lang="es-CR" dirty="0"/>
                  <a:t>resulta eficaz, 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los pesos de </a:t>
                </a:r>
                <a:r>
                  <a:rPr lang="es-CR" dirty="0" smtClean="0"/>
                  <a:t>después tendieran </a:t>
                </a:r>
                <a:r>
                  <a:rPr lang="es-CR" dirty="0"/>
                  <a:t>a ser menores que los pesos de antes. </a:t>
                </a:r>
                <a:r>
                  <a:rPr lang="es-CR" dirty="0" smtClean="0"/>
                  <a:t>Si se restan </a:t>
                </a:r>
                <a:r>
                  <a:rPr lang="es-CR" dirty="0"/>
                  <a:t>los pesos de antes a los pesos de </a:t>
                </a:r>
                <a:r>
                  <a:rPr lang="es-CR" dirty="0" smtClean="0"/>
                  <a:t>después </a:t>
                </a:r>
                <a:r>
                  <a:rPr lang="es-CR" dirty="0"/>
                  <a:t>(D - A), 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las diferencias tendieran a ser negativas. </a:t>
                </a:r>
                <a:r>
                  <a:rPr lang="es-CR" dirty="0" smtClean="0"/>
                  <a:t>Además, </a:t>
                </a:r>
                <a:r>
                  <a:rPr lang="es-CR" dirty="0"/>
                  <a:t>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la media de la </a:t>
                </a:r>
                <a:r>
                  <a:rPr lang="es-CR" dirty="0" smtClean="0"/>
                  <a:t>población </a:t>
                </a:r>
                <a:r>
                  <a:rPr lang="es-CR" dirty="0"/>
                  <a:t>de cada diferencia fuera </a:t>
                </a:r>
                <a:r>
                  <a:rPr lang="es-CR" dirty="0" smtClean="0"/>
                  <a:t>negativa. Bajo </a:t>
                </a:r>
                <a:r>
                  <a:rPr lang="es-CR" dirty="0"/>
                  <a:t>estas condiciones, preguntarse si es posible </a:t>
                </a:r>
                <a:r>
                  <a:rPr lang="es-CR" dirty="0" smtClean="0"/>
                  <a:t>concluir que </a:t>
                </a:r>
                <a:r>
                  <a:rPr lang="es-CR" dirty="0"/>
                  <a:t>el programa </a:t>
                </a:r>
                <a:r>
                  <a:rPr lang="es-CR" dirty="0" smtClean="0"/>
                  <a:t>es </a:t>
                </a:r>
                <a:r>
                  <a:rPr lang="es-CR" dirty="0"/>
                  <a:t>eficaz, es </a:t>
                </a:r>
                <a:r>
                  <a:rPr lang="es-CR" dirty="0" smtClean="0"/>
                  <a:t>lo mismo </a:t>
                </a:r>
                <a:r>
                  <a:rPr lang="es-CR" dirty="0"/>
                  <a:t>que preguntarse si </a:t>
                </a:r>
                <a:r>
                  <a:rPr lang="es-CR" dirty="0" smtClean="0"/>
                  <a:t>la diferencia </a:t>
                </a:r>
                <a:r>
                  <a:rPr lang="es-CR" dirty="0"/>
                  <a:t>de la media poblacional es negativa (menor que cero).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222" y="1201739"/>
                <a:ext cx="10121893" cy="4771461"/>
              </a:xfrm>
              <a:blipFill rotWithShape="0">
                <a:blip r:embed="rId2"/>
                <a:stretch>
                  <a:fillRect l="-602" t="-2427" r="-5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78498" y="96753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4" y="5937473"/>
            <a:ext cx="1368106" cy="67696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412" y="5941550"/>
            <a:ext cx="1140088" cy="6198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305" y="5937473"/>
            <a:ext cx="1237810" cy="628031"/>
          </a:xfrm>
          <a:prstGeom prst="rect">
            <a:avLst/>
          </a:prstGeom>
        </p:spPr>
      </p:pic>
      <p:sp>
        <p:nvSpPr>
          <p:cNvPr id="8" name="Elipse 7"/>
          <p:cNvSpPr/>
          <p:nvPr/>
        </p:nvSpPr>
        <p:spPr>
          <a:xfrm>
            <a:off x="361510" y="5913002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ES" dirty="0"/>
          </a:p>
        </p:txBody>
      </p:sp>
      <p:sp>
        <p:nvSpPr>
          <p:cNvPr id="9" name="Elipse 8"/>
          <p:cNvSpPr/>
          <p:nvPr/>
        </p:nvSpPr>
        <p:spPr>
          <a:xfrm>
            <a:off x="3926811" y="5937473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ES" dirty="0"/>
          </a:p>
        </p:txBody>
      </p:sp>
      <p:sp>
        <p:nvSpPr>
          <p:cNvPr id="10" name="Elipse 9"/>
          <p:cNvSpPr/>
          <p:nvPr/>
        </p:nvSpPr>
        <p:spPr>
          <a:xfrm>
            <a:off x="8161814" y="5913002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89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2503" y="1593373"/>
            <a:ext cx="8460518" cy="5000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dirty="0" smtClean="0"/>
              <a:t>4. </a:t>
            </a:r>
            <a:r>
              <a:rPr lang="es-CR" b="1" dirty="0" smtClean="0"/>
              <a:t>Estadística de prueba: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5. </a:t>
            </a:r>
            <a:r>
              <a:rPr lang="es-CR" b="1" dirty="0" smtClean="0"/>
              <a:t>Distribución de la estadística de prueba</a:t>
            </a:r>
            <a:r>
              <a:rPr lang="es-CR" dirty="0" smtClean="0"/>
              <a:t>:  </a:t>
            </a:r>
            <a:r>
              <a:rPr lang="es-CR" dirty="0"/>
              <a:t>s</a:t>
            </a:r>
            <a:r>
              <a:rPr lang="es-CR" dirty="0" smtClean="0"/>
              <a:t>i </a:t>
            </a:r>
            <a:r>
              <a:rPr lang="es-CR" dirty="0"/>
              <a:t>la </a:t>
            </a:r>
            <a:r>
              <a:rPr lang="es-CR" dirty="0" smtClean="0"/>
              <a:t>hipótesis </a:t>
            </a:r>
            <a:r>
              <a:rPr lang="es-CR" dirty="0"/>
              <a:t>nula es</a:t>
            </a:r>
          </a:p>
          <a:p>
            <a:pPr marL="0" indent="0">
              <a:buNone/>
            </a:pPr>
            <a:r>
              <a:rPr lang="es-CR" dirty="0"/>
              <a:t>verdadera, la </a:t>
            </a:r>
            <a:r>
              <a:rPr lang="es-CR" dirty="0" smtClean="0"/>
              <a:t>estadística </a:t>
            </a:r>
            <a:r>
              <a:rPr lang="es-CR" dirty="0"/>
              <a:t>de prueba sigue una </a:t>
            </a:r>
            <a:r>
              <a:rPr lang="es-CR" dirty="0" smtClean="0"/>
              <a:t>distribución </a:t>
            </a:r>
            <a:r>
              <a:rPr lang="es-CR" i="1" dirty="0"/>
              <a:t>t </a:t>
            </a:r>
            <a:r>
              <a:rPr lang="es-CR" dirty="0"/>
              <a:t>de </a:t>
            </a:r>
            <a:r>
              <a:rPr lang="es-CR" dirty="0" err="1"/>
              <a:t>Student</a:t>
            </a:r>
            <a:endParaRPr lang="es-CR" dirty="0"/>
          </a:p>
          <a:p>
            <a:pPr marL="0" indent="0">
              <a:buNone/>
            </a:pPr>
            <a:r>
              <a:rPr lang="es-CR" dirty="0"/>
              <a:t>con </a:t>
            </a:r>
            <a:r>
              <a:rPr lang="es-CR" i="1" dirty="0"/>
              <a:t>n </a:t>
            </a:r>
            <a:r>
              <a:rPr lang="es-CR" dirty="0"/>
              <a:t>- 1 grados de libertad.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r>
              <a:rPr lang="es-CR" dirty="0" smtClean="0"/>
              <a:t>6. </a:t>
            </a:r>
            <a:r>
              <a:rPr lang="es-CR" b="1" dirty="0" smtClean="0"/>
              <a:t>Regla de decisión: </a:t>
            </a:r>
            <a:r>
              <a:rPr lang="es-CR" dirty="0"/>
              <a:t>s</a:t>
            </a:r>
            <a:r>
              <a:rPr lang="es-CR" dirty="0" smtClean="0"/>
              <a:t>ea 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=0.05 </a:t>
            </a:r>
            <a:r>
              <a:rPr lang="es-CR" dirty="0" smtClean="0"/>
              <a:t>. </a:t>
            </a:r>
            <a:r>
              <a:rPr lang="es-CR" dirty="0"/>
              <a:t>EI valor </a:t>
            </a:r>
            <a:r>
              <a:rPr lang="es-CR" dirty="0" smtClean="0"/>
              <a:t>crítico </a:t>
            </a:r>
            <a:r>
              <a:rPr lang="es-CR" dirty="0"/>
              <a:t>de </a:t>
            </a:r>
            <a:r>
              <a:rPr lang="es-CR" i="1" dirty="0"/>
              <a:t>t </a:t>
            </a:r>
            <a:r>
              <a:rPr lang="es-CR" dirty="0"/>
              <a:t>es -1.8595. </a:t>
            </a:r>
            <a:r>
              <a:rPr lang="es-CR" dirty="0" smtClean="0"/>
              <a:t>Se rechaza </a:t>
            </a:r>
            <a:r>
              <a:rPr lang="es-CR" i="1" dirty="0"/>
              <a:t>Ho </a:t>
            </a:r>
            <a:r>
              <a:rPr lang="es-CR" dirty="0"/>
              <a:t>si el valor calculado de </a:t>
            </a:r>
            <a:r>
              <a:rPr lang="es-CR" i="1" dirty="0"/>
              <a:t>t </a:t>
            </a:r>
            <a:r>
              <a:rPr lang="es-CR" dirty="0"/>
              <a:t>es menor </a:t>
            </a:r>
            <a:r>
              <a:rPr lang="es-CR" dirty="0" smtClean="0"/>
              <a:t>o </a:t>
            </a:r>
            <a:r>
              <a:rPr lang="es-CR" dirty="0"/>
              <a:t>igual que e1 </a:t>
            </a:r>
            <a:r>
              <a:rPr lang="es-CR" dirty="0" smtClean="0"/>
              <a:t>valor </a:t>
            </a:r>
            <a:r>
              <a:rPr lang="es-ES" dirty="0" smtClean="0"/>
              <a:t>critico</a:t>
            </a:r>
            <a:r>
              <a:rPr lang="es-ES" dirty="0"/>
              <a:t>.</a:t>
            </a:r>
            <a:endParaRPr lang="es-CR" b="1" dirty="0" smtClean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38635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517762" y="2253802"/>
                <a:ext cx="2465377" cy="913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762" y="2253802"/>
                <a:ext cx="2465377" cy="91377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://3.bp.blogspot.com/-O0m5PtThuqI/U3z8TsLQG2I/AAAAAAAABVA/IfRJ0DNs9oA/s1600/Calculadoras+(2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694" y="986109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mundopaquete.com/images/boton-calcular-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157" y="4408867"/>
            <a:ext cx="1895475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6025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5753" y="1120462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6. </a:t>
            </a:r>
            <a:r>
              <a:rPr lang="es-CR" b="1" dirty="0" smtClean="0"/>
              <a:t>Regla de decisión </a:t>
            </a:r>
            <a:endParaRPr lang="es-ES" b="1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27" y="1948123"/>
            <a:ext cx="8834907" cy="4594345"/>
          </a:xfrm>
          <a:prstGeom prst="rect">
            <a:avLst/>
          </a:prstGeom>
        </p:spPr>
      </p:pic>
      <p:pic>
        <p:nvPicPr>
          <p:cNvPr id="4098" name="Picture 2" descr="http://1.bp.blogspot.com/-6ecw2umlhTU/T6cAFqjOk6I/AAAAAAAAAH8/8dzi_zNd9Gc/s1600/regl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13092">
            <a:off x="8265771" y="1251203"/>
            <a:ext cx="3240373" cy="324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82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35752" y="1464585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7. </a:t>
                </a:r>
                <a:r>
                  <a:rPr lang="es-CR" b="1" dirty="0" smtClean="0"/>
                  <a:t>Cálculo de la estadística de prueba: </a:t>
                </a:r>
                <a:r>
                  <a:rPr lang="es-CR" dirty="0" smtClean="0"/>
                  <a:t>a partir </a:t>
                </a:r>
                <a:r>
                  <a:rPr lang="es-CR" dirty="0"/>
                  <a:t>de las </a:t>
                </a:r>
                <a:r>
                  <a:rPr lang="es-CR" i="1" dirty="0"/>
                  <a:t>n </a:t>
                </a:r>
                <a:r>
                  <a:rPr lang="es-CR" dirty="0"/>
                  <a:t>9 </a:t>
                </a:r>
                <a:r>
                  <a:rPr lang="es-CR" dirty="0" smtClean="0"/>
                  <a:t>diferencias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 smtClean="0"/>
                  <a:t>, se calculan las siguientes medidas descriptivas:</a:t>
                </a:r>
              </a:p>
              <a:p>
                <a:endParaRPr lang="es-CR" dirty="0" smtClean="0"/>
              </a:p>
              <a:p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s-ES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s-ES">
                                  <a:latin typeface="Cambria Math" panose="02040503050406030204" pitchFamily="18" charset="0"/>
                                </a:rPr>
                                <m:t>34.0</m:t>
                              </m:r>
                            </m:e>
                          </m:d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s-ES">
                                  <a:latin typeface="Cambria Math" panose="02040503050406030204" pitchFamily="18" charset="0"/>
                                </a:rPr>
                                <m:t>25.5</m:t>
                              </m:r>
                            </m:e>
                          </m:d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+…+(−</m:t>
                          </m:r>
                          <m:r>
                            <a:rPr lang="es-ES">
                              <a:latin typeface="Cambria Math" panose="02040503050406030204" pitchFamily="18" charset="0"/>
                            </a:rPr>
                            <m:t>14.3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−203.3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=−22.5889</m:t>
                      </m:r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52" y="1464585"/>
                <a:ext cx="10058400" cy="4050792"/>
              </a:xfrm>
              <a:blipFill rotWithShape="0">
                <a:blip r:embed="rId2"/>
                <a:stretch>
                  <a:fillRect l="-242" t="-15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-370703" y="4196502"/>
                <a:ext cx="8534400" cy="7221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  <m:sup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9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4818.69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−203.3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9(8</m:t>
                              </m:r>
                            </m:e>
                          </m: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=28.29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703" y="4196502"/>
                <a:ext cx="8534400" cy="7221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35752" y="5691115"/>
                <a:ext cx="4721998" cy="7346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−22.5889− 0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28.29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−22.5889</m:t>
                          </m:r>
                        </m:num>
                        <m:den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1.77314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=−12.7395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52" y="5691115"/>
                <a:ext cx="4721998" cy="7346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s://upload.wikimedia.org/wikipedia/commons/0/01/Crystal_ksprea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389" y="2767097"/>
            <a:ext cx="2151526" cy="215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3569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964" y="1414422"/>
            <a:ext cx="8017646" cy="4897578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8. </a:t>
            </a:r>
            <a:r>
              <a:rPr lang="es-CR" b="1" dirty="0" smtClean="0"/>
              <a:t>Decisión estadística</a:t>
            </a:r>
            <a:r>
              <a:rPr lang="es-CR" dirty="0" smtClean="0"/>
              <a:t>: </a:t>
            </a:r>
            <a:r>
              <a:rPr lang="es-CR" dirty="0"/>
              <a:t>s</a:t>
            </a:r>
            <a:r>
              <a:rPr lang="es-CR" dirty="0" smtClean="0"/>
              <a:t>e </a:t>
            </a:r>
            <a:r>
              <a:rPr lang="es-CR" dirty="0"/>
              <a:t>rechaza </a:t>
            </a:r>
            <a:r>
              <a:rPr lang="es-CR" i="1" dirty="0"/>
              <a:t>Ho </a:t>
            </a:r>
            <a:r>
              <a:rPr lang="es-CR" dirty="0"/>
              <a:t>porque -12.7395 esta en </a:t>
            </a:r>
            <a:r>
              <a:rPr lang="es-CR" dirty="0" smtClean="0"/>
              <a:t>la </a:t>
            </a:r>
            <a:r>
              <a:rPr lang="es-ES" dirty="0" err="1" smtClean="0"/>
              <a:t>region</a:t>
            </a:r>
            <a:r>
              <a:rPr lang="es-ES" dirty="0" smtClean="0"/>
              <a:t> </a:t>
            </a:r>
            <a:r>
              <a:rPr lang="es-ES" dirty="0"/>
              <a:t>de rechazo.</a:t>
            </a:r>
            <a:endParaRPr lang="es-CR" dirty="0" smtClean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9. </a:t>
            </a:r>
            <a:r>
              <a:rPr lang="es-CR" b="1" dirty="0" smtClean="0"/>
              <a:t>Conclusión</a:t>
            </a:r>
            <a:r>
              <a:rPr lang="es-CR" dirty="0" smtClean="0"/>
              <a:t>: </a:t>
            </a:r>
            <a:r>
              <a:rPr lang="es-ES" dirty="0"/>
              <a:t>s</a:t>
            </a:r>
            <a:r>
              <a:rPr lang="es-ES" dirty="0" smtClean="0"/>
              <a:t>e </a:t>
            </a:r>
            <a:r>
              <a:rPr lang="es-ES" dirty="0"/>
              <a:t>puede concluir que e1 programa de dieta es eficaz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10. </a:t>
            </a:r>
            <a:r>
              <a:rPr lang="es-CR" b="1" dirty="0" smtClean="0"/>
              <a:t>Valor de p</a:t>
            </a:r>
            <a:r>
              <a:rPr lang="es-CR" dirty="0" smtClean="0"/>
              <a:t>: para </a:t>
            </a:r>
            <a:r>
              <a:rPr lang="es-CR" dirty="0"/>
              <a:t>esta prueba, </a:t>
            </a:r>
            <a:r>
              <a:rPr lang="es-CR" i="1" dirty="0"/>
              <a:t>p </a:t>
            </a:r>
            <a:r>
              <a:rPr lang="es-CR" dirty="0"/>
              <a:t>&lt; .005 porque -12.7395 </a:t>
            </a:r>
            <a:r>
              <a:rPr lang="es-CR" dirty="0" smtClean="0"/>
              <a:t>&lt;</a:t>
            </a:r>
          </a:p>
          <a:p>
            <a:pPr marL="0" indent="0">
              <a:buNone/>
            </a:pPr>
            <a:r>
              <a:rPr lang="es-CR" dirty="0" smtClean="0"/>
              <a:t> </a:t>
            </a:r>
            <a:r>
              <a:rPr lang="es-ES" dirty="0" smtClean="0"/>
              <a:t>-0.3554</a:t>
            </a:r>
            <a:r>
              <a:rPr lang="es-ES" dirty="0"/>
              <a:t>.</a:t>
            </a:r>
            <a:endParaRPr lang="es-CR" dirty="0" smtClean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80" y="5010945"/>
            <a:ext cx="2060740" cy="146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76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 con variancia igual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pareadas 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651733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825" y="90152"/>
            <a:ext cx="9555222" cy="875764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971030"/>
            <a:ext cx="10058400" cy="4050792"/>
          </a:xfrm>
        </p:spPr>
        <p:txBody>
          <a:bodyPr/>
          <a:lstStyle/>
          <a:p>
            <a:r>
              <a:rPr lang="es-CR" dirty="0"/>
              <a:t>La prueba de </a:t>
            </a:r>
            <a:r>
              <a:rPr lang="es-CR" dirty="0" smtClean="0"/>
              <a:t>hipótesis </a:t>
            </a:r>
            <a:r>
              <a:rPr lang="es-CR" dirty="0"/>
              <a:t>de proporciones poblacionales se realiza casi en la </a:t>
            </a:r>
            <a:r>
              <a:rPr lang="es-CR" dirty="0" smtClean="0"/>
              <a:t>misma forma </a:t>
            </a:r>
            <a:r>
              <a:rPr lang="es-CR" dirty="0"/>
              <a:t>utilizada para las medias cuando son satisfechas las condiciones </a:t>
            </a:r>
            <a:r>
              <a:rPr lang="es-CR" dirty="0" smtClean="0"/>
              <a:t>necesarias para </a:t>
            </a:r>
            <a:r>
              <a:rPr lang="es-CR" dirty="0"/>
              <a:t>emplear la curva </a:t>
            </a:r>
            <a:r>
              <a:rPr lang="es-CR" dirty="0" smtClean="0"/>
              <a:t>normal.</a:t>
            </a:r>
          </a:p>
          <a:p>
            <a:endParaRPr lang="es-CR" dirty="0"/>
          </a:p>
          <a:p>
            <a:r>
              <a:rPr lang="es-CR" dirty="0"/>
              <a:t>Pueden efectuarse pruebas unilaterales </a:t>
            </a:r>
            <a:r>
              <a:rPr lang="es-CR" dirty="0" err="1" smtClean="0"/>
              <a:t>ó</a:t>
            </a:r>
            <a:r>
              <a:rPr lang="es-CR" dirty="0" smtClean="0"/>
              <a:t> bilaterales, dependiendo </a:t>
            </a:r>
            <a:r>
              <a:rPr lang="es-CR" dirty="0"/>
              <a:t>de la </a:t>
            </a:r>
            <a:r>
              <a:rPr lang="es-CR" dirty="0" smtClean="0"/>
              <a:t>cuestión </a:t>
            </a:r>
            <a:r>
              <a:rPr lang="es-CR" dirty="0"/>
              <a:t>que se </a:t>
            </a:r>
            <a:r>
              <a:rPr lang="es-CR" dirty="0" smtClean="0"/>
              <a:t>plantee.</a:t>
            </a:r>
          </a:p>
          <a:p>
            <a:endParaRPr lang="es-CR" dirty="0"/>
          </a:p>
          <a:p>
            <a:r>
              <a:rPr lang="es-CR" dirty="0" smtClean="0"/>
              <a:t>Las hipótesis y el estadístico se plantean </a:t>
            </a:r>
            <a:r>
              <a:rPr lang="es-CR" dirty="0"/>
              <a:t>como sigue</a:t>
            </a:r>
            <a:r>
              <a:rPr lang="es-CR" dirty="0" smtClean="0"/>
              <a:t>:</a:t>
            </a:r>
            <a:r>
              <a:rPr lang="es-ES" dirty="0" smtClean="0"/>
              <a:t> </a:t>
            </a:r>
            <a:r>
              <a:rPr lang="es-CR" dirty="0" smtClean="0"/>
              <a:t>(“a” entre 0 y 1)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1199889" y="4110457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5" name="Rectángulo redondeado 4"/>
          <p:cNvSpPr/>
          <p:nvPr/>
        </p:nvSpPr>
        <p:spPr>
          <a:xfrm>
            <a:off x="6685472" y="4110457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-406129" y="5096078"/>
                <a:ext cx="6096000" cy="148303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129" y="5096078"/>
                <a:ext cx="6096000" cy="14830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912442" y="5021822"/>
                <a:ext cx="1555747" cy="1254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𝑃𝑄</m:t>
                                  </m:r>
                                </m:num>
                                <m:den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442" y="5021822"/>
                <a:ext cx="1555747" cy="12547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13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1503221"/>
            <a:ext cx="7816575" cy="4846063"/>
          </a:xfrm>
        </p:spPr>
        <p:txBody>
          <a:bodyPr/>
          <a:lstStyle/>
          <a:p>
            <a:r>
              <a:rPr lang="es-CR" dirty="0"/>
              <a:t>En una </a:t>
            </a:r>
            <a:r>
              <a:rPr lang="es-CR" dirty="0" smtClean="0"/>
              <a:t>investigación </a:t>
            </a:r>
            <a:r>
              <a:rPr lang="es-CR" dirty="0"/>
              <a:t>de consumidores de drogas intravenosas en una </a:t>
            </a:r>
            <a:r>
              <a:rPr lang="es-CR" dirty="0" smtClean="0"/>
              <a:t>ciudad,  se </a:t>
            </a:r>
            <a:r>
              <a:rPr lang="es-ES" dirty="0" smtClean="0"/>
              <a:t>encontró que 18 </a:t>
            </a:r>
            <a:r>
              <a:rPr lang="es-ES" dirty="0"/>
              <a:t>de 423 individuos con </a:t>
            </a:r>
            <a:r>
              <a:rPr lang="es-ES" dirty="0" smtClean="0"/>
              <a:t>VIH </a:t>
            </a:r>
            <a:r>
              <a:rPr lang="es-ES" dirty="0"/>
              <a:t>positivo. </a:t>
            </a:r>
            <a:r>
              <a:rPr lang="es-ES" dirty="0" smtClean="0"/>
              <a:t>Se </a:t>
            </a:r>
            <a:r>
              <a:rPr lang="es-CR" dirty="0" smtClean="0"/>
              <a:t>pretende </a:t>
            </a:r>
            <a:r>
              <a:rPr lang="es-CR" dirty="0"/>
              <a:t>saber si es posible concluir que </a:t>
            </a:r>
            <a:r>
              <a:rPr lang="es-CR" dirty="0" smtClean="0"/>
              <a:t>menos de </a:t>
            </a:r>
            <a:r>
              <a:rPr lang="es-CR" dirty="0"/>
              <a:t>5 por </a:t>
            </a:r>
            <a:r>
              <a:rPr lang="es-CR" dirty="0" smtClean="0"/>
              <a:t>ciento de </a:t>
            </a:r>
            <a:r>
              <a:rPr lang="es-CR" dirty="0"/>
              <a:t>los </a:t>
            </a:r>
            <a:r>
              <a:rPr lang="es-CR" dirty="0" smtClean="0"/>
              <a:t>consumidores de </a:t>
            </a:r>
            <a:r>
              <a:rPr lang="es-CR" dirty="0"/>
              <a:t>drogas intravenosas en la </a:t>
            </a:r>
            <a:r>
              <a:rPr lang="es-CR" dirty="0" smtClean="0"/>
              <a:t>población </a:t>
            </a:r>
            <a:r>
              <a:rPr lang="es-CR" dirty="0"/>
              <a:t>muestreada tienen </a:t>
            </a:r>
            <a:r>
              <a:rPr lang="es-CR" dirty="0" smtClean="0"/>
              <a:t>VIH </a:t>
            </a:r>
            <a:r>
              <a:rPr lang="es-CR" dirty="0"/>
              <a:t>positivo</a:t>
            </a:r>
            <a:r>
              <a:rPr lang="es-CR" dirty="0" smtClean="0"/>
              <a:t>.</a:t>
            </a:r>
          </a:p>
          <a:p>
            <a:endParaRPr lang="es-CR" dirty="0"/>
          </a:p>
          <a:p>
            <a:r>
              <a:rPr lang="es-CR" dirty="0" smtClean="0"/>
              <a:t>Solución: el problema revela la suposición de una prueba de hipótesis referida a una proporción. De igual forma, se procede con los pasos antes visto.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30553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pic>
        <p:nvPicPr>
          <p:cNvPr id="6146" name="Picture 2" descr="https://southwestcare.org/site_resources/docs/needleBI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393" y="1403798"/>
            <a:ext cx="2885969" cy="353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21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97115" y="1403798"/>
                <a:ext cx="9078705" cy="52259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se </a:t>
                </a:r>
                <a:r>
                  <a:rPr lang="es-CR" dirty="0"/>
                  <a:t>obtienen a partir de la respuesta de 423 </a:t>
                </a:r>
                <a:r>
                  <a:rPr lang="es-CR" dirty="0" smtClean="0"/>
                  <a:t>individuos,</a:t>
                </a: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de los cuales 18 tenían la característica de interés. Esto es que el valor estimado es el siguiente: </a:t>
                </a:r>
              </a:p>
              <a:p>
                <a:pPr marL="0" indent="0">
                  <a:buNone/>
                </a:pPr>
                <a:r>
                  <a:rPr lang="es-C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s-E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s-E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423</m:t>
                        </m:r>
                      </m:den>
                    </m:f>
                    <m:r>
                      <a:rPr lang="es-ES" sz="2400" i="1">
                        <a:latin typeface="Cambria Math" panose="02040503050406030204" pitchFamily="18" charset="0"/>
                      </a:rPr>
                      <m:t>=0.426</m:t>
                    </m:r>
                  </m:oMath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2. </a:t>
                </a:r>
                <a:r>
                  <a:rPr lang="es-CR" b="1" dirty="0" smtClean="0"/>
                  <a:t>Supuestos</a:t>
                </a:r>
                <a:r>
                  <a:rPr lang="es-CR" dirty="0" smtClean="0"/>
                  <a:t>: la distribución muestral de 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s-ES" dirty="0" smtClean="0"/>
                  <a:t> sigue una distribución aproximadamente normal… (se aplicamos el TLC…).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4. </a:t>
                </a:r>
                <a:r>
                  <a:rPr lang="es-CR" b="1" dirty="0" smtClean="0"/>
                  <a:t>Estadística de prueba: </a:t>
                </a:r>
                <a:endParaRPr lang="es-ES" b="1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7115" y="1403798"/>
                <a:ext cx="9078705" cy="5225990"/>
              </a:xfrm>
              <a:blipFill rotWithShape="0">
                <a:blip r:embed="rId3"/>
                <a:stretch>
                  <a:fillRect l="-739" t="-116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8" y="136903"/>
            <a:ext cx="10058400" cy="95780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2192689" y="4454949"/>
                <a:ext cx="43843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≥0.05            </m:t>
                      </m:r>
                      <m:sSub>
                        <m:sSubPr>
                          <m:ctrlPr>
                            <a:rPr lang="es-E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&lt;0.05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689" y="4454949"/>
                <a:ext cx="438434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606986" y="5145850"/>
                <a:ext cx="1555747" cy="1254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𝑃𝑄</m:t>
                                  </m:r>
                                </m:num>
                                <m:den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6" y="5145850"/>
                <a:ext cx="1555747" cy="12547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http://home.adelphi.edu/~stemkoski/mathematrix/farside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68" y="1094705"/>
            <a:ext cx="2979082" cy="46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49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7116" y="1403798"/>
            <a:ext cx="7533239" cy="5267458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5. </a:t>
            </a:r>
            <a:r>
              <a:rPr lang="es-CR" b="1" dirty="0" smtClean="0"/>
              <a:t>Distribución de la estadística de prueba: </a:t>
            </a:r>
            <a:r>
              <a:rPr lang="es-CR" dirty="0"/>
              <a:t>la </a:t>
            </a:r>
            <a:r>
              <a:rPr lang="es-CR" dirty="0" smtClean="0"/>
              <a:t>estadística </a:t>
            </a:r>
            <a:r>
              <a:rPr lang="es-CR" dirty="0"/>
              <a:t>de prueba sigue una </a:t>
            </a:r>
            <a:r>
              <a:rPr lang="es-CR" dirty="0" smtClean="0"/>
              <a:t>distribución aproximadamente </a:t>
            </a:r>
            <a:r>
              <a:rPr lang="es-ES" dirty="0" smtClean="0"/>
              <a:t>normal </a:t>
            </a:r>
            <a:r>
              <a:rPr lang="es-ES" dirty="0"/>
              <a:t>con una media de </a:t>
            </a:r>
            <a:r>
              <a:rPr lang="es-ES" dirty="0" smtClean="0"/>
              <a:t>cero.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6. </a:t>
            </a:r>
            <a:r>
              <a:rPr lang="es-CR" b="1" dirty="0" smtClean="0"/>
              <a:t>Regla de decisión</a:t>
            </a:r>
            <a:r>
              <a:rPr lang="es-CR" dirty="0" smtClean="0"/>
              <a:t>: </a:t>
            </a:r>
            <a:r>
              <a:rPr lang="es-CR" dirty="0"/>
              <a:t>sea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=0.05. El valor crítico de</a:t>
            </a:r>
            <a:r>
              <a:rPr lang="es-C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-1.645. Se rechaza Ho si el valor de z es </a:t>
            </a:r>
            <a:r>
              <a:rPr lang="es-ES" dirty="0"/>
              <a:t>≤</a:t>
            </a:r>
            <a:r>
              <a:rPr lang="es-ES" dirty="0" smtClean="0"/>
              <a:t> </a:t>
            </a:r>
            <a:r>
              <a:rPr lang="es-ES" dirty="0"/>
              <a:t>-1.645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7.</a:t>
            </a:r>
            <a:r>
              <a:rPr lang="es-CR" b="1" dirty="0" smtClean="0"/>
              <a:t>Cálculo de la estadística de prueba</a:t>
            </a:r>
            <a:r>
              <a:rPr lang="es-CR" dirty="0" smtClean="0"/>
              <a:t>: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112348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2111117" y="4711960"/>
                <a:ext cx="3905236" cy="12530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0.0426−0.05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s-ES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400" i="0">
                                          <a:latin typeface="Cambria Math" panose="02040503050406030204" pitchFamily="18" charset="0"/>
                                        </a:rPr>
                                        <m:t>0.05)(0.95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sz="2400" i="0">
                                      <a:latin typeface="Cambria Math" panose="02040503050406030204" pitchFamily="18" charset="0"/>
                                    </a:rPr>
                                    <m:t>423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sz="2400" i="0">
                          <a:latin typeface="Cambria Math" panose="02040503050406030204" pitchFamily="18" charset="0"/>
                        </a:rPr>
                        <m:t>=−0.70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17" y="4711960"/>
                <a:ext cx="3905236" cy="12530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https://s-media-cache-ak0.pinimg.com/736x/f1/e0/c4/f1e0c415960f09cbb0293e2979f1663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689" y="1403798"/>
            <a:ext cx="3708781" cy="370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7740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48631" y="1567617"/>
                <a:ext cx="8022637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. No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 smtClean="0"/>
                  <a:t>dado </a:t>
                </a:r>
                <a:r>
                  <a:rPr lang="es-ES" dirty="0"/>
                  <a:t>que -0.70 &gt; -</a:t>
                </a:r>
                <a:r>
                  <a:rPr lang="es-ES" dirty="0" smtClean="0"/>
                  <a:t>1.645.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</a:t>
                </a:r>
                <a:r>
                  <a:rPr lang="es-CR" dirty="0"/>
                  <a:t>la </a:t>
                </a:r>
                <a:r>
                  <a:rPr lang="es-CR" dirty="0" smtClean="0"/>
                  <a:t>proporción </a:t>
                </a:r>
                <a:r>
                  <a:rPr lang="es-CR" dirty="0"/>
                  <a:t>de la </a:t>
                </a:r>
                <a:r>
                  <a:rPr lang="es-CR" dirty="0" smtClean="0"/>
                  <a:t>población que tiene </a:t>
                </a:r>
                <a:r>
                  <a:rPr lang="es-CR" dirty="0"/>
                  <a:t>VIH positivo probablemente sea .05 0 mas</a:t>
                </a:r>
                <a:r>
                  <a:rPr lang="es-CR" dirty="0" smtClean="0"/>
                  <a:t>.</a:t>
                </a:r>
              </a:p>
              <a:p>
                <a:pPr marL="0" indent="0">
                  <a:buNone/>
                </a:pPr>
                <a:r>
                  <a:rPr lang="es-CR" dirty="0" smtClean="0"/>
                  <a:t>(</a:t>
                </a:r>
                <a:r>
                  <a:rPr lang="es-CR" b="1" i="1" dirty="0" smtClean="0"/>
                  <a:t>otra forma de concluir… ?</a:t>
                </a:r>
                <a:r>
                  <a:rPr lang="es-CR" dirty="0" smtClean="0"/>
                  <a:t>)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10.Valor de p:  p=0.2420</a:t>
                </a:r>
                <a:endParaRPr lang="es-CR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31" y="1567617"/>
                <a:ext cx="8022637" cy="4050792"/>
              </a:xfrm>
              <a:blipFill rotWithShape="0">
                <a:blip r:embed="rId2"/>
                <a:stretch>
                  <a:fillRect l="-760" t="-1504" r="-3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30553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pic>
        <p:nvPicPr>
          <p:cNvPr id="9218" name="Picture 2" descr="http://www.nj.gov/highereducation/gearup/images/teach-math-learning-disabled-students-800X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196" y="1567617"/>
            <a:ext cx="2093516" cy="157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faculty.elgin.edu/dkernler/statistics/ch10/images/p-valu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9" y="3977961"/>
            <a:ext cx="4827211" cy="266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2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460560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64541" y="1477463"/>
                <a:ext cx="8679459" cy="4949095"/>
              </a:xfrm>
            </p:spPr>
            <p:txBody>
              <a:bodyPr/>
              <a:lstStyle/>
              <a:p>
                <a:r>
                  <a:rPr lang="es-CR" dirty="0" smtClean="0"/>
                  <a:t>La prueba que se utiliza con mas frecuencia con relación </a:t>
                </a:r>
                <a:r>
                  <a:rPr lang="es-CR" dirty="0"/>
                  <a:t>a la diferencia entre </a:t>
                </a:r>
                <a:r>
                  <a:rPr lang="es-CR" dirty="0" smtClean="0"/>
                  <a:t>las proporciones </a:t>
                </a:r>
                <a:r>
                  <a:rPr lang="es-CR" dirty="0"/>
                  <a:t>de dos poblaciones es aquella en la que su diferencia es cero.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r>
                  <a:rPr lang="es-CR" dirty="0" smtClean="0"/>
                  <a:t>Sin embargo</a:t>
                </a:r>
                <a:r>
                  <a:rPr lang="es-CR" dirty="0"/>
                  <a:t>, es posible probar que dicha diferencia es igual a </a:t>
                </a:r>
                <a:r>
                  <a:rPr lang="es-CR" dirty="0" smtClean="0"/>
                  <a:t>algún </a:t>
                </a:r>
                <a:r>
                  <a:rPr lang="es-CR" dirty="0"/>
                  <a:t>otro valor. </a:t>
                </a:r>
                <a:r>
                  <a:rPr lang="es-CR" dirty="0" smtClean="0"/>
                  <a:t>Es posible </a:t>
                </a:r>
                <a:r>
                  <a:rPr lang="es-CR" dirty="0"/>
                  <a:t>efectuar pruebas tanto unilaterales como bilaterales</a:t>
                </a:r>
                <a:r>
                  <a:rPr lang="es-CR" dirty="0" smtClean="0"/>
                  <a:t>.</a:t>
                </a:r>
              </a:p>
              <a:p>
                <a:endParaRPr lang="es-CR" dirty="0"/>
              </a:p>
              <a:p>
                <a:r>
                  <a:rPr lang="es-CR" dirty="0"/>
                  <a:t>Cuando la </a:t>
                </a:r>
                <a:r>
                  <a:rPr lang="es-CR" dirty="0" smtClean="0"/>
                  <a:t>hipótesis </a:t>
                </a:r>
                <a:r>
                  <a:rPr lang="es-CR" dirty="0"/>
                  <a:t>nula que va a probarse </a:t>
                </a:r>
                <a:r>
                  <a:rPr lang="es-CR" dirty="0" smtClean="0"/>
                  <a:t>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=0</m:t>
                    </m:r>
                  </m:oMath>
                </a14:m>
                <a:r>
                  <a:rPr lang="es-ES" dirty="0" smtClean="0"/>
                  <a:t>, se podría suponer que ambas proporciones son iguales. Aunque esto se suele utilizar como justificación para combinar los resultados de las dos muestras y obtener una estimación ponderada de la proporción, no se procederá de tal forma.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541" y="1477463"/>
                <a:ext cx="8679459" cy="4949095"/>
              </a:xfrm>
              <a:blipFill rotWithShape="0">
                <a:blip r:embed="rId2"/>
                <a:stretch>
                  <a:fillRect l="-281" t="-1232" r="-133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https://i.ytimg.com/vi/hYhzdltam9Y/maxres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477462"/>
            <a:ext cx="2947963" cy="375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2978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45600" y="1490342"/>
                <a:ext cx="10058400" cy="5245309"/>
              </a:xfrm>
            </p:spPr>
            <p:txBody>
              <a:bodyPr/>
              <a:lstStyle/>
              <a:p>
                <a:r>
                  <a:rPr lang="es-CR" dirty="0" smtClean="0"/>
                  <a:t>Para el presente caso se tiene que: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 smtClean="0"/>
              </a:p>
              <a:p>
                <a:r>
                  <a:rPr lang="es-CR" dirty="0" smtClean="0"/>
                  <a:t>En donde la expresión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𝑝</m:t>
                        </m:r>
                        <m:r>
                          <a:rPr lang="es-ES" i="1">
                            <a:latin typeface="Cambria Math"/>
                          </a:rPr>
                          <m:t>1−</m:t>
                        </m:r>
                        <m:r>
                          <a:rPr lang="es-ES" i="1">
                            <a:latin typeface="Cambria Math"/>
                          </a:rPr>
                          <m:t>𝑝</m:t>
                        </m:r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dirty="0" smtClean="0"/>
                  <a:t> se expresa como sigue:</a:t>
                </a: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600" y="1490342"/>
                <a:ext cx="10058400" cy="5245309"/>
              </a:xfrm>
              <a:blipFill rotWithShape="0">
                <a:blip r:embed="rId2"/>
                <a:stretch>
                  <a:fillRect l="-242" t="-11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r>
              <a:rPr lang="es-CR" dirty="0" smtClean="0"/>
              <a:t>Comparación de proporciones</a:t>
            </a:r>
            <a:endParaRPr lang="es-ES" dirty="0"/>
          </a:p>
        </p:txBody>
      </p:sp>
      <p:sp>
        <p:nvSpPr>
          <p:cNvPr id="5" name="Rectángulo redondeado 4"/>
          <p:cNvSpPr/>
          <p:nvPr/>
        </p:nvSpPr>
        <p:spPr>
          <a:xfrm>
            <a:off x="1353184" y="2191505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6838767" y="2191505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-344681" y="3166692"/>
                <a:ext cx="6096000" cy="12891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≥ 0        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E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s-E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≤ 0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4681" y="3166692"/>
                <a:ext cx="6096000" cy="12891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853229" y="3429658"/>
                <a:ext cx="2869503" cy="707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29" y="3429658"/>
                <a:ext cx="2869503" cy="70711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981819" y="5586740"/>
                <a:ext cx="4082784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819" y="5586740"/>
                <a:ext cx="4082784" cy="9106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57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783" y="1400190"/>
            <a:ext cx="8035516" cy="491045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s-CR" dirty="0"/>
              <a:t>En un estudio de cuidados nutricionales en asilos para ancianos, </a:t>
            </a:r>
            <a:r>
              <a:rPr lang="es-CR" dirty="0" smtClean="0"/>
              <a:t>encontraron </a:t>
            </a:r>
            <a:r>
              <a:rPr lang="es-CR" dirty="0"/>
              <a:t>que entre 55 pacientes con </a:t>
            </a:r>
            <a:r>
              <a:rPr lang="es-CR" dirty="0" smtClean="0"/>
              <a:t>hipertensión, </a:t>
            </a:r>
            <a:r>
              <a:rPr lang="es-CR" dirty="0"/>
              <a:t>24 </a:t>
            </a:r>
            <a:r>
              <a:rPr lang="es-CR" dirty="0" smtClean="0"/>
              <a:t>tenían </a:t>
            </a:r>
            <a:r>
              <a:rPr lang="es-CR" dirty="0"/>
              <a:t>una dieta con </a:t>
            </a:r>
            <a:r>
              <a:rPr lang="es-CR" dirty="0" smtClean="0"/>
              <a:t>restricción de </a:t>
            </a:r>
            <a:r>
              <a:rPr lang="es-CR" dirty="0"/>
              <a:t>sodio. De 149 pacientes sin </a:t>
            </a:r>
            <a:r>
              <a:rPr lang="es-CR" dirty="0" smtClean="0"/>
              <a:t>hipertensión, </a:t>
            </a:r>
            <a:r>
              <a:rPr lang="es-CR" dirty="0"/>
              <a:t>36 </a:t>
            </a:r>
            <a:r>
              <a:rPr lang="es-CR" dirty="0" smtClean="0"/>
              <a:t>tenían </a:t>
            </a:r>
            <a:r>
              <a:rPr lang="es-CR" dirty="0"/>
              <a:t>una dieta sin </a:t>
            </a:r>
            <a:r>
              <a:rPr lang="es-CR" dirty="0" smtClean="0"/>
              <a:t>sodio. ¿Es </a:t>
            </a:r>
            <a:r>
              <a:rPr lang="es-CR" dirty="0"/>
              <a:t>posible concluir que, en las poblaciones </a:t>
            </a:r>
            <a:r>
              <a:rPr lang="es-CR" dirty="0" smtClean="0"/>
              <a:t>muestreadas, </a:t>
            </a:r>
            <a:r>
              <a:rPr lang="es-CR" dirty="0"/>
              <a:t>la </a:t>
            </a:r>
            <a:r>
              <a:rPr lang="es-CR" dirty="0" smtClean="0"/>
              <a:t>proporción </a:t>
            </a:r>
            <a:r>
              <a:rPr lang="es-CR" dirty="0"/>
              <a:t>de </a:t>
            </a:r>
            <a:r>
              <a:rPr lang="es-CR" dirty="0" smtClean="0"/>
              <a:t>pacientes con </a:t>
            </a:r>
            <a:r>
              <a:rPr lang="es-CR" dirty="0"/>
              <a:t>dieta restringida en sodio es mayor entre pacientes con </a:t>
            </a:r>
            <a:r>
              <a:rPr lang="es-CR" dirty="0" smtClean="0"/>
              <a:t>hipertensión que </a:t>
            </a:r>
            <a:r>
              <a:rPr lang="es-ES" dirty="0" smtClean="0"/>
              <a:t>entre </a:t>
            </a:r>
            <a:r>
              <a:rPr lang="es-ES" dirty="0"/>
              <a:t>pacientes sin </a:t>
            </a:r>
            <a:r>
              <a:rPr lang="es-ES" dirty="0" smtClean="0"/>
              <a:t>hipertensión?</a:t>
            </a:r>
          </a:p>
          <a:p>
            <a:pPr algn="just">
              <a:lnSpc>
                <a:spcPct val="100000"/>
              </a:lnSpc>
            </a:pPr>
            <a:endParaRPr lang="es-CR" dirty="0"/>
          </a:p>
          <a:p>
            <a:pPr algn="just">
              <a:lnSpc>
                <a:spcPct val="100000"/>
              </a:lnSpc>
            </a:pPr>
            <a:r>
              <a:rPr lang="es-CR" dirty="0" smtClean="0"/>
              <a:t>Según el tipo de problema, se procede con una prueba de diferencias de proporciones.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p:pic>
        <p:nvPicPr>
          <p:cNvPr id="11268" name="Picture 4" descr="http://previews.123rf.com/images/djdarkflower/djdarkflower1303/djdarkflower130300020/18643922-hogar-de-ancianos-Foto-de-archivo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9" t="5912" r="13685" b="10319"/>
          <a:stretch/>
        </p:blipFill>
        <p:spPr bwMode="auto">
          <a:xfrm>
            <a:off x="9204937" y="1400190"/>
            <a:ext cx="2529064" cy="387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41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94085" y="1400191"/>
                <a:ext cx="8550670" cy="516803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R" b="1" dirty="0" smtClean="0"/>
                  <a:t>Datos</a:t>
                </a:r>
                <a:r>
                  <a:rPr lang="es-CR" dirty="0" smtClean="0"/>
                  <a:t>: </a:t>
                </a:r>
                <a:r>
                  <a:rPr lang="es-CR" dirty="0"/>
                  <a:t>l</a:t>
                </a:r>
                <a:r>
                  <a:rPr lang="es-CR" dirty="0" smtClean="0"/>
                  <a:t>os </a:t>
                </a:r>
                <a:r>
                  <a:rPr lang="es-CR" dirty="0"/>
                  <a:t>datos corresponden a la </a:t>
                </a:r>
                <a:r>
                  <a:rPr lang="es-CR" dirty="0" smtClean="0"/>
                  <a:t>información </a:t>
                </a:r>
                <a:r>
                  <a:rPr lang="es-CR" dirty="0"/>
                  <a:t>del consumo </a:t>
                </a:r>
                <a:r>
                  <a:rPr lang="es-CR" dirty="0" smtClean="0"/>
                  <a:t>de sodio </a:t>
                </a:r>
                <a:r>
                  <a:rPr lang="es-CR" dirty="0"/>
                  <a:t>en las dietas de los pacientes </a:t>
                </a:r>
                <a:r>
                  <a:rPr lang="es-CR" dirty="0" smtClean="0"/>
                  <a:t>internados en </a:t>
                </a:r>
                <a:r>
                  <a:rPr lang="es-CR" dirty="0"/>
                  <a:t>el asilo de </a:t>
                </a:r>
                <a:r>
                  <a:rPr lang="es-CR" dirty="0" smtClean="0"/>
                  <a:t>ancianos con </a:t>
                </a:r>
                <a:r>
                  <a:rPr lang="es-CR" dirty="0"/>
                  <a:t>y sin </a:t>
                </a:r>
                <a:r>
                  <a:rPr lang="es-CR" dirty="0" smtClean="0"/>
                  <a:t>hipertensión, </a:t>
                </a:r>
                <a:r>
                  <a:rPr lang="es-CR" dirty="0"/>
                  <a:t>tal como se describe en la </a:t>
                </a:r>
                <a:r>
                  <a:rPr lang="es-CR" dirty="0" smtClean="0"/>
                  <a:t>proposición</a:t>
                </a:r>
                <a:r>
                  <a:rPr lang="es-CR" dirty="0"/>
                  <a:t> </a:t>
                </a:r>
                <a:r>
                  <a:rPr lang="es-ES" dirty="0" smtClean="0"/>
                  <a:t>del </a:t>
                </a:r>
                <a:r>
                  <a:rPr lang="es-ES" dirty="0"/>
                  <a:t>ejemplo</a:t>
                </a:r>
                <a:r>
                  <a:rPr lang="es-ES" dirty="0" smtClean="0"/>
                  <a:t>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b="1" dirty="0" smtClean="0"/>
                  <a:t>Supuestos</a:t>
                </a:r>
                <a:r>
                  <a:rPr lang="es-CR" dirty="0" smtClean="0"/>
                  <a:t>: </a:t>
                </a:r>
                <a:r>
                  <a:rPr lang="es-CR" dirty="0"/>
                  <a:t>s</a:t>
                </a:r>
                <a:r>
                  <a:rPr lang="es-CR" dirty="0" smtClean="0"/>
                  <a:t>e </a:t>
                </a:r>
                <a:r>
                  <a:rPr lang="es-CR" dirty="0"/>
                  <a:t>supone que los pacientes estudiados forman </a:t>
                </a:r>
                <a:r>
                  <a:rPr lang="es-CR" dirty="0" smtClean="0"/>
                  <a:t>una muestra </a:t>
                </a:r>
                <a:r>
                  <a:rPr lang="es-CR" dirty="0"/>
                  <a:t>aleatoria independiente </a:t>
                </a:r>
                <a:r>
                  <a:rPr lang="es-CR" dirty="0" smtClean="0"/>
                  <a:t>extraída </a:t>
                </a:r>
                <a:r>
                  <a:rPr lang="es-CR" dirty="0"/>
                  <a:t>de poblaciones con y </a:t>
                </a:r>
                <a:r>
                  <a:rPr lang="es-CR" dirty="0" smtClean="0"/>
                  <a:t>sin </a:t>
                </a:r>
                <a:r>
                  <a:rPr lang="es-ES" dirty="0" smtClean="0"/>
                  <a:t>hipertensión.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b="1" dirty="0" smtClean="0"/>
                  <a:t>Hipótesis</a:t>
                </a:r>
                <a:r>
                  <a:rPr lang="es-CR" dirty="0" smtClean="0"/>
                  <a:t>: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 ≤ 0         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 &gt;0</m:t>
                    </m:r>
                  </m:oMath>
                </a14:m>
                <a:endParaRPr lang="es-CR" dirty="0" smtClean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b="1" dirty="0" smtClean="0"/>
                  <a:t>Estadística de prueba</a:t>
                </a:r>
                <a:r>
                  <a:rPr lang="es-CR" dirty="0" smtClean="0"/>
                  <a:t>:  </a:t>
                </a:r>
                <a:endParaRPr lang="es-ES" dirty="0" smtClean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085" y="1400191"/>
                <a:ext cx="8550670" cy="5168034"/>
              </a:xfrm>
              <a:blipFill rotWithShape="0">
                <a:blip r:embed="rId2"/>
                <a:stretch>
                  <a:fillRect l="-784" t="-1299" r="-7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722119" y="5573944"/>
                <a:ext cx="3283211" cy="7071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19" y="5573944"/>
                <a:ext cx="3283211" cy="707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6065949" y="5370362"/>
                <a:ext cx="4082784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949" y="5370362"/>
                <a:ext cx="4082784" cy="9106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 derecha 7"/>
          <p:cNvSpPr/>
          <p:nvPr/>
        </p:nvSpPr>
        <p:spPr>
          <a:xfrm>
            <a:off x="4533364" y="5691156"/>
            <a:ext cx="1004551" cy="47268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173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3026" y="1554737"/>
            <a:ext cx="8705216" cy="5039245"/>
          </a:xfrm>
        </p:spPr>
        <p:txBody>
          <a:bodyPr/>
          <a:lstStyle/>
          <a:p>
            <a:pPr marL="0" indent="0">
              <a:buNone/>
            </a:pPr>
            <a:r>
              <a:rPr lang="es-CR" b="1" dirty="0" smtClean="0"/>
              <a:t>Distribución de la estadística de prueba</a:t>
            </a:r>
            <a:r>
              <a:rPr lang="es-CR" dirty="0" smtClean="0"/>
              <a:t>: </a:t>
            </a:r>
            <a:r>
              <a:rPr lang="es-CR" dirty="0"/>
              <a:t>Si la </a:t>
            </a:r>
            <a:r>
              <a:rPr lang="es-CR" dirty="0" smtClean="0"/>
              <a:t>hipótesis </a:t>
            </a:r>
            <a:r>
              <a:rPr lang="es-CR" dirty="0"/>
              <a:t>nula </a:t>
            </a:r>
            <a:r>
              <a:rPr lang="es-CR" dirty="0" smtClean="0"/>
              <a:t>es verdadera</a:t>
            </a:r>
            <a:r>
              <a:rPr lang="es-CR" dirty="0"/>
              <a:t>, la </a:t>
            </a:r>
            <a:r>
              <a:rPr lang="es-CR" dirty="0" smtClean="0"/>
              <a:t>estadística </a:t>
            </a:r>
            <a:r>
              <a:rPr lang="es-CR" dirty="0"/>
              <a:t>de prueba sigue aproximadamente una </a:t>
            </a:r>
            <a:r>
              <a:rPr lang="es-CR" dirty="0" smtClean="0"/>
              <a:t>distribución </a:t>
            </a:r>
            <a:r>
              <a:rPr lang="es-ES" dirty="0" smtClean="0"/>
              <a:t>normal estándar.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b="1" dirty="0" smtClean="0"/>
              <a:t>Regla de decisión</a:t>
            </a:r>
            <a:r>
              <a:rPr lang="es-CR" dirty="0"/>
              <a:t>:  sea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=0.05. El valor crítico de</a:t>
            </a:r>
            <a:r>
              <a:rPr lang="es-C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1.645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 rechaza Ho si el valor de z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mayor que </a:t>
            </a:r>
            <a:r>
              <a:rPr lang="es-ES" dirty="0" smtClean="0"/>
              <a:t>1.645.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b="1" dirty="0" smtClean="0"/>
              <a:t>Cálculo de la estadística de prueba</a:t>
            </a:r>
            <a:r>
              <a:rPr lang="es-CR" dirty="0" smtClean="0"/>
              <a:t>: 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413026" y="4648869"/>
                <a:ext cx="2394568" cy="2209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den>
                      </m:f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=0.4364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149</m:t>
                          </m:r>
                        </m:den>
                      </m:f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=0.2416</m:t>
                      </m:r>
                    </m:oMath>
                  </m:oMathPara>
                </a14:m>
                <a:endParaRPr lang="es-CR" i="1" dirty="0" smtClean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=55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=149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26" y="4648869"/>
                <a:ext cx="2394568" cy="22091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echa derecha 4"/>
          <p:cNvSpPr/>
          <p:nvPr/>
        </p:nvSpPr>
        <p:spPr>
          <a:xfrm>
            <a:off x="3889418" y="5405704"/>
            <a:ext cx="1545465" cy="69545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5434883" y="5159584"/>
                <a:ext cx="6452317" cy="1187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0.4364(1−0.4364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0.2416(1−0.2416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149</m:t>
                              </m:r>
                            </m:den>
                          </m:f>
                        </m:e>
                      </m:rad>
                      <m:r>
                        <a:rPr lang="es-ES" i="0">
                          <a:latin typeface="Cambria Math" panose="02040503050406030204" pitchFamily="18" charset="0"/>
                        </a:rPr>
                        <m:t>=0.075509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883" y="5159584"/>
                <a:ext cx="6452317" cy="11876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2223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8632" y="1490342"/>
            <a:ext cx="8872641" cy="5142277"/>
          </a:xfrm>
        </p:spPr>
        <p:txBody>
          <a:bodyPr/>
          <a:lstStyle/>
          <a:p>
            <a:pPr marL="0" indent="0">
              <a:buNone/>
            </a:pPr>
            <a:r>
              <a:rPr lang="es-CR" b="1" dirty="0"/>
              <a:t>Cálculo de la estadística de prueba</a:t>
            </a:r>
            <a:r>
              <a:rPr lang="es-CR" dirty="0"/>
              <a:t>: 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dirty="0" smtClean="0"/>
              <a:t>Decisión estadística</a:t>
            </a:r>
            <a:r>
              <a:rPr lang="es-CR" dirty="0" smtClean="0"/>
              <a:t>: se rechaza dado que 2.58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1.645</a:t>
            </a:r>
          </a:p>
          <a:p>
            <a:pPr marL="0" indent="0">
              <a:buNone/>
            </a:pP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CR" b="1" dirty="0" smtClean="0"/>
              <a:t>Conclusión</a:t>
            </a:r>
            <a:r>
              <a:rPr lang="es-CR" dirty="0" smtClean="0"/>
              <a:t>: </a:t>
            </a:r>
            <a:r>
              <a:rPr lang="es-CR" dirty="0"/>
              <a:t>l</a:t>
            </a:r>
            <a:r>
              <a:rPr lang="es-CR" dirty="0" smtClean="0"/>
              <a:t>a proporción </a:t>
            </a:r>
            <a:r>
              <a:rPr lang="es-CR" dirty="0"/>
              <a:t>de pacientes con dieta restringida </a:t>
            </a:r>
            <a:r>
              <a:rPr lang="es-CR" dirty="0" smtClean="0"/>
              <a:t>en sodio </a:t>
            </a:r>
            <a:r>
              <a:rPr lang="es-CR" dirty="0"/>
              <a:t>es mayor entre los pacientes hipertensos que entre los </a:t>
            </a:r>
            <a:r>
              <a:rPr lang="es-CR" dirty="0" smtClean="0"/>
              <a:t>pacientes </a:t>
            </a:r>
            <a:r>
              <a:rPr lang="es-ES" dirty="0" smtClean="0"/>
              <a:t>sin hipertensión.</a:t>
            </a:r>
            <a:r>
              <a:rPr lang="es-CR" dirty="0" smtClean="0"/>
              <a:t> </a:t>
            </a: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dirty="0" smtClean="0"/>
              <a:t>Valor de </a:t>
            </a:r>
            <a:r>
              <a:rPr lang="es-CR" b="1" i="1" dirty="0" smtClean="0"/>
              <a:t>p</a:t>
            </a:r>
            <a:r>
              <a:rPr lang="es-CR" dirty="0" smtClean="0"/>
              <a:t>: para la presente, </a:t>
            </a:r>
            <a:r>
              <a:rPr lang="es-CR" i="1" dirty="0" smtClean="0"/>
              <a:t>p</a:t>
            </a:r>
            <a:r>
              <a:rPr lang="es-CR" dirty="0" smtClean="0"/>
              <a:t>=0.0034.</a:t>
            </a:r>
            <a:endParaRPr lang="es-ES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2752677" y="2336476"/>
                <a:ext cx="599728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0.4364−0.2416</m:t>
                                  </m:r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−(0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0.4364(1−0.4364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0.2416(1−0.2416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149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=2.58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677" y="2336476"/>
                <a:ext cx="5997283" cy="97443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990" y="5170965"/>
            <a:ext cx="2060740" cy="146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52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5879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7" name="13 Rectángulo redondeado"/>
          <p:cNvSpPr/>
          <p:nvPr/>
        </p:nvSpPr>
        <p:spPr>
          <a:xfrm>
            <a:off x="7320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Aplicaciones 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67506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482" y="42001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independientes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3991" y="1007918"/>
            <a:ext cx="10058400" cy="5730506"/>
          </a:xfrm>
        </p:spPr>
        <p:txBody>
          <a:bodyPr>
            <a:noAutofit/>
          </a:bodyPr>
          <a:lstStyle/>
          <a:p>
            <a:r>
              <a:rPr lang="es-CR" sz="1800" dirty="0"/>
              <a:t>¿</a:t>
            </a:r>
            <a:r>
              <a:rPr lang="es-CR" sz="1800" dirty="0" smtClean="0"/>
              <a:t>Es </a:t>
            </a:r>
            <a:r>
              <a:rPr lang="es-CR" sz="1800" dirty="0"/>
              <a:t>posible </a:t>
            </a:r>
            <a:r>
              <a:rPr lang="es-CR" sz="1800" dirty="0" smtClean="0"/>
              <a:t>concluir que </a:t>
            </a:r>
            <a:r>
              <a:rPr lang="es-CR" sz="1800" dirty="0"/>
              <a:t>los </a:t>
            </a:r>
            <a:r>
              <a:rPr lang="es-CR" sz="1800" dirty="0" smtClean="0"/>
              <a:t>niños crónicamente </a:t>
            </a:r>
            <a:r>
              <a:rPr lang="es-CR" sz="1800" dirty="0"/>
              <a:t>enfermos tienden, en promedio, a </a:t>
            </a:r>
            <a:r>
              <a:rPr lang="es-CR" sz="1800" dirty="0" smtClean="0"/>
              <a:t>tener menos </a:t>
            </a:r>
            <a:r>
              <a:rPr lang="es-CR" sz="1800" dirty="0"/>
              <a:t>confianza en </a:t>
            </a:r>
            <a:r>
              <a:rPr lang="es-CR" sz="1800" dirty="0" smtClean="0"/>
              <a:t>sí </a:t>
            </a:r>
            <a:r>
              <a:rPr lang="es-CR" sz="1800" dirty="0"/>
              <a:t>mismos que los </a:t>
            </a:r>
            <a:r>
              <a:rPr lang="es-CR" sz="1800" dirty="0" smtClean="0"/>
              <a:t>niños </a:t>
            </a:r>
            <a:r>
              <a:rPr lang="es-CR" sz="1800" dirty="0"/>
              <a:t>sanos? Se </a:t>
            </a:r>
            <a:r>
              <a:rPr lang="es-CR" sz="1800" dirty="0" smtClean="0"/>
              <a:t>aplicó </a:t>
            </a:r>
            <a:r>
              <a:rPr lang="es-CR" sz="1800" dirty="0"/>
              <a:t>una prueba </a:t>
            </a:r>
            <a:r>
              <a:rPr lang="es-CR" sz="1800" dirty="0" smtClean="0"/>
              <a:t>diseñada para</a:t>
            </a:r>
            <a:r>
              <a:rPr lang="es-CR" sz="1800" dirty="0"/>
              <a:t> estimar la confianza en </a:t>
            </a:r>
            <a:r>
              <a:rPr lang="es-CR" sz="1800" dirty="0" err="1"/>
              <a:t>Sl</a:t>
            </a:r>
            <a:r>
              <a:rPr lang="es-CR" sz="1800" dirty="0"/>
              <a:t> mismos en 16 </a:t>
            </a:r>
            <a:r>
              <a:rPr lang="es-CR" sz="1800" dirty="0" err="1"/>
              <a:t>niiios</a:t>
            </a:r>
            <a:r>
              <a:rPr lang="es-CR" sz="1800" dirty="0"/>
              <a:t> cr6nicamente enfermos y 21 </a:t>
            </a:r>
            <a:r>
              <a:rPr lang="es-CR" sz="1800" dirty="0" smtClean="0"/>
              <a:t>niños </a:t>
            </a:r>
            <a:r>
              <a:rPr lang="es-CR" sz="1800" dirty="0"/>
              <a:t>sanos. </a:t>
            </a:r>
            <a:r>
              <a:rPr lang="es-CR" sz="1800" dirty="0" smtClean="0"/>
              <a:t>Las calificaciones </a:t>
            </a:r>
            <a:r>
              <a:rPr lang="es-CR" sz="1800" dirty="0"/>
              <a:t>medias y desviaciones </a:t>
            </a:r>
            <a:r>
              <a:rPr lang="es-CR" sz="1800" dirty="0" smtClean="0"/>
              <a:t>estándar </a:t>
            </a:r>
            <a:r>
              <a:rPr lang="es-CR" sz="1800" dirty="0"/>
              <a:t>fueron las </a:t>
            </a:r>
            <a:r>
              <a:rPr lang="es-CR" sz="1800" dirty="0" smtClean="0"/>
              <a:t>siguientes (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ES" sz="1800" dirty="0" smtClean="0"/>
              <a:t> </a:t>
            </a:r>
            <a:r>
              <a:rPr lang="es-ES" sz="1800" dirty="0"/>
              <a:t>= .05.</a:t>
            </a:r>
            <a:r>
              <a:rPr lang="es-CR" sz="1800" dirty="0" smtClean="0"/>
              <a:t>):</a:t>
            </a:r>
          </a:p>
          <a:p>
            <a:endParaRPr lang="es-CR" sz="1800" dirty="0"/>
          </a:p>
          <a:p>
            <a:endParaRPr lang="es-CR" sz="1800" dirty="0" smtClean="0"/>
          </a:p>
          <a:p>
            <a:endParaRPr lang="es-CR" sz="1800" dirty="0" smtClean="0"/>
          </a:p>
          <a:p>
            <a:pPr marL="0" indent="0">
              <a:buNone/>
            </a:pPr>
            <a:endParaRPr lang="es-CR" sz="1800" dirty="0"/>
          </a:p>
          <a:p>
            <a:r>
              <a:rPr lang="es-CR" sz="1800" dirty="0"/>
              <a:t>Un investigador de </a:t>
            </a:r>
            <a:r>
              <a:rPr lang="es-CR" sz="1800" dirty="0" smtClean="0"/>
              <a:t>enfermería </a:t>
            </a:r>
            <a:r>
              <a:rPr lang="es-CR" sz="1800" dirty="0"/>
              <a:t>desea saber si los graduados de los programas de enfermería </a:t>
            </a:r>
            <a:r>
              <a:rPr lang="es-CR" sz="1800" dirty="0" smtClean="0"/>
              <a:t>a </a:t>
            </a:r>
            <a:r>
              <a:rPr lang="es-CR" sz="1800" dirty="0"/>
              <a:t>nivel bachillerato y los graduados en programas asociados de enfermería </a:t>
            </a:r>
            <a:r>
              <a:rPr lang="es-CR" sz="1800" dirty="0" smtClean="0"/>
              <a:t>difieren </a:t>
            </a:r>
            <a:r>
              <a:rPr lang="es-CR" sz="1800" dirty="0"/>
              <a:t>en </a:t>
            </a:r>
            <a:r>
              <a:rPr lang="es-CR" sz="1800" dirty="0" smtClean="0"/>
              <a:t>cuanto a </a:t>
            </a:r>
            <a:r>
              <a:rPr lang="es-CR" sz="1800" dirty="0"/>
              <a:t>las calificaciones medias obtenidas en un estudio de personalidad. Una muestra de </a:t>
            </a:r>
            <a:r>
              <a:rPr lang="es-CR" sz="1800" dirty="0" smtClean="0"/>
              <a:t>50 graduados </a:t>
            </a:r>
            <a:r>
              <a:rPr lang="es-CR" sz="1800" dirty="0"/>
              <a:t>de programas asociados (grupo A) y una muestra de 60 graduados de </a:t>
            </a:r>
            <a:r>
              <a:rPr lang="es-CR" sz="1800" dirty="0" smtClean="0"/>
              <a:t>bachillerato (grupo </a:t>
            </a:r>
            <a:r>
              <a:rPr lang="es-CR" sz="1800" dirty="0"/>
              <a:t>B) proporcionaron las siguientes medias y desviaciones </a:t>
            </a:r>
            <a:r>
              <a:rPr lang="es-CR" sz="1800" dirty="0" smtClean="0"/>
              <a:t>estándar</a:t>
            </a:r>
            <a:r>
              <a:rPr lang="es-CR" sz="1800" dirty="0"/>
              <a:t> (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ES" sz="1800" dirty="0"/>
              <a:t> = .05.</a:t>
            </a:r>
            <a:r>
              <a:rPr lang="es-CR" sz="1800" dirty="0"/>
              <a:t>):</a:t>
            </a:r>
            <a:endParaRPr lang="es-ES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93" y="2312927"/>
            <a:ext cx="3485412" cy="142734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067" y="5202089"/>
            <a:ext cx="3192247" cy="149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07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PAREADAS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34" y="1584696"/>
            <a:ext cx="7897810" cy="44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4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PAREADAS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2" y="1489833"/>
            <a:ext cx="9935053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033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683482" y="154545"/>
            <a:ext cx="10058400" cy="965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dirty="0" smtClean="0"/>
              <a:t>Aplicación: una proporción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51" y="1711734"/>
            <a:ext cx="9837331" cy="440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6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940828" cy="965917"/>
          </a:xfrm>
        </p:spPr>
        <p:txBody>
          <a:bodyPr/>
          <a:lstStyle/>
          <a:p>
            <a:pPr algn="ctr"/>
            <a:r>
              <a:rPr lang="es-CR" dirty="0" smtClean="0"/>
              <a:t>Aplicación: diferencia de proporciones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57" y="1120462"/>
            <a:ext cx="9837331" cy="530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7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6516" y="252620"/>
            <a:ext cx="10058400" cy="948383"/>
          </a:xfrm>
        </p:spPr>
        <p:txBody>
          <a:bodyPr/>
          <a:lstStyle/>
          <a:p>
            <a:pPr algn="ctr"/>
            <a:r>
              <a:rPr lang="es-CR" dirty="0" smtClean="0"/>
              <a:t>Reseñas finales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946" y="1412748"/>
            <a:ext cx="8831774" cy="4690872"/>
          </a:xfrm>
        </p:spPr>
        <p:txBody>
          <a:bodyPr/>
          <a:lstStyle/>
          <a:p>
            <a:pPr algn="just"/>
            <a:r>
              <a:rPr lang="es-ES" dirty="0"/>
              <a:t>El presente tema continuo con el tema de prueba de hipótesis.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Se presentaron las pruebas de diferencias de medias independientes para variancia conocida y desconocida, medias pareadas, diferencia en una proporción y </a:t>
            </a:r>
            <a:r>
              <a:rPr lang="es-ES" dirty="0" smtClean="0"/>
              <a:t>diferencia en las proporciones.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Interesa saber el caso donde en vez de comparar dos medias o poblaciones, se pueden comprar 3 o más.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El siguiente tema , Análisis de Variancia, trata sobre la comparación de 2 o más medias.</a:t>
            </a:r>
          </a:p>
          <a:p>
            <a:pPr algn="just"/>
            <a:endParaRPr lang="es-ES" dirty="0" smtClean="0"/>
          </a:p>
          <a:p>
            <a:pPr algn="just"/>
            <a:endParaRPr lang="es-ES" dirty="0"/>
          </a:p>
        </p:txBody>
      </p:sp>
      <p:pic>
        <p:nvPicPr>
          <p:cNvPr id="10242" name="Picture 2" descr="https://minerva5.files.wordpress.com/2012/09/gossip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r="13686"/>
          <a:stretch/>
        </p:blipFill>
        <p:spPr bwMode="auto">
          <a:xfrm>
            <a:off x="9732643" y="1155381"/>
            <a:ext cx="2108835" cy="417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5923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http://www.zemos98.org/festivales/zemos987/fotogramas/the%20end%20(short%20version)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388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Tipo de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TM03090434[[fn=Madera]]</Template>
  <TotalTime>1450</TotalTime>
  <Words>4549</Words>
  <Application>Microsoft Office PowerPoint</Application>
  <PresentationFormat>Personalizado</PresentationFormat>
  <Paragraphs>407</Paragraphs>
  <Slides>55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56" baseType="lpstr">
      <vt:lpstr>Tipo de madera</vt:lpstr>
      <vt:lpstr>Comparación de medias</vt:lpstr>
      <vt:lpstr>Introducción</vt:lpstr>
      <vt:lpstr>Introducción</vt:lpstr>
      <vt:lpstr>Índice</vt:lpstr>
      <vt:lpstr>Recordatorio: Pasos de una prueba de hipótesis: resumen</vt:lpstr>
      <vt:lpstr>Índice</vt:lpstr>
      <vt:lpstr>Medias independientes con igual variancia </vt:lpstr>
      <vt:lpstr>Medias independientes con igual variancia </vt:lpstr>
      <vt:lpstr>Medias independientes con variancia conocida</vt:lpstr>
      <vt:lpstr>Presentación de PowerPoint</vt:lpstr>
      <vt:lpstr>Presentación de PowerPoint</vt:lpstr>
      <vt:lpstr>Presentación de PowerPoint</vt:lpstr>
      <vt:lpstr>Medias independientes con variancia conocida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Índice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Índice</vt:lpstr>
      <vt:lpstr>Comparación en la proporción </vt:lpstr>
      <vt:lpstr>Comparación en la proporción </vt:lpstr>
      <vt:lpstr>Comparación en la proporción </vt:lpstr>
      <vt:lpstr>Comparación en la proporción </vt:lpstr>
      <vt:lpstr>Comparación en la proporción </vt:lpstr>
      <vt:lpstr>Índice</vt:lpstr>
      <vt:lpstr>Comparación de proporciones</vt:lpstr>
      <vt:lpstr>Comparación de proporciones</vt:lpstr>
      <vt:lpstr>Comparación de proporciones</vt:lpstr>
      <vt:lpstr>Comparación de proporciones</vt:lpstr>
      <vt:lpstr>Comparación de proporciones</vt:lpstr>
      <vt:lpstr>Comparación de proporciones</vt:lpstr>
      <vt:lpstr>Índice</vt:lpstr>
      <vt:lpstr>Aplicación: medias independientes</vt:lpstr>
      <vt:lpstr>Aplicación: MEDIAS PAREADAS</vt:lpstr>
      <vt:lpstr>Aplicación: MEDIAS PAREADAS</vt:lpstr>
      <vt:lpstr>Presentación de PowerPoint</vt:lpstr>
      <vt:lpstr>Aplicación: diferencia de proporciones</vt:lpstr>
      <vt:lpstr>Reseñas finales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medias</dc:title>
  <dc:creator>Oscar</dc:creator>
  <cp:lastModifiedBy>Oscar Centeno Mora</cp:lastModifiedBy>
  <cp:revision>104</cp:revision>
  <dcterms:created xsi:type="dcterms:W3CDTF">2016-03-22T16:11:04Z</dcterms:created>
  <dcterms:modified xsi:type="dcterms:W3CDTF">2016-05-09T22:02:00Z</dcterms:modified>
</cp:coreProperties>
</file>