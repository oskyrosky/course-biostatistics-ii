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342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279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28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281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265" r:id="rId6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EFA57-9F40-4F18-88BA-F38C27B9903C}" type="datetimeFigureOut">
              <a:rPr lang="es-CR" smtClean="0"/>
              <a:t>19/3/2018</a:t>
            </a:fld>
            <a:endParaRPr lang="es-C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93211-980A-4247-8163-CD21A3AF5B09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7853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2 Marcador de notas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R" smtClean="0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8F9754E-158D-4985-B76B-A47892EC50A3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19/03/2018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81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8856984" cy="1728192"/>
          </a:xfrm>
        </p:spPr>
        <p:txBody>
          <a:bodyPr>
            <a:noAutofit/>
          </a:bodyPr>
          <a:lstStyle/>
          <a:p>
            <a:r>
              <a:rPr lang="es-CR" sz="3600" dirty="0" smtClean="0"/>
              <a:t>Revisión de temas: probabilidades, función de probabilidades, la curva normal y la estandarización  </a:t>
            </a:r>
            <a:endParaRPr lang="es-CR" sz="3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55776" y="5949280"/>
            <a:ext cx="6400800" cy="816496"/>
          </a:xfrm>
        </p:spPr>
        <p:txBody>
          <a:bodyPr/>
          <a:lstStyle/>
          <a:p>
            <a:pPr algn="r"/>
            <a:r>
              <a:rPr lang="es-CR" dirty="0" smtClean="0"/>
              <a:t>Oscar Centeno Mora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65995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/>
          <a:lstStyle/>
          <a:p>
            <a:r>
              <a:rPr lang="es-CR" dirty="0" smtClean="0"/>
              <a:t>Las probabilidades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38080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-16"/>
            <a:ext cx="8229600" cy="785810"/>
          </a:xfrm>
        </p:spPr>
        <p:txBody>
          <a:bodyPr/>
          <a:lstStyle/>
          <a:p>
            <a:pPr algn="ctr"/>
            <a:r>
              <a:rPr lang="es-CR" dirty="0" smtClean="0"/>
              <a:t>La esencia de la probabilidad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000108"/>
            <a:ext cx="5643602" cy="557216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Las probabilidad nacen en Francia en el XVII siglo, a razón de los juegos de azar de la época (cartas y dados).</a:t>
            </a:r>
          </a:p>
          <a:p>
            <a:endParaRPr lang="es-CR" sz="2400" dirty="0" smtClean="0"/>
          </a:p>
          <a:p>
            <a:r>
              <a:rPr lang="es-CR" sz="2400" dirty="0" smtClean="0"/>
              <a:t>La probabilidad es un número (resultado) que está siempre en “0” y “1”</a:t>
            </a:r>
          </a:p>
          <a:p>
            <a:endParaRPr lang="es-CR" sz="2400" dirty="0" smtClean="0"/>
          </a:p>
          <a:p>
            <a:r>
              <a:rPr lang="es-CR" sz="2400" dirty="0" smtClean="0"/>
              <a:t>Matemáticamente:</a:t>
            </a:r>
            <a:endParaRPr lang="es-CR" sz="2400" dirty="0"/>
          </a:p>
        </p:txBody>
      </p:sp>
      <p:sp>
        <p:nvSpPr>
          <p:cNvPr id="8" name="7 Rectángulo redondeado"/>
          <p:cNvSpPr/>
          <p:nvPr/>
        </p:nvSpPr>
        <p:spPr>
          <a:xfrm>
            <a:off x="1071538" y="4786322"/>
            <a:ext cx="6929486" cy="157163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6000" dirty="0" smtClean="0"/>
              <a:t>0 ≤ Probabilidad ≤ 1</a:t>
            </a:r>
            <a:endParaRPr lang="es-CR" sz="6000" dirty="0"/>
          </a:p>
        </p:txBody>
      </p:sp>
      <p:pic>
        <p:nvPicPr>
          <p:cNvPr id="39941" name="Picture 5" descr="http://www.mapasdechile.com.ar/blog/wp-content/uploads/2008/09/casino-ch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9322" y="1071546"/>
            <a:ext cx="3000396" cy="34290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5242474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00108"/>
            <a:ext cx="6000792" cy="5857892"/>
          </a:xfrm>
        </p:spPr>
        <p:txBody>
          <a:bodyPr>
            <a:normAutofit/>
          </a:bodyPr>
          <a:lstStyle/>
          <a:p>
            <a:r>
              <a:rPr lang="es-CR" sz="2400" dirty="0" smtClean="0"/>
              <a:t>Si el número o el resultado tiene muchos chances de que </a:t>
            </a:r>
            <a:r>
              <a:rPr lang="es-CR" sz="2400" dirty="0" err="1" smtClean="0"/>
              <a:t>ocuarra</a:t>
            </a:r>
            <a:r>
              <a:rPr lang="es-CR" sz="2400" dirty="0" smtClean="0"/>
              <a:t>, entonces se tendrá una probabilidad muy cercana a “1”.</a:t>
            </a:r>
          </a:p>
          <a:p>
            <a:r>
              <a:rPr lang="es-CR" sz="2400" dirty="0" smtClean="0"/>
              <a:t>De lo contrario, si las posibilidades son muy reducidas, entonces se tendrá una probabilidad muy cercana a “0”.</a:t>
            </a:r>
          </a:p>
          <a:p>
            <a:endParaRPr lang="es-CR" sz="2400" dirty="0" smtClean="0"/>
          </a:p>
          <a:p>
            <a:r>
              <a:rPr lang="es-CR" sz="2400" dirty="0" smtClean="0"/>
              <a:t>También están los casos extremos:</a:t>
            </a:r>
          </a:p>
          <a:p>
            <a:endParaRPr lang="es-CR" sz="2400" dirty="0" smtClean="0"/>
          </a:p>
          <a:p>
            <a:pPr>
              <a:buNone/>
            </a:pPr>
            <a:r>
              <a:rPr lang="es-CR" sz="2400" dirty="0" smtClean="0"/>
              <a:t>	-La probabilidad de que el sol brille 	tiene una </a:t>
            </a:r>
            <a:r>
              <a:rPr lang="es-CR" sz="2400" dirty="0" err="1" smtClean="0"/>
              <a:t>probabilidadd</a:t>
            </a:r>
            <a:r>
              <a:rPr lang="es-CR" sz="2400" dirty="0" smtClean="0"/>
              <a:t> de “1”.</a:t>
            </a:r>
          </a:p>
          <a:p>
            <a:pPr>
              <a:buNone/>
            </a:pPr>
            <a:r>
              <a:rPr lang="es-CR" sz="2400" dirty="0" smtClean="0"/>
              <a:t>	-La probabilidad de que el cuerpo de un ser humano viva durante 200 años tiene una probabilidad de “0”.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-16"/>
            <a:ext cx="8229600" cy="785810"/>
          </a:xfrm>
        </p:spPr>
        <p:txBody>
          <a:bodyPr/>
          <a:lstStyle/>
          <a:p>
            <a:pPr algn="ctr"/>
            <a:r>
              <a:rPr lang="es-CR" dirty="0" smtClean="0"/>
              <a:t>La esencia de la probabilidad</a:t>
            </a:r>
            <a:endParaRPr lang="es-CR" dirty="0"/>
          </a:p>
        </p:txBody>
      </p:sp>
      <p:pic>
        <p:nvPicPr>
          <p:cNvPr id="38914" name="Picture 2" descr="http://gonzalezdelariva.files.wordpress.com/2008/03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071546"/>
            <a:ext cx="2714644" cy="2714644"/>
          </a:xfrm>
          <a:prstGeom prst="rect">
            <a:avLst/>
          </a:prstGeom>
          <a:noFill/>
        </p:spPr>
      </p:pic>
      <p:pic>
        <p:nvPicPr>
          <p:cNvPr id="38916" name="Picture 4" descr="http://sites.google.com/site/mates1sec2/dado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12" y="4000504"/>
            <a:ext cx="2428892" cy="2643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4178775"/>
      </p:ext>
    </p:extLst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00108"/>
            <a:ext cx="5941894" cy="5500726"/>
          </a:xfrm>
        </p:spPr>
        <p:txBody>
          <a:bodyPr>
            <a:normAutofit lnSpcReduction="10000"/>
          </a:bodyPr>
          <a:lstStyle/>
          <a:p>
            <a:pPr algn="just"/>
            <a:r>
              <a:rPr lang="es-CR" sz="2400" dirty="0" smtClean="0"/>
              <a:t>En el primer caso, cuando se tiene certeza de que la probabilidad de ocurrencia sea de “1”, entonces es un “</a:t>
            </a:r>
            <a:r>
              <a:rPr lang="es-CR" sz="2400" i="1" dirty="0" smtClean="0"/>
              <a:t>evento completamente seguro</a:t>
            </a:r>
            <a:r>
              <a:rPr lang="es-CR" sz="2400" dirty="0" smtClean="0"/>
              <a:t>”.</a:t>
            </a:r>
          </a:p>
          <a:p>
            <a:pPr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El segundo caso, cuando se tiene certeza de que la probabilidad de ocurrencia es de “0”, entonces es un evento “completamente imposible”.</a:t>
            </a:r>
          </a:p>
          <a:p>
            <a:pPr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También le asignamos una probabilidad de 0.5 a un fenómeno que tenga la misma posibilidad de ocurrir y de no ocurrir. Somos totalmente indiferentes ante el evento.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-16"/>
            <a:ext cx="8229600" cy="785810"/>
          </a:xfrm>
        </p:spPr>
        <p:txBody>
          <a:bodyPr/>
          <a:lstStyle/>
          <a:p>
            <a:pPr algn="ctr"/>
            <a:r>
              <a:rPr lang="es-CR" dirty="0" smtClean="0"/>
              <a:t>La esencia de la probabilidad</a:t>
            </a:r>
            <a:endParaRPr lang="es-CR" dirty="0"/>
          </a:p>
        </p:txBody>
      </p:sp>
      <p:pic>
        <p:nvPicPr>
          <p:cNvPr id="37890" name="Picture 2" descr="http://www.casinosdeluxe.com/wp-content/uploads/roulette965-500x3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8" y="3929066"/>
            <a:ext cx="2500330" cy="2571768"/>
          </a:xfrm>
          <a:prstGeom prst="rect">
            <a:avLst/>
          </a:prstGeom>
          <a:noFill/>
        </p:spPr>
      </p:pic>
      <p:pic>
        <p:nvPicPr>
          <p:cNvPr id="37892" name="Picture 4" descr="http://www.sistemasderuleta.com/blog/wp-content/uploads/2009/10/PokerCard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8" y="928670"/>
            <a:ext cx="2508965" cy="2857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5434536"/>
      </p:ext>
    </p:extLst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5871596" cy="5500726"/>
          </a:xfrm>
        </p:spPr>
        <p:txBody>
          <a:bodyPr>
            <a:normAutofit lnSpcReduction="10000"/>
          </a:bodyPr>
          <a:lstStyle/>
          <a:p>
            <a:r>
              <a:rPr lang="es-CR" sz="2400" dirty="0" smtClean="0"/>
              <a:t>En resumidas cuentas</a:t>
            </a:r>
          </a:p>
          <a:p>
            <a:pPr>
              <a:buNone/>
            </a:pPr>
            <a:endParaRPr lang="es-CR" sz="2400" dirty="0" smtClean="0"/>
          </a:p>
          <a:p>
            <a:pPr algn="just">
              <a:buNone/>
            </a:pPr>
            <a:r>
              <a:rPr lang="es-CR" sz="2400" dirty="0" smtClean="0"/>
              <a:t>	-Asignamos una probabilidad mayor o igual a “0”, pero menor a “0.5”, a un fenómeno que tenga más posibilidad de no ocurrir que de ocurrir.</a:t>
            </a:r>
          </a:p>
          <a:p>
            <a:pPr algn="just">
              <a:buNone/>
            </a:pPr>
            <a:endParaRPr lang="es-CR" sz="2400" dirty="0" smtClean="0"/>
          </a:p>
          <a:p>
            <a:pPr algn="just">
              <a:buNone/>
            </a:pPr>
            <a:r>
              <a:rPr lang="es-CR" sz="2400" dirty="0" smtClean="0"/>
              <a:t>	-Asignamos una probabilidad mayor a 0.5 pero menor o igual a 1, a un fenómeno que tenga más posibilidad de ocurrir que de no ocurrir.</a:t>
            </a:r>
          </a:p>
          <a:p>
            <a:pPr algn="just">
              <a:buNone/>
            </a:pPr>
            <a:endParaRPr lang="es-CR" sz="2400" dirty="0" smtClean="0"/>
          </a:p>
          <a:p>
            <a:pPr algn="just">
              <a:buNone/>
            </a:pPr>
            <a:r>
              <a:rPr lang="es-CR" sz="2400" dirty="0" smtClean="0"/>
              <a:t>	-Asignamos una probabilidad de 0.5 si somos completamente indiferentes a la ocurrencia del evento.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57200" y="-16"/>
            <a:ext cx="8229600" cy="785810"/>
          </a:xfrm>
        </p:spPr>
        <p:txBody>
          <a:bodyPr/>
          <a:lstStyle/>
          <a:p>
            <a:pPr algn="ctr"/>
            <a:r>
              <a:rPr lang="es-CR" dirty="0" smtClean="0"/>
              <a:t>La esencia de la probabilidad</a:t>
            </a:r>
            <a:endParaRPr lang="es-CR" dirty="0"/>
          </a:p>
        </p:txBody>
      </p:sp>
      <p:pic>
        <p:nvPicPr>
          <p:cNvPr id="3074" name="Picture 2" descr="http://blogs.adobe.com/captivate/files/2012/01/Book_Rapid-eLearn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412776"/>
            <a:ext cx="2254622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ollymediastudios.files.wordpress.com/2011/07/learn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838" y="4437112"/>
            <a:ext cx="1991407" cy="172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625038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928670"/>
          </a:xfrm>
        </p:spPr>
        <p:txBody>
          <a:bodyPr/>
          <a:lstStyle/>
          <a:p>
            <a:pPr algn="ctr"/>
            <a:r>
              <a:rPr lang="es-CR" dirty="0" smtClean="0"/>
              <a:t>Los 3 enfoques de la probabilidad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7772400" cy="4572000"/>
          </a:xfrm>
        </p:spPr>
        <p:txBody>
          <a:bodyPr>
            <a:normAutofit/>
          </a:bodyPr>
          <a:lstStyle/>
          <a:p>
            <a:r>
              <a:rPr lang="es-CR" sz="2400" dirty="0" smtClean="0"/>
              <a:t>Actualmente hay 3 grandes conceptos o formas de ver la probabilidad. </a:t>
            </a:r>
            <a:endParaRPr lang="es-CR" sz="2400" dirty="0"/>
          </a:p>
        </p:txBody>
      </p:sp>
      <p:sp>
        <p:nvSpPr>
          <p:cNvPr id="4" name="3 Elipse"/>
          <p:cNvSpPr/>
          <p:nvPr/>
        </p:nvSpPr>
        <p:spPr>
          <a:xfrm>
            <a:off x="3357554" y="2000240"/>
            <a:ext cx="2500330" cy="192882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400" dirty="0" smtClean="0"/>
              <a:t>Probabilidad</a:t>
            </a:r>
            <a:endParaRPr lang="es-CR" sz="24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142844" y="5072074"/>
            <a:ext cx="2786082" cy="142876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Probabilidad clásica o a priori</a:t>
            </a:r>
            <a:endParaRPr lang="es-CR" sz="2800" dirty="0"/>
          </a:p>
        </p:txBody>
      </p:sp>
      <p:sp>
        <p:nvSpPr>
          <p:cNvPr id="6" name="5 Rectángulo redondeado"/>
          <p:cNvSpPr/>
          <p:nvPr/>
        </p:nvSpPr>
        <p:spPr>
          <a:xfrm>
            <a:off x="3214678" y="5072074"/>
            <a:ext cx="2786082" cy="14287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400" dirty="0" smtClean="0"/>
              <a:t>Probabilidad según la frecuencia relativa</a:t>
            </a:r>
            <a:endParaRPr lang="es-CR" sz="2400" dirty="0"/>
          </a:p>
        </p:txBody>
      </p:sp>
      <p:sp>
        <p:nvSpPr>
          <p:cNvPr id="7" name="6 Rectángulo redondeado"/>
          <p:cNvSpPr/>
          <p:nvPr/>
        </p:nvSpPr>
        <p:spPr>
          <a:xfrm>
            <a:off x="6286512" y="5000636"/>
            <a:ext cx="2786082" cy="142876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Probabilidad subjetiva</a:t>
            </a:r>
            <a:endParaRPr lang="es-CR" sz="2800" dirty="0"/>
          </a:p>
        </p:txBody>
      </p:sp>
      <p:cxnSp>
        <p:nvCxnSpPr>
          <p:cNvPr id="9" name="8 Conector recto"/>
          <p:cNvCxnSpPr>
            <a:stCxn id="4" idx="3"/>
            <a:endCxn id="5" idx="0"/>
          </p:cNvCxnSpPr>
          <p:nvPr/>
        </p:nvCxnSpPr>
        <p:spPr>
          <a:xfrm rot="5400000">
            <a:off x="1917063" y="3265418"/>
            <a:ext cx="1425478" cy="2187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stCxn id="4" idx="4"/>
            <a:endCxn id="6" idx="0"/>
          </p:cNvCxnSpPr>
          <p:nvPr/>
        </p:nvCxnSpPr>
        <p:spPr>
          <a:xfrm rot="5400000">
            <a:off x="4036215" y="4500570"/>
            <a:ext cx="1143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>
            <a:stCxn id="4" idx="5"/>
            <a:endCxn id="7" idx="0"/>
          </p:cNvCxnSpPr>
          <p:nvPr/>
        </p:nvCxnSpPr>
        <p:spPr>
          <a:xfrm rot="16200000" flipH="1">
            <a:off x="5908616" y="3229699"/>
            <a:ext cx="1354040" cy="2187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527417"/>
      </p:ext>
    </p:extLst>
  </p:cSld>
  <p:clrMapOvr>
    <a:masterClrMapping/>
  </p:clrMapOvr>
  <p:transition>
    <p:wheel spokes="2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836712"/>
            <a:ext cx="7772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3600" dirty="0" smtClean="0"/>
              <a:t>¿De cuerdo al total de resultados posible, cuál es la posibilidad de obtener… o de que..?</a:t>
            </a:r>
            <a:endParaRPr lang="es-CR" sz="3600" dirty="0"/>
          </a:p>
        </p:txBody>
      </p:sp>
      <p:pic>
        <p:nvPicPr>
          <p:cNvPr id="4" name="Picture 2" descr="https://agencelitterairelaens.files.wordpress.com/2013/08/bonhomme_ques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64097"/>
            <a:ext cx="277177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://instruction2.mtsac.edu/french/french4/images/MC900078711%5b1%5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501" y="2363300"/>
            <a:ext cx="162877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07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3218" y="-20783"/>
            <a:ext cx="8676499" cy="1143000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Probabilidad clásica o a priori</a:t>
            </a:r>
            <a:endParaRPr lang="es-CR" sz="48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285860"/>
            <a:ext cx="6500858" cy="5167476"/>
          </a:xfrm>
        </p:spPr>
        <p:txBody>
          <a:bodyPr>
            <a:normAutofit fontScale="92500"/>
          </a:bodyPr>
          <a:lstStyle/>
          <a:p>
            <a:r>
              <a:rPr lang="es-CR" sz="2400" dirty="0" smtClean="0"/>
              <a:t>La definición formal de la </a:t>
            </a:r>
            <a:r>
              <a:rPr lang="es-CR" sz="2400" i="1" dirty="0" smtClean="0"/>
              <a:t>Probabilidad Clásica </a:t>
            </a:r>
            <a:r>
              <a:rPr lang="es-CR" sz="2400" dirty="0" smtClean="0"/>
              <a:t>es la siguiente:</a:t>
            </a:r>
          </a:p>
          <a:p>
            <a:pPr>
              <a:buNone/>
            </a:pPr>
            <a:endParaRPr lang="es-CR" sz="2400" dirty="0" smtClean="0"/>
          </a:p>
          <a:p>
            <a:pPr>
              <a:buNone/>
            </a:pPr>
            <a:r>
              <a:rPr lang="es-CR" sz="2400" i="1" dirty="0" smtClean="0"/>
              <a:t>	“Si un experimento puede ocurrir de N resultados igualmente probables y mutuamente excluyentes y si dentro de estos N resultados el eventos “E” puede ocurrir Ne veces, entonces la </a:t>
            </a:r>
            <a:r>
              <a:rPr lang="es-CR" sz="2400" i="1" dirty="0" err="1" smtClean="0"/>
              <a:t>proabilidad</a:t>
            </a:r>
            <a:r>
              <a:rPr lang="es-CR" sz="2400" i="1" dirty="0" smtClean="0"/>
              <a:t> del evento E, que se escribe P(E), está dada por:</a:t>
            </a:r>
          </a:p>
          <a:p>
            <a:pPr>
              <a:buNone/>
            </a:pPr>
            <a:endParaRPr lang="es-CR" sz="2400" i="1" dirty="0" smtClean="0"/>
          </a:p>
          <a:p>
            <a:pPr>
              <a:buNone/>
            </a:pPr>
            <a:endParaRPr lang="es-CR" sz="2400" i="1" dirty="0" smtClean="0"/>
          </a:p>
          <a:p>
            <a:pPr>
              <a:buNone/>
            </a:pPr>
            <a:endParaRPr lang="es-CR" sz="2400" i="1" dirty="0" smtClean="0"/>
          </a:p>
          <a:p>
            <a:pPr>
              <a:buNone/>
            </a:pPr>
            <a:endParaRPr lang="es-CR" sz="2400" i="1" dirty="0" smtClean="0"/>
          </a:p>
          <a:p>
            <a:pPr>
              <a:buNone/>
            </a:pPr>
            <a:r>
              <a:rPr lang="es-CR" sz="2400" dirty="0" smtClean="0"/>
              <a:t>….ejemplifiquemos la definición anterior…..</a:t>
            </a:r>
          </a:p>
          <a:p>
            <a:pPr>
              <a:buNone/>
            </a:pPr>
            <a:endParaRPr lang="es-CR" i="1" dirty="0"/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48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7422" y="4714884"/>
            <a:ext cx="2071702" cy="1077285"/>
          </a:xfrm>
          <a:prstGeom prst="rect">
            <a:avLst/>
          </a:prstGeom>
          <a:noFill/>
        </p:spPr>
      </p:pic>
      <p:pic>
        <p:nvPicPr>
          <p:cNvPr id="34820" name="Picture 4" descr="http://4.bp.blogspot.com/_n0EM_zLV8hI/SZlu8gi-82I/AAAAAAAACHU/UZ28E_3ZBMQ/s400/Probabilidad+y+Estadistica+-+Alejandro+D.+Zylberberg-book+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43702" y="1785926"/>
            <a:ext cx="2286016" cy="2500330"/>
          </a:xfrm>
          <a:prstGeom prst="rect">
            <a:avLst/>
          </a:prstGeom>
          <a:noFill/>
        </p:spPr>
      </p:pic>
      <p:pic>
        <p:nvPicPr>
          <p:cNvPr id="34822" name="Picture 6" descr="confuse por Tall Chris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00826" y="4500570"/>
            <a:ext cx="2428892" cy="21394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7704779"/>
      </p:ext>
    </p:extLst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1692" y="1293056"/>
            <a:ext cx="6756357" cy="5350654"/>
          </a:xfrm>
        </p:spPr>
        <p:txBody>
          <a:bodyPr>
            <a:normAutofit/>
          </a:bodyPr>
          <a:lstStyle/>
          <a:p>
            <a:r>
              <a:rPr lang="es-CR" sz="2400" dirty="0" smtClean="0"/>
              <a:t>Entonces la probabilidad del evento “4” (E), se escribe como P(4), y está dado por: </a:t>
            </a:r>
          </a:p>
          <a:p>
            <a:endParaRPr lang="es-CR" sz="2400" dirty="0" smtClean="0"/>
          </a:p>
          <a:p>
            <a:endParaRPr lang="es-CR" sz="2400" dirty="0" smtClean="0"/>
          </a:p>
          <a:p>
            <a:endParaRPr lang="es-CR" sz="2400" dirty="0" smtClean="0"/>
          </a:p>
          <a:p>
            <a:r>
              <a:rPr lang="es-CR" sz="2400" dirty="0" smtClean="0"/>
              <a:t>De acuerdo a todo lo anterior, cuál sería la probabilidad de tener:</a:t>
            </a:r>
          </a:p>
          <a:p>
            <a:pPr>
              <a:buNone/>
            </a:pPr>
            <a:r>
              <a:rPr lang="es-CR" sz="2400" dirty="0" smtClean="0"/>
              <a:t>	-Un número par.</a:t>
            </a:r>
          </a:p>
          <a:p>
            <a:pPr>
              <a:buNone/>
            </a:pPr>
            <a:r>
              <a:rPr lang="es-CR" sz="2400" dirty="0" smtClean="0"/>
              <a:t>	-Un número impar.</a:t>
            </a:r>
          </a:p>
          <a:p>
            <a:pPr>
              <a:buNone/>
            </a:pPr>
            <a:r>
              <a:rPr lang="es-CR" sz="2400" dirty="0" smtClean="0"/>
              <a:t>	-Un número menor a 5.</a:t>
            </a:r>
          </a:p>
          <a:p>
            <a:pPr>
              <a:buNone/>
            </a:pPr>
            <a:r>
              <a:rPr lang="es-CR" sz="2400" dirty="0" smtClean="0"/>
              <a:t>	-Un número mayor o igual a 3.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3218" y="-20783"/>
            <a:ext cx="8676499" cy="1143000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Probabilidad clásica o a priori</a:t>
            </a:r>
            <a:endParaRPr lang="es-CR" sz="4800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8992" y="2285992"/>
            <a:ext cx="1785950" cy="1123420"/>
          </a:xfrm>
          <a:prstGeom prst="rect">
            <a:avLst/>
          </a:prstGeom>
          <a:noFill/>
        </p:spPr>
      </p:pic>
      <p:pic>
        <p:nvPicPr>
          <p:cNvPr id="32772" name="Picture 4" descr="http://juventudcristiana.files.wordpress.com/2009/03/question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0694" y="4000504"/>
            <a:ext cx="3214710" cy="26670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5705010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5429288" cy="5286412"/>
          </a:xfrm>
        </p:spPr>
        <p:txBody>
          <a:bodyPr/>
          <a:lstStyle/>
          <a:p>
            <a:r>
              <a:rPr lang="es-CR" sz="2400" dirty="0" smtClean="0"/>
              <a:t>El enfoque de la probabilidad clásica es el emplear un razonamiento lógico previo o a priori. 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 algn="ctr">
              <a:buNone/>
            </a:pPr>
            <a:r>
              <a:rPr lang="es-CR" sz="9600" dirty="0" smtClean="0"/>
              <a:t>¿Por qué?</a:t>
            </a:r>
            <a:endParaRPr lang="es-CR" sz="96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53218" y="-20783"/>
            <a:ext cx="8676499" cy="1143000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Probabilidad clásica o a priori</a:t>
            </a:r>
            <a:endParaRPr lang="es-CR" sz="4800" dirty="0"/>
          </a:p>
        </p:txBody>
      </p:sp>
      <p:pic>
        <p:nvPicPr>
          <p:cNvPr id="31746" name="Picture 2" descr="http://www.healthcareersinteraction.com/images/faq_questionmar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2000240"/>
            <a:ext cx="2857500" cy="45720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0893926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 txBox="1">
            <a:spLocks/>
          </p:cNvSpPr>
          <p:nvPr/>
        </p:nvSpPr>
        <p:spPr>
          <a:xfrm>
            <a:off x="467544" y="836712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s-CR" sz="3600" dirty="0" smtClean="0"/>
              <a:t>¿De cuerdo al total de resultados que se observan, cuál es la posibilidad de obtener… o de que..?</a:t>
            </a:r>
            <a:endParaRPr lang="es-CR" sz="3600" dirty="0"/>
          </a:p>
        </p:txBody>
      </p:sp>
      <p:pic>
        <p:nvPicPr>
          <p:cNvPr id="5" name="Picture 2" descr="https://agencelitterairelaens.files.wordpress.com/2013/08/bonhomme_ques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64097"/>
            <a:ext cx="277177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://instruction2.mtsac.edu/french/french4/images/MC900078711%5b1%5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501" y="2363300"/>
            <a:ext cx="162877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13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0108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Probabilidad según la frecuencia relativa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285860"/>
            <a:ext cx="5715040" cy="521497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Un problema de la probabilidad a priori consiste en que se supone que los resultados son igualmente probables, pero en la práctica esto casi nunca sucede.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Además, hay muchos casos en donde no se puede establecer desde antes las probabilidades a priori de cierto acontecimiento.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En la actualidad, el concepto más frecuente es el de la </a:t>
            </a:r>
            <a:r>
              <a:rPr lang="es-CR" sz="2400" i="1" dirty="0" smtClean="0"/>
              <a:t>Frecuencia Relativa</a:t>
            </a:r>
            <a:r>
              <a:rPr lang="es-CR" sz="2400" dirty="0" smtClean="0"/>
              <a:t>.</a:t>
            </a:r>
            <a:endParaRPr lang="es-CR" sz="2400" dirty="0"/>
          </a:p>
        </p:txBody>
      </p:sp>
      <p:pic>
        <p:nvPicPr>
          <p:cNvPr id="30722" name="Picture 2" descr="http://3.bp.blogspot.com/__bNUpLq1CS4/SSCtffCHUYI/AAAAAAAAAt0/Q-Z-y2KL6Mk/s400/la+teor%C3%ADa+y+la+pr%C3%A1ctic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5074" y="1214422"/>
            <a:ext cx="2500330" cy="2500330"/>
          </a:xfrm>
          <a:prstGeom prst="rect">
            <a:avLst/>
          </a:prstGeom>
          <a:noFill/>
        </p:spPr>
      </p:pic>
      <p:pic>
        <p:nvPicPr>
          <p:cNvPr id="30724" name="Picture 4" descr="http://images01.olx.cl/ui/4/81/88/68527388_1-Fotos-de-Se-necesita-auxiliar-de-parvulos-y-alumnas-en-practica-de-auxiliar-de-parvulo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3929066"/>
            <a:ext cx="2861917" cy="2643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619866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214422"/>
            <a:ext cx="5941894" cy="535785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Imaginemos que se quiere saber la probabilidad de que al nacer un bebe, este sea un hombre o una mujer.</a:t>
            </a:r>
          </a:p>
          <a:p>
            <a:pPr algn="just">
              <a:buNone/>
            </a:pPr>
            <a:endParaRPr lang="es-CR" sz="2400" dirty="0" smtClean="0"/>
          </a:p>
          <a:p>
            <a:pPr algn="just"/>
            <a:r>
              <a:rPr lang="es-CR" sz="2400" dirty="0" smtClean="0"/>
              <a:t>Aunque si se establece que la mitad de los chances es que sea un hombre, y la otra parte mujer, en la práctica esto no ha resultado de la misma forma: suelen nacer más hombres que mujeres.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¿ Cómo podríamos calcular entonces una probabilidad de tal forma de no pasar por el enfoque clásico?</a:t>
            </a:r>
          </a:p>
          <a:p>
            <a:endParaRPr lang="es-CR" sz="2400" dirty="0" smtClean="0"/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00108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Probabilidad según la frecuencia relativa</a:t>
            </a:r>
            <a:endParaRPr lang="es-CR" dirty="0"/>
          </a:p>
        </p:txBody>
      </p:sp>
      <p:pic>
        <p:nvPicPr>
          <p:cNvPr id="9220" name="Picture 4" descr="http://josejerez.webcindario.com/Calcul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64" y="1268760"/>
            <a:ext cx="2214578" cy="2214578"/>
          </a:xfrm>
          <a:prstGeom prst="rect">
            <a:avLst/>
          </a:prstGeom>
          <a:noFill/>
        </p:spPr>
      </p:pic>
      <p:pic>
        <p:nvPicPr>
          <p:cNvPr id="5122" name="Picture 2" descr="http://thumb1.shutterstock.com/display_pic_with_logo/495346/232580698/stock-photo-probability-word-cloud-concept-23258069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18" b="28833"/>
          <a:stretch/>
        </p:blipFill>
        <p:spPr bwMode="auto">
          <a:xfrm>
            <a:off x="6419413" y="4149080"/>
            <a:ext cx="2520280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983851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06" y="1000108"/>
            <a:ext cx="6143668" cy="5572164"/>
          </a:xfrm>
        </p:spPr>
        <p:txBody>
          <a:bodyPr>
            <a:normAutofit fontScale="85000" lnSpcReduction="20000"/>
          </a:bodyPr>
          <a:lstStyle/>
          <a:p>
            <a:r>
              <a:rPr lang="es-CR" dirty="0" smtClean="0"/>
              <a:t>La probabilidad según el concepto de frecuencia relativa se suele expresar de la siguiente forma: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P(E)= es la probabilidad de ocurrencia del evento de  </a:t>
            </a:r>
          </a:p>
          <a:p>
            <a:pPr>
              <a:buNone/>
            </a:pPr>
            <a:r>
              <a:rPr lang="es-CR" dirty="0" smtClean="0"/>
              <a:t>		interés.</a:t>
            </a:r>
          </a:p>
          <a:p>
            <a:pPr>
              <a:buNone/>
            </a:pPr>
            <a:r>
              <a:rPr lang="es-CR" dirty="0" smtClean="0"/>
              <a:t>  </a:t>
            </a:r>
            <a:r>
              <a:rPr lang="es-CR" dirty="0" err="1" smtClean="0"/>
              <a:t>ne</a:t>
            </a:r>
            <a:r>
              <a:rPr lang="es-CR" dirty="0" smtClean="0"/>
              <a:t> = es el número de veces que ocurre el evento E en   </a:t>
            </a:r>
          </a:p>
          <a:p>
            <a:pPr>
              <a:buNone/>
            </a:pPr>
            <a:r>
              <a:rPr lang="es-CR" dirty="0" smtClean="0"/>
              <a:t>	        los n ensayos.</a:t>
            </a:r>
          </a:p>
          <a:p>
            <a:pPr>
              <a:buNone/>
            </a:pPr>
            <a:r>
              <a:rPr lang="es-CR" dirty="0" smtClean="0"/>
              <a:t>    n = el total de ensayos de un posible experimento.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28670"/>
          </a:xfrm>
        </p:spPr>
        <p:txBody>
          <a:bodyPr>
            <a:normAutofit fontScale="90000"/>
          </a:bodyPr>
          <a:lstStyle/>
          <a:p>
            <a:r>
              <a:rPr lang="es-CR" dirty="0" smtClean="0"/>
              <a:t>Probabilidad según la frecuencia relativa</a:t>
            </a:r>
            <a:endParaRPr lang="es-CR" dirty="0"/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8194" name="Picture 2" descr="http://nihilnovum.files.wordpress.com/2009/05/matematicas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3702" y="1214422"/>
            <a:ext cx="2000264" cy="1940256"/>
          </a:xfrm>
          <a:prstGeom prst="rect">
            <a:avLst/>
          </a:prstGeom>
          <a:noFill/>
        </p:spPr>
      </p:pic>
      <p:pic>
        <p:nvPicPr>
          <p:cNvPr id="8195" name="Picture 3" descr="C:\Users\Oscar\Downloads\pensar (1).jpg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5" y="3857628"/>
            <a:ext cx="2291969" cy="2357454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Rectángulo"/>
              <p:cNvSpPr/>
              <p:nvPr/>
            </p:nvSpPr>
            <p:spPr>
              <a:xfrm>
                <a:off x="467544" y="2587984"/>
                <a:ext cx="1214563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i="1">
                              <a:latin typeface="Cambria Math"/>
                            </a:rPr>
                            <m:t>𝑒</m:t>
                          </m:r>
                        </m:e>
                      </m:d>
                      <m:r>
                        <a:rPr lang="es-CR" i="1">
                          <a:latin typeface="Cambria Math"/>
                        </a:rPr>
                        <m:t>≈</m:t>
                      </m:r>
                      <m:f>
                        <m:f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CR" i="1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s-CR" i="1"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2" name="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587984"/>
                <a:ext cx="1214563" cy="56669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5 Conector recto de flecha"/>
          <p:cNvCxnSpPr/>
          <p:nvPr/>
        </p:nvCxnSpPr>
        <p:spPr>
          <a:xfrm>
            <a:off x="1979712" y="2467897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Rectángulo"/>
              <p:cNvSpPr/>
              <p:nvPr/>
            </p:nvSpPr>
            <p:spPr>
              <a:xfrm>
                <a:off x="3635896" y="2467897"/>
                <a:ext cx="1687449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i="1">
                              <a:latin typeface="Cambria Math"/>
                            </a:rPr>
                            <m:t>𝑒</m:t>
                          </m:r>
                        </m:e>
                      </m:d>
                      <m:r>
                        <a:rPr lang="es-CR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CR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CR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s-CR" i="1"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C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CR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CR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es-CR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CR" dirty="0"/>
              </a:p>
            </p:txBody>
          </p:sp>
        </mc:Choice>
        <mc:Fallback xmlns="">
          <p:sp>
            <p:nvSpPr>
              <p:cNvPr id="7" name="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467897"/>
                <a:ext cx="1687449" cy="56669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175025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 txBox="1">
            <a:spLocks/>
          </p:cNvSpPr>
          <p:nvPr/>
        </p:nvSpPr>
        <p:spPr>
          <a:xfrm>
            <a:off x="467544" y="836712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es-CR" sz="3600" dirty="0" smtClean="0"/>
              <a:t>¿De cuerdo a la información que manejo o poseo, cuál es la posibilidad de obtener… o de que..?</a:t>
            </a:r>
            <a:endParaRPr lang="es-CR" sz="3600" dirty="0"/>
          </a:p>
        </p:txBody>
      </p:sp>
      <p:pic>
        <p:nvPicPr>
          <p:cNvPr id="1026" name="Picture 2" descr="https://agencelitterairelaens.files.wordpress.com/2013/08/bonhomme_ques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64097"/>
            <a:ext cx="2771775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nstruction2.mtsac.edu/french/french4/images/MC900078711%5b1%5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501" y="2363300"/>
            <a:ext cx="162877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22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715436" cy="1000108"/>
          </a:xfrm>
        </p:spPr>
        <p:txBody>
          <a:bodyPr/>
          <a:lstStyle/>
          <a:p>
            <a:pPr algn="ctr"/>
            <a:r>
              <a:rPr lang="es-CR" dirty="0" smtClean="0"/>
              <a:t>Probabilidad subjetiva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6357982" cy="5500726"/>
          </a:xfrm>
        </p:spPr>
        <p:txBody>
          <a:bodyPr>
            <a:noAutofit/>
          </a:bodyPr>
          <a:lstStyle/>
          <a:p>
            <a:pPr algn="just"/>
            <a:r>
              <a:rPr lang="es-CR" sz="2000" dirty="0" smtClean="0"/>
              <a:t>Existen muchos eventos de interés cuyas probabilidades de ocurrencia no se pueden calcular de acuerdo con los métodos de frecuencia relativa o de probabilidad a priori.</a:t>
            </a:r>
          </a:p>
          <a:p>
            <a:pPr algn="just"/>
            <a:endParaRPr lang="es-CR" sz="2000" dirty="0" smtClean="0"/>
          </a:p>
          <a:p>
            <a:pPr algn="just"/>
            <a:r>
              <a:rPr lang="es-CR" sz="2000" dirty="0" smtClean="0"/>
              <a:t>Los métodos anteriores no prestan ninguna ayuda para calcular la probabilidad de que , por ejemplo:</a:t>
            </a:r>
          </a:p>
          <a:p>
            <a:pPr algn="just">
              <a:buNone/>
            </a:pPr>
            <a:endParaRPr lang="es-CR" sz="2000" dirty="0" smtClean="0"/>
          </a:p>
          <a:p>
            <a:pPr algn="just">
              <a:buNone/>
            </a:pPr>
            <a:r>
              <a:rPr lang="es-CR" sz="2000" dirty="0" smtClean="0"/>
              <a:t>	-Haya vida en algún planeta distante</a:t>
            </a:r>
          </a:p>
          <a:p>
            <a:pPr algn="just">
              <a:buNone/>
            </a:pPr>
            <a:r>
              <a:rPr lang="es-CR" sz="2000" dirty="0" smtClean="0"/>
              <a:t>	-En los próximos 10 años se descubra algún remedio contra el cáncer.</a:t>
            </a:r>
          </a:p>
          <a:p>
            <a:pPr algn="just">
              <a:buNone/>
            </a:pPr>
            <a:r>
              <a:rPr lang="es-CR" sz="2000" dirty="0" smtClean="0"/>
              <a:t>	-Cierta persona vaya a destacar en la universidad.</a:t>
            </a:r>
          </a:p>
          <a:p>
            <a:pPr algn="just">
              <a:buNone/>
            </a:pPr>
            <a:r>
              <a:rPr lang="es-CR" sz="2000" dirty="0" smtClean="0"/>
              <a:t>	-Mañana vaya a llover.</a:t>
            </a:r>
          </a:p>
        </p:txBody>
      </p:sp>
      <p:pic>
        <p:nvPicPr>
          <p:cNvPr id="4098" name="Picture 2" descr="http://www.sunlink.ucf.edu/presentations/fetc2004/images/think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7902" y="1133679"/>
            <a:ext cx="2214578" cy="2151305"/>
          </a:xfrm>
          <a:prstGeom prst="rect">
            <a:avLst/>
          </a:prstGeom>
          <a:noFill/>
        </p:spPr>
      </p:pic>
      <p:pic>
        <p:nvPicPr>
          <p:cNvPr id="4100" name="Picture 4" descr="http://media-cdn.tripadvisor.com/media/photo-s/00/11/38/52/stop-thinking-and-d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40" y="3500438"/>
            <a:ext cx="2139965" cy="2857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5740983"/>
      </p:ext>
    </p:extLst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1406" y="1071570"/>
            <a:ext cx="6516818" cy="578645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Muchas veces escuchamos que según el nivel de precipitación y la nubosidad en el cielo, se tiene una probabilidad del 70% de que vaya a llover.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Aquellas probabilidades que nos permite asignarle probabilidades a eventos tales como estos, en donde no hay un claro respaldo de datos para el momento, se le denomina como </a:t>
            </a:r>
            <a:r>
              <a:rPr lang="es-CR" sz="2400" i="1" dirty="0" smtClean="0"/>
              <a:t>probabilidad subjetiva</a:t>
            </a:r>
            <a:r>
              <a:rPr lang="es-CR" sz="2400" dirty="0" smtClean="0"/>
              <a:t>.</a:t>
            </a:r>
          </a:p>
          <a:p>
            <a:pPr algn="just"/>
            <a:endParaRPr lang="es-CR" sz="2400" dirty="0" smtClean="0"/>
          </a:p>
          <a:p>
            <a:pPr algn="just"/>
            <a:r>
              <a:rPr lang="es-CR" sz="2400" dirty="0" smtClean="0"/>
              <a:t>Este método tiene un gran fundamento en la estadística Bayesiana. </a:t>
            </a:r>
            <a:r>
              <a:rPr lang="es-CR" sz="2400" dirty="0"/>
              <a:t>L</a:t>
            </a:r>
            <a:r>
              <a:rPr lang="es-CR" sz="2400" dirty="0" smtClean="0"/>
              <a:t>os dos enfoques de probabilidad anterior se conciben como un caso especial de la probabilidad subjetiva.</a:t>
            </a:r>
            <a:endParaRPr lang="es-CR" sz="2400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214282" y="0"/>
            <a:ext cx="8715436" cy="1000108"/>
          </a:xfrm>
        </p:spPr>
        <p:txBody>
          <a:bodyPr/>
          <a:lstStyle/>
          <a:p>
            <a:pPr algn="ctr"/>
            <a:r>
              <a:rPr lang="es-CR" dirty="0" smtClean="0"/>
              <a:t>Probabilidad subjetiva</a:t>
            </a:r>
            <a:endParaRPr lang="es-CR" dirty="0"/>
          </a:p>
        </p:txBody>
      </p:sp>
      <p:pic>
        <p:nvPicPr>
          <p:cNvPr id="3074" name="Picture 2" descr="http://files.myopera.com/pbuydid/blog/ra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1285860"/>
            <a:ext cx="1928826" cy="26302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57057854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5192" y="188640"/>
            <a:ext cx="8363272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Datos discretos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5688632" cy="511256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CR" dirty="0" smtClean="0"/>
              <a:t>¿Qué son datos discretos?</a:t>
            </a:r>
          </a:p>
          <a:p>
            <a:pPr algn="just"/>
            <a:endParaRPr lang="es-CR" dirty="0" smtClean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Datos de que son números reales enteros, que van desde 0 hasta +∞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0, 1, 2,3,…., n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Ejemplo: número de hijos, cantidad de nacimientos, número de accidentes en la carretera, etc.</a:t>
            </a:r>
          </a:p>
        </p:txBody>
      </p:sp>
      <p:pic>
        <p:nvPicPr>
          <p:cNvPr id="7170" name="Picture 2" descr="https://www.mathsisfun.com/data/images/data-type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052736"/>
            <a:ext cx="33337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vosesoftware.com/ModelRiskHelp/images/15/image505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149080"/>
            <a:ext cx="25717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31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412776"/>
            <a:ext cx="5688632" cy="511256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CR" dirty="0" smtClean="0"/>
              <a:t>Las funciones discretas son distribuciones que asignan una </a:t>
            </a:r>
            <a:r>
              <a:rPr lang="es-CR" dirty="0"/>
              <a:t>probabilidad </a:t>
            </a:r>
            <a:r>
              <a:rPr lang="es-CR" dirty="0" smtClean="0"/>
              <a:t>a un fenómeno de esta clase.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En este tipo de funciones de distribución, para obtener la probabilidad, se utilizan sumatorias:</a:t>
            </a:r>
          </a:p>
          <a:p>
            <a:pPr algn="just"/>
            <a:endParaRPr lang="es-CR" dirty="0" smtClean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Las funciones discretas más conocidas son: </a:t>
            </a:r>
            <a:r>
              <a:rPr lang="es-CR" dirty="0" err="1" smtClean="0"/>
              <a:t>poisson</a:t>
            </a:r>
            <a:r>
              <a:rPr lang="es-CR" dirty="0" smtClean="0"/>
              <a:t>, </a:t>
            </a:r>
            <a:r>
              <a:rPr lang="es-CR" dirty="0" err="1" smtClean="0"/>
              <a:t>bernouilli</a:t>
            </a:r>
            <a:r>
              <a:rPr lang="es-CR" dirty="0" smtClean="0"/>
              <a:t>, binomial, binomial negativa, geométrica, la </a:t>
            </a:r>
            <a:r>
              <a:rPr lang="es-CR" dirty="0" err="1" smtClean="0"/>
              <a:t>hypergeométrica</a:t>
            </a:r>
            <a:r>
              <a:rPr lang="es-CR" dirty="0" smtClean="0"/>
              <a:t>, etc.  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5192" y="116632"/>
            <a:ext cx="8363272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Función de probabilidad discretas</a:t>
            </a:r>
            <a:endParaRPr lang="es-CR" dirty="0"/>
          </a:p>
        </p:txBody>
      </p:sp>
      <p:pic>
        <p:nvPicPr>
          <p:cNvPr id="8194" name="Picture 2" descr="https://upload.wikimedia.org/wikipedia/commons/thumb/7/77/Dis_Uniform_distribution_CDF.svg/2000px-Dis_Uniform_distribution_CDF.sv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" r="4087" b="6080"/>
          <a:stretch/>
        </p:blipFill>
        <p:spPr bwMode="auto">
          <a:xfrm>
            <a:off x="6295676" y="1124744"/>
            <a:ext cx="2520280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upload.wikimedia.org/wikipedia/commons/thumb/6/60/Scaled_chi_squared.svg/250px-Scaled_chi_squar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191" y="422108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3.bp.blogspot.com/-xPQ3SoArbPw/T7L2ehtl7_I/AAAAAAAAAAM/ntyY5yg4dJQ/s1600/sumatoria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4" t="29215" r="36247" b="28269"/>
          <a:stretch/>
        </p:blipFill>
        <p:spPr bwMode="auto">
          <a:xfrm>
            <a:off x="3206825" y="4005064"/>
            <a:ext cx="785668" cy="77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5192" y="188640"/>
            <a:ext cx="8363272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Función de probabilidad discretas</a:t>
            </a:r>
            <a:endParaRPr lang="es-CR" dirty="0"/>
          </a:p>
        </p:txBody>
      </p:sp>
      <p:pic>
        <p:nvPicPr>
          <p:cNvPr id="1026" name="Picture 2" descr="http://www.jamesgottlieb.com/wp-content/uploads/2011/09/Screen-Shot-2011-09-29-at-2.07.34-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936" y="1628800"/>
            <a:ext cx="3533775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stat.yale.edu/Courses/1997-98/101/binpd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420888"/>
            <a:ext cx="3024336" cy="291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doc.openturns.org/openturns-1.1/openturns-doc-june-2013/html/ReferenceGuide/pdf_Geometric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005063"/>
            <a:ext cx="3744416" cy="262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40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5192" y="116632"/>
            <a:ext cx="8363272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Datos continuos</a:t>
            </a:r>
            <a:endParaRPr lang="es-CR" dirty="0"/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484784"/>
            <a:ext cx="6264696" cy="511256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CR" dirty="0" smtClean="0"/>
              <a:t>¿Qué son datos continuos?</a:t>
            </a:r>
          </a:p>
          <a:p>
            <a:pPr algn="just"/>
            <a:endParaRPr lang="es-CR" dirty="0" smtClean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Datos de que son números reales, que van desde </a:t>
            </a:r>
          </a:p>
          <a:p>
            <a:pPr marL="0" indent="0" algn="just">
              <a:buNone/>
            </a:pPr>
            <a:r>
              <a:rPr lang="es-CR" dirty="0"/>
              <a:t> </a:t>
            </a:r>
            <a:r>
              <a:rPr lang="es-CR" dirty="0" smtClean="0"/>
              <a:t>  -∞ hasta +∞.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-</a:t>
            </a:r>
            <a:r>
              <a:rPr lang="es-CR" dirty="0" smtClean="0"/>
              <a:t>∞, -344.3, -243.9, 0, 5342.8, 34234.6, +</a:t>
            </a:r>
            <a:r>
              <a:rPr lang="es-CR" dirty="0"/>
              <a:t>∞</a:t>
            </a:r>
            <a:endParaRPr lang="es-CR" dirty="0" smtClean="0"/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Ejemplo: salario, cantidad de glóbulos rojos, presión sanguínea, volumen del agua, etc.</a:t>
            </a:r>
          </a:p>
        </p:txBody>
      </p:sp>
      <p:pic>
        <p:nvPicPr>
          <p:cNvPr id="9218" name="Picture 2" descr="http://i.stack.imgur.com/UTmO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124744"/>
            <a:ext cx="33909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i.ytimg.com/vi/WX0hnuniLpI/maxresdefaul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209" y="3967831"/>
            <a:ext cx="2094756" cy="241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35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5192" y="116632"/>
            <a:ext cx="8363272" cy="100811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Función de probabilidad continua</a:t>
            </a:r>
            <a:endParaRPr lang="es-CR" dirty="0"/>
          </a:p>
        </p:txBody>
      </p:sp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179512" y="1268760"/>
            <a:ext cx="5400600" cy="5400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CR" dirty="0" smtClean="0"/>
              <a:t>Las funciones continuas son distribuciones que asignan una </a:t>
            </a:r>
            <a:r>
              <a:rPr lang="es-CR" dirty="0"/>
              <a:t>probabilidad </a:t>
            </a:r>
            <a:r>
              <a:rPr lang="es-CR" dirty="0" smtClean="0"/>
              <a:t>a un fenómeno de esta clase.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En este tipo de funciones de distribución, para obtener la probabilidad, se utilizan integrales:</a:t>
            </a:r>
          </a:p>
          <a:p>
            <a:pPr marL="0" indent="0" algn="just">
              <a:buNone/>
            </a:pPr>
            <a:endParaRPr lang="es-CR" dirty="0" smtClean="0"/>
          </a:p>
          <a:p>
            <a:pPr marL="0" indent="0" algn="just">
              <a:buNone/>
            </a:pPr>
            <a:endParaRPr lang="es-CR" dirty="0"/>
          </a:p>
          <a:p>
            <a:pPr algn="just"/>
            <a:r>
              <a:rPr lang="es-CR" dirty="0" smtClean="0"/>
              <a:t>Las funciones continuas más conocidas son: Normal, Exponencial, </a:t>
            </a:r>
            <a:r>
              <a:rPr lang="es-CR" dirty="0" err="1"/>
              <a:t>W</a:t>
            </a:r>
            <a:r>
              <a:rPr lang="es-CR" dirty="0" err="1" smtClean="0"/>
              <a:t>eibull</a:t>
            </a:r>
            <a:r>
              <a:rPr lang="es-CR" dirty="0" smtClean="0"/>
              <a:t>, Gamma, Beta, etc. .  </a:t>
            </a:r>
            <a:endParaRPr lang="es-CR" dirty="0"/>
          </a:p>
        </p:txBody>
      </p:sp>
      <p:pic>
        <p:nvPicPr>
          <p:cNvPr id="10242" name="Picture 2" descr="https://d3an755jegtaaw.cloudfront.net/files/2013/08/mathfunc3d_93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736" y="1484784"/>
            <a:ext cx="273630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image.freepik.com/free-icon/continuous-data-graphic-wave-chart_318-55107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20"/>
          <a:stretch/>
        </p:blipFill>
        <p:spPr bwMode="auto">
          <a:xfrm>
            <a:off x="6236096" y="4365104"/>
            <a:ext cx="2520280" cy="218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superluminal.is/wp-content/uploads/2013/10/integral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172" y="4077072"/>
            <a:ext cx="58340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knoji.com/images/user/cropped%20integral%20function(1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089470"/>
            <a:ext cx="1662957" cy="9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Flecha derecha"/>
          <p:cNvSpPr/>
          <p:nvPr/>
        </p:nvSpPr>
        <p:spPr>
          <a:xfrm>
            <a:off x="2800364" y="4488789"/>
            <a:ext cx="648072" cy="28496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0896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85192" y="44624"/>
            <a:ext cx="8363272" cy="864096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Función de probabilidad continua</a:t>
            </a:r>
            <a:endParaRPr lang="es-CR" dirty="0"/>
          </a:p>
        </p:txBody>
      </p:sp>
      <p:pic>
        <p:nvPicPr>
          <p:cNvPr id="2050" name="Picture 2" descr="http://www.doctordisruption.com/wp-content/uploads/2014/02/725px-The_Normal_Distribution.svg_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980728"/>
            <a:ext cx="5040560" cy="3038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itl.nist.gov/div898/handbook/eda/section3/gif/expsurv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365104"/>
            <a:ext cx="331236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cdn2.content.compendiumblog.com/uploads/user/458939f4-fe08-4dbc-b271-efca0f5a2682/d2c0571a-acbd-48c7-84f4-222276c293fe/Image/e88c437586028a7d000e15607fe349a3/weibull_distribution_3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313" y="4182795"/>
            <a:ext cx="3697382" cy="246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30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1143000"/>
          </a:xfrm>
        </p:spPr>
        <p:txBody>
          <a:bodyPr/>
          <a:lstStyle/>
          <a:p>
            <a:r>
              <a:rPr lang="es-CR" dirty="0" smtClean="0"/>
              <a:t>Las funciones de probabilidad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407223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016" y="188640"/>
            <a:ext cx="8964488" cy="864096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 smtClean="0"/>
              <a:t>Funciones de probabilidades continuas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23528" y="1412776"/>
            <a:ext cx="6120680" cy="504056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CR" dirty="0" smtClean="0"/>
              <a:t>Se presentan las principales funciones de probabilidades que se utilizarán en los siguientes temas.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No se presentan funciones discretas.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Las funciones continuas son: normal, t de </a:t>
            </a:r>
            <a:r>
              <a:rPr lang="es-CR" dirty="0" err="1" smtClean="0"/>
              <a:t>Student</a:t>
            </a:r>
            <a:r>
              <a:rPr lang="es-CR" dirty="0" smtClean="0"/>
              <a:t>, F de </a:t>
            </a:r>
            <a:r>
              <a:rPr lang="es-CR" dirty="0" err="1" smtClean="0"/>
              <a:t>Snedecor</a:t>
            </a:r>
            <a:r>
              <a:rPr lang="es-CR" dirty="0" smtClean="0"/>
              <a:t> y Chi Cuadrada.</a:t>
            </a:r>
          </a:p>
          <a:p>
            <a:pPr algn="just"/>
            <a:endParaRPr lang="es-CR" dirty="0"/>
          </a:p>
          <a:p>
            <a:pPr algn="just"/>
            <a:r>
              <a:rPr lang="es-CR" dirty="0" smtClean="0"/>
              <a:t>También se presentan sus respectivas tablas de probabilidad o valores críticos.</a:t>
            </a:r>
          </a:p>
        </p:txBody>
      </p:sp>
    </p:spTree>
    <p:extLst>
      <p:ext uri="{BB962C8B-B14F-4D97-AF65-F5344CB8AC3E}">
        <p14:creationId xmlns:p14="http://schemas.microsoft.com/office/powerpoint/2010/main" val="7604390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188640"/>
            <a:ext cx="7772400" cy="922114"/>
          </a:xfrm>
        </p:spPr>
        <p:txBody>
          <a:bodyPr/>
          <a:lstStyle/>
          <a:p>
            <a:pPr algn="ctr"/>
            <a:r>
              <a:rPr lang="es-CR" dirty="0" smtClean="0"/>
              <a:t>Cura normal y normal estándar</a:t>
            </a:r>
            <a:endParaRPr lang="es-CR" dirty="0"/>
          </a:p>
        </p:txBody>
      </p:sp>
      <p:pic>
        <p:nvPicPr>
          <p:cNvPr id="1026" name="Picture 2" descr="http://intmstat.com/counting-probability/HTML/probdist4_normal__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82" y="1556792"/>
            <a:ext cx="8504597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0344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260648"/>
            <a:ext cx="7772400" cy="796950"/>
          </a:xfrm>
        </p:spPr>
        <p:txBody>
          <a:bodyPr/>
          <a:lstStyle/>
          <a:p>
            <a:pPr algn="ctr"/>
            <a:r>
              <a:rPr lang="es-CR" dirty="0" smtClean="0"/>
              <a:t>La función t de </a:t>
            </a:r>
            <a:r>
              <a:rPr lang="es-CR" dirty="0" err="1" smtClean="0"/>
              <a:t>Student</a:t>
            </a:r>
            <a:endParaRPr lang="es-CR" dirty="0"/>
          </a:p>
        </p:txBody>
      </p:sp>
      <p:pic>
        <p:nvPicPr>
          <p:cNvPr id="1026" name="Picture 2" descr="https://upload.wikimedia.org/wikipedia/commons/thumb/4/41/Student_t_pdf.svg/325px-Student_t_pdf.sv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" t="3876" r="2908" b="1538"/>
          <a:stretch/>
        </p:blipFill>
        <p:spPr bwMode="auto">
          <a:xfrm>
            <a:off x="755576" y="1123318"/>
            <a:ext cx="6912768" cy="547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8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/>
          <a:lstStyle/>
          <a:p>
            <a:pPr algn="ctr"/>
            <a:r>
              <a:rPr lang="es-CR" dirty="0" smtClean="0"/>
              <a:t>t  de </a:t>
            </a:r>
            <a:r>
              <a:rPr lang="es-CR" dirty="0" err="1" smtClean="0"/>
              <a:t>Student</a:t>
            </a:r>
            <a:r>
              <a:rPr lang="es-CR" dirty="0" smtClean="0"/>
              <a:t> contra Normal</a:t>
            </a:r>
            <a:endParaRPr lang="es-CR" dirty="0"/>
          </a:p>
        </p:txBody>
      </p:sp>
      <p:pic>
        <p:nvPicPr>
          <p:cNvPr id="2050" name="Picture 2" descr="http://www.cienciasinseso.com/wp-content/uploads/2013/12/normal_student2-1024x59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8" t="15562" r="7191" b="19039"/>
          <a:stretch/>
        </p:blipFill>
        <p:spPr bwMode="auto">
          <a:xfrm>
            <a:off x="683568" y="1844824"/>
            <a:ext cx="8033904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57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/>
          <a:lstStyle/>
          <a:p>
            <a:pPr algn="ctr"/>
            <a:r>
              <a:rPr lang="es-CR" dirty="0" smtClean="0"/>
              <a:t>F de </a:t>
            </a:r>
            <a:r>
              <a:rPr lang="es-CR" dirty="0" err="1" smtClean="0"/>
              <a:t>Snedecor</a:t>
            </a:r>
            <a:endParaRPr lang="es-CR" dirty="0"/>
          </a:p>
        </p:txBody>
      </p:sp>
      <p:pic>
        <p:nvPicPr>
          <p:cNvPr id="2050" name="Picture 2" descr="http://www.philender.com/courses/tables/fdis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46" y="1268760"/>
            <a:ext cx="8294418" cy="534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53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upload.wikimedia.org/wikipedia/commons/thumb/9/92/F_pdf.svg/2000px-F_pdf.svg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r="3603"/>
          <a:stretch/>
        </p:blipFill>
        <p:spPr bwMode="auto">
          <a:xfrm>
            <a:off x="539552" y="1052736"/>
            <a:ext cx="7920880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850106"/>
          </a:xfrm>
        </p:spPr>
        <p:txBody>
          <a:bodyPr/>
          <a:lstStyle/>
          <a:p>
            <a:pPr algn="ctr"/>
            <a:r>
              <a:rPr lang="es-CR" dirty="0" smtClean="0"/>
              <a:t>F de </a:t>
            </a:r>
            <a:r>
              <a:rPr lang="es-CR" dirty="0" err="1" smtClean="0"/>
              <a:t>Snedecor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01680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77809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Chi-cuadrada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122" name="Picture 2" descr="http://grants.hhp.coe.uh.edu/doconnor/PEP6305/chisqu5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40768"/>
            <a:ext cx="7934208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4296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image.mathcaptain.com/cms/images/88/chi-squar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10" y="1196752"/>
            <a:ext cx="8496944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778098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Chi-cuadrada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0001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504" y="1124744"/>
            <a:ext cx="8856984" cy="1143000"/>
          </a:xfrm>
        </p:spPr>
        <p:txBody>
          <a:bodyPr>
            <a:normAutofit/>
          </a:bodyPr>
          <a:lstStyle/>
          <a:p>
            <a:r>
              <a:rPr lang="es-CR" dirty="0" smtClean="0"/>
              <a:t>La curva normal y la normal estándar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255694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22945"/>
            <a:ext cx="6300192" cy="5646415"/>
          </a:xfrm>
        </p:spPr>
        <p:txBody>
          <a:bodyPr>
            <a:normAutofit fontScale="77500" lnSpcReduction="200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Si se graficara la distribución de la mayoría de los hechos que suceden en la vida, estos suelen tener una distribución normal.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No importa si se trata de una variable discreta (como los resultados de un dado), o de una variable continua (edades, pesos, etc.): la distribución de los resultados siempre se distribuirá de forma normal, siempre y cuando se tengan diversas “observaciones”.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Dado que la “distribución”  de casi todos los hechos tiende a agruparse en el centro, y </a:t>
            </a:r>
            <a:r>
              <a:rPr lang="es-CR" dirty="0" err="1" smtClean="0"/>
              <a:t>pierder</a:t>
            </a:r>
            <a:r>
              <a:rPr lang="es-CR" dirty="0" smtClean="0"/>
              <a:t> densidad en las colas, de ahí el nombre de distribución </a:t>
            </a:r>
            <a:r>
              <a:rPr lang="es-CR" b="1" i="1" dirty="0" smtClean="0"/>
              <a:t>normal</a:t>
            </a:r>
            <a:r>
              <a:rPr lang="es-CR" dirty="0" smtClean="0"/>
              <a:t>.</a:t>
            </a:r>
            <a:endParaRPr lang="es-CR" b="1" i="1" dirty="0" smtClean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</p:txBody>
      </p:sp>
      <p:pic>
        <p:nvPicPr>
          <p:cNvPr id="43010" name="Picture 2" descr="http://estudiarfisica.files.wordpress.com/2009/05/iq-gaussian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4198" y="1196752"/>
            <a:ext cx="2610290" cy="2088232"/>
          </a:xfrm>
          <a:prstGeom prst="rect">
            <a:avLst/>
          </a:prstGeom>
          <a:noFill/>
        </p:spPr>
      </p:pic>
      <p:pic>
        <p:nvPicPr>
          <p:cNvPr id="43012" name="Picture 4" descr="http://aathosc.tripod.com/CurvaZNorma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5421" y="3933056"/>
            <a:ext cx="2638579" cy="23042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1825603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6696744" cy="5589240"/>
          </a:xfrm>
        </p:spPr>
        <p:txBody>
          <a:bodyPr>
            <a:normAutofit fontScale="85000" lnSpcReduction="20000"/>
          </a:bodyPr>
          <a:lstStyle/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Esto es, sin duda alguna, el hecho más importante que ha ocurrido en la estadística: permite relacionar la estadística probabilística con la </a:t>
            </a:r>
            <a:r>
              <a:rPr lang="es-CR" dirty="0" err="1" smtClean="0"/>
              <a:t>inferencial</a:t>
            </a:r>
            <a:r>
              <a:rPr lang="es-CR" dirty="0" smtClean="0"/>
              <a:t>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El poner unir las probabilidades con ciertos criterios y métodos </a:t>
            </a:r>
            <a:r>
              <a:rPr lang="es-CR" dirty="0" err="1" smtClean="0"/>
              <a:t>inferenciales</a:t>
            </a:r>
            <a:r>
              <a:rPr lang="es-CR" dirty="0" smtClean="0"/>
              <a:t> hizo el gran avance en la estadística en el siglo XIX. </a:t>
            </a:r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s-CR" dirty="0" smtClean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s-CR" dirty="0" smtClean="0"/>
              <a:t>Sin embargo, para hacer esto se requería que los datos provinieran de una distribución normal. Por eso es que en este capítulo analizaron la curva normal, y se introducirá brevemente ciertos criterios de inferencia </a:t>
            </a:r>
            <a:r>
              <a:rPr lang="es-CR" dirty="0" err="1" smtClean="0"/>
              <a:t>estadistica</a:t>
            </a:r>
            <a:r>
              <a:rPr lang="es-CR" dirty="0" smtClean="0"/>
              <a:t>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endParaRPr lang="es-CR" dirty="0"/>
          </a:p>
        </p:txBody>
      </p:sp>
      <p:sp>
        <p:nvSpPr>
          <p:cNvPr id="12291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08720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Introducción</a:t>
            </a:r>
          </a:p>
        </p:txBody>
      </p:sp>
      <p:pic>
        <p:nvPicPr>
          <p:cNvPr id="39938" name="Picture 2" descr="http://pritamaulipas.org.mx/mimaestro/wp-content/uploads/2010/03/dado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124744"/>
            <a:ext cx="2088232" cy="2736304"/>
          </a:xfrm>
          <a:prstGeom prst="rect">
            <a:avLst/>
          </a:prstGeom>
          <a:noFill/>
        </p:spPr>
      </p:pic>
      <p:pic>
        <p:nvPicPr>
          <p:cNvPr id="39940" name="Picture 4" descr="http://www.edutecne.utn.edu.ar/probabilidad/probabilida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2240" y="4365104"/>
            <a:ext cx="2212860" cy="2232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2568773"/>
      </p:ext>
    </p:extLst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2 Marcador de contenido"/>
          <p:cNvSpPr>
            <a:spLocks noGrp="1"/>
          </p:cNvSpPr>
          <p:nvPr>
            <p:ph sz="quarter" idx="1"/>
          </p:nvPr>
        </p:nvSpPr>
        <p:spPr>
          <a:xfrm>
            <a:off x="142875" y="1214438"/>
            <a:ext cx="7629525" cy="45720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s-CR" dirty="0" smtClean="0"/>
              <a:t>Es uno de los primeros modelos utilizados y alrededor del cual se ha desarrollado casi toda la teoría y la práctica de la estadística.</a:t>
            </a:r>
          </a:p>
          <a:p>
            <a:pPr eaLnBrk="1" hangingPunct="1"/>
            <a:endParaRPr lang="es-CR" dirty="0" smtClean="0"/>
          </a:p>
          <a:p>
            <a:pPr eaLnBrk="1" hangingPunct="1"/>
            <a:r>
              <a:rPr lang="es-CR" dirty="0" smtClean="0"/>
              <a:t>La </a:t>
            </a:r>
            <a:r>
              <a:rPr lang="es-CR" i="1" dirty="0" smtClean="0"/>
              <a:t>curva normal </a:t>
            </a:r>
            <a:r>
              <a:rPr lang="es-CR" dirty="0" smtClean="0"/>
              <a:t>también recibe el nombre de </a:t>
            </a:r>
            <a:r>
              <a:rPr lang="es-CR" i="1" dirty="0" smtClean="0"/>
              <a:t>normal de error</a:t>
            </a:r>
            <a:r>
              <a:rPr lang="es-CR" dirty="0" smtClean="0"/>
              <a:t>, ya que los errores en las mediciones y en las observaciones corrientemente se distribuyen siguiendo un patrón en común (la forma de campana antes vista</a:t>
            </a:r>
            <a:r>
              <a:rPr lang="es-CR" i="1" dirty="0" smtClean="0"/>
              <a:t>).</a:t>
            </a:r>
          </a:p>
          <a:p>
            <a:pPr eaLnBrk="1" hangingPunct="1"/>
            <a:endParaRPr lang="es-CR" i="1" dirty="0" smtClean="0"/>
          </a:p>
          <a:p>
            <a:pPr eaLnBrk="1" hangingPunct="1"/>
            <a:r>
              <a:rPr lang="es-CR" dirty="0" smtClean="0"/>
              <a:t>La expresión algebraica de la curva normal es la siguiente: </a:t>
            </a:r>
          </a:p>
        </p:txBody>
      </p:sp>
      <p:sp>
        <p:nvSpPr>
          <p:cNvPr id="15363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71625" y="5572125"/>
            <a:ext cx="343693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68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5715000"/>
            <a:ext cx="34194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0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000750"/>
            <a:ext cx="34861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5372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688" y="6286500"/>
            <a:ext cx="32194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2007990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2 Marcador de contenido"/>
          <p:cNvSpPr>
            <a:spLocks noGrp="1"/>
          </p:cNvSpPr>
          <p:nvPr>
            <p:ph sz="quarter" idx="1"/>
          </p:nvPr>
        </p:nvSpPr>
        <p:spPr>
          <a:xfrm>
            <a:off x="214313" y="1214438"/>
            <a:ext cx="8501062" cy="5000625"/>
          </a:xfrm>
        </p:spPr>
        <p:txBody>
          <a:bodyPr/>
          <a:lstStyle/>
          <a:p>
            <a:pPr eaLnBrk="1" hangingPunct="1"/>
            <a:r>
              <a:rPr lang="es-ES" smtClean="0"/>
              <a:t>Una representación de la curva normal, con sus parámetros µ y </a:t>
            </a:r>
            <a:r>
              <a:rPr lang="es-CR" smtClean="0"/>
              <a:t>σ</a:t>
            </a:r>
          </a:p>
          <a:p>
            <a:pPr eaLnBrk="1" hangingPunct="1">
              <a:buFont typeface="Wingdings 2" pitchFamily="18" charset="2"/>
              <a:buNone/>
            </a:pPr>
            <a:r>
              <a:rPr lang="es-ES" smtClean="0"/>
              <a:t>    es la siguiente:</a:t>
            </a:r>
          </a:p>
        </p:txBody>
      </p:sp>
      <p:sp>
        <p:nvSpPr>
          <p:cNvPr id="16387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071813"/>
            <a:ext cx="53721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75" y="2500313"/>
            <a:ext cx="3436938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 de flecha"/>
          <p:cNvCxnSpPr/>
          <p:nvPr/>
        </p:nvCxnSpPr>
        <p:spPr>
          <a:xfrm rot="10800000" flipV="1">
            <a:off x="3786188" y="3143250"/>
            <a:ext cx="1428750" cy="10001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39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/>
          </a:p>
        </p:txBody>
      </p:sp>
      <p:pic>
        <p:nvPicPr>
          <p:cNvPr id="16392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46750" y="3714750"/>
            <a:ext cx="2897188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8807979"/>
      </p:ext>
    </p:extLst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s-CR" sz="2400" dirty="0" smtClean="0"/>
              <a:t>Conociendo los valores de los parámetros (</a:t>
            </a:r>
            <a:r>
              <a:rPr lang="es-ES" sz="2400" dirty="0" smtClean="0"/>
              <a:t>µ y </a:t>
            </a:r>
            <a:r>
              <a:rPr lang="es-CR" sz="2400" dirty="0" smtClean="0"/>
              <a:t>σ), la curva normal estándar queda completamente definida. Por ejemplo, si la desviación estándar es 2 y el promedio 4, la expresión algebraica y su representación serían:</a:t>
            </a:r>
          </a:p>
        </p:txBody>
      </p:sp>
      <p:pic>
        <p:nvPicPr>
          <p:cNvPr id="1741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622712"/>
            <a:ext cx="3914360" cy="26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s-CR">
              <a:latin typeface="Perpetua" pitchFamily="18" charset="0"/>
            </a:endParaRPr>
          </a:p>
        </p:txBody>
      </p:sp>
      <p:pic>
        <p:nvPicPr>
          <p:cNvPr id="17413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8144" y="3673479"/>
            <a:ext cx="3071812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92868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</a:t>
            </a:r>
          </a:p>
        </p:txBody>
      </p:sp>
      <p:cxnSp>
        <p:nvCxnSpPr>
          <p:cNvPr id="10" name="9 Conector recto de flecha"/>
          <p:cNvCxnSpPr/>
          <p:nvPr/>
        </p:nvCxnSpPr>
        <p:spPr>
          <a:xfrm rot="10800000" flipV="1">
            <a:off x="3643312" y="4226793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2627784" y="63813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4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5214564"/>
      </p:ext>
    </p:extLst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285875"/>
            <a:ext cx="7772400" cy="45720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s-CR" sz="2400" dirty="0" smtClean="0"/>
              <a:t>Como la curva normal está en función de los parámetros </a:t>
            </a:r>
            <a:r>
              <a:rPr lang="es-ES" sz="2400" dirty="0" smtClean="0"/>
              <a:t>µ y </a:t>
            </a:r>
            <a:r>
              <a:rPr lang="es-CR" sz="2400" dirty="0" smtClean="0"/>
              <a:t>σ, su posición central y su forma van a estar en función de estos parámetros.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285750" y="0"/>
            <a:ext cx="8572500" cy="928688"/>
          </a:xfrm>
          <a:prstGeom prst="rect">
            <a:avLst/>
          </a:prstGeom>
        </p:spPr>
        <p:txBody>
          <a:bodyPr bIns="91440" anchor="b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s-CR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 curva normal</a:t>
            </a:r>
          </a:p>
        </p:txBody>
      </p:sp>
      <p:pic>
        <p:nvPicPr>
          <p:cNvPr id="1843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857500"/>
            <a:ext cx="4857750" cy="364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7 CuadroTexto"/>
          <p:cNvSpPr txBox="1">
            <a:spLocks noChangeArrowheads="1"/>
          </p:cNvSpPr>
          <p:nvPr/>
        </p:nvSpPr>
        <p:spPr bwMode="auto">
          <a:xfrm>
            <a:off x="3429000" y="304006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1.</a:t>
            </a:r>
          </a:p>
        </p:txBody>
      </p:sp>
      <p:sp>
        <p:nvSpPr>
          <p:cNvPr id="18438" name="8 CuadroTexto"/>
          <p:cNvSpPr txBox="1">
            <a:spLocks noChangeArrowheads="1"/>
          </p:cNvSpPr>
          <p:nvPr/>
        </p:nvSpPr>
        <p:spPr bwMode="auto">
          <a:xfrm>
            <a:off x="3438525" y="31829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2.</a:t>
            </a:r>
          </a:p>
        </p:txBody>
      </p:sp>
      <p:sp>
        <p:nvSpPr>
          <p:cNvPr id="18439" name="9 CuadroTexto"/>
          <p:cNvSpPr txBox="1">
            <a:spLocks noChangeArrowheads="1"/>
          </p:cNvSpPr>
          <p:nvPr/>
        </p:nvSpPr>
        <p:spPr bwMode="auto">
          <a:xfrm>
            <a:off x="3429000" y="3325813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3.</a:t>
            </a:r>
          </a:p>
        </p:txBody>
      </p:sp>
      <p:sp>
        <p:nvSpPr>
          <p:cNvPr id="18440" name="10 CuadroTexto"/>
          <p:cNvSpPr txBox="1">
            <a:spLocks noChangeArrowheads="1"/>
          </p:cNvSpPr>
          <p:nvPr/>
        </p:nvSpPr>
        <p:spPr bwMode="auto">
          <a:xfrm>
            <a:off x="3429000" y="3500438"/>
            <a:ext cx="28575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000">
                <a:latin typeface="Perpetua" pitchFamily="18" charset="0"/>
              </a:rPr>
              <a:t>4.</a:t>
            </a:r>
          </a:p>
        </p:txBody>
      </p:sp>
      <p:sp>
        <p:nvSpPr>
          <p:cNvPr id="18441" name="11 CuadroTexto"/>
          <p:cNvSpPr txBox="1">
            <a:spLocks noChangeArrowheads="1"/>
          </p:cNvSpPr>
          <p:nvPr/>
        </p:nvSpPr>
        <p:spPr bwMode="auto">
          <a:xfrm>
            <a:off x="5643563" y="2741613"/>
            <a:ext cx="26431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 dirty="0">
                <a:latin typeface="Perpetua" pitchFamily="18" charset="0"/>
              </a:rPr>
              <a:t>1. Distribución normal con promedio centrado y muy poca variabilidad</a:t>
            </a:r>
          </a:p>
        </p:txBody>
      </p:sp>
      <p:sp>
        <p:nvSpPr>
          <p:cNvPr id="18442" name="12 CuadroTexto"/>
          <p:cNvSpPr txBox="1">
            <a:spLocks noChangeArrowheads="1"/>
          </p:cNvSpPr>
          <p:nvPr/>
        </p:nvSpPr>
        <p:spPr bwMode="auto">
          <a:xfrm>
            <a:off x="5643563" y="35718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 dirty="0">
                <a:latin typeface="Perpetua" pitchFamily="18" charset="0"/>
              </a:rPr>
              <a:t>2. Distribución normal con promedio centrado con cierta variabilidad.</a:t>
            </a:r>
          </a:p>
        </p:txBody>
      </p:sp>
      <p:sp>
        <p:nvSpPr>
          <p:cNvPr id="18443" name="13 CuadroTexto"/>
          <p:cNvSpPr txBox="1">
            <a:spLocks noChangeArrowheads="1"/>
          </p:cNvSpPr>
          <p:nvPr/>
        </p:nvSpPr>
        <p:spPr bwMode="auto">
          <a:xfrm>
            <a:off x="5643563" y="438467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3. Distribución normal con promedio centrado con demasiada variabilidad.</a:t>
            </a:r>
          </a:p>
        </p:txBody>
      </p:sp>
      <p:sp>
        <p:nvSpPr>
          <p:cNvPr id="18444" name="14 CuadroTexto"/>
          <p:cNvSpPr txBox="1">
            <a:spLocks noChangeArrowheads="1"/>
          </p:cNvSpPr>
          <p:nvPr/>
        </p:nvSpPr>
        <p:spPr bwMode="auto">
          <a:xfrm>
            <a:off x="5643563" y="5241925"/>
            <a:ext cx="264318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1600">
                <a:latin typeface="Perpetua" pitchFamily="18" charset="0"/>
              </a:rPr>
              <a:t>4. Distribución normal con promedio no centrado con poca variabilidad.</a:t>
            </a:r>
          </a:p>
        </p:txBody>
      </p:sp>
    </p:spTree>
    <p:extLst>
      <p:ext uri="{BB962C8B-B14F-4D97-AF65-F5344CB8AC3E}">
        <p14:creationId xmlns:p14="http://schemas.microsoft.com/office/powerpoint/2010/main" val="3562052046"/>
      </p:ext>
    </p:extLst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2 Marcador de contenido"/>
          <p:cNvSpPr>
            <a:spLocks noGrp="1"/>
          </p:cNvSpPr>
          <p:nvPr>
            <p:ph sz="quarter" idx="1"/>
          </p:nvPr>
        </p:nvSpPr>
        <p:spPr>
          <a:xfrm>
            <a:off x="0" y="1052736"/>
            <a:ext cx="5940152" cy="5805264"/>
          </a:xfrm>
        </p:spPr>
        <p:txBody>
          <a:bodyPr>
            <a:normAutofit fontScale="85000" lnSpcReduction="10000"/>
          </a:bodyPr>
          <a:lstStyle/>
          <a:p>
            <a:pPr algn="just" eaLnBrk="1" hangingPunct="1"/>
            <a:r>
              <a:rPr lang="es-CR" sz="2800" dirty="0" smtClean="0"/>
              <a:t>La popularidad de la curva normal no sólo reside en que la mayoría de los eventos tienen la distribución de campana antes vista, sino también por sus 5 características:</a:t>
            </a:r>
          </a:p>
          <a:p>
            <a:pPr algn="just" eaLnBrk="1" hangingPunct="1">
              <a:buFont typeface="Wingdings 2" pitchFamily="18" charset="2"/>
              <a:buNone/>
            </a:pPr>
            <a:endParaRPr lang="es-CR" sz="2800" dirty="0" smtClean="0"/>
          </a:p>
          <a:p>
            <a:pPr algn="just" eaLnBrk="1" hangingPunct="1">
              <a:buFont typeface="Wingdings 2" pitchFamily="18" charset="2"/>
              <a:buNone/>
            </a:pPr>
            <a:r>
              <a:rPr lang="es-CR" sz="2800" dirty="0" smtClean="0"/>
              <a:t>	1. </a:t>
            </a:r>
            <a:r>
              <a:rPr lang="es-CR" sz="2800" i="1" dirty="0" smtClean="0"/>
              <a:t>El área total bajo la curva es igual a 1.</a:t>
            </a:r>
            <a:endParaRPr lang="es-CR" sz="2800" dirty="0" smtClean="0"/>
          </a:p>
          <a:p>
            <a:pPr algn="just" eaLnBrk="1" hangingPunct="1">
              <a:buFont typeface="Wingdings 2" pitchFamily="18" charset="2"/>
              <a:buNone/>
            </a:pPr>
            <a:r>
              <a:rPr lang="es-CR" sz="2800" dirty="0" smtClean="0"/>
              <a:t>	2. </a:t>
            </a:r>
            <a:r>
              <a:rPr lang="es-CR" sz="2800" i="1" dirty="0" smtClean="0"/>
              <a:t>La distribución es simétrica respecto al promedio.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sz="2800" dirty="0" smtClean="0"/>
              <a:t>	3. </a:t>
            </a:r>
            <a:r>
              <a:rPr lang="es-CR" sz="2800" i="1" dirty="0" smtClean="0"/>
              <a:t>El promedio, moda y media valen lo mismo.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sz="2800" dirty="0" smtClean="0"/>
              <a:t>	4.</a:t>
            </a:r>
            <a:r>
              <a:rPr lang="es-CR" sz="2800" i="1" dirty="0" smtClean="0"/>
              <a:t>Queda perfectamente determinada cuando se conoce </a:t>
            </a:r>
            <a:r>
              <a:rPr lang="es-ES" sz="2800" i="1" dirty="0" smtClean="0"/>
              <a:t>µ y </a:t>
            </a:r>
            <a:r>
              <a:rPr lang="es-CR" sz="2800" i="1" dirty="0" smtClean="0"/>
              <a:t>σ.</a:t>
            </a:r>
          </a:p>
          <a:p>
            <a:pPr algn="just" eaLnBrk="1" hangingPunct="1">
              <a:buFont typeface="Wingdings 2" pitchFamily="18" charset="2"/>
              <a:buNone/>
            </a:pPr>
            <a:r>
              <a:rPr lang="es-CR" sz="2800" dirty="0" smtClean="0"/>
              <a:t>	5.</a:t>
            </a:r>
            <a:r>
              <a:rPr lang="es-CR" sz="2800" i="1" dirty="0" smtClean="0"/>
              <a:t>La curva está definida desde - ∞ hasta + ∞</a:t>
            </a:r>
            <a:r>
              <a:rPr lang="es-CR" sz="2800" dirty="0" smtClean="0"/>
              <a:t>.</a:t>
            </a:r>
            <a:endParaRPr lang="es-CR" dirty="0" smtClean="0"/>
          </a:p>
          <a:p>
            <a:pPr algn="just" eaLnBrk="1" hangingPunct="1">
              <a:buFont typeface="Wingdings 2" pitchFamily="18" charset="2"/>
              <a:buNone/>
            </a:pPr>
            <a:r>
              <a:rPr lang="es-CR" dirty="0" smtClean="0"/>
              <a:t> </a:t>
            </a:r>
          </a:p>
          <a:p>
            <a:pPr eaLnBrk="1" hangingPunct="1">
              <a:buFont typeface="Wingdings 2" pitchFamily="18" charset="2"/>
              <a:buNone/>
            </a:pPr>
            <a:endParaRPr lang="es-CR" dirty="0" smtClean="0"/>
          </a:p>
        </p:txBody>
      </p:sp>
      <p:sp>
        <p:nvSpPr>
          <p:cNvPr id="19459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836712"/>
          </a:xfrm>
        </p:spPr>
        <p:txBody>
          <a:bodyPr/>
          <a:lstStyle/>
          <a:p>
            <a:pPr algn="ctr" eaLnBrk="1" hangingPunct="1"/>
            <a:r>
              <a:rPr lang="es-CR" dirty="0" smtClean="0"/>
              <a:t>Características de la curva normal</a:t>
            </a:r>
          </a:p>
        </p:txBody>
      </p:sp>
      <p:pic>
        <p:nvPicPr>
          <p:cNvPr id="31746" name="Picture 2" descr="http://www.devocionaldiario.com/wp-content/uploads/2009/08/popularidad-300x26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124744"/>
            <a:ext cx="2857500" cy="2476501"/>
          </a:xfrm>
          <a:prstGeom prst="rect">
            <a:avLst/>
          </a:prstGeom>
          <a:noFill/>
        </p:spPr>
      </p:pic>
      <p:pic>
        <p:nvPicPr>
          <p:cNvPr id="31748" name="Picture 4" descr="http://pillateunlinux.files.wordpress.com/2008/12/popularidad_300x2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077072"/>
            <a:ext cx="2520280" cy="1890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7439343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2 Marcador de contenido"/>
          <p:cNvSpPr>
            <a:spLocks noGrp="1"/>
          </p:cNvSpPr>
          <p:nvPr>
            <p:ph sz="quarter" idx="1"/>
          </p:nvPr>
        </p:nvSpPr>
        <p:spPr>
          <a:xfrm>
            <a:off x="285750" y="1428750"/>
            <a:ext cx="7772400" cy="4572000"/>
          </a:xfrm>
        </p:spPr>
        <p:txBody>
          <a:bodyPr/>
          <a:lstStyle/>
          <a:p>
            <a:pPr eaLnBrk="1" hangingPunct="1"/>
            <a:r>
              <a:rPr lang="es-CR" sz="2400" dirty="0" smtClean="0"/>
              <a:t>Mientras que la curva normal está en función del parámetro </a:t>
            </a:r>
            <a:r>
              <a:rPr lang="es-ES" sz="2400" i="1" dirty="0" smtClean="0"/>
              <a:t>µ y </a:t>
            </a:r>
            <a:r>
              <a:rPr lang="es-CR" sz="2400" i="1" dirty="0" smtClean="0"/>
              <a:t>σ</a:t>
            </a:r>
            <a:r>
              <a:rPr lang="es-CR" sz="2400" dirty="0" smtClean="0"/>
              <a:t>, la normal estándar está en función de</a:t>
            </a:r>
            <a:r>
              <a:rPr lang="es-ES" sz="2400" i="1" dirty="0" smtClean="0"/>
              <a:t> µ=0 </a:t>
            </a:r>
            <a:r>
              <a:rPr lang="es-CR" sz="2400" dirty="0" smtClean="0"/>
              <a:t>y </a:t>
            </a:r>
            <a:r>
              <a:rPr lang="es-CR" sz="2400" i="1" dirty="0" smtClean="0"/>
              <a:t>σ </a:t>
            </a:r>
            <a:r>
              <a:rPr lang="es-CR" sz="2400" dirty="0" smtClean="0"/>
              <a:t>=1. En el fondo los resultados en probabilidad son los mismos, pero la opción “estandarizada “es más sencilla de utilizar.</a:t>
            </a:r>
          </a:p>
        </p:txBody>
      </p:sp>
      <p:sp>
        <p:nvSpPr>
          <p:cNvPr id="28675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25538"/>
          </a:xfrm>
        </p:spPr>
        <p:txBody>
          <a:bodyPr/>
          <a:lstStyle/>
          <a:p>
            <a:pPr algn="ctr" eaLnBrk="1" hangingPunct="1"/>
            <a:r>
              <a:rPr lang="es-CR" smtClean="0"/>
              <a:t>La curva normal vs normal estándar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263" y="3213100"/>
            <a:ext cx="3744912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9700" y="5643563"/>
            <a:ext cx="35528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3213100"/>
            <a:ext cx="3671887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5607050"/>
            <a:ext cx="3605212" cy="103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7 CuadroTexto"/>
          <p:cNvSpPr txBox="1">
            <a:spLocks noChangeArrowheads="1"/>
          </p:cNvSpPr>
          <p:nvPr/>
        </p:nvSpPr>
        <p:spPr bwMode="auto">
          <a:xfrm>
            <a:off x="2000250" y="5143500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</a:t>
            </a:r>
            <a:endParaRPr lang="es-CR"/>
          </a:p>
        </p:txBody>
      </p:sp>
      <p:sp>
        <p:nvSpPr>
          <p:cNvPr id="28681" name="13 CuadroTexto"/>
          <p:cNvSpPr txBox="1">
            <a:spLocks noChangeArrowheads="1"/>
          </p:cNvSpPr>
          <p:nvPr/>
        </p:nvSpPr>
        <p:spPr bwMode="auto">
          <a:xfrm>
            <a:off x="2357438" y="51435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2" name="14 CuadroTexto"/>
          <p:cNvSpPr txBox="1">
            <a:spLocks noChangeArrowheads="1"/>
          </p:cNvSpPr>
          <p:nvPr/>
        </p:nvSpPr>
        <p:spPr bwMode="auto">
          <a:xfrm>
            <a:off x="2928938" y="51308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µ+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3" name="15 CuadroTexto"/>
          <p:cNvSpPr txBox="1">
            <a:spLocks noChangeArrowheads="1"/>
          </p:cNvSpPr>
          <p:nvPr/>
        </p:nvSpPr>
        <p:spPr bwMode="auto">
          <a:xfrm>
            <a:off x="1357313" y="5130800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σ</a:t>
            </a:r>
            <a:endParaRPr lang="es-CR"/>
          </a:p>
        </p:txBody>
      </p:sp>
      <p:sp>
        <p:nvSpPr>
          <p:cNvPr id="28684" name="16 CuadroTexto"/>
          <p:cNvSpPr txBox="1">
            <a:spLocks noChangeArrowheads="1"/>
          </p:cNvSpPr>
          <p:nvPr/>
        </p:nvSpPr>
        <p:spPr bwMode="auto">
          <a:xfrm>
            <a:off x="642938" y="514350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µ-</a:t>
            </a:r>
            <a:r>
              <a:rPr lang="es-CR" i="1"/>
              <a:t> 2σ</a:t>
            </a:r>
            <a:endParaRPr lang="es-CR"/>
          </a:p>
        </p:txBody>
      </p:sp>
      <p:sp>
        <p:nvSpPr>
          <p:cNvPr id="28685" name="18 CuadroTexto"/>
          <p:cNvSpPr txBox="1">
            <a:spLocks noChangeArrowheads="1"/>
          </p:cNvSpPr>
          <p:nvPr/>
        </p:nvSpPr>
        <p:spPr bwMode="auto">
          <a:xfrm>
            <a:off x="6858000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0</a:t>
            </a:r>
          </a:p>
        </p:txBody>
      </p:sp>
      <p:sp>
        <p:nvSpPr>
          <p:cNvPr id="28686" name="19 CuadroTexto"/>
          <p:cNvSpPr txBox="1">
            <a:spLocks noChangeArrowheads="1"/>
          </p:cNvSpPr>
          <p:nvPr/>
        </p:nvSpPr>
        <p:spPr bwMode="auto">
          <a:xfrm>
            <a:off x="72866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1</a:t>
            </a:r>
          </a:p>
        </p:txBody>
      </p:sp>
      <p:sp>
        <p:nvSpPr>
          <p:cNvPr id="28687" name="20 CuadroTexto"/>
          <p:cNvSpPr txBox="1">
            <a:spLocks noChangeArrowheads="1"/>
          </p:cNvSpPr>
          <p:nvPr/>
        </p:nvSpPr>
        <p:spPr bwMode="auto">
          <a:xfrm>
            <a:off x="7858125" y="5072063"/>
            <a:ext cx="3571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2</a:t>
            </a:r>
          </a:p>
        </p:txBody>
      </p:sp>
      <p:sp>
        <p:nvSpPr>
          <p:cNvPr id="28688" name="21 CuadroTexto"/>
          <p:cNvSpPr txBox="1">
            <a:spLocks noChangeArrowheads="1"/>
          </p:cNvSpPr>
          <p:nvPr/>
        </p:nvSpPr>
        <p:spPr bwMode="auto">
          <a:xfrm>
            <a:off x="6215063" y="50593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-1</a:t>
            </a:r>
          </a:p>
        </p:txBody>
      </p:sp>
      <p:sp>
        <p:nvSpPr>
          <p:cNvPr id="28689" name="22 CuadroTexto"/>
          <p:cNvSpPr txBox="1">
            <a:spLocks noChangeArrowheads="1"/>
          </p:cNvSpPr>
          <p:nvPr/>
        </p:nvSpPr>
        <p:spPr bwMode="auto">
          <a:xfrm>
            <a:off x="5643563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-2</a:t>
            </a:r>
          </a:p>
        </p:txBody>
      </p:sp>
      <p:sp>
        <p:nvSpPr>
          <p:cNvPr id="28690" name="23 CuadroTexto"/>
          <p:cNvSpPr txBox="1">
            <a:spLocks noChangeArrowheads="1"/>
          </p:cNvSpPr>
          <p:nvPr/>
        </p:nvSpPr>
        <p:spPr bwMode="auto">
          <a:xfrm>
            <a:off x="5214938" y="5072063"/>
            <a:ext cx="5000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-3</a:t>
            </a:r>
          </a:p>
        </p:txBody>
      </p:sp>
      <p:sp>
        <p:nvSpPr>
          <p:cNvPr id="28691" name="24 CuadroTexto"/>
          <p:cNvSpPr txBox="1">
            <a:spLocks noChangeArrowheads="1"/>
          </p:cNvSpPr>
          <p:nvPr/>
        </p:nvSpPr>
        <p:spPr bwMode="auto">
          <a:xfrm>
            <a:off x="8286750" y="5072063"/>
            <a:ext cx="5000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59527189"/>
      </p:ext>
    </p:extLst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2 Marcador de contenido"/>
          <p:cNvSpPr>
            <a:spLocks noGrp="1"/>
          </p:cNvSpPr>
          <p:nvPr>
            <p:ph sz="quarter" idx="1"/>
          </p:nvPr>
        </p:nvSpPr>
        <p:spPr>
          <a:xfrm>
            <a:off x="179388" y="1052513"/>
            <a:ext cx="8064500" cy="5545137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s-CR" sz="2200" smtClean="0"/>
              <a:t>Una curva normal queda definida si se conoce su media aritmética y su desviación estándar, pero como los valores posibles para </a:t>
            </a:r>
            <a:r>
              <a:rPr lang="es-ES" sz="2000" i="1" smtClean="0"/>
              <a:t>µ y </a:t>
            </a:r>
            <a:r>
              <a:rPr lang="es-CR" sz="2000" i="1" smtClean="0"/>
              <a:t>σ</a:t>
            </a:r>
            <a:r>
              <a:rPr lang="es-CR" sz="2000" smtClean="0"/>
              <a:t> </a:t>
            </a:r>
            <a:r>
              <a:rPr lang="es-CR" sz="2200" smtClean="0"/>
              <a:t>son prácticamente infinitos, es fácil concluir que el número de curvas normales es también infinito.</a:t>
            </a:r>
          </a:p>
          <a:p>
            <a:pPr eaLnBrk="1" hangingPunct="1"/>
            <a:endParaRPr lang="es-CR" sz="2200" smtClean="0"/>
          </a:p>
          <a:p>
            <a:pPr eaLnBrk="1" hangingPunct="1"/>
            <a:r>
              <a:rPr lang="es-CR" sz="2200" smtClean="0"/>
              <a:t>Entonces, cómo el número de curvas normales es infinito, se ha calculado una tabla de probabilidades para una curva normal con </a:t>
            </a:r>
            <a:r>
              <a:rPr lang="es-ES" sz="2400" i="1" smtClean="0"/>
              <a:t>µ </a:t>
            </a:r>
            <a:r>
              <a:rPr lang="es-CR" sz="2200" smtClean="0"/>
              <a:t>= 0 y </a:t>
            </a:r>
            <a:r>
              <a:rPr lang="es-CR" sz="2400" i="1" smtClean="0"/>
              <a:t>σ </a:t>
            </a:r>
            <a:r>
              <a:rPr lang="es-CR" sz="2200" smtClean="0"/>
              <a:t>=1, y cualquier problema referente a una variable normal se traslada o refiere a la tabla mencionada mediante simples operaciones algebraicas, conocida como </a:t>
            </a:r>
            <a:r>
              <a:rPr lang="es-CR" sz="2200" i="1" smtClean="0"/>
              <a:t>curva normal estándar</a:t>
            </a:r>
            <a:r>
              <a:rPr lang="es-CR" sz="2200" smtClean="0"/>
              <a:t>.</a:t>
            </a:r>
          </a:p>
          <a:p>
            <a:pPr eaLnBrk="1" hangingPunct="1"/>
            <a:endParaRPr lang="es-CR" sz="2200" smtClean="0"/>
          </a:p>
          <a:p>
            <a:pPr eaLnBrk="1" hangingPunct="1"/>
            <a:r>
              <a:rPr lang="es-CR" sz="2200" smtClean="0"/>
              <a:t>Se quiere</a:t>
            </a:r>
            <a:r>
              <a:rPr lang="es-CR" sz="2000" smtClean="0"/>
              <a:t> </a:t>
            </a:r>
            <a:r>
              <a:rPr lang="es-CR" sz="2200" smtClean="0"/>
              <a:t>alguna probabilidad para una variable normal que tenga el promedio diferente de cero, la desviación estándar diferente de 1, o ambos parámetros diferentes. Por lo tanto se realiza transformación algebraica sencilla denominada estandarización, mediante el traslado a una N</a:t>
            </a:r>
            <a:r>
              <a:rPr lang="en-US" sz="2200" smtClean="0"/>
              <a:t>~</a:t>
            </a:r>
            <a:r>
              <a:rPr lang="es-CR" sz="2200" smtClean="0"/>
              <a:t>(0,1).</a:t>
            </a:r>
            <a:endParaRPr lang="es-CR" sz="2000" smtClean="0"/>
          </a:p>
        </p:txBody>
      </p:sp>
      <p:sp>
        <p:nvSpPr>
          <p:cNvPr id="29699" name="1 Título"/>
          <p:cNvSpPr>
            <a:spLocks/>
          </p:cNvSpPr>
          <p:nvPr/>
        </p:nvSpPr>
        <p:spPr bwMode="auto">
          <a:xfrm>
            <a:off x="285750" y="0"/>
            <a:ext cx="85725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b"/>
          <a:lstStyle/>
          <a:p>
            <a:pPr algn="ctr"/>
            <a:r>
              <a:rPr lang="es-CR" sz="4000">
                <a:solidFill>
                  <a:schemeClr val="tx2"/>
                </a:solidFill>
                <a:latin typeface="Franklin Gothic Book" pitchFamily="34" charset="0"/>
              </a:rPr>
              <a:t>La curva normal vs normal estándar</a:t>
            </a:r>
          </a:p>
        </p:txBody>
      </p:sp>
    </p:spTree>
    <p:extLst>
      <p:ext uri="{BB962C8B-B14F-4D97-AF65-F5344CB8AC3E}">
        <p14:creationId xmlns:p14="http://schemas.microsoft.com/office/powerpoint/2010/main" val="1081531259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47342" y="1268760"/>
            <a:ext cx="8501122" cy="5429264"/>
          </a:xfrm>
        </p:spPr>
        <p:txBody>
          <a:bodyPr>
            <a:normAutofit fontScale="92500"/>
          </a:bodyPr>
          <a:lstStyle/>
          <a:p>
            <a:r>
              <a:rPr lang="es-CR" dirty="0" smtClean="0"/>
              <a:t>Ahora bien, explicado los dos conceptos anteriores, la gran pregunta es:</a:t>
            </a:r>
          </a:p>
          <a:p>
            <a:endParaRPr lang="es-CR" dirty="0" smtClean="0"/>
          </a:p>
          <a:p>
            <a:pPr algn="ctr">
              <a:buNone/>
            </a:pPr>
            <a:r>
              <a:rPr lang="es-CR" sz="6000" dirty="0" smtClean="0"/>
              <a:t>¡¿ Cómo se calculan las probabilidad?!</a:t>
            </a:r>
          </a:p>
          <a:p>
            <a:endParaRPr lang="es-CR" sz="2400" dirty="0" smtClean="0"/>
          </a:p>
          <a:p>
            <a:r>
              <a:rPr lang="es-CR" sz="2400" dirty="0" smtClean="0"/>
              <a:t>Para esto entonces utilicemos la siguiente tabla de probabilidad es una normal estándar (siguientes dos filminas), y recordemos que:</a:t>
            </a:r>
          </a:p>
          <a:p>
            <a:pPr>
              <a:buNone/>
            </a:pPr>
            <a:r>
              <a:rPr lang="es-CR" sz="2400" dirty="0" smtClean="0"/>
              <a:t>	-El área total bajo la curva suma 1.</a:t>
            </a:r>
          </a:p>
          <a:p>
            <a:pPr>
              <a:buNone/>
            </a:pPr>
            <a:r>
              <a:rPr lang="es-CR" sz="2400" dirty="0" smtClean="0"/>
              <a:t>	-La curva es simétrica con respecto al promedio.</a:t>
            </a:r>
            <a:endParaRPr lang="es-CR" sz="2400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</p:spTree>
    <p:extLst>
      <p:ext uri="{BB962C8B-B14F-4D97-AF65-F5344CB8AC3E}">
        <p14:creationId xmlns:p14="http://schemas.microsoft.com/office/powerpoint/2010/main" val="1950808076"/>
      </p:ext>
    </p:extLst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284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8918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/>
          </p:cNvSpPr>
          <p:nvPr>
            <p:ph type="body" idx="1"/>
          </p:nvPr>
        </p:nvSpPr>
        <p:spPr>
          <a:xfrm>
            <a:off x="285720" y="1428736"/>
            <a:ext cx="8358246" cy="5214974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s-ES_tradnl" dirty="0" smtClean="0"/>
              <a:t>Esta tabla se conoce como “tablas de dos colas”; esto permite conocer directamente las probabilidades acumuladas, tanto de valores positivos como de valores negativos de la variable aleatoria z.</a:t>
            </a:r>
          </a:p>
          <a:p>
            <a:pPr eaLnBrk="1" hangingPunct="1"/>
            <a:endParaRPr lang="es-ES_tradnl" dirty="0" smtClean="0"/>
          </a:p>
          <a:p>
            <a:pPr eaLnBrk="1" hangingPunct="1"/>
            <a:r>
              <a:rPr lang="es-ES_tradnl" dirty="0" smtClean="0"/>
              <a:t>En el empleo de la tabla se debe tomar en cuenta que: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la primera columna aparecen los valores de z con un decimal;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la primera hilera aparece el segundo decimal para dar mayor precisión a la tabla.</a:t>
            </a:r>
          </a:p>
          <a:p>
            <a:pPr marL="514350" indent="-514350" eaLnBrk="1" hangingPunct="1">
              <a:buAutoNum type="alphaLcPeriod"/>
            </a:pPr>
            <a:r>
              <a:rPr lang="es-ES_tradnl" dirty="0" smtClean="0"/>
              <a:t>En el cuerpo de la tabla se muestra el área acumulada desde </a:t>
            </a:r>
            <a:r>
              <a:rPr lang="es-CR" i="1" dirty="0" smtClean="0"/>
              <a:t>-∞ </a:t>
            </a:r>
            <a:r>
              <a:rPr lang="es-CR" dirty="0" smtClean="0"/>
              <a:t>hasta un valor positivo dado de z</a:t>
            </a:r>
            <a:endParaRPr lang="es-ES_tradnl" dirty="0" smtClean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400050" y="0"/>
            <a:ext cx="8348663" cy="11969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</p:spTree>
    <p:extLst>
      <p:ext uri="{BB962C8B-B14F-4D97-AF65-F5344CB8AC3E}">
        <p14:creationId xmlns:p14="http://schemas.microsoft.com/office/powerpoint/2010/main" val="659961412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572560" cy="5286412"/>
          </a:xfrm>
        </p:spPr>
        <p:txBody>
          <a:bodyPr/>
          <a:lstStyle/>
          <a:p>
            <a:r>
              <a:rPr lang="es-CR" dirty="0" smtClean="0"/>
              <a:t>Por ejemplo, busquemos la siguiente probabilidad de </a:t>
            </a:r>
            <a:r>
              <a:rPr lang="es-ES_tradnl" sz="2800" dirty="0" smtClean="0"/>
              <a:t>P(z ≤ 1.42):</a:t>
            </a:r>
            <a:endParaRPr lang="es-CR" dirty="0"/>
          </a:p>
        </p:txBody>
      </p:sp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285750" y="0"/>
            <a:ext cx="8643938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s-ES_tradnl" dirty="0" smtClean="0"/>
              <a:t>Probabilidades en distribución N (0,1)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0" y="2588430"/>
            <a:ext cx="7358062" cy="379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4 CuadroTexto"/>
          <p:cNvSpPr txBox="1">
            <a:spLocks noChangeArrowheads="1"/>
          </p:cNvSpPr>
          <p:nvPr/>
        </p:nvSpPr>
        <p:spPr bwMode="auto">
          <a:xfrm>
            <a:off x="500034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- ∞</a:t>
            </a:r>
            <a:endParaRPr lang="es-CR" sz="3200" dirty="0"/>
          </a:p>
        </p:txBody>
      </p:sp>
      <p:sp>
        <p:nvSpPr>
          <p:cNvPr id="10" name="5 CuadroTexto"/>
          <p:cNvSpPr txBox="1">
            <a:spLocks noChangeArrowheads="1"/>
          </p:cNvSpPr>
          <p:nvPr/>
        </p:nvSpPr>
        <p:spPr bwMode="auto">
          <a:xfrm>
            <a:off x="8072455" y="5916634"/>
            <a:ext cx="1000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3200" i="1" dirty="0"/>
              <a:t>+ ∞</a:t>
            </a:r>
            <a:endParaRPr lang="es-CR" sz="3200" dirty="0"/>
          </a:p>
        </p:txBody>
      </p:sp>
      <p:cxnSp>
        <p:nvCxnSpPr>
          <p:cNvPr id="11" name="10 Conector recto"/>
          <p:cNvCxnSpPr/>
          <p:nvPr/>
        </p:nvCxnSpPr>
        <p:spPr>
          <a:xfrm rot="5400000">
            <a:off x="5971386" y="6173013"/>
            <a:ext cx="487369" cy="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500555" y="334486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357679" y="3487742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4286241" y="3630618"/>
            <a:ext cx="85726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4214803" y="3773494"/>
            <a:ext cx="100013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214803" y="3916370"/>
            <a:ext cx="107157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143365" y="4059246"/>
            <a:ext cx="11430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071927" y="4202122"/>
            <a:ext cx="128589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00489" y="4344998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4000489" y="4487874"/>
            <a:ext cx="142876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3929051" y="4630750"/>
            <a:ext cx="157164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857613" y="4773626"/>
            <a:ext cx="178595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3786175" y="4916502"/>
            <a:ext cx="185739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714737" y="5059378"/>
            <a:ext cx="2000271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643299" y="5202254"/>
            <a:ext cx="2143147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3571861" y="5345130"/>
            <a:ext cx="228602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500423" y="5488006"/>
            <a:ext cx="242889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428985" y="5630882"/>
            <a:ext cx="257177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286109" y="5773758"/>
            <a:ext cx="278608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214671" y="5916634"/>
            <a:ext cx="3000403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2928919" y="6059510"/>
            <a:ext cx="328615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2357415" y="6202386"/>
            <a:ext cx="3857659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500159" y="6273824"/>
            <a:ext cx="4714915" cy="1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35 CuadroTexto"/>
          <p:cNvSpPr txBox="1"/>
          <p:nvPr/>
        </p:nvSpPr>
        <p:spPr>
          <a:xfrm>
            <a:off x="5786439" y="363061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smtClean="0"/>
              <a:t>P(z ≤ 1.42)  = 0.922</a:t>
            </a:r>
            <a:endParaRPr lang="es-CR" dirty="0"/>
          </a:p>
        </p:txBody>
      </p:sp>
      <p:graphicFrame>
        <p:nvGraphicFramePr>
          <p:cNvPr id="37" name="36 Tabla"/>
          <p:cNvGraphicFramePr>
            <a:graphicFrameLocks noGrp="1"/>
          </p:cNvGraphicFramePr>
          <p:nvPr/>
        </p:nvGraphicFramePr>
        <p:xfrm>
          <a:off x="214282" y="2643182"/>
          <a:ext cx="3048000" cy="156019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.9192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.9207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…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C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48 Elipse"/>
          <p:cNvSpPr/>
          <p:nvPr/>
        </p:nvSpPr>
        <p:spPr>
          <a:xfrm>
            <a:off x="2428860" y="3357562"/>
            <a:ext cx="1071570" cy="857256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b="0" i="0" u="none" strike="noStrike" dirty="0" smtClean="0">
                <a:solidFill>
                  <a:schemeClr val="bg1"/>
                </a:solidFill>
                <a:latin typeface="Calibri"/>
              </a:rPr>
              <a:t>.9222</a:t>
            </a:r>
          </a:p>
          <a:p>
            <a:pPr algn="ctr"/>
            <a:endParaRPr lang="es-CR" sz="1200" dirty="0">
              <a:solidFill>
                <a:schemeClr val="bg1"/>
              </a:solidFill>
            </a:endParaRPr>
          </a:p>
        </p:txBody>
      </p:sp>
      <p:sp>
        <p:nvSpPr>
          <p:cNvPr id="62" name="61 CuadroTexto"/>
          <p:cNvSpPr txBox="1"/>
          <p:nvPr/>
        </p:nvSpPr>
        <p:spPr>
          <a:xfrm>
            <a:off x="5857884" y="642939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dirty="0" smtClean="0"/>
              <a:t>1,42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086342790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 smtClean="0"/>
              <a:t>Probabilidades en distribución N (0,1)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179512" y="980728"/>
            <a:ext cx="4248472" cy="762000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Probabilidad menor (boca a la izquierda).</a:t>
            </a:r>
            <a:endParaRPr lang="es-CR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half" idx="3"/>
          </p:nvPr>
        </p:nvSpPr>
        <p:spPr>
          <a:xfrm>
            <a:off x="4788024" y="980728"/>
            <a:ext cx="4176464" cy="762000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Probabilidad mayor (boca a la derecha).</a:t>
            </a:r>
            <a:endParaRPr lang="es-CR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2"/>
          </p:nvPr>
        </p:nvSpPr>
        <p:spPr>
          <a:xfrm>
            <a:off x="179512" y="1916832"/>
            <a:ext cx="4248472" cy="4608512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</p:txBody>
      </p:sp>
      <p:sp>
        <p:nvSpPr>
          <p:cNvPr id="8" name="7 Marcador de contenido"/>
          <p:cNvSpPr>
            <a:spLocks noGrp="1"/>
          </p:cNvSpPr>
          <p:nvPr>
            <p:ph sz="half" idx="4"/>
          </p:nvPr>
        </p:nvSpPr>
        <p:spPr>
          <a:xfrm>
            <a:off x="4644008" y="1916832"/>
            <a:ext cx="4176464" cy="4608512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4077072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143844"/>
            <a:ext cx="3096344" cy="2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5576" y="2852936"/>
            <a:ext cx="2520280" cy="829039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80112" y="2852936"/>
            <a:ext cx="2664296" cy="876413"/>
          </a:xfrm>
          <a:prstGeom prst="rect">
            <a:avLst/>
          </a:prstGeom>
          <a:noFill/>
        </p:spPr>
      </p:pic>
      <p:cxnSp>
        <p:nvCxnSpPr>
          <p:cNvPr id="50" name="49 Conector recto"/>
          <p:cNvCxnSpPr/>
          <p:nvPr/>
        </p:nvCxnSpPr>
        <p:spPr>
          <a:xfrm rot="5400000" flipH="1" flipV="1">
            <a:off x="2015716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1835696" y="443711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1763688" y="45091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1763688" y="458112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1763688" y="4653136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1691680" y="4797152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1691680" y="486916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1619672" y="5013176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1619672" y="5157192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1475656" y="5373216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1547664" y="5229200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475656" y="55892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>
            <a:off x="1403648" y="5805264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"/>
          <p:cNvCxnSpPr/>
          <p:nvPr/>
        </p:nvCxnSpPr>
        <p:spPr>
          <a:xfrm>
            <a:off x="1475656" y="56612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78 Conector recto"/>
          <p:cNvCxnSpPr/>
          <p:nvPr/>
        </p:nvCxnSpPr>
        <p:spPr>
          <a:xfrm>
            <a:off x="1331640" y="594928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/>
          <p:nvPr/>
        </p:nvCxnSpPr>
        <p:spPr>
          <a:xfrm>
            <a:off x="539552" y="630932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"/>
          <p:cNvCxnSpPr/>
          <p:nvPr/>
        </p:nvCxnSpPr>
        <p:spPr>
          <a:xfrm rot="10800000">
            <a:off x="1259632" y="616530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1259632" y="6093296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>
            <a:off x="1475656" y="5517232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1475656" y="5445224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1619672" y="494116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>
            <a:off x="1619672" y="508518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>
            <a:off x="1547664" y="5301208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>
            <a:off x="1691680" y="4725144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>
            <a:off x="1403648" y="5733256"/>
            <a:ext cx="936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>
            <a:off x="1331640" y="587727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102 Conector recto"/>
          <p:cNvCxnSpPr/>
          <p:nvPr/>
        </p:nvCxnSpPr>
        <p:spPr>
          <a:xfrm>
            <a:off x="1259632" y="6021288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Conector recto"/>
          <p:cNvCxnSpPr/>
          <p:nvPr/>
        </p:nvCxnSpPr>
        <p:spPr>
          <a:xfrm>
            <a:off x="1115616" y="623731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105 CuadroTexto"/>
          <p:cNvSpPr txBox="1"/>
          <p:nvPr/>
        </p:nvSpPr>
        <p:spPr>
          <a:xfrm>
            <a:off x="2123728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  <p:cxnSp>
        <p:nvCxnSpPr>
          <p:cNvPr id="107" name="106 Conector recto"/>
          <p:cNvCxnSpPr/>
          <p:nvPr/>
        </p:nvCxnSpPr>
        <p:spPr>
          <a:xfrm rot="5400000" flipH="1" flipV="1">
            <a:off x="6768244" y="605729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"/>
          <p:cNvCxnSpPr/>
          <p:nvPr/>
        </p:nvCxnSpPr>
        <p:spPr>
          <a:xfrm>
            <a:off x="7092280" y="638132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>
            <a:off x="7092280" y="6309320"/>
            <a:ext cx="432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114 Conector recto"/>
          <p:cNvCxnSpPr/>
          <p:nvPr/>
        </p:nvCxnSpPr>
        <p:spPr>
          <a:xfrm>
            <a:off x="7092280" y="623731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117 Conector recto"/>
          <p:cNvCxnSpPr/>
          <p:nvPr/>
        </p:nvCxnSpPr>
        <p:spPr>
          <a:xfrm>
            <a:off x="7092280" y="6165304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119 Conector recto"/>
          <p:cNvCxnSpPr/>
          <p:nvPr/>
        </p:nvCxnSpPr>
        <p:spPr>
          <a:xfrm>
            <a:off x="7092280" y="6093296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>
            <a:off x="7092280" y="6021288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>
            <a:off x="7092280" y="5949280"/>
            <a:ext cx="720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25 CuadroTexto"/>
          <p:cNvSpPr txBox="1"/>
          <p:nvPr/>
        </p:nvSpPr>
        <p:spPr>
          <a:xfrm>
            <a:off x="2483768" y="4509120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 smtClean="0">
                <a:latin typeface="Times New Roman"/>
                <a:cs typeface="Times New Roman"/>
              </a:rPr>
              <a:t>]-∞; 1]</a:t>
            </a:r>
            <a:endParaRPr lang="es-CR" sz="4400" dirty="0"/>
          </a:p>
        </p:txBody>
      </p:sp>
      <p:sp>
        <p:nvSpPr>
          <p:cNvPr id="127" name="126 CuadroTexto"/>
          <p:cNvSpPr txBox="1"/>
          <p:nvPr/>
        </p:nvSpPr>
        <p:spPr>
          <a:xfrm>
            <a:off x="7415808" y="4581128"/>
            <a:ext cx="1728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sz="4400" dirty="0" smtClean="0">
                <a:latin typeface="Times New Roman"/>
                <a:cs typeface="Times New Roman"/>
              </a:rPr>
              <a:t>[1;∞ [</a:t>
            </a:r>
            <a:endParaRPr lang="es-CR" sz="44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6948264" y="648866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941420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23528" y="908720"/>
            <a:ext cx="8136904" cy="762000"/>
          </a:xfrm>
        </p:spPr>
        <p:txBody>
          <a:bodyPr/>
          <a:lstStyle/>
          <a:p>
            <a:r>
              <a:rPr lang="es-CR" dirty="0" smtClean="0"/>
              <a:t>Probabilidad entre dos  valores  (dos boca a la izquierda).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half" idx="2"/>
          </p:nvPr>
        </p:nvSpPr>
        <p:spPr>
          <a:xfrm>
            <a:off x="395536" y="1844824"/>
            <a:ext cx="7776864" cy="4680520"/>
          </a:xfrm>
        </p:spPr>
        <p:txBody>
          <a:bodyPr/>
          <a:lstStyle/>
          <a:p>
            <a:r>
              <a:rPr lang="es-CR" dirty="0" smtClean="0"/>
              <a:t>Cuando se solicita por ejemplo la siguiente probabilidad:</a:t>
            </a:r>
          </a:p>
          <a:p>
            <a:pPr>
              <a:buNone/>
            </a:pPr>
            <a:endParaRPr lang="es-CR" dirty="0"/>
          </a:p>
        </p:txBody>
      </p:sp>
      <p:sp>
        <p:nvSpPr>
          <p:cNvPr id="7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/>
          <a:lstStyle/>
          <a:p>
            <a:pPr algn="ctr" eaLnBrk="1" hangingPunct="1"/>
            <a:r>
              <a:rPr lang="es-ES_tradnl" dirty="0" smtClean="0"/>
              <a:t>Probabilidades en distribución N (0,1)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6041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95736" y="2348880"/>
            <a:ext cx="4032448" cy="812994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996952"/>
            <a:ext cx="7848872" cy="34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 flipH="1" flipV="1">
            <a:off x="2699792" y="5805264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 flipH="1" flipV="1">
            <a:off x="4896036" y="5769260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059832" y="64533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6" name="15 Rectángulo"/>
          <p:cNvSpPr/>
          <p:nvPr/>
        </p:nvSpPr>
        <p:spPr>
          <a:xfrm>
            <a:off x="5292080" y="644404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R" dirty="0" smtClean="0"/>
              <a:t>1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>
            <a:off x="4067944" y="357301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067944" y="3645024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3995936" y="371703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923928" y="378904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923928" y="3861048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3851920" y="3933056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3779912" y="4005064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>
            <a:off x="3779912" y="4077072"/>
            <a:ext cx="10801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779912" y="4149080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707904" y="422108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3707904" y="4293096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"/>
          <p:cNvCxnSpPr/>
          <p:nvPr/>
        </p:nvCxnSpPr>
        <p:spPr>
          <a:xfrm>
            <a:off x="3635896" y="4365104"/>
            <a:ext cx="1368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3635896" y="44371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3563888" y="4509120"/>
            <a:ext cx="15121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3563888" y="4581128"/>
            <a:ext cx="1584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3491880" y="4653136"/>
            <a:ext cx="17281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3419872" y="4725144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3419872" y="47971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3419872" y="4869160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3419872" y="4941168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5013176"/>
            <a:ext cx="19442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347864" y="5085184"/>
            <a:ext cx="2016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3275856" y="515719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3275856" y="522920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3275856" y="530120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3275856" y="537321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3275856" y="544522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>
            <a:off x="3275856" y="551723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275856" y="566124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>
            <a:off x="3275856" y="558924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>
            <a:off x="3275856" y="573325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>
            <a:off x="3275856" y="580526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>
            <a:off x="3275856" y="587727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>
            <a:off x="3275856" y="594928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3275856" y="6021288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>
            <a:off x="3275856" y="6093296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>
            <a:off x="3275856" y="6165304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3275856" y="6237312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3275856" y="6309320"/>
            <a:ext cx="2088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13394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504" y="1124744"/>
            <a:ext cx="8856984" cy="1143000"/>
          </a:xfrm>
        </p:spPr>
        <p:txBody>
          <a:bodyPr>
            <a:normAutofit/>
          </a:bodyPr>
          <a:lstStyle/>
          <a:p>
            <a:r>
              <a:rPr lang="es-CR" dirty="0" smtClean="0"/>
              <a:t>La estandarización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6151318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Introducción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500174"/>
            <a:ext cx="8286808" cy="5072098"/>
          </a:xfrm>
        </p:spPr>
        <p:txBody>
          <a:bodyPr>
            <a:normAutofit fontScale="77500" lnSpcReduction="20000"/>
          </a:bodyPr>
          <a:lstStyle/>
          <a:p>
            <a:r>
              <a:rPr lang="es-CR" dirty="0" smtClean="0"/>
              <a:t>Finalmente, el capítulo de “Probabilidades”, “Medidas de Tendencia”, “Variabilidad” y “La curva normal y normal estándar” se unen para llevar a cabo la estandarización.</a:t>
            </a:r>
          </a:p>
          <a:p>
            <a:endParaRPr lang="es-CR" dirty="0" smtClean="0"/>
          </a:p>
          <a:p>
            <a:r>
              <a:rPr lang="es-CR" dirty="0" smtClean="0"/>
              <a:t>Supongamos el siguiente caso: queremos averiguar, para una población determinada, cuál sería la probabilidad de encontrar a una persona con una presión diastólica superior a 120, sabiendo de ante mano  que, los datos se distribuyen normalmente, y que además los datos arrojaron el siguiente resultado: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                                 ¿Cómo averiguamos este hecho?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3992754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571612"/>
            <a:ext cx="7772400" cy="4572000"/>
          </a:xfrm>
        </p:spPr>
        <p:txBody>
          <a:bodyPr/>
          <a:lstStyle/>
          <a:p>
            <a:r>
              <a:rPr lang="es-CR" dirty="0" smtClean="0"/>
              <a:t>En nuestro caso:</a:t>
            </a:r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800" dirty="0" smtClean="0"/>
              <a:t>Introducción</a:t>
            </a:r>
            <a:endParaRPr lang="es-CR" sz="4800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928934"/>
            <a:ext cx="6728643" cy="3584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0826" y="1000108"/>
            <a:ext cx="2351056" cy="1071570"/>
          </a:xfrm>
          <a:prstGeom prst="rect">
            <a:avLst/>
          </a:prstGeom>
          <a:noFill/>
        </p:spPr>
      </p:pic>
      <p:cxnSp>
        <p:nvCxnSpPr>
          <p:cNvPr id="15" name="14 Conector recto de flecha"/>
          <p:cNvCxnSpPr/>
          <p:nvPr/>
        </p:nvCxnSpPr>
        <p:spPr>
          <a:xfrm rot="10800000" flipV="1">
            <a:off x="4143372" y="2000240"/>
            <a:ext cx="2143140" cy="18573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66130" y="6357958"/>
            <a:ext cx="620052" cy="500042"/>
          </a:xfrm>
          <a:prstGeom prst="rect">
            <a:avLst/>
          </a:prstGeom>
          <a:noFill/>
        </p:spPr>
      </p:pic>
      <p:sp>
        <p:nvSpPr>
          <p:cNvPr id="19" name="18 Cerrar llave"/>
          <p:cNvSpPr/>
          <p:nvPr/>
        </p:nvSpPr>
        <p:spPr>
          <a:xfrm rot="16200000">
            <a:off x="2786049" y="5500703"/>
            <a:ext cx="500066" cy="9286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5214950"/>
            <a:ext cx="357190" cy="4252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290993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1357298"/>
            <a:ext cx="7772400" cy="528641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CR" dirty="0" smtClean="0"/>
              <a:t>De acuerdo al enunciado: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r>
              <a:rPr lang="es-CR" dirty="0" smtClean="0"/>
              <a:t>-Además, recolectados todos los datos sabemos que: </a:t>
            </a:r>
          </a:p>
          <a:p>
            <a:pPr>
              <a:buNone/>
            </a:pPr>
            <a:r>
              <a:rPr lang="es-CR" dirty="0" smtClean="0"/>
              <a:t>µ = 105         </a:t>
            </a:r>
          </a:p>
          <a:p>
            <a:pPr>
              <a:buNone/>
            </a:pPr>
            <a:r>
              <a:rPr lang="es-CR" dirty="0" smtClean="0"/>
              <a:t>σ = 10</a:t>
            </a:r>
          </a:p>
          <a:p>
            <a:pPr algn="ctr">
              <a:buNone/>
            </a:pPr>
            <a:r>
              <a:rPr lang="es-CR" sz="4800" dirty="0" smtClean="0"/>
              <a:t>¿Cómo se calcula está probabilidad?</a:t>
            </a:r>
          </a:p>
          <a:p>
            <a:pPr>
              <a:buNone/>
            </a:pPr>
            <a:endParaRPr lang="es-CR" dirty="0" smtClean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358246" cy="1143008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Introducción</a:t>
            </a:r>
            <a:endParaRPr lang="es-CR" sz="4400" dirty="0"/>
          </a:p>
        </p:txBody>
      </p:sp>
    </p:spTree>
    <p:extLst>
      <p:ext uri="{BB962C8B-B14F-4D97-AF65-F5344CB8AC3E}">
        <p14:creationId xmlns:p14="http://schemas.microsoft.com/office/powerpoint/2010/main" val="2933750332"/>
      </p:ext>
    </p:extLst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357298"/>
            <a:ext cx="7772400" cy="4572000"/>
          </a:xfrm>
        </p:spPr>
        <p:txBody>
          <a:bodyPr/>
          <a:lstStyle/>
          <a:p>
            <a:r>
              <a:rPr lang="es-CR" dirty="0" smtClean="0"/>
              <a:t>Entonces, si tenemos un problema de una  curva normal, según el enunciado, pero calculamos las probabilidades en una normal estándar: ¿qué tipo de transformación tenemos que hacer para calcular las probabilidades del enunciado en una normal estándar…?</a:t>
            </a:r>
            <a:endParaRPr lang="es-CR" dirty="0"/>
          </a:p>
        </p:txBody>
      </p:sp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86808" cy="1143000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 curva normal estándar </a:t>
            </a:r>
            <a:r>
              <a:rPr lang="es-CR" dirty="0" smtClean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9915" y="3286124"/>
            <a:ext cx="2211379" cy="1214446"/>
          </a:xfrm>
          <a:prstGeom prst="rect">
            <a:avLst/>
          </a:prstGeom>
          <a:noFill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5" y="3286124"/>
            <a:ext cx="2507793" cy="1143008"/>
          </a:xfrm>
          <a:prstGeom prst="rect">
            <a:avLst/>
          </a:prstGeom>
          <a:noFill/>
        </p:spPr>
      </p:pic>
      <p:cxnSp>
        <p:nvCxnSpPr>
          <p:cNvPr id="10" name="9 Conector recto de flecha"/>
          <p:cNvCxnSpPr/>
          <p:nvPr/>
        </p:nvCxnSpPr>
        <p:spPr>
          <a:xfrm>
            <a:off x="3357554" y="3857628"/>
            <a:ext cx="2844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Flecha abajo"/>
          <p:cNvSpPr/>
          <p:nvPr/>
        </p:nvSpPr>
        <p:spPr>
          <a:xfrm>
            <a:off x="4357686" y="4214818"/>
            <a:ext cx="642942" cy="15001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2" name="11 Rectángulo"/>
          <p:cNvSpPr/>
          <p:nvPr/>
        </p:nvSpPr>
        <p:spPr>
          <a:xfrm>
            <a:off x="285720" y="4714884"/>
            <a:ext cx="2214578" cy="78581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Normal</a:t>
            </a:r>
            <a:endParaRPr lang="es-CR" sz="3600" dirty="0"/>
          </a:p>
        </p:txBody>
      </p:sp>
      <p:sp>
        <p:nvSpPr>
          <p:cNvPr id="13" name="12 Rectángulo"/>
          <p:cNvSpPr/>
          <p:nvPr/>
        </p:nvSpPr>
        <p:spPr>
          <a:xfrm>
            <a:off x="6500826" y="4714884"/>
            <a:ext cx="2357454" cy="107157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Normal Estándar</a:t>
            </a:r>
            <a:endParaRPr lang="es-CR" sz="3600" dirty="0"/>
          </a:p>
        </p:txBody>
      </p:sp>
      <p:sp>
        <p:nvSpPr>
          <p:cNvPr id="15" name="14 Rectángulo"/>
          <p:cNvSpPr/>
          <p:nvPr/>
        </p:nvSpPr>
        <p:spPr>
          <a:xfrm>
            <a:off x="3071802" y="5857892"/>
            <a:ext cx="3000396" cy="85725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Transformación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68691144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214414" y="1447800"/>
            <a:ext cx="7772400" cy="4572000"/>
          </a:xfrm>
        </p:spPr>
        <p:txBody>
          <a:bodyPr/>
          <a:lstStyle/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0"/>
            <a:ext cx="8501122" cy="1214422"/>
          </a:xfrm>
        </p:spPr>
        <p:txBody>
          <a:bodyPr>
            <a:normAutofit/>
          </a:bodyPr>
          <a:lstStyle/>
          <a:p>
            <a:pPr algn="ctr"/>
            <a:r>
              <a:rPr lang="es-CR" dirty="0" smtClean="0"/>
              <a:t>La curva normal estándar </a:t>
            </a:r>
            <a:r>
              <a:rPr lang="es-CR" dirty="0" smtClean="0">
                <a:sym typeface="Wingdings" pitchFamily="2" charset="2"/>
              </a:rPr>
              <a:t> N(0,1)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4586262" y="3714752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5443518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6443650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µ+</a:t>
            </a:r>
            <a:r>
              <a:rPr lang="es-CR" i="1" dirty="0"/>
              <a:t> 2σ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3443254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2514560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552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7 CuadroTexto"/>
          <p:cNvSpPr txBox="1">
            <a:spLocks noChangeArrowheads="1"/>
          </p:cNvSpPr>
          <p:nvPr/>
        </p:nvSpPr>
        <p:spPr bwMode="auto">
          <a:xfrm>
            <a:off x="4286248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13" name="13 CuadroTexto"/>
          <p:cNvSpPr txBox="1">
            <a:spLocks noChangeArrowheads="1"/>
          </p:cNvSpPr>
          <p:nvPr/>
        </p:nvSpPr>
        <p:spPr bwMode="auto">
          <a:xfrm>
            <a:off x="5143504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</a:t>
            </a:r>
            <a:endParaRPr lang="es-CR" dirty="0"/>
          </a:p>
        </p:txBody>
      </p:sp>
      <p:sp>
        <p:nvSpPr>
          <p:cNvPr id="14" name="14 CuadroTexto"/>
          <p:cNvSpPr txBox="1">
            <a:spLocks noChangeArrowheads="1"/>
          </p:cNvSpPr>
          <p:nvPr/>
        </p:nvSpPr>
        <p:spPr bwMode="auto">
          <a:xfrm>
            <a:off x="6143636" y="648813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2</a:t>
            </a:r>
            <a:endParaRPr lang="es-CR" dirty="0"/>
          </a:p>
        </p:txBody>
      </p:sp>
      <p:sp>
        <p:nvSpPr>
          <p:cNvPr id="15" name="15 CuadroTexto"/>
          <p:cNvSpPr txBox="1">
            <a:spLocks noChangeArrowheads="1"/>
          </p:cNvSpPr>
          <p:nvPr/>
        </p:nvSpPr>
        <p:spPr bwMode="auto">
          <a:xfrm>
            <a:off x="3143240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6" name="16 CuadroTexto"/>
          <p:cNvSpPr txBox="1">
            <a:spLocks noChangeArrowheads="1"/>
          </p:cNvSpPr>
          <p:nvPr/>
        </p:nvSpPr>
        <p:spPr bwMode="auto">
          <a:xfrm>
            <a:off x="2214546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-2</a:t>
            </a:r>
            <a:endParaRPr lang="es-CR" dirty="0"/>
          </a:p>
        </p:txBody>
      </p:sp>
      <p:cxnSp>
        <p:nvCxnSpPr>
          <p:cNvPr id="18" name="17 Conector recto"/>
          <p:cNvCxnSpPr/>
          <p:nvPr/>
        </p:nvCxnSpPr>
        <p:spPr>
          <a:xfrm rot="5400000">
            <a:off x="5407799" y="3250405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050477" y="4679165"/>
            <a:ext cx="3500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5800708" y="3143248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5800708" y="3286124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5800708" y="3429000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5800708" y="350043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5800708" y="3357562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5800708" y="3214686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>
            <a:off x="5800708" y="3071810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5800708" y="5857892"/>
            <a:ext cx="1428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5800708" y="5929330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5800708" y="6000768"/>
            <a:ext cx="3571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5800708" y="6143644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5800708" y="6072206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/>
          <p:nvPr/>
        </p:nvCxnSpPr>
        <p:spPr>
          <a:xfrm>
            <a:off x="5800708" y="6215082"/>
            <a:ext cx="785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800708" y="6286520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5800708" y="6357958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800708" y="3571876"/>
            <a:ext cx="17145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Rectángulo"/>
          <p:cNvSpPr/>
          <p:nvPr/>
        </p:nvSpPr>
        <p:spPr>
          <a:xfrm>
            <a:off x="71406" y="1571612"/>
            <a:ext cx="1071570" cy="49292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800" dirty="0" smtClean="0"/>
              <a:t>En valor de la proba-</a:t>
            </a:r>
          </a:p>
          <a:p>
            <a:pPr algn="ctr"/>
            <a:r>
              <a:rPr lang="es-CR" sz="2800" dirty="0" err="1" smtClean="0"/>
              <a:t>bilidad</a:t>
            </a:r>
            <a:r>
              <a:rPr lang="es-CR" sz="2800" dirty="0" smtClean="0"/>
              <a:t>, es exactamente lo mismo</a:t>
            </a:r>
            <a:endParaRPr lang="es-CR" sz="2800" dirty="0"/>
          </a:p>
        </p:txBody>
      </p:sp>
    </p:spTree>
    <p:extLst>
      <p:ext uri="{BB962C8B-B14F-4D97-AF65-F5344CB8AC3E}">
        <p14:creationId xmlns:p14="http://schemas.microsoft.com/office/powerpoint/2010/main" val="1376693228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Estandarización</a:t>
            </a:r>
            <a:endParaRPr lang="es-CR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501122" cy="5214974"/>
          </a:xfrm>
        </p:spPr>
        <p:txBody>
          <a:bodyPr>
            <a:normAutofit fontScale="92500" lnSpcReduction="10000"/>
          </a:bodyPr>
          <a:lstStyle/>
          <a:p>
            <a:r>
              <a:rPr lang="es-CR" dirty="0" smtClean="0"/>
              <a:t>Para pasar de una “curva normal” a una “normal estándar”, y poder hacer el cálculo de probabilidades, debemos estandarizar.</a:t>
            </a:r>
          </a:p>
          <a:p>
            <a:endParaRPr lang="es-CR" dirty="0" smtClean="0"/>
          </a:p>
          <a:p>
            <a:r>
              <a:rPr lang="es-CR" dirty="0" smtClean="0"/>
              <a:t>Estandarizar una curva normal es transformarla de manera que su media sea </a:t>
            </a:r>
            <a:r>
              <a:rPr lang="es-CR" i="1" dirty="0" smtClean="0"/>
              <a:t>cero</a:t>
            </a:r>
            <a:r>
              <a:rPr lang="es-CR" dirty="0" smtClean="0"/>
              <a:t> y su desviación estándar sea </a:t>
            </a:r>
            <a:r>
              <a:rPr lang="es-CR" i="1" dirty="0" smtClean="0"/>
              <a:t>uno</a:t>
            </a:r>
            <a:r>
              <a:rPr lang="es-CR" dirty="0" smtClean="0"/>
              <a:t>. Esto se logra restando a la variable </a:t>
            </a:r>
            <a:r>
              <a:rPr lang="es-CR" i="1" dirty="0" smtClean="0"/>
              <a:t>x</a:t>
            </a:r>
            <a:r>
              <a:rPr lang="es-CR" dirty="0" smtClean="0"/>
              <a:t> su promedio (µ) y dividiendo la diferencia entre su desviación estándar (</a:t>
            </a:r>
            <a:r>
              <a:rPr lang="es-CR" sz="2400" i="1" dirty="0" smtClean="0"/>
              <a:t>σ</a:t>
            </a:r>
            <a:r>
              <a:rPr lang="es-CR" dirty="0" smtClean="0"/>
              <a:t>) .</a:t>
            </a:r>
          </a:p>
          <a:p>
            <a:endParaRPr lang="es-CR" i="1" dirty="0" smtClean="0"/>
          </a:p>
          <a:p>
            <a:r>
              <a:rPr lang="es-CR" dirty="0" smtClean="0"/>
              <a:t>La expresión numérica para la estandarización es:</a:t>
            </a:r>
          </a:p>
          <a:p>
            <a:endParaRPr lang="es-CR" dirty="0" smtClean="0"/>
          </a:p>
          <a:p>
            <a:pPr>
              <a:buNone/>
            </a:pPr>
            <a:endParaRPr lang="es-CR" dirty="0" smtClean="0"/>
          </a:p>
          <a:p>
            <a:endParaRPr lang="es-CR" dirty="0" smtClean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500034" y="5286388"/>
            <a:ext cx="5572164" cy="128588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    Z = </a:t>
            </a:r>
            <a:r>
              <a:rPr lang="es-CR" sz="3600" u="sng" dirty="0" smtClean="0"/>
              <a:t>x-µ </a:t>
            </a:r>
            <a:r>
              <a:rPr lang="es-CR" sz="3600" dirty="0" smtClean="0"/>
              <a:t>      </a:t>
            </a:r>
            <a:r>
              <a:rPr lang="es-CR" sz="3600" u="sng" dirty="0" smtClean="0"/>
              <a:t>       </a:t>
            </a:r>
            <a:endParaRPr lang="es-CR" sz="3600" dirty="0" smtClean="0"/>
          </a:p>
          <a:p>
            <a:r>
              <a:rPr lang="es-CR" sz="3600" dirty="0" smtClean="0"/>
              <a:t>                               </a:t>
            </a:r>
            <a:r>
              <a:rPr lang="el-GR" sz="3600" dirty="0" smtClean="0">
                <a:latin typeface="Calibri"/>
                <a:cs typeface="Calibri"/>
              </a:rPr>
              <a:t>σ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286512" y="5214950"/>
            <a:ext cx="571504" cy="135732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7072330" y="5286388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 smtClean="0"/>
              <a:t>N (0,1)</a:t>
            </a:r>
            <a:endParaRPr lang="es-CR" sz="4800" dirty="0"/>
          </a:p>
        </p:txBody>
      </p:sp>
    </p:spTree>
    <p:extLst>
      <p:ext uri="{BB962C8B-B14F-4D97-AF65-F5344CB8AC3E}">
        <p14:creationId xmlns:p14="http://schemas.microsoft.com/office/powerpoint/2010/main" val="2063298926"/>
      </p:ext>
    </p:extLst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4572000"/>
          </a:xfrm>
        </p:spPr>
        <p:txBody>
          <a:bodyPr>
            <a:normAutofit lnSpcReduction="10000"/>
          </a:bodyPr>
          <a:lstStyle/>
          <a:p>
            <a:r>
              <a:rPr lang="es-CR" dirty="0" smtClean="0"/>
              <a:t>En general, si la variable en cuestión tiene una distribución normal,  con media µ  y desviación estándar </a:t>
            </a:r>
            <a:r>
              <a:rPr lang="es-CR" sz="2400" dirty="0" smtClean="0"/>
              <a:t>σ, basta con hacer el proceso anterior con el valor de interés “a”, para obtener una probabilidad.</a:t>
            </a:r>
          </a:p>
          <a:p>
            <a:endParaRPr lang="es-CR" sz="2400" dirty="0" smtClean="0"/>
          </a:p>
          <a:p>
            <a:r>
              <a:rPr lang="es-CR" sz="2400" dirty="0" smtClean="0"/>
              <a:t>La estandarización es un proceso muy simple, pero muy importante, que permite resolver problemas  para cualquier curva normal trasladándolos, por medio de una sencilla transformación algebraica , a la normal estándar.</a:t>
            </a:r>
          </a:p>
          <a:p>
            <a:endParaRPr lang="es-CR" sz="2400" dirty="0" smtClean="0"/>
          </a:p>
          <a:p>
            <a:r>
              <a:rPr lang="es-CR" sz="2400" dirty="0" smtClean="0"/>
              <a:t>Matemáticamente se define como:</a:t>
            </a:r>
          </a:p>
          <a:p>
            <a:endParaRPr lang="es-CR" dirty="0"/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285720" y="-24"/>
            <a:ext cx="8643998" cy="1000132"/>
          </a:xfrm>
        </p:spPr>
        <p:txBody>
          <a:bodyPr>
            <a:normAutofit/>
          </a:bodyPr>
          <a:lstStyle/>
          <a:p>
            <a:pPr algn="ctr"/>
            <a:r>
              <a:rPr lang="es-CR" sz="4400" dirty="0" smtClean="0"/>
              <a:t>Estandarización</a:t>
            </a:r>
            <a:endParaRPr lang="es-CR" sz="4400" dirty="0"/>
          </a:p>
        </p:txBody>
      </p:sp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5786453"/>
            <a:ext cx="7500990" cy="8140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037034"/>
      </p:ext>
    </p:extLst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14290"/>
            <a:ext cx="7772400" cy="1143000"/>
          </a:xfrm>
        </p:spPr>
        <p:txBody>
          <a:bodyPr/>
          <a:lstStyle/>
          <a:p>
            <a:r>
              <a:rPr lang="es-CR" dirty="0" smtClean="0"/>
              <a:t>Nuestro ejemplo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R" dirty="0"/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428736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7 CuadroTexto"/>
          <p:cNvSpPr txBox="1">
            <a:spLocks noChangeArrowheads="1"/>
          </p:cNvSpPr>
          <p:nvPr/>
        </p:nvSpPr>
        <p:spPr bwMode="auto">
          <a:xfrm>
            <a:off x="3714744" y="3714752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6" name="13 CuadroTexto"/>
          <p:cNvSpPr txBox="1">
            <a:spLocks noChangeArrowheads="1"/>
          </p:cNvSpPr>
          <p:nvPr/>
        </p:nvSpPr>
        <p:spPr bwMode="auto">
          <a:xfrm>
            <a:off x="4714876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7" name="14 CuadroTexto"/>
          <p:cNvSpPr txBox="1">
            <a:spLocks noChangeArrowheads="1"/>
          </p:cNvSpPr>
          <p:nvPr/>
        </p:nvSpPr>
        <p:spPr bwMode="auto">
          <a:xfrm>
            <a:off x="5715008" y="3786190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8" name="15 CuadroTexto"/>
          <p:cNvSpPr txBox="1">
            <a:spLocks noChangeArrowheads="1"/>
          </p:cNvSpPr>
          <p:nvPr/>
        </p:nvSpPr>
        <p:spPr bwMode="auto">
          <a:xfrm>
            <a:off x="2714612" y="371475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9" name="16 CuadroTexto"/>
          <p:cNvSpPr txBox="1">
            <a:spLocks noChangeArrowheads="1"/>
          </p:cNvSpPr>
          <p:nvPr/>
        </p:nvSpPr>
        <p:spPr bwMode="auto">
          <a:xfrm>
            <a:off x="1785918" y="371475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1481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7 CuadroTexto"/>
          <p:cNvSpPr txBox="1">
            <a:spLocks noChangeArrowheads="1"/>
          </p:cNvSpPr>
          <p:nvPr/>
        </p:nvSpPr>
        <p:spPr bwMode="auto">
          <a:xfrm>
            <a:off x="3557606" y="6416698"/>
            <a:ext cx="3571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0</a:t>
            </a:r>
            <a:endParaRPr lang="es-CR" dirty="0"/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4714876" y="6488112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</a:t>
            </a:r>
            <a:endParaRPr lang="es-CR" dirty="0"/>
          </a:p>
        </p:txBody>
      </p:sp>
      <p:sp>
        <p:nvSpPr>
          <p:cNvPr id="13" name="15 CuadroTexto"/>
          <p:cNvSpPr txBox="1">
            <a:spLocks noChangeArrowheads="1"/>
          </p:cNvSpPr>
          <p:nvPr/>
        </p:nvSpPr>
        <p:spPr bwMode="auto">
          <a:xfrm>
            <a:off x="2414598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dirty="0" smtClean="0"/>
              <a:t>-1</a:t>
            </a:r>
            <a:endParaRPr lang="es-CR" dirty="0"/>
          </a:p>
        </p:txBody>
      </p:sp>
      <p:sp>
        <p:nvSpPr>
          <p:cNvPr id="14" name="16 CuadroTexto"/>
          <p:cNvSpPr txBox="1">
            <a:spLocks noChangeArrowheads="1"/>
          </p:cNvSpPr>
          <p:nvPr/>
        </p:nvSpPr>
        <p:spPr bwMode="auto">
          <a:xfrm>
            <a:off x="1485904" y="6416698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-2</a:t>
            </a:r>
            <a:endParaRPr lang="es-CR" dirty="0"/>
          </a:p>
        </p:txBody>
      </p:sp>
      <p:cxnSp>
        <p:nvCxnSpPr>
          <p:cNvPr id="16" name="15 Conector recto"/>
          <p:cNvCxnSpPr/>
          <p:nvPr/>
        </p:nvCxnSpPr>
        <p:spPr>
          <a:xfrm rot="5400000">
            <a:off x="3929058" y="4857760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13 CuadroTexto"/>
          <p:cNvSpPr txBox="1">
            <a:spLocks noChangeArrowheads="1"/>
          </p:cNvSpPr>
          <p:nvPr/>
        </p:nvSpPr>
        <p:spPr bwMode="auto">
          <a:xfrm>
            <a:off x="5715013" y="6416698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2</a:t>
            </a:r>
            <a:endParaRPr lang="es-CR" dirty="0"/>
          </a:p>
        </p:txBody>
      </p:sp>
      <p:sp>
        <p:nvSpPr>
          <p:cNvPr id="36" name="35 Rectángulo"/>
          <p:cNvSpPr/>
          <p:nvPr/>
        </p:nvSpPr>
        <p:spPr>
          <a:xfrm>
            <a:off x="5857884" y="228599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120</a:t>
            </a:r>
            <a:endParaRPr lang="es-CR" dirty="0"/>
          </a:p>
        </p:txBody>
      </p:sp>
      <p:cxnSp>
        <p:nvCxnSpPr>
          <p:cNvPr id="40" name="39 Conector recto de flecha"/>
          <p:cNvCxnSpPr/>
          <p:nvPr/>
        </p:nvCxnSpPr>
        <p:spPr>
          <a:xfrm rot="5400000">
            <a:off x="5464975" y="2893215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"/>
          <p:cNvSpPr/>
          <p:nvPr/>
        </p:nvSpPr>
        <p:spPr>
          <a:xfrm>
            <a:off x="5929322" y="500063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42" name="41 Conector recto de flecha"/>
          <p:cNvCxnSpPr/>
          <p:nvPr/>
        </p:nvCxnSpPr>
        <p:spPr>
          <a:xfrm rot="5400000">
            <a:off x="5536413" y="560785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>
            <a:off x="5500694" y="614364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"/>
          <p:cNvCxnSpPr/>
          <p:nvPr/>
        </p:nvCxnSpPr>
        <p:spPr>
          <a:xfrm>
            <a:off x="5500694" y="621508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>
            <a:off x="5500694" y="628652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500694" y="635795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flipV="1">
            <a:off x="5500694" y="3357562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>
            <a:off x="5500694" y="3571876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5500694" y="3500438"/>
            <a:ext cx="500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5500694" y="350043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5500694" y="3429000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871274"/>
      </p:ext>
    </p:extLst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857232"/>
            <a:ext cx="7772400" cy="5643602"/>
          </a:xfrm>
        </p:spPr>
        <p:txBody>
          <a:bodyPr/>
          <a:lstStyle/>
          <a:p>
            <a:pPr>
              <a:buNone/>
            </a:pPr>
            <a:r>
              <a:rPr lang="es-CR" sz="2400" dirty="0" smtClean="0"/>
              <a:t>“… , cuál sería la probabilidad de encontrar a una persona con una presión diastólica superior a 120…”</a:t>
            </a:r>
          </a:p>
          <a:p>
            <a:pPr>
              <a:buNone/>
            </a:pPr>
            <a:r>
              <a:rPr lang="es-CR" sz="2400" dirty="0" smtClean="0"/>
              <a:t>µ = 105         </a:t>
            </a:r>
          </a:p>
          <a:p>
            <a:pPr>
              <a:buNone/>
            </a:pPr>
            <a:r>
              <a:rPr lang="es-CR" sz="2400" dirty="0" smtClean="0"/>
              <a:t>σ = 10</a:t>
            </a:r>
          </a:p>
          <a:p>
            <a:pPr>
              <a:buNone/>
            </a:pPr>
            <a:endParaRPr lang="es-CR" sz="2400" dirty="0" smtClean="0"/>
          </a:p>
          <a:p>
            <a:pPr>
              <a:buNone/>
            </a:pPr>
            <a:r>
              <a:rPr lang="es-CR" sz="2400" dirty="0" smtClean="0"/>
              <a:t>Entonces estandarizamos:</a:t>
            </a:r>
          </a:p>
          <a:p>
            <a:pPr>
              <a:buNone/>
            </a:pPr>
            <a:endParaRPr lang="es-CR" dirty="0" smtClean="0"/>
          </a:p>
          <a:p>
            <a:pPr>
              <a:buNone/>
            </a:pPr>
            <a:endParaRPr lang="es-CR" dirty="0" smtClean="0"/>
          </a:p>
          <a:p>
            <a:endParaRPr lang="es-CR" dirty="0"/>
          </a:p>
        </p:txBody>
      </p:sp>
      <p:sp>
        <p:nvSpPr>
          <p:cNvPr id="4" name="3 Rectángulo"/>
          <p:cNvSpPr/>
          <p:nvPr/>
        </p:nvSpPr>
        <p:spPr>
          <a:xfrm>
            <a:off x="214282" y="3429000"/>
            <a:ext cx="5072098" cy="1000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R" sz="3600" dirty="0" smtClean="0"/>
              <a:t>     Z = </a:t>
            </a:r>
            <a:r>
              <a:rPr lang="es-CR" sz="3600" u="sng" dirty="0" smtClean="0"/>
              <a:t>120-105</a:t>
            </a:r>
            <a:r>
              <a:rPr lang="es-CR" sz="3600" dirty="0" smtClean="0"/>
              <a:t> = </a:t>
            </a:r>
            <a:r>
              <a:rPr lang="es-CR" sz="3600" u="sng" dirty="0" smtClean="0"/>
              <a:t>15</a:t>
            </a:r>
            <a:r>
              <a:rPr lang="es-CR" sz="3600" dirty="0" smtClean="0"/>
              <a:t> = 1.5</a:t>
            </a:r>
            <a:r>
              <a:rPr lang="es-CR" sz="3600" u="sng" dirty="0" smtClean="0"/>
              <a:t> </a:t>
            </a:r>
            <a:r>
              <a:rPr lang="es-CR" sz="3600" dirty="0" smtClean="0"/>
              <a:t> </a:t>
            </a:r>
            <a:r>
              <a:rPr lang="es-CR" sz="3600" u="sng" dirty="0" smtClean="0"/>
              <a:t> </a:t>
            </a:r>
            <a:r>
              <a:rPr lang="es-CR" sz="3600" dirty="0" smtClean="0"/>
              <a:t>      </a:t>
            </a:r>
            <a:r>
              <a:rPr lang="es-CR" sz="3600" u="sng" dirty="0" smtClean="0"/>
              <a:t>       </a:t>
            </a:r>
            <a:endParaRPr lang="es-CR" sz="3600" dirty="0" smtClean="0"/>
          </a:p>
          <a:p>
            <a:r>
              <a:rPr lang="es-CR" sz="3600" dirty="0" smtClean="0"/>
              <a:t>                </a:t>
            </a:r>
            <a:r>
              <a:rPr lang="es-CR" sz="3600" dirty="0" smtClean="0">
                <a:latin typeface="Calibri"/>
                <a:cs typeface="Calibri"/>
              </a:rPr>
              <a:t>10          10  </a:t>
            </a:r>
            <a:endParaRPr lang="es-CR" sz="3600" dirty="0"/>
          </a:p>
        </p:txBody>
      </p:sp>
      <p:sp>
        <p:nvSpPr>
          <p:cNvPr id="5" name="4 Flecha derecha"/>
          <p:cNvSpPr/>
          <p:nvPr/>
        </p:nvSpPr>
        <p:spPr>
          <a:xfrm>
            <a:off x="6000760" y="3286124"/>
            <a:ext cx="357190" cy="114300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6" name="5 Rectángulo"/>
          <p:cNvSpPr/>
          <p:nvPr/>
        </p:nvSpPr>
        <p:spPr>
          <a:xfrm>
            <a:off x="6643702" y="3286124"/>
            <a:ext cx="1857388" cy="13573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4800" dirty="0" smtClean="0"/>
              <a:t>N (0,1)</a:t>
            </a:r>
            <a:endParaRPr lang="es-CR" sz="4800" dirty="0"/>
          </a:p>
        </p:txBody>
      </p:sp>
      <p:sp>
        <p:nvSpPr>
          <p:cNvPr id="7" name="6 Rectángulo"/>
          <p:cNvSpPr/>
          <p:nvPr/>
        </p:nvSpPr>
        <p:spPr>
          <a:xfrm>
            <a:off x="5143504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???</a:t>
            </a:r>
            <a:endParaRPr lang="es-CR" dirty="0"/>
          </a:p>
        </p:txBody>
      </p:sp>
      <p:cxnSp>
        <p:nvCxnSpPr>
          <p:cNvPr id="8" name="7 Conector recto de flecha"/>
          <p:cNvCxnSpPr/>
          <p:nvPr/>
        </p:nvCxnSpPr>
        <p:spPr>
          <a:xfrm rot="5400000">
            <a:off x="4750595" y="596504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4714876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4714876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4714876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4714876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4840464"/>
            <a:ext cx="6643734" cy="194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Rectángulo"/>
          <p:cNvSpPr/>
          <p:nvPr/>
        </p:nvSpPr>
        <p:spPr>
          <a:xfrm>
            <a:off x="521494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1.5</a:t>
            </a:r>
            <a:endParaRPr lang="es-CR" sz="2000" dirty="0"/>
          </a:p>
        </p:txBody>
      </p:sp>
      <p:cxnSp>
        <p:nvCxnSpPr>
          <p:cNvPr id="15" name="14 Conector recto de flecha"/>
          <p:cNvCxnSpPr/>
          <p:nvPr/>
        </p:nvCxnSpPr>
        <p:spPr>
          <a:xfrm rot="5400000">
            <a:off x="4714876" y="5929330"/>
            <a:ext cx="857256" cy="714380"/>
          </a:xfrm>
          <a:prstGeom prst="straightConnector1">
            <a:avLst/>
          </a:prstGeom>
          <a:ln>
            <a:solidFill>
              <a:srgbClr val="002060">
                <a:alpha val="98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4786314" y="6500834"/>
            <a:ext cx="142876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86314" y="6572272"/>
            <a:ext cx="214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4786314" y="6643710"/>
            <a:ext cx="428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>
            <a:off x="4786314" y="6715148"/>
            <a:ext cx="15716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4643438" y="6572272"/>
            <a:ext cx="285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 flipV="1">
            <a:off x="521494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"/>
          <p:cNvCxnSpPr/>
          <p:nvPr/>
        </p:nvCxnSpPr>
        <p:spPr>
          <a:xfrm flipV="1">
            <a:off x="5572132" y="6643710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flipV="1">
            <a:off x="5929322" y="6643734"/>
            <a:ext cx="285752" cy="714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 flipV="1">
            <a:off x="5143504" y="6215082"/>
            <a:ext cx="2286016" cy="42862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7572396" y="6000768"/>
            <a:ext cx="928694" cy="35719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0.0668</a:t>
            </a:r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3681638164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358246" cy="5000660"/>
          </a:xfrm>
        </p:spPr>
        <p:txBody>
          <a:bodyPr/>
          <a:lstStyle/>
          <a:p>
            <a:r>
              <a:rPr lang="es-CR" dirty="0" smtClean="0"/>
              <a:t>Sería encontrar entonces P(z ≥ 1.5), ya que el enunciado dice persona con presión </a:t>
            </a:r>
            <a:r>
              <a:rPr lang="es-CR" b="1" i="1" u="sng" dirty="0" smtClean="0"/>
              <a:t>superior</a:t>
            </a:r>
            <a:r>
              <a:rPr lang="es-CR" b="1" i="1" dirty="0" smtClean="0"/>
              <a:t>. </a:t>
            </a:r>
            <a:r>
              <a:rPr lang="es-CR" dirty="0" smtClean="0"/>
              <a:t>En </a:t>
            </a:r>
            <a:r>
              <a:rPr lang="es-CR" dirty="0" err="1" smtClean="0"/>
              <a:t>términnos</a:t>
            </a:r>
            <a:r>
              <a:rPr lang="es-CR" dirty="0" smtClean="0"/>
              <a:t> de probabilidades sería.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77240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2714620"/>
            <a:ext cx="1714512" cy="460890"/>
          </a:xfrm>
          <a:prstGeom prst="rect">
            <a:avLst/>
          </a:prstGeom>
          <a:noFill/>
        </p:spPr>
      </p:pic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9730" y="3429000"/>
            <a:ext cx="3236452" cy="787708"/>
          </a:xfrm>
          <a:prstGeom prst="rect">
            <a:avLst/>
          </a:prstGeom>
          <a:noFill/>
        </p:spPr>
      </p:pic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4429131"/>
            <a:ext cx="1714512" cy="857256"/>
          </a:xfrm>
          <a:prstGeom prst="rect">
            <a:avLst/>
          </a:prstGeom>
          <a:noFill/>
        </p:spPr>
      </p:pic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34" y="5572140"/>
            <a:ext cx="1800238" cy="500066"/>
          </a:xfrm>
          <a:prstGeom prst="rect">
            <a:avLst/>
          </a:prstGeom>
          <a:noFill/>
        </p:spPr>
      </p:pic>
      <p:sp>
        <p:nvSpPr>
          <p:cNvPr id="15" name="14 Cerrar llave"/>
          <p:cNvSpPr/>
          <p:nvPr/>
        </p:nvSpPr>
        <p:spPr>
          <a:xfrm>
            <a:off x="3857620" y="2571744"/>
            <a:ext cx="500066" cy="3571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6" name="15 Rectángulo"/>
          <p:cNvSpPr/>
          <p:nvPr/>
        </p:nvSpPr>
        <p:spPr>
          <a:xfrm>
            <a:off x="5000628" y="3857628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0.0668</a:t>
            </a:r>
            <a:endParaRPr lang="es-CR" sz="4000" dirty="0"/>
          </a:p>
        </p:txBody>
      </p:sp>
    </p:spTree>
    <p:extLst>
      <p:ext uri="{BB962C8B-B14F-4D97-AF65-F5344CB8AC3E}">
        <p14:creationId xmlns:p14="http://schemas.microsoft.com/office/powerpoint/2010/main" val="398700096"/>
      </p:ext>
    </p:extLst>
  </p:cSld>
  <p:clrMapOvr>
    <a:masterClrMapping/>
  </p:clrMapOvr>
  <p:transition>
    <p:split orient="vert" dir="in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214422"/>
            <a:ext cx="7772400" cy="5357850"/>
          </a:xfrm>
        </p:spPr>
        <p:txBody>
          <a:bodyPr>
            <a:normAutofit fontScale="92500" lnSpcReduction="10000"/>
          </a:bodyPr>
          <a:lstStyle/>
          <a:p>
            <a:r>
              <a:rPr lang="es-CR" dirty="0" smtClean="0"/>
              <a:t>Entonces la respuesta sería que se tiene una probabilidad de 0.0668 de encontrar personas con más de 120 de presión diastólica, lo cuál es un hecho muy poco probable.</a:t>
            </a:r>
          </a:p>
          <a:p>
            <a:endParaRPr lang="es-CR" dirty="0" smtClean="0"/>
          </a:p>
          <a:p>
            <a:r>
              <a:rPr lang="es-CR" dirty="0" smtClean="0"/>
              <a:t>Ahora, que pasa si en vez de encontrar la probabilidad anterior, no gustaría saber: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1. La probabilidad de personas con menos de 115 de presión diastólica.</a:t>
            </a:r>
          </a:p>
          <a:p>
            <a:pPr>
              <a:buNone/>
            </a:pPr>
            <a:r>
              <a:rPr lang="es-CR" dirty="0" smtClean="0"/>
              <a:t>2. Personas con presión entre 110 y 120.</a:t>
            </a:r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719196323"/>
      </p:ext>
    </p:extLst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46"/>
            <a:ext cx="8643998" cy="521497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s-CR" dirty="0" smtClean="0"/>
              <a:t>La probabilidad de personas con menos de 115 de presión D.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714488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714744" y="4000504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714876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715008" y="4071942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714612" y="4000504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785918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50057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286116" y="4929198"/>
            <a:ext cx="3571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71744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115</a:t>
            </a:r>
            <a:endParaRPr lang="es-CR" dirty="0"/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036347" y="3178967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071538" y="4929198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??????</a:t>
            </a:r>
            <a:endParaRPr lang="es-CR" sz="2000" dirty="0"/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07785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"/>
          <p:cNvCxnSpPr/>
          <p:nvPr/>
        </p:nvCxnSpPr>
        <p:spPr>
          <a:xfrm>
            <a:off x="3786182" y="4929198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>
            <a:off x="3643306" y="5072074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 flipV="1">
            <a:off x="3571868" y="5214950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"/>
          <p:cNvCxnSpPr/>
          <p:nvPr/>
        </p:nvCxnSpPr>
        <p:spPr>
          <a:xfrm flipV="1">
            <a:off x="3428992" y="5357826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35 Conector recto"/>
          <p:cNvCxnSpPr/>
          <p:nvPr/>
        </p:nvCxnSpPr>
        <p:spPr>
          <a:xfrm flipV="1">
            <a:off x="3357554" y="5500702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 flipV="1">
            <a:off x="3286116" y="5643578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flipV="1">
            <a:off x="3143240" y="5786454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>
            <a:off x="3071802" y="5929330"/>
            <a:ext cx="2000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3000364" y="6072206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flipV="1">
            <a:off x="2857488" y="6215082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flipV="1">
            <a:off x="2643174" y="6357958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2500298" y="6472262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2143108" y="6572272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1142976" y="6643710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/>
          <p:nvPr/>
        </p:nvCxnSpPr>
        <p:spPr>
          <a:xfrm>
            <a:off x="1643042" y="5357826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Rectángulo"/>
          <p:cNvSpPr/>
          <p:nvPr/>
        </p:nvSpPr>
        <p:spPr>
          <a:xfrm>
            <a:off x="5357818" y="514351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sp>
        <p:nvSpPr>
          <p:cNvPr id="60" name="59 Rectángulo"/>
          <p:cNvSpPr/>
          <p:nvPr/>
        </p:nvSpPr>
        <p:spPr>
          <a:xfrm>
            <a:off x="1071538" y="214311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??????</a:t>
            </a:r>
            <a:endParaRPr lang="es-CR" sz="2000" dirty="0"/>
          </a:p>
        </p:txBody>
      </p:sp>
      <p:cxnSp>
        <p:nvCxnSpPr>
          <p:cNvPr id="61" name="60 Conector recto"/>
          <p:cNvCxnSpPr/>
          <p:nvPr/>
        </p:nvCxnSpPr>
        <p:spPr>
          <a:xfrm>
            <a:off x="3786182" y="214311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>
            <a:off x="3643306" y="2285992"/>
            <a:ext cx="857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flipV="1">
            <a:off x="3571868" y="2428868"/>
            <a:ext cx="1000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V="1">
            <a:off x="3428992" y="2571744"/>
            <a:ext cx="128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64 Conector recto"/>
          <p:cNvCxnSpPr/>
          <p:nvPr/>
        </p:nvCxnSpPr>
        <p:spPr>
          <a:xfrm flipV="1">
            <a:off x="3357554" y="2714620"/>
            <a:ext cx="1428760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V="1">
            <a:off x="3286116" y="2857496"/>
            <a:ext cx="1571636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flipV="1">
            <a:off x="3143240" y="3000372"/>
            <a:ext cx="1785950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 flipV="1">
            <a:off x="3000364" y="3286124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V="1">
            <a:off x="2857488" y="3429000"/>
            <a:ext cx="2214578" cy="1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"/>
          <p:cNvCxnSpPr/>
          <p:nvPr/>
        </p:nvCxnSpPr>
        <p:spPr>
          <a:xfrm flipV="1">
            <a:off x="2643174" y="3571876"/>
            <a:ext cx="2428892" cy="28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"/>
          <p:cNvCxnSpPr/>
          <p:nvPr/>
        </p:nvCxnSpPr>
        <p:spPr>
          <a:xfrm>
            <a:off x="2500298" y="3686180"/>
            <a:ext cx="2571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>
            <a:off x="2143108" y="3786190"/>
            <a:ext cx="29289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"/>
          <p:cNvCxnSpPr/>
          <p:nvPr/>
        </p:nvCxnSpPr>
        <p:spPr>
          <a:xfrm>
            <a:off x="1142976" y="3857628"/>
            <a:ext cx="3929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1643042" y="2571744"/>
            <a:ext cx="92869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flipV="1">
            <a:off x="3000364" y="3143248"/>
            <a:ext cx="2071702" cy="9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413719"/>
      </p:ext>
    </p:extLst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8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1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214282" y="1071570"/>
            <a:ext cx="8358246" cy="5786454"/>
          </a:xfrm>
        </p:spPr>
        <p:txBody>
          <a:bodyPr>
            <a:normAutofit fontScale="85000" lnSpcReduction="20000"/>
          </a:bodyPr>
          <a:lstStyle/>
          <a:p>
            <a:r>
              <a:rPr lang="es-CR" dirty="0" smtClean="0"/>
              <a:t>La solución sería:</a:t>
            </a:r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       </a:t>
            </a:r>
          </a:p>
          <a:p>
            <a:endParaRPr lang="es-CR" dirty="0" smtClean="0"/>
          </a:p>
          <a:p>
            <a:pPr>
              <a:buNone/>
            </a:pPr>
            <a:r>
              <a:rPr lang="es-CR" dirty="0" smtClean="0"/>
              <a:t>R: se tiene una probabilidad de 0.8413 de encontrar personas con menos de 115 de presión diastólica, lo cuál es un hecho muy probable.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928670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2071678"/>
            <a:ext cx="1594496" cy="428628"/>
          </a:xfrm>
          <a:prstGeom prst="rect">
            <a:avLst/>
          </a:prstGeom>
          <a:noFill/>
        </p:spPr>
      </p:pic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3000372"/>
            <a:ext cx="3228687" cy="785818"/>
          </a:xfrm>
          <a:prstGeom prst="rect">
            <a:avLst/>
          </a:prstGeom>
          <a:noFill/>
        </p:spPr>
      </p:pic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10" y="4143380"/>
            <a:ext cx="1571636" cy="785818"/>
          </a:xfrm>
          <a:prstGeom prst="rect">
            <a:avLst/>
          </a:prstGeom>
          <a:noFill/>
        </p:spPr>
      </p:pic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1472" y="5429264"/>
            <a:ext cx="1520201" cy="500066"/>
          </a:xfrm>
          <a:prstGeom prst="rect">
            <a:avLst/>
          </a:prstGeom>
          <a:noFill/>
        </p:spPr>
      </p:pic>
      <p:sp>
        <p:nvSpPr>
          <p:cNvPr id="13" name="12 Cerrar llave"/>
          <p:cNvSpPr/>
          <p:nvPr/>
        </p:nvSpPr>
        <p:spPr>
          <a:xfrm>
            <a:off x="3714744" y="2000240"/>
            <a:ext cx="500066" cy="38576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4" name="13 Rectángulo"/>
          <p:cNvSpPr/>
          <p:nvPr/>
        </p:nvSpPr>
        <p:spPr>
          <a:xfrm>
            <a:off x="4643438" y="3357562"/>
            <a:ext cx="2500330" cy="107157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4000" dirty="0" smtClean="0"/>
              <a:t>0.8413</a:t>
            </a:r>
            <a:endParaRPr lang="es-CR" sz="4000" dirty="0"/>
          </a:p>
        </p:txBody>
      </p:sp>
    </p:spTree>
    <p:extLst>
      <p:ext uri="{BB962C8B-B14F-4D97-AF65-F5344CB8AC3E}">
        <p14:creationId xmlns:p14="http://schemas.microsoft.com/office/powerpoint/2010/main" val="66578675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57158" y="1142984"/>
            <a:ext cx="8358246" cy="5214974"/>
          </a:xfrm>
        </p:spPr>
        <p:txBody>
          <a:bodyPr/>
          <a:lstStyle/>
          <a:p>
            <a:r>
              <a:rPr lang="es-CR" dirty="0" smtClean="0"/>
              <a:t>La probabilidad de personas entre 110 y 120 de presión D.</a:t>
            </a:r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1643050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7 CuadroTexto"/>
          <p:cNvSpPr txBox="1">
            <a:spLocks noChangeArrowheads="1"/>
          </p:cNvSpPr>
          <p:nvPr/>
        </p:nvSpPr>
        <p:spPr bwMode="auto">
          <a:xfrm>
            <a:off x="3428992" y="3929066"/>
            <a:ext cx="7143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dirty="0" smtClean="0"/>
              <a:t>105</a:t>
            </a:r>
            <a:endParaRPr lang="es-CR" dirty="0"/>
          </a:p>
        </p:txBody>
      </p:sp>
      <p:sp>
        <p:nvSpPr>
          <p:cNvPr id="7" name="13 CuadroTexto"/>
          <p:cNvSpPr txBox="1">
            <a:spLocks noChangeArrowheads="1"/>
          </p:cNvSpPr>
          <p:nvPr/>
        </p:nvSpPr>
        <p:spPr bwMode="auto">
          <a:xfrm>
            <a:off x="4429124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115</a:t>
            </a:r>
            <a:endParaRPr lang="es-CR" dirty="0"/>
          </a:p>
        </p:txBody>
      </p:sp>
      <p:sp>
        <p:nvSpPr>
          <p:cNvPr id="8" name="14 CuadroTexto"/>
          <p:cNvSpPr txBox="1">
            <a:spLocks noChangeArrowheads="1"/>
          </p:cNvSpPr>
          <p:nvPr/>
        </p:nvSpPr>
        <p:spPr bwMode="auto">
          <a:xfrm>
            <a:off x="5429256" y="4000504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i="1" dirty="0" smtClean="0"/>
              <a:t>125</a:t>
            </a:r>
            <a:endParaRPr lang="es-CR" dirty="0"/>
          </a:p>
        </p:txBody>
      </p:sp>
      <p:sp>
        <p:nvSpPr>
          <p:cNvPr id="9" name="15 CuadroTexto"/>
          <p:cNvSpPr txBox="1">
            <a:spLocks noChangeArrowheads="1"/>
          </p:cNvSpPr>
          <p:nvPr/>
        </p:nvSpPr>
        <p:spPr bwMode="auto">
          <a:xfrm>
            <a:off x="2428860" y="3929066"/>
            <a:ext cx="7143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σ</a:t>
            </a:r>
            <a:endParaRPr lang="es-CR" dirty="0"/>
          </a:p>
        </p:txBody>
      </p:sp>
      <p:sp>
        <p:nvSpPr>
          <p:cNvPr id="10" name="16 CuadroTexto"/>
          <p:cNvSpPr txBox="1">
            <a:spLocks noChangeArrowheads="1"/>
          </p:cNvSpPr>
          <p:nvPr/>
        </p:nvSpPr>
        <p:spPr bwMode="auto">
          <a:xfrm>
            <a:off x="1500166" y="3929066"/>
            <a:ext cx="785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ES" i="1" dirty="0"/>
              <a:t>µ-</a:t>
            </a:r>
            <a:r>
              <a:rPr lang="es-CR" i="1" dirty="0"/>
              <a:t> 2σ</a:t>
            </a:r>
            <a:endParaRPr lang="es-CR" dirty="0"/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4429132"/>
            <a:ext cx="7072362" cy="2249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>
          <a:xfrm rot="5400000">
            <a:off x="3643306" y="5072074"/>
            <a:ext cx="3143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Rectángulo"/>
          <p:cNvSpPr/>
          <p:nvPr/>
        </p:nvSpPr>
        <p:spPr>
          <a:xfrm>
            <a:off x="5857884" y="250030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120</a:t>
            </a:r>
            <a:endParaRPr lang="es-CR" dirty="0"/>
          </a:p>
        </p:txBody>
      </p:sp>
      <p:cxnSp>
        <p:nvCxnSpPr>
          <p:cNvPr id="14" name="13 Conector recto de flecha"/>
          <p:cNvCxnSpPr/>
          <p:nvPr/>
        </p:nvCxnSpPr>
        <p:spPr>
          <a:xfrm rot="5400000">
            <a:off x="5179223" y="310752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1285852" y="550070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16" name="15 Conector recto de flecha"/>
          <p:cNvCxnSpPr/>
          <p:nvPr/>
        </p:nvCxnSpPr>
        <p:spPr>
          <a:xfrm rot="5400000">
            <a:off x="5179223" y="5893611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>
            <a:off x="2285984" y="5786454"/>
            <a:ext cx="1857388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31 Rectángulo"/>
          <p:cNvSpPr/>
          <p:nvPr/>
        </p:nvSpPr>
        <p:spPr>
          <a:xfrm>
            <a:off x="5929322" y="5357826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2000" dirty="0" smtClean="0"/>
              <a:t>???</a:t>
            </a:r>
            <a:endParaRPr lang="es-CR" sz="2000" dirty="0"/>
          </a:p>
        </p:txBody>
      </p:sp>
      <p:cxnSp>
        <p:nvCxnSpPr>
          <p:cNvPr id="33" name="32 Conector recto"/>
          <p:cNvCxnSpPr/>
          <p:nvPr/>
        </p:nvCxnSpPr>
        <p:spPr>
          <a:xfrm rot="5400000">
            <a:off x="2143108" y="4500570"/>
            <a:ext cx="4286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 rot="10800000">
            <a:off x="4286248" y="378619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 rot="10800000">
            <a:off x="4286249" y="371475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"/>
          <p:cNvCxnSpPr/>
          <p:nvPr/>
        </p:nvCxnSpPr>
        <p:spPr>
          <a:xfrm rot="10800000">
            <a:off x="4286248" y="364331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"/>
          <p:cNvCxnSpPr/>
          <p:nvPr/>
        </p:nvCxnSpPr>
        <p:spPr>
          <a:xfrm rot="10800000">
            <a:off x="4286248" y="357187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rot="10800000">
            <a:off x="4286248" y="350043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"/>
          <p:cNvCxnSpPr/>
          <p:nvPr/>
        </p:nvCxnSpPr>
        <p:spPr>
          <a:xfrm rot="10800000">
            <a:off x="4286248" y="342900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10800000" flipV="1">
            <a:off x="4286248" y="335756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 rot="10800000">
            <a:off x="4286248" y="328612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 rot="10800000">
            <a:off x="4286248" y="3214686"/>
            <a:ext cx="5715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10800000" flipV="1">
            <a:off x="4286248" y="314324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 rot="10800000" flipV="1">
            <a:off x="4286248" y="307180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rot="10800000">
            <a:off x="4286248" y="300037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 rot="10800000" flipV="1">
            <a:off x="4286248" y="292893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 rot="10800000" flipV="1">
            <a:off x="4286248" y="285749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 rot="10800000" flipV="1">
            <a:off x="4286248" y="278605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 rot="10800000" flipV="1">
            <a:off x="4286248" y="271461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rot="10800000" flipV="1">
            <a:off x="4286248" y="264318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"/>
          <p:cNvCxnSpPr/>
          <p:nvPr/>
        </p:nvCxnSpPr>
        <p:spPr>
          <a:xfrm rot="10800000" flipV="1">
            <a:off x="4286248" y="257174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"/>
          <p:cNvCxnSpPr/>
          <p:nvPr/>
        </p:nvCxnSpPr>
        <p:spPr>
          <a:xfrm rot="10800000" flipV="1">
            <a:off x="4286248" y="2500305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82 Conector recto de flecha"/>
          <p:cNvCxnSpPr/>
          <p:nvPr/>
        </p:nvCxnSpPr>
        <p:spPr>
          <a:xfrm rot="5400000">
            <a:off x="5179224" y="5893609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83 Conector recto"/>
          <p:cNvCxnSpPr/>
          <p:nvPr/>
        </p:nvCxnSpPr>
        <p:spPr>
          <a:xfrm rot="10800000">
            <a:off x="4286249" y="6572270"/>
            <a:ext cx="92869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"/>
          <p:cNvCxnSpPr/>
          <p:nvPr/>
        </p:nvCxnSpPr>
        <p:spPr>
          <a:xfrm rot="10800000">
            <a:off x="4286250" y="6500831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10800000">
            <a:off x="4286249" y="6429393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86 Conector recto"/>
          <p:cNvCxnSpPr/>
          <p:nvPr/>
        </p:nvCxnSpPr>
        <p:spPr>
          <a:xfrm rot="10800000">
            <a:off x="4286249" y="6357956"/>
            <a:ext cx="928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 rot="10800000">
            <a:off x="4286249" y="6286518"/>
            <a:ext cx="85725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rot="10800000">
            <a:off x="4286249" y="6215080"/>
            <a:ext cx="78581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 rot="10800000" flipV="1">
            <a:off x="4286249" y="6143641"/>
            <a:ext cx="7143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 rot="10800000">
            <a:off x="4286249" y="6072204"/>
            <a:ext cx="642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rot="10800000">
            <a:off x="4286250" y="6000766"/>
            <a:ext cx="571503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rot="10800000" flipV="1">
            <a:off x="4286249" y="5929327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/>
          <p:nvPr/>
        </p:nvCxnSpPr>
        <p:spPr>
          <a:xfrm rot="10800000" flipV="1">
            <a:off x="4286249" y="5857889"/>
            <a:ext cx="50006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94 Conector recto"/>
          <p:cNvCxnSpPr/>
          <p:nvPr/>
        </p:nvCxnSpPr>
        <p:spPr>
          <a:xfrm rot="10800000">
            <a:off x="4286249" y="5786452"/>
            <a:ext cx="428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recto"/>
          <p:cNvCxnSpPr/>
          <p:nvPr/>
        </p:nvCxnSpPr>
        <p:spPr>
          <a:xfrm rot="10800000" flipV="1">
            <a:off x="4286249" y="5715013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"/>
          <p:cNvCxnSpPr/>
          <p:nvPr/>
        </p:nvCxnSpPr>
        <p:spPr>
          <a:xfrm rot="10800000" flipV="1">
            <a:off x="4286249" y="5643575"/>
            <a:ext cx="35719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97 Conector recto"/>
          <p:cNvCxnSpPr/>
          <p:nvPr/>
        </p:nvCxnSpPr>
        <p:spPr>
          <a:xfrm rot="10800000" flipV="1">
            <a:off x="4286249" y="5572137"/>
            <a:ext cx="28575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98 Conector recto"/>
          <p:cNvCxnSpPr/>
          <p:nvPr/>
        </p:nvCxnSpPr>
        <p:spPr>
          <a:xfrm rot="10800000" flipV="1">
            <a:off x="4286249" y="5500699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99 Conector recto"/>
          <p:cNvCxnSpPr/>
          <p:nvPr/>
        </p:nvCxnSpPr>
        <p:spPr>
          <a:xfrm rot="10800000" flipV="1">
            <a:off x="4286249" y="5429261"/>
            <a:ext cx="2143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"/>
          <p:cNvCxnSpPr/>
          <p:nvPr/>
        </p:nvCxnSpPr>
        <p:spPr>
          <a:xfrm rot="10800000" flipV="1">
            <a:off x="4286249" y="5357823"/>
            <a:ext cx="142876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10800000">
            <a:off x="4286250" y="5286386"/>
            <a:ext cx="142875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 de flecha"/>
          <p:cNvCxnSpPr/>
          <p:nvPr/>
        </p:nvCxnSpPr>
        <p:spPr>
          <a:xfrm rot="16200000" flipH="1">
            <a:off x="3607587" y="3178967"/>
            <a:ext cx="714380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3143240" y="264318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 smtClean="0"/>
              <a:t>110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20522072"/>
      </p:ext>
    </p:extLst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28596" y="1000108"/>
            <a:ext cx="7786742" cy="5357850"/>
          </a:xfrm>
        </p:spPr>
        <p:txBody>
          <a:bodyPr/>
          <a:lstStyle/>
          <a:p>
            <a:r>
              <a:rPr lang="es-CR" dirty="0" smtClean="0"/>
              <a:t>La solución sería:</a:t>
            </a:r>
          </a:p>
          <a:p>
            <a:endParaRPr lang="es-CR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8215370" cy="785794"/>
          </a:xfrm>
        </p:spPr>
        <p:txBody>
          <a:bodyPr/>
          <a:lstStyle/>
          <a:p>
            <a:pPr algn="ctr"/>
            <a:r>
              <a:rPr lang="es-CR" dirty="0" smtClean="0"/>
              <a:t>Estandarizando</a:t>
            </a:r>
            <a:endParaRPr lang="es-CR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8596" y="1714488"/>
            <a:ext cx="2554623" cy="428628"/>
          </a:xfrm>
          <a:prstGeom prst="rect">
            <a:avLst/>
          </a:prstGeom>
          <a:noFill/>
        </p:spPr>
      </p:pic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2357430"/>
            <a:ext cx="4627940" cy="714380"/>
          </a:xfrm>
          <a:prstGeom prst="rect">
            <a:avLst/>
          </a:prstGeom>
          <a:noFill/>
        </p:spPr>
      </p:pic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3214685"/>
            <a:ext cx="2214578" cy="743581"/>
          </a:xfrm>
          <a:prstGeom prst="rect">
            <a:avLst/>
          </a:prstGeom>
          <a:noFill/>
        </p:spPr>
      </p:pic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58" y="4286256"/>
            <a:ext cx="2143140" cy="719594"/>
          </a:xfrm>
          <a:prstGeom prst="rect">
            <a:avLst/>
          </a:prstGeom>
          <a:noFill/>
        </p:spPr>
      </p:pic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R"/>
          </a:p>
        </p:txBody>
      </p:sp>
      <p:pic>
        <p:nvPicPr>
          <p:cNvPr id="30729" name="Picture 9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19" y="5286388"/>
            <a:ext cx="2928959" cy="526791"/>
          </a:xfrm>
          <a:prstGeom prst="rect">
            <a:avLst/>
          </a:prstGeom>
          <a:noFill/>
        </p:spPr>
      </p:pic>
      <p:sp>
        <p:nvSpPr>
          <p:cNvPr id="17" name="16 Cerrar llave"/>
          <p:cNvSpPr/>
          <p:nvPr/>
        </p:nvSpPr>
        <p:spPr>
          <a:xfrm>
            <a:off x="5000628" y="1643050"/>
            <a:ext cx="571504" cy="421484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18" name="17 Rectángulo"/>
          <p:cNvSpPr/>
          <p:nvPr/>
        </p:nvSpPr>
        <p:spPr>
          <a:xfrm>
            <a:off x="5715008" y="3143248"/>
            <a:ext cx="3143272" cy="21431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R" sz="3600" dirty="0" smtClean="0"/>
              <a:t>=0.6915-0.9332</a:t>
            </a:r>
          </a:p>
          <a:p>
            <a:pPr algn="ctr"/>
            <a:endParaRPr lang="es-CR" sz="3600" dirty="0" smtClean="0"/>
          </a:p>
          <a:p>
            <a:pPr algn="ctr"/>
            <a:r>
              <a:rPr lang="es-CR" sz="3600" dirty="0" smtClean="0"/>
              <a:t>0.2417</a:t>
            </a:r>
            <a:endParaRPr lang="es-CR" sz="3600" dirty="0"/>
          </a:p>
        </p:txBody>
      </p:sp>
    </p:spTree>
    <p:extLst>
      <p:ext uri="{BB962C8B-B14F-4D97-AF65-F5344CB8AC3E}">
        <p14:creationId xmlns:p14="http://schemas.microsoft.com/office/powerpoint/2010/main" val="2682932850"/>
      </p:ext>
    </p:extLst>
  </p:cSld>
  <p:clrMapOvr>
    <a:masterClrMapping/>
  </p:clrMapOvr>
  <p:transition>
    <p:split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4" name="Picture 2" descr="http://2.bp.blogspot.com/_l2oFLpsvMhc/RveAYgMqnQI/AAAAAAAAAII/I2Fp0nyNDhw/s400/20070326114706-f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4001" cy="69294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34094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2711</Words>
  <Application>Microsoft Office PowerPoint</Application>
  <PresentationFormat>Presentación en pantalla (4:3)</PresentationFormat>
  <Paragraphs>406</Paragraphs>
  <Slides>67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67</vt:i4>
      </vt:variant>
    </vt:vector>
  </HeadingPairs>
  <TitlesOfParts>
    <vt:vector size="76" baseType="lpstr">
      <vt:lpstr>Arial</vt:lpstr>
      <vt:lpstr>Calibri</vt:lpstr>
      <vt:lpstr>Cambria Math</vt:lpstr>
      <vt:lpstr>Franklin Gothic Book</vt:lpstr>
      <vt:lpstr>Perpetua</vt:lpstr>
      <vt:lpstr>Times New Roman</vt:lpstr>
      <vt:lpstr>Wingdings</vt:lpstr>
      <vt:lpstr>Wingdings 2</vt:lpstr>
      <vt:lpstr>Tema de Office</vt:lpstr>
      <vt:lpstr>Revisión de temas: probabilidades, función de probabilidades, la curva normal y la estandarización  </vt:lpstr>
      <vt:lpstr>Las probabilidades</vt:lpstr>
      <vt:lpstr>La esencia de la probabilidad</vt:lpstr>
      <vt:lpstr>La esencia de la probabilidad</vt:lpstr>
      <vt:lpstr>La esencia de la probabilidad</vt:lpstr>
      <vt:lpstr>La esencia de la probabilidad</vt:lpstr>
      <vt:lpstr>Los 3 enfoques de la probabilidad</vt:lpstr>
      <vt:lpstr>Presentación de PowerPoint</vt:lpstr>
      <vt:lpstr>Probabilidad clásica o a priori</vt:lpstr>
      <vt:lpstr>Probabilidad clásica o a priori</vt:lpstr>
      <vt:lpstr>Probabilidad clásica o a priori</vt:lpstr>
      <vt:lpstr>Presentación de PowerPoint</vt:lpstr>
      <vt:lpstr>Probabilidad según la frecuencia relativa</vt:lpstr>
      <vt:lpstr>Probabilidad según la frecuencia relativa</vt:lpstr>
      <vt:lpstr>Probabilidad según la frecuencia relativa</vt:lpstr>
      <vt:lpstr>Presentación de PowerPoint</vt:lpstr>
      <vt:lpstr>Probabilidad subjetiva</vt:lpstr>
      <vt:lpstr>Probabilidad subjetiva</vt:lpstr>
      <vt:lpstr>Datos discretos</vt:lpstr>
      <vt:lpstr>Función de probabilidad discretas</vt:lpstr>
      <vt:lpstr>Función de probabilidad discretas</vt:lpstr>
      <vt:lpstr>Datos continuos</vt:lpstr>
      <vt:lpstr>Función de probabilidad continua</vt:lpstr>
      <vt:lpstr>Función de probabilidad continua</vt:lpstr>
      <vt:lpstr>Las funciones de probabilidad</vt:lpstr>
      <vt:lpstr>Funciones de probabilidades continuas</vt:lpstr>
      <vt:lpstr>Cura normal y normal estándar</vt:lpstr>
      <vt:lpstr>La función t de Student</vt:lpstr>
      <vt:lpstr>t  de Student contra Normal</vt:lpstr>
      <vt:lpstr>F de Snedecor</vt:lpstr>
      <vt:lpstr>F de Snedecor</vt:lpstr>
      <vt:lpstr>Chi-cuadrada</vt:lpstr>
      <vt:lpstr>Chi-cuadrada</vt:lpstr>
      <vt:lpstr>La curva normal y la normal estándar</vt:lpstr>
      <vt:lpstr>Introducción</vt:lpstr>
      <vt:lpstr>Introducción</vt:lpstr>
      <vt:lpstr>La curva normal</vt:lpstr>
      <vt:lpstr>La curva normal</vt:lpstr>
      <vt:lpstr>La curva normal</vt:lpstr>
      <vt:lpstr>Presentación de PowerPoint</vt:lpstr>
      <vt:lpstr>Características de la curva normal</vt:lpstr>
      <vt:lpstr>La curva normal vs normal estándar</vt:lpstr>
      <vt:lpstr>Presentación de PowerPoint</vt:lpstr>
      <vt:lpstr>Probabilidades en distribución N (0,1)</vt:lpstr>
      <vt:lpstr>Presentación de PowerPoint</vt:lpstr>
      <vt:lpstr>Presentación de PowerPoint</vt:lpstr>
      <vt:lpstr>Probabilidades en distribución N (0,1)</vt:lpstr>
      <vt:lpstr>Probabilidades en distribución N (0,1)</vt:lpstr>
      <vt:lpstr>Probabilidades en distribución N (0,1)</vt:lpstr>
      <vt:lpstr>Probabilidades en distribución N (0,1)</vt:lpstr>
      <vt:lpstr>La estandarización</vt:lpstr>
      <vt:lpstr>Introducción</vt:lpstr>
      <vt:lpstr>Introducción</vt:lpstr>
      <vt:lpstr>Introducción</vt:lpstr>
      <vt:lpstr>La curva normal estándar  N(0,1)</vt:lpstr>
      <vt:lpstr>La curva normal estándar  N(0,1)</vt:lpstr>
      <vt:lpstr>Estandarización</vt:lpstr>
      <vt:lpstr>Estandarización</vt:lpstr>
      <vt:lpstr>Nuestro ejemplo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Estandarizando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de temas: probabilidades, función de probabilidades, la curva normal y la estandarización</dc:title>
  <dc:creator>Oscar Centeno Mora</dc:creator>
  <cp:lastModifiedBy>oscar</cp:lastModifiedBy>
  <cp:revision>11</cp:revision>
  <dcterms:created xsi:type="dcterms:W3CDTF">2017-03-22T14:34:25Z</dcterms:created>
  <dcterms:modified xsi:type="dcterms:W3CDTF">2018-03-19T18:48:47Z</dcterms:modified>
</cp:coreProperties>
</file>