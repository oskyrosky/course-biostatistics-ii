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36" r:id="rId3"/>
    <p:sldId id="257" r:id="rId4"/>
    <p:sldId id="337" r:id="rId5"/>
    <p:sldId id="258" r:id="rId6"/>
    <p:sldId id="290" r:id="rId7"/>
    <p:sldId id="259" r:id="rId8"/>
    <p:sldId id="260" r:id="rId9"/>
    <p:sldId id="294" r:id="rId10"/>
    <p:sldId id="287" r:id="rId11"/>
    <p:sldId id="295" r:id="rId12"/>
    <p:sldId id="296" r:id="rId13"/>
    <p:sldId id="338" r:id="rId14"/>
    <p:sldId id="297" r:id="rId15"/>
    <p:sldId id="298" r:id="rId16"/>
    <p:sldId id="339" r:id="rId17"/>
    <p:sldId id="288" r:id="rId18"/>
    <p:sldId id="261" r:id="rId19"/>
    <p:sldId id="324" r:id="rId20"/>
    <p:sldId id="266" r:id="rId21"/>
    <p:sldId id="310" r:id="rId22"/>
    <p:sldId id="311" r:id="rId23"/>
    <p:sldId id="335" r:id="rId24"/>
    <p:sldId id="312" r:id="rId25"/>
    <p:sldId id="313" r:id="rId26"/>
    <p:sldId id="314" r:id="rId27"/>
    <p:sldId id="334" r:id="rId28"/>
    <p:sldId id="333" r:id="rId29"/>
    <p:sldId id="315" r:id="rId30"/>
    <p:sldId id="316" r:id="rId31"/>
    <p:sldId id="317" r:id="rId32"/>
    <p:sldId id="319" r:id="rId33"/>
    <p:sldId id="318" r:id="rId34"/>
    <p:sldId id="320" r:id="rId35"/>
    <p:sldId id="321" r:id="rId36"/>
    <p:sldId id="322" r:id="rId37"/>
    <p:sldId id="325" r:id="rId38"/>
    <p:sldId id="326" r:id="rId39"/>
    <p:sldId id="329" r:id="rId40"/>
    <p:sldId id="328" r:id="rId41"/>
    <p:sldId id="332" r:id="rId42"/>
    <p:sldId id="284" r:id="rId4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3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1181459E-D01E-4238-8395-CE41F44A5171}" type="datetimeFigureOut">
              <a:rPr lang="es-ES" smtClean="0"/>
              <a:t>23/03/2020</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3762902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1181459E-D01E-4238-8395-CE41F44A5171}" type="datetimeFigureOut">
              <a:rPr lang="es-ES" smtClean="0"/>
              <a:t>23/03/2020</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347061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1181459E-D01E-4238-8395-CE41F44A5171}" type="datetimeFigureOut">
              <a:rPr lang="es-ES" smtClean="0"/>
              <a:t>23/03/2020</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216272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1181459E-D01E-4238-8395-CE41F44A5171}" type="datetimeFigureOut">
              <a:rPr lang="es-ES" smtClean="0"/>
              <a:t>23/03/2020</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2189834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1181459E-D01E-4238-8395-CE41F44A5171}" type="datetimeFigureOut">
              <a:rPr lang="es-ES" smtClean="0"/>
              <a:t>23/03/2020</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664677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1181459E-D01E-4238-8395-CE41F44A5171}" type="datetimeFigureOut">
              <a:rPr lang="es-ES" smtClean="0"/>
              <a:t>23/03/2020</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4247430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1181459E-D01E-4238-8395-CE41F44A5171}" type="datetimeFigureOut">
              <a:rPr lang="es-ES" smtClean="0"/>
              <a:t>23/03/2020</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2645477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1181459E-D01E-4238-8395-CE41F44A5171}" type="datetimeFigureOut">
              <a:rPr lang="es-ES" smtClean="0"/>
              <a:t>23/03/2020</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38247052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1181459E-D01E-4238-8395-CE41F44A5171}" type="datetimeFigureOut">
              <a:rPr lang="es-ES" smtClean="0"/>
              <a:t>23/03/2020</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803854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1181459E-D01E-4238-8395-CE41F44A5171}" type="datetimeFigureOut">
              <a:rPr lang="es-ES" smtClean="0"/>
              <a:t>23/03/2020</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533614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1181459E-D01E-4238-8395-CE41F44A5171}" type="datetimeFigureOut">
              <a:rPr lang="es-ES" smtClean="0"/>
              <a:t>23/03/2020</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CDA9EB13-9092-4665-8356-F4356E804152}" type="slidenum">
              <a:rPr lang="es-ES" smtClean="0"/>
              <a:t>‹Nº›</a:t>
            </a:fld>
            <a:endParaRPr lang="es-ES"/>
          </a:p>
        </p:txBody>
      </p:sp>
    </p:spTree>
    <p:extLst>
      <p:ext uri="{BB962C8B-B14F-4D97-AF65-F5344CB8AC3E}">
        <p14:creationId xmlns:p14="http://schemas.microsoft.com/office/powerpoint/2010/main" val="40348019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1459E-D01E-4238-8395-CE41F44A5171}" type="datetimeFigureOut">
              <a:rPr lang="es-ES" smtClean="0"/>
              <a:t>23/03/2020</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A9EB13-9092-4665-8356-F4356E804152}" type="slidenum">
              <a:rPr lang="es-ES" smtClean="0"/>
              <a:t>‹Nº›</a:t>
            </a:fld>
            <a:endParaRPr lang="es-ES"/>
          </a:p>
        </p:txBody>
      </p:sp>
    </p:spTree>
    <p:extLst>
      <p:ext uri="{BB962C8B-B14F-4D97-AF65-F5344CB8AC3E}">
        <p14:creationId xmlns:p14="http://schemas.microsoft.com/office/powerpoint/2010/main" val="2071569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204186" y="286341"/>
            <a:ext cx="11762913" cy="1481500"/>
          </a:xfrm>
        </p:spPr>
        <p:txBody>
          <a:bodyPr>
            <a:normAutofit fontScale="90000"/>
          </a:bodyPr>
          <a:lstStyle/>
          <a:p>
            <a:r>
              <a:rPr lang="es-CR" b="1" dirty="0"/>
              <a:t>Análisis de frecuencia: las tablas de contingencia </a:t>
            </a:r>
            <a:endParaRPr lang="es-ES" b="1" dirty="0"/>
          </a:p>
        </p:txBody>
      </p:sp>
      <p:sp>
        <p:nvSpPr>
          <p:cNvPr id="3" name="Subtítulo 2"/>
          <p:cNvSpPr>
            <a:spLocks noGrp="1"/>
          </p:cNvSpPr>
          <p:nvPr>
            <p:ph type="subTitle" idx="1"/>
          </p:nvPr>
        </p:nvSpPr>
        <p:spPr>
          <a:xfrm>
            <a:off x="2789144" y="6083813"/>
            <a:ext cx="5567205" cy="571126"/>
          </a:xfrm>
        </p:spPr>
        <p:txBody>
          <a:bodyPr>
            <a:normAutofit/>
          </a:bodyPr>
          <a:lstStyle/>
          <a:p>
            <a:r>
              <a:rPr lang="es-CR" sz="3200" b="1" dirty="0"/>
              <a:t>Oscar Centeno Mora</a:t>
            </a:r>
            <a:endParaRPr lang="es-ES" sz="3200" b="1" dirty="0"/>
          </a:p>
        </p:txBody>
      </p:sp>
      <p:pic>
        <p:nvPicPr>
          <p:cNvPr id="4" name="Picture 2" descr="Resultado de imagen para coss tabulatio">
            <a:extLst>
              <a:ext uri="{FF2B5EF4-FFF2-40B4-BE49-F238E27FC236}">
                <a16:creationId xmlns:a16="http://schemas.microsoft.com/office/drawing/2014/main" id="{6ABC80CC-81B8-4892-8BE6-2AAE99A4A7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9153" t="25606" r="21737" b="13989"/>
          <a:stretch/>
        </p:blipFill>
        <p:spPr bwMode="auto">
          <a:xfrm>
            <a:off x="485460" y="2575103"/>
            <a:ext cx="3728621" cy="29479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esultado de imagen para chi square independence test">
            <a:extLst>
              <a:ext uri="{FF2B5EF4-FFF2-40B4-BE49-F238E27FC236}">
                <a16:creationId xmlns:a16="http://schemas.microsoft.com/office/drawing/2014/main" id="{C403897F-AC00-4798-98C8-C284D31FC5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61" t="8084" r="20642" b="11353"/>
          <a:stretch/>
        </p:blipFill>
        <p:spPr bwMode="auto">
          <a:xfrm>
            <a:off x="6581870" y="2171970"/>
            <a:ext cx="4472412" cy="3675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862388"/>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C7E0DC2B-1BAA-4D57-BAB8-EB8159BA0BF5}"/>
              </a:ext>
            </a:extLst>
          </p:cNvPr>
          <p:cNvSpPr>
            <a:spLocks noGrp="1"/>
          </p:cNvSpPr>
          <p:nvPr>
            <p:ph type="title"/>
          </p:nvPr>
        </p:nvSpPr>
        <p:spPr>
          <a:xfrm>
            <a:off x="724988" y="112577"/>
            <a:ext cx="10515600" cy="836658"/>
          </a:xfrm>
        </p:spPr>
        <p:txBody>
          <a:bodyPr/>
          <a:lstStyle/>
          <a:p>
            <a:pPr algn="ctr"/>
            <a:r>
              <a:rPr lang="es-ES" dirty="0"/>
              <a:t>Preámbulo</a:t>
            </a:r>
          </a:p>
        </p:txBody>
      </p:sp>
      <p:sp>
        <p:nvSpPr>
          <p:cNvPr id="5" name="Marcador de contenido 2">
            <a:extLst>
              <a:ext uri="{FF2B5EF4-FFF2-40B4-BE49-F238E27FC236}">
                <a16:creationId xmlns:a16="http://schemas.microsoft.com/office/drawing/2014/main" id="{A5AC0CD3-E243-42DD-8543-1B0BAD88B055}"/>
              </a:ext>
            </a:extLst>
          </p:cNvPr>
          <p:cNvSpPr>
            <a:spLocks noGrp="1"/>
          </p:cNvSpPr>
          <p:nvPr>
            <p:ph idx="1"/>
          </p:nvPr>
        </p:nvSpPr>
        <p:spPr>
          <a:xfrm>
            <a:off x="220684" y="1241359"/>
            <a:ext cx="8992589" cy="5434649"/>
          </a:xfrm>
        </p:spPr>
        <p:txBody>
          <a:bodyPr>
            <a:normAutofit/>
          </a:bodyPr>
          <a:lstStyle/>
          <a:p>
            <a:pPr algn="just"/>
            <a:r>
              <a:rPr lang="es-CR" sz="2400" dirty="0"/>
              <a:t>¿Podemos probar si hay diferencias entre la región de residencia y el tipo de beca que se otorga?</a:t>
            </a:r>
          </a:p>
          <a:p>
            <a:pPr algn="just"/>
            <a:endParaRPr lang="es-CR" sz="2400" dirty="0"/>
          </a:p>
          <a:p>
            <a:pPr algn="just"/>
            <a:r>
              <a:rPr lang="es-ES" sz="2400" dirty="0"/>
              <a:t>¿Hay diferencia entre la inclinación política y el lugar de nacimiento?</a:t>
            </a:r>
          </a:p>
          <a:p>
            <a:pPr algn="just"/>
            <a:endParaRPr lang="es-ES" sz="2400" dirty="0"/>
          </a:p>
          <a:p>
            <a:pPr algn="just"/>
            <a:r>
              <a:rPr lang="es-ES" sz="2400" dirty="0"/>
              <a:t>¿Existen diferencia entre el sexo y el tipo de enfermedad viral (asma, tos crónica, etc.)?</a:t>
            </a:r>
          </a:p>
          <a:p>
            <a:pPr algn="just"/>
            <a:endParaRPr lang="es-ES" sz="2400" dirty="0"/>
          </a:p>
          <a:p>
            <a:pPr algn="just"/>
            <a:r>
              <a:rPr lang="es-ES" sz="2400" dirty="0"/>
              <a:t>¿Podemos probar las diferencias significativas entre el tipo de obesidad y la etnia ?</a:t>
            </a:r>
          </a:p>
          <a:p>
            <a:pPr algn="just"/>
            <a:endParaRPr lang="es-ES" sz="2400" dirty="0"/>
          </a:p>
          <a:p>
            <a:pPr algn="just"/>
            <a:r>
              <a:rPr lang="es-ES" sz="2400" dirty="0"/>
              <a:t>Sin duda alguna, un análisis de frecuencias mediante tablas de contingencia es, el más común en el área de salud…</a:t>
            </a:r>
          </a:p>
        </p:txBody>
      </p:sp>
      <p:pic>
        <p:nvPicPr>
          <p:cNvPr id="1026" name="Picture 2" descr="Resultado de imagen para analytics icon">
            <a:extLst>
              <a:ext uri="{FF2B5EF4-FFF2-40B4-BE49-F238E27FC236}">
                <a16:creationId xmlns:a16="http://schemas.microsoft.com/office/drawing/2014/main" id="{DB472C13-63EB-4A03-A7C0-782C63FB3C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965061" y="1329431"/>
            <a:ext cx="2006255" cy="209956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sultado de imagen para analytics icon">
            <a:extLst>
              <a:ext uri="{FF2B5EF4-FFF2-40B4-BE49-F238E27FC236}">
                <a16:creationId xmlns:a16="http://schemas.microsoft.com/office/drawing/2014/main" id="{2E3887D4-5DC1-489F-9CE9-E7CE1BD3B5F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3465" y="4199137"/>
            <a:ext cx="1932614" cy="16246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66157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4988" y="112577"/>
            <a:ext cx="10515600" cy="836658"/>
          </a:xfrm>
        </p:spPr>
        <p:txBody>
          <a:bodyPr/>
          <a:lstStyle/>
          <a:p>
            <a:pPr algn="ctr"/>
            <a:r>
              <a:rPr lang="es-ES" dirty="0"/>
              <a:t>Preámbulo</a:t>
            </a:r>
          </a:p>
        </p:txBody>
      </p:sp>
      <p:sp>
        <p:nvSpPr>
          <p:cNvPr id="3" name="Marcador de contenido 2"/>
          <p:cNvSpPr>
            <a:spLocks noGrp="1"/>
          </p:cNvSpPr>
          <p:nvPr>
            <p:ph idx="1"/>
          </p:nvPr>
        </p:nvSpPr>
        <p:spPr>
          <a:xfrm>
            <a:off x="220684" y="1241359"/>
            <a:ext cx="8992589" cy="5158649"/>
          </a:xfrm>
        </p:spPr>
        <p:txBody>
          <a:bodyPr>
            <a:normAutofit/>
          </a:bodyPr>
          <a:lstStyle/>
          <a:p>
            <a:pPr algn="just"/>
            <a:r>
              <a:rPr lang="es-CR" sz="2400" dirty="0"/>
              <a:t>Hasta ahora hemos realizado análisis de más de dos variables con la presencia de por lo menos una variable cuantitativa (¿cuáles?).</a:t>
            </a:r>
          </a:p>
          <a:p>
            <a:pPr algn="just"/>
            <a:endParaRPr lang="es-CR" sz="2400" dirty="0"/>
          </a:p>
          <a:p>
            <a:pPr algn="just"/>
            <a:r>
              <a:rPr lang="es-CR" sz="2400" dirty="0"/>
              <a:t>¿Podemos someter a una prueba de hipótesis a dos o más variables cualitativas?</a:t>
            </a:r>
          </a:p>
          <a:p>
            <a:pPr algn="just"/>
            <a:endParaRPr lang="es-CR" sz="2400" dirty="0"/>
          </a:p>
          <a:p>
            <a:pPr algn="just"/>
            <a:r>
              <a:rPr lang="es-CR" sz="2400" dirty="0"/>
              <a:t>El análisis de  frecuencia por tablas de contingencia nos permite lo anterior.</a:t>
            </a:r>
          </a:p>
          <a:p>
            <a:pPr algn="just"/>
            <a:endParaRPr lang="es-CR" sz="2400" dirty="0"/>
          </a:p>
          <a:p>
            <a:pPr algn="just"/>
            <a:r>
              <a:rPr lang="es-CR" sz="2400" dirty="0"/>
              <a:t>En este capítulo utilizaremos una nueva función de probabilidad: la Chi-cuadrado (Ji-cuadrado), con tal de procesar el análisis de una tabla de frecuencias.</a:t>
            </a:r>
          </a:p>
          <a:p>
            <a:endParaRPr lang="es-ES" sz="2400" dirty="0"/>
          </a:p>
        </p:txBody>
      </p:sp>
      <p:pic>
        <p:nvPicPr>
          <p:cNvPr id="1026" name="Picture 2" descr="Image result for analytic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90520" y="1686792"/>
            <a:ext cx="2276763" cy="170757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nalytics"/>
          <p:cNvPicPr>
            <a:picLocks noChangeAspect="1" noChangeArrowheads="1"/>
          </p:cNvPicPr>
          <p:nvPr/>
        </p:nvPicPr>
        <p:blipFill rotWithShape="1">
          <a:blip r:embed="rId3">
            <a:extLst>
              <a:ext uri="{28A0092B-C50C-407E-A947-70E740481C1C}">
                <a14:useLocalDpi xmlns:a14="http://schemas.microsoft.com/office/drawing/2010/main" val="0"/>
              </a:ext>
            </a:extLst>
          </a:blip>
          <a:srcRect l="11296" r="12496"/>
          <a:stretch/>
        </p:blipFill>
        <p:spPr bwMode="auto">
          <a:xfrm>
            <a:off x="9776877" y="4550352"/>
            <a:ext cx="1904048" cy="1573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179672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FF2D7011-69F6-461E-9303-D135BA389D11}"/>
              </a:ext>
            </a:extLst>
          </p:cNvPr>
          <p:cNvSpPr>
            <a:spLocks noGrp="1"/>
          </p:cNvSpPr>
          <p:nvPr>
            <p:ph type="title"/>
          </p:nvPr>
        </p:nvSpPr>
        <p:spPr>
          <a:xfrm>
            <a:off x="724988" y="112577"/>
            <a:ext cx="10515600" cy="836658"/>
          </a:xfrm>
        </p:spPr>
        <p:txBody>
          <a:bodyPr/>
          <a:lstStyle/>
          <a:p>
            <a:pPr algn="ctr"/>
            <a:r>
              <a:rPr lang="es-ES" dirty="0"/>
              <a:t>Preámbulo</a:t>
            </a:r>
          </a:p>
        </p:txBody>
      </p:sp>
      <p:pic>
        <p:nvPicPr>
          <p:cNvPr id="2050" name="Picture 2" descr="Resultado de imagen para indepent test chi squared">
            <a:extLst>
              <a:ext uri="{FF2B5EF4-FFF2-40B4-BE49-F238E27FC236}">
                <a16:creationId xmlns:a16="http://schemas.microsoft.com/office/drawing/2014/main" id="{5609B661-4817-42AD-9526-4D384CDC17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4202" y="1225118"/>
            <a:ext cx="8117171" cy="5376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913480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6" name="Elipse 5"/>
          <p:cNvSpPr/>
          <p:nvPr/>
        </p:nvSpPr>
        <p:spPr>
          <a:xfrm>
            <a:off x="838199" y="5225144"/>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
        <p:nvSpPr>
          <p:cNvPr id="9" name="Rectángulo redondeado 8"/>
          <p:cNvSpPr/>
          <p:nvPr/>
        </p:nvSpPr>
        <p:spPr>
          <a:xfrm>
            <a:off x="3021874" y="5261066"/>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homogeneidad</a:t>
            </a:r>
            <a:endParaRPr lang="es-ES" dirty="0"/>
          </a:p>
        </p:txBody>
      </p:sp>
      <p:sp>
        <p:nvSpPr>
          <p:cNvPr id="12" name="Elipse 11"/>
          <p:cNvSpPr/>
          <p:nvPr/>
        </p:nvSpPr>
        <p:spPr>
          <a:xfrm>
            <a:off x="6709012"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endParaRPr lang="es-ES" dirty="0"/>
          </a:p>
        </p:txBody>
      </p:sp>
      <p:sp>
        <p:nvSpPr>
          <p:cNvPr id="13" name="Rectángulo redondeado 12"/>
          <p:cNvSpPr/>
          <p:nvPr/>
        </p:nvSpPr>
        <p:spPr>
          <a:xfrm>
            <a:off x="8892686"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Otros análisis de frecuencias: prueba exacta de Fisher</a:t>
            </a:r>
            <a:endParaRPr lang="es-ES" dirty="0"/>
          </a:p>
        </p:txBody>
      </p:sp>
    </p:spTree>
    <p:extLst>
      <p:ext uri="{BB962C8B-B14F-4D97-AF65-F5344CB8AC3E}">
        <p14:creationId xmlns:p14="http://schemas.microsoft.com/office/powerpoint/2010/main" val="419602666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La Chi Cuadrada</a:t>
            </a:r>
            <a:endParaRPr lang="es-ES" dirty="0"/>
          </a:p>
        </p:txBody>
      </p:sp>
    </p:spTree>
    <p:extLst>
      <p:ext uri="{BB962C8B-B14F-4D97-AF65-F5344CB8AC3E}">
        <p14:creationId xmlns:p14="http://schemas.microsoft.com/office/powerpoint/2010/main" val="2685691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31618" y="1068374"/>
                <a:ext cx="9716589" cy="5694465"/>
              </a:xfrm>
            </p:spPr>
            <p:txBody>
              <a:bodyPr>
                <a:normAutofit/>
              </a:bodyPr>
              <a:lstStyle/>
              <a:p>
                <a:pPr algn="just"/>
                <a:r>
                  <a:rPr lang="es-CR" sz="2400" dirty="0"/>
                  <a:t>El estadístico de Chi-</a:t>
                </a:r>
                <a:r>
                  <a:rPr lang="es-CR" sz="2400" dirty="0" err="1"/>
                  <a:t>cuadradó</a:t>
                </a:r>
                <a:r>
                  <a:rPr lang="es-CR" sz="2400" dirty="0"/>
                  <a:t> es la función de distribución de mayor uso para el análisis de conteo en </a:t>
                </a:r>
                <a:r>
                  <a:rPr lang="es-ES" sz="2400" dirty="0"/>
                  <a:t>datos provenientes de tablas de frecuencias. </a:t>
                </a:r>
              </a:p>
              <a:p>
                <a:pPr marL="0" indent="0" algn="just">
                  <a:buNone/>
                </a:pPr>
                <a:endParaRPr lang="es-ES" sz="2400" dirty="0"/>
              </a:p>
              <a:p>
                <a:pPr algn="just"/>
                <a:r>
                  <a:rPr lang="es-CR" sz="2400" dirty="0"/>
                  <a:t>La distribución Chi-cuadrada puede deducirse a partir de la distribución normal. Suponga que a partir de una variable aleatoria </a:t>
                </a:r>
                <a14:m>
                  <m:oMath xmlns:m="http://schemas.openxmlformats.org/officeDocument/2006/math">
                    <m:r>
                      <a:rPr lang="es-CR" sz="2400" i="1" dirty="0" smtClean="0">
                        <a:latin typeface="Cambria Math" panose="02040503050406030204" pitchFamily="18" charset="0"/>
                      </a:rPr>
                      <m:t>𝑌</m:t>
                    </m:r>
                  </m:oMath>
                </a14:m>
                <a:r>
                  <a:rPr lang="es-CR" sz="2400" i="1" dirty="0"/>
                  <a:t> </a:t>
                </a:r>
                <a:r>
                  <a:rPr lang="es-CR" sz="2400" dirty="0"/>
                  <a:t>que sigue una distribución normal, con media </a:t>
                </a:r>
                <a14:m>
                  <m:oMath xmlns:m="http://schemas.openxmlformats.org/officeDocument/2006/math">
                    <m:r>
                      <a:rPr lang="es-CR" sz="2400" i="1">
                        <a:latin typeface="Cambria Math" panose="02040503050406030204" pitchFamily="18" charset="0"/>
                        <a:ea typeface="Cambria Math" panose="02040503050406030204" pitchFamily="18" charset="0"/>
                      </a:rPr>
                      <m:t>𝜇</m:t>
                    </m:r>
                  </m:oMath>
                </a14:m>
                <a:r>
                  <a:rPr lang="es-CR" sz="2400" dirty="0"/>
                  <a:t> y desviación estándar</a:t>
                </a:r>
                <a14:m>
                  <m:oMath xmlns:m="http://schemas.openxmlformats.org/officeDocument/2006/math">
                    <m:r>
                      <a:rPr lang="es-CR" sz="2400">
                        <a:latin typeface="Cambria Math" panose="02040503050406030204" pitchFamily="18" charset="0"/>
                        <a:ea typeface="Cambria Math" panose="02040503050406030204" pitchFamily="18" charset="0"/>
                      </a:rPr>
                      <m:t> </m:t>
                    </m:r>
                    <m:r>
                      <a:rPr lang="es-CR" sz="2400" i="1" smtClean="0">
                        <a:latin typeface="Cambria Math" panose="02040503050406030204" pitchFamily="18" charset="0"/>
                        <a:ea typeface="Cambria Math" panose="02040503050406030204" pitchFamily="18" charset="0"/>
                      </a:rPr>
                      <m:t>𝜎</m:t>
                    </m:r>
                  </m:oMath>
                </a14:m>
                <a:r>
                  <a:rPr lang="es-ES" sz="2400" dirty="0"/>
                  <a:t>,  eligen muestras aleatorias e independientes de tamaño </a:t>
                </a:r>
                <a14:m>
                  <m:oMath xmlns:m="http://schemas.openxmlformats.org/officeDocument/2006/math">
                    <m:r>
                      <a:rPr lang="es-ES" sz="2400" i="1" dirty="0" smtClean="0">
                        <a:latin typeface="Cambria Math" panose="02040503050406030204" pitchFamily="18" charset="0"/>
                      </a:rPr>
                      <m:t>𝑛</m:t>
                    </m:r>
                    <m:r>
                      <a:rPr lang="es-ES" sz="2400" i="1" dirty="0" smtClean="0">
                        <a:latin typeface="Cambria Math" panose="02040503050406030204" pitchFamily="18" charset="0"/>
                      </a:rPr>
                      <m:t> =1</m:t>
                    </m:r>
                  </m:oMath>
                </a14:m>
                <a:r>
                  <a:rPr lang="es-ES" sz="2400" dirty="0"/>
                  <a:t>.</a:t>
                </a:r>
              </a:p>
              <a:p>
                <a:pPr marL="0" indent="0" algn="just">
                  <a:buNone/>
                </a:pPr>
                <a:endParaRPr lang="es-ES" sz="2400" dirty="0"/>
              </a:p>
              <a:p>
                <a:pPr algn="just"/>
                <a:r>
                  <a:rPr lang="es-CR" sz="2400" dirty="0"/>
                  <a:t>Cada valor seleccionado puede transformarse en la variable normal estándar a través de la formula:</a:t>
                </a:r>
              </a:p>
              <a:p>
                <a:pPr algn="just"/>
                <a:endParaRPr lang="es-CR" sz="2400" dirty="0"/>
              </a:p>
              <a:p>
                <a:pPr marL="0" indent="0" algn="just">
                  <a:buNone/>
                </a:pPr>
                <a:r>
                  <a:rPr lang="es-CR" sz="2400" dirty="0"/>
                  <a:t>	   			</a:t>
                </a:r>
                <a:r>
                  <a:rPr lang="es-CR" sz="4000" dirty="0"/>
                  <a:t> </a:t>
                </a:r>
                <a14:m>
                  <m:oMath xmlns:m="http://schemas.openxmlformats.org/officeDocument/2006/math">
                    <m:r>
                      <a:rPr lang="es-CR" sz="4000" b="0" i="1" smtClean="0">
                        <a:latin typeface="Cambria Math" panose="02040503050406030204" pitchFamily="18" charset="0"/>
                      </a:rPr>
                      <m:t>𝑧</m:t>
                    </m:r>
                    <m:r>
                      <a:rPr lang="es-CR" sz="4000" b="0" i="1" smtClean="0">
                        <a:latin typeface="Cambria Math" panose="02040503050406030204" pitchFamily="18" charset="0"/>
                      </a:rPr>
                      <m:t>=</m:t>
                    </m:r>
                    <m:f>
                      <m:fPr>
                        <m:ctrlPr>
                          <a:rPr lang="es-CR" sz="4000" b="0" i="1" smtClean="0">
                            <a:latin typeface="Cambria Math" panose="02040503050406030204" pitchFamily="18" charset="0"/>
                          </a:rPr>
                        </m:ctrlPr>
                      </m:fPr>
                      <m:num>
                        <m:sSub>
                          <m:sSubPr>
                            <m:ctrlPr>
                              <a:rPr lang="es-CR" sz="4000" b="0" i="1" smtClean="0">
                                <a:latin typeface="Cambria Math" panose="02040503050406030204" pitchFamily="18" charset="0"/>
                              </a:rPr>
                            </m:ctrlPr>
                          </m:sSubPr>
                          <m:e>
                            <m:r>
                              <a:rPr lang="es-CR" sz="4000" b="0" i="1" smtClean="0">
                                <a:latin typeface="Cambria Math" panose="02040503050406030204" pitchFamily="18" charset="0"/>
                              </a:rPr>
                              <m:t>𝑦</m:t>
                            </m:r>
                          </m:e>
                          <m:sub>
                            <m:r>
                              <a:rPr lang="es-CR" sz="4000" b="0" i="1" smtClean="0">
                                <a:latin typeface="Cambria Math" panose="02040503050406030204" pitchFamily="18" charset="0"/>
                              </a:rPr>
                              <m:t>𝑖</m:t>
                            </m:r>
                          </m:sub>
                        </m:sSub>
                        <m:r>
                          <a:rPr lang="es-CR" sz="4000" b="0" i="1" smtClean="0">
                            <a:latin typeface="Cambria Math" panose="02040503050406030204" pitchFamily="18" charset="0"/>
                          </a:rPr>
                          <m:t>−</m:t>
                        </m:r>
                        <m:r>
                          <a:rPr lang="es-CR" sz="4000" b="0" i="1" smtClean="0">
                            <a:latin typeface="Cambria Math" panose="02040503050406030204" pitchFamily="18" charset="0"/>
                            <a:ea typeface="Cambria Math" panose="02040503050406030204" pitchFamily="18" charset="0"/>
                          </a:rPr>
                          <m:t>𝜇</m:t>
                        </m:r>
                      </m:num>
                      <m:den>
                        <m:r>
                          <a:rPr lang="es-CR" sz="4000" b="0" i="1" smtClean="0">
                            <a:latin typeface="Cambria Math" panose="02040503050406030204" pitchFamily="18" charset="0"/>
                            <a:ea typeface="Cambria Math" panose="02040503050406030204" pitchFamily="18" charset="0"/>
                          </a:rPr>
                          <m:t>𝜎</m:t>
                        </m:r>
                      </m:den>
                    </m:f>
                  </m:oMath>
                </a14:m>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31618" y="1068374"/>
                <a:ext cx="9716589" cy="5694465"/>
              </a:xfrm>
              <a:blipFill>
                <a:blip r:embed="rId2"/>
                <a:stretch>
                  <a:fillRect l="-878" t="-1499" r="-941"/>
                </a:stretch>
              </a:blipFill>
            </p:spPr>
            <p:txBody>
              <a:bodyPr/>
              <a:lstStyle/>
              <a:p>
                <a:r>
                  <a:rPr lang="en-US">
                    <a:noFill/>
                  </a:rPr>
                  <a:t> </a:t>
                </a:r>
              </a:p>
            </p:txBody>
          </p:sp>
        </mc:Fallback>
      </mc:AlternateContent>
      <p:pic>
        <p:nvPicPr>
          <p:cNvPr id="2050" name="Picture 2" descr="Image result for chi squa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43340" y="1754622"/>
            <a:ext cx="1494358" cy="114097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chi squa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79050" y="3934691"/>
            <a:ext cx="1822937" cy="17806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976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0" y="1006913"/>
                <a:ext cx="9215031" cy="5755926"/>
              </a:xfrm>
            </p:spPr>
            <p:txBody>
              <a:bodyPr>
                <a:normAutofit/>
              </a:bodyPr>
              <a:lstStyle/>
              <a:p>
                <a:pPr algn="just"/>
                <a:r>
                  <a:rPr lang="es-CR" sz="2400" dirty="0"/>
                  <a:t>Cada valor de </a:t>
                </a:r>
                <a14:m>
                  <m:oMath xmlns:m="http://schemas.openxmlformats.org/officeDocument/2006/math">
                    <m:r>
                      <a:rPr lang="es-CR" sz="2400" i="1" dirty="0" smtClean="0">
                        <a:latin typeface="Cambria Math" panose="02040503050406030204" pitchFamily="18" charset="0"/>
                      </a:rPr>
                      <m:t>𝑧</m:t>
                    </m:r>
                  </m:oMath>
                </a14:m>
                <a:r>
                  <a:rPr lang="es-CR" sz="2400" dirty="0"/>
                  <a:t> puede elevarse al cuadrado para obtener una </a:t>
                </a:r>
                <a14:m>
                  <m:oMath xmlns:m="http://schemas.openxmlformats.org/officeDocument/2006/math">
                    <m:sSup>
                      <m:sSupPr>
                        <m:ctrlPr>
                          <a:rPr lang="es-CR" sz="2400" i="1">
                            <a:latin typeface="Cambria Math" panose="02040503050406030204" pitchFamily="18" charset="0"/>
                          </a:rPr>
                        </m:ctrlPr>
                      </m:sSupPr>
                      <m:e>
                        <m:r>
                          <a:rPr lang="es-CR" sz="2400" i="1">
                            <a:latin typeface="Cambria Math" panose="02040503050406030204" pitchFamily="18" charset="0"/>
                          </a:rPr>
                          <m:t>𝑧</m:t>
                        </m:r>
                      </m:e>
                      <m:sup>
                        <m:r>
                          <a:rPr lang="es-CR" sz="2400" i="1">
                            <a:latin typeface="Cambria Math" panose="02040503050406030204" pitchFamily="18" charset="0"/>
                          </a:rPr>
                          <m:t>2</m:t>
                        </m:r>
                      </m:sup>
                    </m:sSup>
                  </m:oMath>
                </a14:m>
                <a:r>
                  <a:rPr lang="es-CR" sz="2400" dirty="0"/>
                  <a:t>. Cuando se estudia la distribución muestral de </a:t>
                </a:r>
                <a14:m>
                  <m:oMath xmlns:m="http://schemas.openxmlformats.org/officeDocument/2006/math">
                    <m:sSup>
                      <m:sSupPr>
                        <m:ctrlPr>
                          <a:rPr lang="es-CR" sz="2400" i="1">
                            <a:latin typeface="Cambria Math" panose="02040503050406030204" pitchFamily="18" charset="0"/>
                          </a:rPr>
                        </m:ctrlPr>
                      </m:sSupPr>
                      <m:e>
                        <m:r>
                          <a:rPr lang="es-CR" sz="2400" i="1">
                            <a:latin typeface="Cambria Math" panose="02040503050406030204" pitchFamily="18" charset="0"/>
                          </a:rPr>
                          <m:t>𝑧</m:t>
                        </m:r>
                      </m:e>
                      <m:sup>
                        <m:r>
                          <a:rPr lang="es-CR" sz="2400" i="1">
                            <a:latin typeface="Cambria Math" panose="02040503050406030204" pitchFamily="18" charset="0"/>
                          </a:rPr>
                          <m:t>2</m:t>
                        </m:r>
                      </m:sup>
                    </m:sSup>
                  </m:oMath>
                </a14:m>
                <a:r>
                  <a:rPr lang="es-CR" sz="2400" dirty="0"/>
                  <a:t>, se obtiene que sigue una distribución Ji o Chi-Cuadrada con 1 grado de libertad. Eso es:</a:t>
                </a:r>
              </a:p>
              <a:p>
                <a:pPr marL="0" indent="0" algn="just">
                  <a:buNone/>
                </a:pPr>
                <a:endParaRPr lang="es-CR" sz="2400" dirty="0"/>
              </a:p>
              <a:p>
                <a:pPr marL="0" indent="0" algn="just">
                  <a:buNone/>
                </a:pPr>
                <a14:m>
                  <m:oMathPara xmlns:m="http://schemas.openxmlformats.org/officeDocument/2006/math">
                    <m:oMathParaPr>
                      <m:jc m:val="center"/>
                    </m:oMathParaPr>
                    <m:oMath xmlns:m="http://schemas.openxmlformats.org/officeDocument/2006/math">
                      <m:sSubSup>
                        <m:sSubSupPr>
                          <m:ctrlPr>
                            <a:rPr lang="es-CR" sz="2400" i="1" smtClean="0">
                              <a:latin typeface="Cambria Math" panose="02040503050406030204" pitchFamily="18" charset="0"/>
                            </a:rPr>
                          </m:ctrlPr>
                        </m:sSubSupPr>
                        <m:e>
                          <m:r>
                            <a:rPr lang="es-CR" sz="2400" i="1" smtClean="0">
                              <a:latin typeface="Cambria Math" panose="02040503050406030204" pitchFamily="18" charset="0"/>
                              <a:ea typeface="Cambria Math" panose="02040503050406030204" pitchFamily="18" charset="0"/>
                            </a:rPr>
                            <m:t>𝜒</m:t>
                          </m:r>
                        </m:e>
                        <m:sub>
                          <m:r>
                            <a:rPr lang="es-CR" sz="2400" b="0" i="1" smtClean="0">
                              <a:latin typeface="Cambria Math" panose="02040503050406030204" pitchFamily="18" charset="0"/>
                            </a:rPr>
                            <m:t>(1)</m:t>
                          </m:r>
                        </m:sub>
                        <m:sup>
                          <m:r>
                            <a:rPr lang="es-CR" sz="2400" b="0" i="1" smtClean="0">
                              <a:latin typeface="Cambria Math" panose="02040503050406030204" pitchFamily="18" charset="0"/>
                            </a:rPr>
                            <m:t>2</m:t>
                          </m:r>
                        </m:sup>
                      </m:sSubSup>
                      <m:r>
                        <a:rPr lang="es-CR" sz="2400" b="0" i="1" smtClean="0">
                          <a:latin typeface="Cambria Math" panose="02040503050406030204" pitchFamily="18" charset="0"/>
                        </a:rPr>
                        <m:t>=</m:t>
                      </m:r>
                      <m:sSup>
                        <m:sSupPr>
                          <m:ctrlPr>
                            <a:rPr lang="es-CR" sz="2400" b="0" i="1" smtClean="0">
                              <a:latin typeface="Cambria Math" panose="02040503050406030204" pitchFamily="18" charset="0"/>
                            </a:rPr>
                          </m:ctrlPr>
                        </m:sSupPr>
                        <m:e>
                          <m:d>
                            <m:dPr>
                              <m:ctrlPr>
                                <a:rPr lang="es-CR" sz="2400" b="0" i="1" smtClean="0">
                                  <a:latin typeface="Cambria Math" panose="02040503050406030204" pitchFamily="18" charset="0"/>
                                </a:rPr>
                              </m:ctrlPr>
                            </m:dPr>
                            <m:e>
                              <m:f>
                                <m:fPr>
                                  <m:ctrlPr>
                                    <a:rPr lang="es-CR" sz="2400" b="0" i="1" smtClean="0">
                                      <a:latin typeface="Cambria Math" panose="02040503050406030204" pitchFamily="18" charset="0"/>
                                    </a:rPr>
                                  </m:ctrlPr>
                                </m:fPr>
                                <m:num>
                                  <m:r>
                                    <a:rPr lang="es-CR" sz="2400" b="0" i="1" smtClean="0">
                                      <a:latin typeface="Cambria Math" panose="02040503050406030204" pitchFamily="18" charset="0"/>
                                    </a:rPr>
                                    <m:t>𝑦</m:t>
                                  </m:r>
                                  <m:r>
                                    <a:rPr lang="es-CR" sz="2400" b="0" i="1" smtClean="0">
                                      <a:latin typeface="Cambria Math" panose="02040503050406030204" pitchFamily="18" charset="0"/>
                                    </a:rPr>
                                    <m:t>−</m:t>
                                  </m:r>
                                  <m:r>
                                    <a:rPr lang="es-CR" sz="2400" b="0" i="1" smtClean="0">
                                      <a:latin typeface="Cambria Math" panose="02040503050406030204" pitchFamily="18" charset="0"/>
                                      <a:ea typeface="Cambria Math" panose="02040503050406030204" pitchFamily="18" charset="0"/>
                                    </a:rPr>
                                    <m:t>𝜇</m:t>
                                  </m:r>
                                </m:num>
                                <m:den>
                                  <m:r>
                                    <a:rPr lang="es-CR" sz="2400" b="0" i="1" smtClean="0">
                                      <a:latin typeface="Cambria Math" panose="02040503050406030204" pitchFamily="18" charset="0"/>
                                      <a:ea typeface="Cambria Math" panose="02040503050406030204" pitchFamily="18" charset="0"/>
                                    </a:rPr>
                                    <m:t>𝜎</m:t>
                                  </m:r>
                                </m:den>
                              </m:f>
                            </m:e>
                          </m:d>
                        </m:e>
                        <m:sup>
                          <m:r>
                            <a:rPr lang="es-CR" sz="2400" b="0" i="1" smtClean="0">
                              <a:latin typeface="Cambria Math" panose="02040503050406030204" pitchFamily="18" charset="0"/>
                            </a:rPr>
                            <m:t>2</m:t>
                          </m:r>
                        </m:sup>
                      </m:sSup>
                      <m:r>
                        <a:rPr lang="es-CR" sz="2400" b="0" i="1" smtClean="0">
                          <a:latin typeface="Cambria Math" panose="02040503050406030204" pitchFamily="18" charset="0"/>
                        </a:rPr>
                        <m:t>=</m:t>
                      </m:r>
                      <m:sSup>
                        <m:sSupPr>
                          <m:ctrlPr>
                            <a:rPr lang="es-CR" sz="2400" b="0" i="1" smtClean="0">
                              <a:latin typeface="Cambria Math" panose="02040503050406030204" pitchFamily="18" charset="0"/>
                            </a:rPr>
                          </m:ctrlPr>
                        </m:sSupPr>
                        <m:e>
                          <m:r>
                            <a:rPr lang="es-CR" sz="2400" b="0" i="1" smtClean="0">
                              <a:latin typeface="Cambria Math" panose="02040503050406030204" pitchFamily="18" charset="0"/>
                            </a:rPr>
                            <m:t>𝑧</m:t>
                          </m:r>
                        </m:e>
                        <m:sup>
                          <m:r>
                            <a:rPr lang="es-CR" sz="2400" b="0" i="1" smtClean="0">
                              <a:latin typeface="Cambria Math" panose="02040503050406030204" pitchFamily="18" charset="0"/>
                            </a:rPr>
                            <m:t>2</m:t>
                          </m:r>
                        </m:sup>
                      </m:sSup>
                    </m:oMath>
                  </m:oMathPara>
                </a14:m>
                <a:endParaRPr lang="es-CR" sz="2400" dirty="0"/>
              </a:p>
              <a:p>
                <a:pPr algn="just"/>
                <a:endParaRPr lang="es-CR" sz="2400" dirty="0"/>
              </a:p>
              <a:p>
                <a:pPr algn="just"/>
                <a:endParaRPr lang="es-CR" sz="2400" dirty="0"/>
              </a:p>
              <a:p>
                <a:pPr algn="just"/>
                <a:r>
                  <a:rPr lang="es-CR" sz="2400" dirty="0"/>
                  <a:t>Una Chi cuadrada es un caso especial de una Z elevada al cuadrado. Existen muchas propiedades y teoremas sobre esta distribución, pero esto no será abordado en este curso, lastimosamente…</a:t>
                </a:r>
              </a:p>
              <a:p>
                <a:pPr algn="just"/>
                <a:endParaRPr lang="es-CR" sz="2400" dirty="0"/>
              </a:p>
              <a:p>
                <a:pPr algn="just"/>
                <a:r>
                  <a:rPr lang="es-CR" sz="2400" dirty="0"/>
                  <a:t>Ahora, ¿qué tipos de pruebas se llevan a cabo mediante la presente distribución?</a:t>
                </a:r>
              </a:p>
              <a:p>
                <a:pPr algn="just"/>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0" y="1006913"/>
                <a:ext cx="9215031" cy="5755926"/>
              </a:xfrm>
              <a:blipFill>
                <a:blip r:embed="rId2"/>
                <a:stretch>
                  <a:fillRect l="-860" t="-1483" r="-992"/>
                </a:stretch>
              </a:blipFill>
            </p:spPr>
            <p:txBody>
              <a:bodyPr/>
              <a:lstStyle/>
              <a:p>
                <a:r>
                  <a:rPr lang="en-US">
                    <a:noFill/>
                  </a:rPr>
                  <a:t> </a:t>
                </a:r>
              </a:p>
            </p:txBody>
          </p:sp>
        </mc:Fallback>
      </mc:AlternateContent>
      <p:sp>
        <p:nvSpPr>
          <p:cNvPr id="4" name="Título 1"/>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pic>
        <p:nvPicPr>
          <p:cNvPr id="3074" name="Picture 2" descr="Image result for Math"/>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91841" y="1521434"/>
            <a:ext cx="2533906" cy="166601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38825" y="4779817"/>
            <a:ext cx="2239938" cy="1275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8314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50227" y="1240423"/>
            <a:ext cx="9215445" cy="5475927"/>
          </a:xfrm>
        </p:spPr>
        <p:txBody>
          <a:bodyPr>
            <a:normAutofit/>
          </a:bodyPr>
          <a:lstStyle/>
          <a:p>
            <a:pPr algn="just"/>
            <a:r>
              <a:rPr lang="es-CR" sz="2400" dirty="0"/>
              <a:t>Hacemos uso de la presente distribución para las siguientes pruebas:</a:t>
            </a:r>
          </a:p>
          <a:p>
            <a:pPr algn="just"/>
            <a:endParaRPr lang="es-CR" sz="2400" dirty="0"/>
          </a:p>
          <a:p>
            <a:pPr marL="457200" indent="-457200" algn="just">
              <a:buAutoNum type="arabicPeriod"/>
            </a:pPr>
            <a:r>
              <a:rPr lang="es-CR" sz="2400" dirty="0"/>
              <a:t>Prueba de bondad de ajuste.</a:t>
            </a:r>
          </a:p>
          <a:p>
            <a:pPr marL="457200" indent="-457200" algn="just">
              <a:buAutoNum type="arabicPeriod"/>
            </a:pPr>
            <a:r>
              <a:rPr lang="es-CR" sz="2400" dirty="0"/>
              <a:t>Prueba de independencia</a:t>
            </a:r>
          </a:p>
          <a:p>
            <a:pPr marL="457200" indent="-457200" algn="just">
              <a:buAutoNum type="arabicPeriod"/>
            </a:pPr>
            <a:r>
              <a:rPr lang="es-CR" sz="2400" dirty="0"/>
              <a:t>Prueba de homogeneidad</a:t>
            </a:r>
          </a:p>
          <a:p>
            <a:pPr marL="457200" indent="-457200" algn="just">
              <a:buAutoNum type="arabicPeriod"/>
            </a:pPr>
            <a:r>
              <a:rPr lang="es-CR" sz="2400" dirty="0"/>
              <a:t>Prueba exacta de Fischer</a:t>
            </a:r>
          </a:p>
          <a:p>
            <a:pPr marL="457200" indent="-457200" algn="just">
              <a:buAutoNum type="arabicPeriod"/>
            </a:pPr>
            <a:endParaRPr lang="es-CR" sz="2400" dirty="0"/>
          </a:p>
          <a:p>
            <a:pPr algn="just"/>
            <a:r>
              <a:rPr lang="es-CR" sz="2400" dirty="0"/>
              <a:t>Se pone de manifiesto que, en cierto sentido, todas las pruebas de Ji-cuadrada que se utilizan pueden ser consideradas como pruebas de bondad de ajuste con las que se prueba precisamente la bondad de ajuste en las frecuencias observadas con respecto a las frecuencias que se esperarían si los datos se obtuvieran bajo alguna hipótesis o teoría en particular.</a:t>
            </a:r>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pic>
        <p:nvPicPr>
          <p:cNvPr id="4098" name="Picture 2" descr="Image result for test of independence formul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0109" y="1579418"/>
            <a:ext cx="2644288" cy="148243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Image result for thinki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06421" y="3879273"/>
            <a:ext cx="2211664" cy="2616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763580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0155" y="112578"/>
            <a:ext cx="10515600" cy="819239"/>
          </a:xfrm>
        </p:spPr>
        <p:txBody>
          <a:bodyPr/>
          <a:lstStyle/>
          <a:p>
            <a:pPr algn="ctr"/>
            <a:r>
              <a:rPr lang="es-CR" dirty="0"/>
              <a:t>Chi- cuadrada</a:t>
            </a:r>
            <a:endParaRPr lang="es-ES" dirty="0"/>
          </a:p>
        </p:txBody>
      </p:sp>
      <p:pic>
        <p:nvPicPr>
          <p:cNvPr id="1026" name="Picture 2" descr="Resultado de imagen para CHi squ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1489" y="1306919"/>
            <a:ext cx="9492932" cy="5156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16725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67387" y="1101879"/>
            <a:ext cx="8782645" cy="5557814"/>
          </a:xfrm>
        </p:spPr>
        <p:txBody>
          <a:bodyPr>
            <a:normAutofit/>
          </a:bodyPr>
          <a:lstStyle/>
          <a:p>
            <a:pPr algn="just"/>
            <a:r>
              <a:rPr lang="es-CR" sz="2400" dirty="0"/>
              <a:t>Sin embargo, se reserva la expresión "bondad de ajuste" para utilizarla en un sentido más estricto, es decir para referirse a la comparación de la distribución de una muestra con alguna distribución teórica que se supone describe a la población de la cual se extrajo.</a:t>
            </a:r>
          </a:p>
          <a:p>
            <a:pPr algn="just"/>
            <a:endParaRPr lang="es-CR" sz="2400" dirty="0"/>
          </a:p>
          <a:p>
            <a:pPr algn="just"/>
            <a:r>
              <a:rPr lang="es-CR" sz="2400" dirty="0"/>
              <a:t>El fundamento de la Ji o Chi-Cuadrado es para ser utilizada con datos cualitativos.</a:t>
            </a:r>
          </a:p>
          <a:p>
            <a:pPr algn="just"/>
            <a:endParaRPr lang="es-CR" sz="2400" dirty="0"/>
          </a:p>
          <a:p>
            <a:pPr algn="just"/>
            <a:endParaRPr lang="es-ES" sz="2400" dirty="0"/>
          </a:p>
          <a:p>
            <a:pPr algn="just"/>
            <a:r>
              <a:rPr lang="es-CR" sz="2400" dirty="0"/>
              <a:t>Existen dos tipos de frecuencias en las que se centra el interés de esta parte de: frecuencias observadas y frecuencias esperadas.  </a:t>
            </a:r>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pic>
        <p:nvPicPr>
          <p:cNvPr id="5122" name="Picture 2" descr="Image result for goodness of fit"/>
          <p:cNvPicPr>
            <a:picLocks noChangeAspect="1" noChangeArrowheads="1"/>
          </p:cNvPicPr>
          <p:nvPr/>
        </p:nvPicPr>
        <p:blipFill rotWithShape="1">
          <a:blip r:embed="rId2">
            <a:extLst>
              <a:ext uri="{28A0092B-C50C-407E-A947-70E740481C1C}">
                <a14:useLocalDpi xmlns:a14="http://schemas.microsoft.com/office/drawing/2010/main" val="0"/>
              </a:ext>
            </a:extLst>
          </a:blip>
          <a:srcRect l="6821" t="2370" r="12044" b="6325"/>
          <a:stretch/>
        </p:blipFill>
        <p:spPr bwMode="auto">
          <a:xfrm>
            <a:off x="9207910" y="1094509"/>
            <a:ext cx="2720854" cy="250767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Image result for qualitative dat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49475" y="4114801"/>
            <a:ext cx="2762561" cy="2358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6271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25828" y="991249"/>
            <a:ext cx="9115154" cy="5421337"/>
          </a:xfrm>
        </p:spPr>
        <p:txBody>
          <a:bodyPr>
            <a:normAutofit/>
          </a:bodyPr>
          <a:lstStyle/>
          <a:p>
            <a:pPr algn="just"/>
            <a:r>
              <a:rPr lang="es-CR" sz="2400" b="1" u="sng" dirty="0"/>
              <a:t>Las frecuencias observadas </a:t>
            </a:r>
            <a:r>
              <a:rPr lang="es-CR" sz="2400" dirty="0"/>
              <a:t>son el número de objetos o individuos en la muestra que caen dentro de las diversas categorías de la variable de interés. Por ejemplo, si se tiene una muestra de 100 pacientes hospitalizados se puede observar que 50 son casados, 30 son solteros, 15 son viudos y cinco  son divorciados. </a:t>
            </a:r>
          </a:p>
          <a:p>
            <a:pPr algn="just"/>
            <a:endParaRPr lang="es-CR" sz="2400" dirty="0"/>
          </a:p>
          <a:p>
            <a:pPr algn="just"/>
            <a:endParaRPr lang="es-CR" sz="2400" dirty="0"/>
          </a:p>
          <a:p>
            <a:pPr algn="just"/>
            <a:r>
              <a:rPr lang="es-CR" sz="2400" b="1" u="sng" dirty="0"/>
              <a:t>Las frecuencias esperadas</a:t>
            </a:r>
            <a:r>
              <a:rPr lang="es-CR" sz="2400" dirty="0"/>
              <a:t> son el número de individuos u objetos en la muestra que se esperaría observar en alguna hipótesis nula respecto a la variable es verdadera. Por ejemplo, la hipótesis nula puede ser que las cuatro categorías de estado civil tienen igual representación dentro de la población de la que se extrajo la muestra. En este caso se esperaría que en este ejemplo hubiera 25 casados, 25 solteros, 25 viudos y 25 divorciados.</a:t>
            </a:r>
            <a:endParaRPr lang="es-ES" sz="2400" dirty="0"/>
          </a:p>
        </p:txBody>
      </p:sp>
      <p:sp>
        <p:nvSpPr>
          <p:cNvPr id="4" name="Título 1"/>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pic>
        <p:nvPicPr>
          <p:cNvPr id="6146" name="Picture 2" descr="Image result for expected and observed"/>
          <p:cNvPicPr>
            <a:picLocks noChangeAspect="1" noChangeArrowheads="1"/>
          </p:cNvPicPr>
          <p:nvPr/>
        </p:nvPicPr>
        <p:blipFill rotWithShape="1">
          <a:blip r:embed="rId2">
            <a:extLst>
              <a:ext uri="{28A0092B-C50C-407E-A947-70E740481C1C}">
                <a14:useLocalDpi xmlns:a14="http://schemas.microsoft.com/office/drawing/2010/main" val="0"/>
              </a:ext>
            </a:extLst>
          </a:blip>
          <a:srcRect t="10291" r="11217" b="8144"/>
          <a:stretch/>
        </p:blipFill>
        <p:spPr bwMode="auto">
          <a:xfrm>
            <a:off x="9698182" y="1177637"/>
            <a:ext cx="2313709" cy="211974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Image result for expected"/>
          <p:cNvPicPr>
            <a:picLocks noChangeAspect="1" noChangeArrowheads="1"/>
          </p:cNvPicPr>
          <p:nvPr/>
        </p:nvPicPr>
        <p:blipFill rotWithShape="1">
          <a:blip r:embed="rId3">
            <a:extLst>
              <a:ext uri="{28A0092B-C50C-407E-A947-70E740481C1C}">
                <a14:useLocalDpi xmlns:a14="http://schemas.microsoft.com/office/drawing/2010/main" val="0"/>
              </a:ext>
            </a:extLst>
          </a:blip>
          <a:srcRect l="4467" t="17786" r="4511" b="18445"/>
          <a:stretch/>
        </p:blipFill>
        <p:spPr bwMode="auto">
          <a:xfrm>
            <a:off x="9635836" y="4281054"/>
            <a:ext cx="2438400" cy="2206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6930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0CFC9B2B-DE5A-441F-9F5C-D7B3B31E4227}"/>
              </a:ext>
            </a:extLst>
          </p:cNvPr>
          <p:cNvSpPr>
            <a:spLocks noGrp="1"/>
          </p:cNvSpPr>
          <p:nvPr>
            <p:ph idx="1"/>
          </p:nvPr>
        </p:nvSpPr>
        <p:spPr>
          <a:xfrm>
            <a:off x="127985" y="1142045"/>
            <a:ext cx="11847991" cy="4351338"/>
          </a:xfrm>
        </p:spPr>
        <p:txBody>
          <a:bodyPr/>
          <a:lstStyle/>
          <a:p>
            <a:pPr marL="0" indent="0">
              <a:buNone/>
            </a:pPr>
            <a:r>
              <a:rPr lang="es-CR" dirty="0"/>
              <a:t>¿Cómo obtenemos las frecuencias esperadas? A partir de las marginales, pronto lo veremos.</a:t>
            </a:r>
            <a:endParaRPr lang="en-US" dirty="0"/>
          </a:p>
        </p:txBody>
      </p:sp>
      <p:sp>
        <p:nvSpPr>
          <p:cNvPr id="4" name="Título 1">
            <a:extLst>
              <a:ext uri="{FF2B5EF4-FFF2-40B4-BE49-F238E27FC236}">
                <a16:creationId xmlns:a16="http://schemas.microsoft.com/office/drawing/2014/main" id="{DDFF01C1-E0FA-4C47-8B80-8AFC7659D864}"/>
              </a:ext>
            </a:extLst>
          </p:cNvPr>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pic>
        <p:nvPicPr>
          <p:cNvPr id="3076" name="Picture 4" descr="Resultado de imagen para question and answer">
            <a:extLst>
              <a:ext uri="{FF2B5EF4-FFF2-40B4-BE49-F238E27FC236}">
                <a16:creationId xmlns:a16="http://schemas.microsoft.com/office/drawing/2014/main" id="{B4A4AA13-1F4F-415B-9BB5-78ABC46249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9712" y="2133647"/>
            <a:ext cx="8725131" cy="4528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26264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63877" y="1042533"/>
                <a:ext cx="10515600" cy="5704631"/>
              </a:xfrm>
            </p:spPr>
            <p:txBody>
              <a:bodyPr>
                <a:normAutofit lnSpcReduction="10000"/>
              </a:bodyPr>
              <a:lstStyle/>
              <a:p>
                <a:r>
                  <a:rPr lang="es-CR" sz="2400" dirty="0"/>
                  <a:t>El estadístico para cualquier tipo de las pruebas de antes, es el siguiente:</a:t>
                </a:r>
              </a:p>
              <a:p>
                <a:endParaRPr lang="es-CR" sz="2400" dirty="0"/>
              </a:p>
              <a:p>
                <a:pPr marL="0" indent="0">
                  <a:buNone/>
                </a:pPr>
                <a14:m>
                  <m:oMathPara xmlns:m="http://schemas.openxmlformats.org/officeDocument/2006/math">
                    <m:oMathParaPr>
                      <m:jc m:val="centerGroup"/>
                    </m:oMathParaPr>
                    <m:oMath xmlns:m="http://schemas.openxmlformats.org/officeDocument/2006/math">
                      <m:sSubSup>
                        <m:sSubSupPr>
                          <m:ctrlPr>
                            <a:rPr lang="es-CR" sz="2400" i="1">
                              <a:latin typeface="Cambria Math" panose="02040503050406030204" pitchFamily="18" charset="0"/>
                            </a:rPr>
                          </m:ctrlPr>
                        </m:sSubSupPr>
                        <m:e>
                          <m:r>
                            <a:rPr lang="es-CR" sz="2400" i="1">
                              <a:latin typeface="Cambria Math" panose="02040503050406030204" pitchFamily="18" charset="0"/>
                              <a:ea typeface="Cambria Math" panose="02040503050406030204" pitchFamily="18" charset="0"/>
                            </a:rPr>
                            <m:t>𝜒</m:t>
                          </m:r>
                        </m:e>
                        <m:sub>
                          <m:r>
                            <a:rPr lang="es-CR" sz="2400" i="1">
                              <a:latin typeface="Cambria Math" panose="02040503050406030204" pitchFamily="18" charset="0"/>
                            </a:rPr>
                            <m:t>(1)</m:t>
                          </m:r>
                        </m:sub>
                        <m:sup>
                          <m:r>
                            <a:rPr lang="es-CR" sz="2400" i="1">
                              <a:latin typeface="Cambria Math" panose="02040503050406030204" pitchFamily="18" charset="0"/>
                            </a:rPr>
                            <m:t>2</m:t>
                          </m:r>
                        </m:sup>
                      </m:sSubSup>
                      <m:r>
                        <a:rPr lang="es-CR" sz="2400" i="1">
                          <a:latin typeface="Cambria Math" panose="02040503050406030204" pitchFamily="18" charset="0"/>
                        </a:rPr>
                        <m:t>=</m:t>
                      </m:r>
                      <m:nary>
                        <m:naryPr>
                          <m:chr m:val="∑"/>
                          <m:subHide m:val="on"/>
                          <m:supHide m:val="on"/>
                          <m:ctrlPr>
                            <a:rPr lang="es-CR" sz="2400" i="1" smtClean="0">
                              <a:latin typeface="Cambria Math" panose="02040503050406030204" pitchFamily="18" charset="0"/>
                            </a:rPr>
                          </m:ctrlPr>
                        </m:naryPr>
                        <m:sub/>
                        <m:sup/>
                        <m:e>
                          <m:d>
                            <m:dPr>
                              <m:begChr m:val="["/>
                              <m:endChr m:val="]"/>
                              <m:ctrlPr>
                                <a:rPr lang="es-CR" sz="2400" i="1" smtClean="0">
                                  <a:latin typeface="Cambria Math" panose="02040503050406030204" pitchFamily="18" charset="0"/>
                                </a:rPr>
                              </m:ctrlPr>
                            </m:dPr>
                            <m:e>
                              <m:f>
                                <m:fPr>
                                  <m:ctrlPr>
                                    <a:rPr lang="es-CR" sz="2400" i="1" smtClean="0">
                                      <a:latin typeface="Cambria Math" panose="02040503050406030204" pitchFamily="18" charset="0"/>
                                    </a:rPr>
                                  </m:ctrlPr>
                                </m:fPr>
                                <m:num>
                                  <m:sSup>
                                    <m:sSupPr>
                                      <m:ctrlPr>
                                        <a:rPr lang="es-CR" sz="2400" b="0" i="1" smtClean="0">
                                          <a:latin typeface="Cambria Math" panose="02040503050406030204" pitchFamily="18" charset="0"/>
                                        </a:rPr>
                                      </m:ctrlPr>
                                    </m:sSupPr>
                                    <m:e>
                                      <m:d>
                                        <m:dPr>
                                          <m:ctrlPr>
                                            <a:rPr lang="es-CR" sz="2400" b="0" i="1" smtClean="0">
                                              <a:latin typeface="Cambria Math" panose="02040503050406030204" pitchFamily="18" charset="0"/>
                                            </a:rPr>
                                          </m:ctrlPr>
                                        </m:dPr>
                                        <m:e>
                                          <m:sSub>
                                            <m:sSubPr>
                                              <m:ctrlPr>
                                                <a:rPr lang="es-CR" sz="2400" b="0" i="1" smtClean="0">
                                                  <a:latin typeface="Cambria Math" panose="02040503050406030204" pitchFamily="18" charset="0"/>
                                                </a:rPr>
                                              </m:ctrlPr>
                                            </m:sSubPr>
                                            <m:e>
                                              <m:r>
                                                <a:rPr lang="es-CR" sz="2400" b="0" i="1" smtClean="0">
                                                  <a:latin typeface="Cambria Math" panose="02040503050406030204" pitchFamily="18" charset="0"/>
                                                </a:rPr>
                                                <m:t>𝑂</m:t>
                                              </m:r>
                                            </m:e>
                                            <m:sub>
                                              <m:r>
                                                <a:rPr lang="es-CR" sz="2400" b="0" i="1" smtClean="0">
                                                  <a:latin typeface="Cambria Math" panose="02040503050406030204" pitchFamily="18" charset="0"/>
                                                </a:rPr>
                                                <m:t>𝑖</m:t>
                                              </m:r>
                                            </m:sub>
                                          </m:sSub>
                                          <m:r>
                                            <a:rPr lang="es-CR" sz="2400" b="0" i="1" smtClean="0">
                                              <a:latin typeface="Cambria Math" panose="02040503050406030204" pitchFamily="18" charset="0"/>
                                            </a:rPr>
                                            <m:t>−</m:t>
                                          </m:r>
                                          <m:sSub>
                                            <m:sSubPr>
                                              <m:ctrlPr>
                                                <a:rPr lang="es-CR" sz="2400" i="1">
                                                  <a:latin typeface="Cambria Math" panose="02040503050406030204" pitchFamily="18" charset="0"/>
                                                </a:rPr>
                                              </m:ctrlPr>
                                            </m:sSubPr>
                                            <m:e>
                                              <m:r>
                                                <a:rPr lang="es-CR" sz="2400" i="1">
                                                  <a:latin typeface="Cambria Math" panose="02040503050406030204" pitchFamily="18" charset="0"/>
                                                </a:rPr>
                                                <m:t>𝐸</m:t>
                                              </m:r>
                                            </m:e>
                                            <m:sub>
                                              <m:r>
                                                <a:rPr lang="es-CR" sz="2400" i="1">
                                                  <a:latin typeface="Cambria Math" panose="02040503050406030204" pitchFamily="18" charset="0"/>
                                                </a:rPr>
                                                <m:t>𝑖</m:t>
                                              </m:r>
                                            </m:sub>
                                          </m:sSub>
                                        </m:e>
                                      </m:d>
                                    </m:e>
                                    <m:sup>
                                      <m:r>
                                        <a:rPr lang="es-CR" sz="2400" b="0" i="1" smtClean="0">
                                          <a:latin typeface="Cambria Math" panose="02040503050406030204" pitchFamily="18" charset="0"/>
                                        </a:rPr>
                                        <m:t>2</m:t>
                                      </m:r>
                                    </m:sup>
                                  </m:sSup>
                                </m:num>
                                <m:den>
                                  <m:sSub>
                                    <m:sSubPr>
                                      <m:ctrlPr>
                                        <a:rPr lang="es-CR" sz="2400" i="1">
                                          <a:latin typeface="Cambria Math" panose="02040503050406030204" pitchFamily="18" charset="0"/>
                                        </a:rPr>
                                      </m:ctrlPr>
                                    </m:sSubPr>
                                    <m:e>
                                      <m:r>
                                        <a:rPr lang="es-CR" sz="2400" i="1">
                                          <a:latin typeface="Cambria Math" panose="02040503050406030204" pitchFamily="18" charset="0"/>
                                        </a:rPr>
                                        <m:t>𝐸</m:t>
                                      </m:r>
                                    </m:e>
                                    <m:sub>
                                      <m:r>
                                        <a:rPr lang="es-CR" sz="2400" i="1">
                                          <a:latin typeface="Cambria Math" panose="02040503050406030204" pitchFamily="18" charset="0"/>
                                        </a:rPr>
                                        <m:t>𝑖</m:t>
                                      </m:r>
                                    </m:sub>
                                  </m:sSub>
                                </m:den>
                              </m:f>
                            </m:e>
                          </m:d>
                        </m:e>
                      </m:nary>
                    </m:oMath>
                  </m:oMathPara>
                </a14:m>
                <a:endParaRPr lang="es-CR" sz="2400" dirty="0"/>
              </a:p>
              <a:p>
                <a:endParaRPr lang="es-CR" sz="2400" dirty="0"/>
              </a:p>
              <a:p>
                <a:pPr algn="just"/>
                <a:r>
                  <a:rPr lang="es-CR" sz="2400" dirty="0"/>
                  <a:t>Cuando la hipótesis nula es verdadera, </a:t>
                </a:r>
                <a14:m>
                  <m:oMath xmlns:m="http://schemas.openxmlformats.org/officeDocument/2006/math">
                    <m:r>
                      <a:rPr lang="es-CR" sz="2400" i="1" dirty="0" smtClean="0">
                        <a:latin typeface="Cambria Math" panose="02040503050406030204" pitchFamily="18" charset="0"/>
                      </a:rPr>
                      <m:t>𝑋</m:t>
                    </m:r>
                    <m:r>
                      <a:rPr lang="es-CR" sz="2400" i="1" baseline="30000" dirty="0">
                        <a:latin typeface="Cambria Math" panose="02040503050406030204" pitchFamily="18" charset="0"/>
                      </a:rPr>
                      <m:t>2</m:t>
                    </m:r>
                  </m:oMath>
                </a14:m>
                <a:r>
                  <a:rPr lang="es-CR" sz="2400" i="1" dirty="0"/>
                  <a:t> </a:t>
                </a:r>
                <a:r>
                  <a:rPr lang="es-CR" sz="2400" dirty="0"/>
                  <a:t>sigue una distribución casi como</a:t>
                </a:r>
                <a14:m>
                  <m:oMath xmlns:m="http://schemas.openxmlformats.org/officeDocument/2006/math">
                    <m:r>
                      <a:rPr lang="es-CR" sz="2400" i="1" dirty="0">
                        <a:latin typeface="Cambria Math" panose="02040503050406030204" pitchFamily="18" charset="0"/>
                      </a:rPr>
                      <m:t>𝑋</m:t>
                    </m:r>
                    <m:r>
                      <a:rPr lang="es-CR" sz="2400" i="1" baseline="30000" dirty="0">
                        <a:latin typeface="Cambria Math" panose="02040503050406030204" pitchFamily="18" charset="0"/>
                      </a:rPr>
                      <m:t>2</m:t>
                    </m:r>
                  </m:oMath>
                </a14:m>
                <a:r>
                  <a:rPr lang="es-CR" sz="2400" dirty="0"/>
                  <a:t>con </a:t>
                </a:r>
                <a:r>
                  <a:rPr lang="es-CR" sz="2400" i="1" dirty="0"/>
                  <a:t>k </a:t>
                </a:r>
                <a:r>
                  <a:rPr lang="es-CR" sz="2400" dirty="0"/>
                  <a:t>- </a:t>
                </a:r>
                <a:r>
                  <a:rPr lang="es-CR" sz="2400" i="1" dirty="0"/>
                  <a:t>r </a:t>
                </a:r>
                <a:r>
                  <a:rPr lang="es-CR" sz="2400" dirty="0"/>
                  <a:t>grados de libertad. En la determinación de los grados de libertad, </a:t>
                </a:r>
                <a:r>
                  <a:rPr lang="es-CR" sz="2400" i="1" dirty="0"/>
                  <a:t>k </a:t>
                </a:r>
                <a:r>
                  <a:rPr lang="es-CR" sz="2400" dirty="0"/>
                  <a:t>es igual al numero de grupos para los que las frecuencias observadas y esperadas están disponibles, y </a:t>
                </a:r>
                <a:r>
                  <a:rPr lang="es-CR" sz="2400" i="1" dirty="0"/>
                  <a:t>r </a:t>
                </a:r>
                <a:r>
                  <a:rPr lang="es-CR" sz="2400" dirty="0"/>
                  <a:t>es el numero de restricciones impuestas sobre las comparaciones dadas.</a:t>
                </a:r>
              </a:p>
              <a:p>
                <a:endParaRPr lang="es-CR" sz="2400" dirty="0"/>
              </a:p>
              <a:p>
                <a:pPr algn="just"/>
                <a:r>
                  <a:rPr lang="es-CR" sz="2400" dirty="0"/>
                  <a:t>Una restricción es impuesta cuando se fuerza la suma de las frecuencias esperadas para que sea igual a la suma de frecuencias observadas, y la restricción adicional es impuesta para cada parámetro que sea estimado a partir de la muestra. </a:t>
                </a:r>
                <a:endParaRPr lang="es-ES" sz="2400" dirty="0"/>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63877" y="1042533"/>
                <a:ext cx="10515600" cy="5704631"/>
              </a:xfrm>
              <a:blipFill>
                <a:blip r:embed="rId2"/>
                <a:stretch>
                  <a:fillRect l="-812" t="-2030" r="-870"/>
                </a:stretch>
              </a:blipFill>
            </p:spPr>
            <p:txBody>
              <a:bodyPr/>
              <a:lstStyle/>
              <a:p>
                <a:r>
                  <a:rPr lang="en-US">
                    <a:noFill/>
                  </a:rPr>
                  <a:t> </a:t>
                </a:r>
              </a:p>
            </p:txBody>
          </p:sp>
        </mc:Fallback>
      </mc:AlternateContent>
      <p:sp>
        <p:nvSpPr>
          <p:cNvPr id="4" name="Título 1"/>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spTree>
    <p:extLst>
      <p:ext uri="{BB962C8B-B14F-4D97-AF65-F5344CB8AC3E}">
        <p14:creationId xmlns:p14="http://schemas.microsoft.com/office/powerpoint/2010/main" val="15530596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Marcador de contenido 2"/>
              <p:cNvSpPr>
                <a:spLocks noGrp="1"/>
              </p:cNvSpPr>
              <p:nvPr>
                <p:ph idx="1"/>
              </p:nvPr>
            </p:nvSpPr>
            <p:spPr>
              <a:xfrm>
                <a:off x="107630" y="1073344"/>
                <a:ext cx="9313461" cy="5535274"/>
              </a:xfrm>
            </p:spPr>
            <p:txBody>
              <a:bodyPr>
                <a:normAutofit/>
              </a:bodyPr>
              <a:lstStyle/>
              <a:p>
                <a:pPr algn="just"/>
                <a:r>
                  <a:rPr lang="es-CR" dirty="0"/>
                  <a:t>Bajo la cantidad o el estadístico:     </a:t>
                </a:r>
                <a14:m>
                  <m:oMath xmlns:m="http://schemas.openxmlformats.org/officeDocument/2006/math">
                    <m:sSubSup>
                      <m:sSubSupPr>
                        <m:ctrlPr>
                          <a:rPr lang="es-CR" i="1">
                            <a:latin typeface="Cambria Math" panose="02040503050406030204" pitchFamily="18" charset="0"/>
                          </a:rPr>
                        </m:ctrlPr>
                      </m:sSubSupPr>
                      <m:e>
                        <m:r>
                          <a:rPr lang="es-CR" i="1">
                            <a:latin typeface="Cambria Math" panose="02040503050406030204" pitchFamily="18" charset="0"/>
                            <a:ea typeface="Cambria Math" panose="02040503050406030204" pitchFamily="18" charset="0"/>
                          </a:rPr>
                          <m:t>𝜒</m:t>
                        </m:r>
                      </m:e>
                      <m:sub>
                        <m:r>
                          <a:rPr lang="es-CR" i="1">
                            <a:latin typeface="Cambria Math" panose="02040503050406030204" pitchFamily="18" charset="0"/>
                          </a:rPr>
                          <m:t>(1)</m:t>
                        </m:r>
                      </m:sub>
                      <m:sup>
                        <m:r>
                          <a:rPr lang="es-CR" i="1">
                            <a:latin typeface="Cambria Math" panose="02040503050406030204" pitchFamily="18" charset="0"/>
                          </a:rPr>
                          <m:t>2</m:t>
                        </m:r>
                      </m:sup>
                    </m:sSubSup>
                    <m:r>
                      <a:rPr lang="es-CR" i="1">
                        <a:latin typeface="Cambria Math" panose="02040503050406030204" pitchFamily="18" charset="0"/>
                      </a:rPr>
                      <m:t>=</m:t>
                    </m:r>
                    <m:nary>
                      <m:naryPr>
                        <m:chr m:val="∑"/>
                        <m:subHide m:val="on"/>
                        <m:supHide m:val="on"/>
                        <m:ctrlPr>
                          <a:rPr lang="es-CR" i="1">
                            <a:latin typeface="Cambria Math" panose="02040503050406030204" pitchFamily="18" charset="0"/>
                          </a:rPr>
                        </m:ctrlPr>
                      </m:naryPr>
                      <m:sub/>
                      <m:sup/>
                      <m:e>
                        <m:d>
                          <m:dPr>
                            <m:begChr m:val="["/>
                            <m:endChr m:val="]"/>
                            <m:ctrlPr>
                              <a:rPr lang="es-CR" i="1">
                                <a:latin typeface="Cambria Math" panose="02040503050406030204" pitchFamily="18" charset="0"/>
                              </a:rPr>
                            </m:ctrlPr>
                          </m:dPr>
                          <m:e>
                            <m:f>
                              <m:fPr>
                                <m:ctrlPr>
                                  <a:rPr lang="es-CR" i="1">
                                    <a:latin typeface="Cambria Math" panose="02040503050406030204" pitchFamily="18" charset="0"/>
                                  </a:rPr>
                                </m:ctrlPr>
                              </m:fPr>
                              <m:num>
                                <m:sSup>
                                  <m:sSupPr>
                                    <m:ctrlPr>
                                      <a:rPr lang="es-CR" i="1">
                                        <a:latin typeface="Cambria Math" panose="02040503050406030204" pitchFamily="18" charset="0"/>
                                      </a:rPr>
                                    </m:ctrlPr>
                                  </m:sSupPr>
                                  <m:e>
                                    <m:d>
                                      <m:dPr>
                                        <m:ctrlPr>
                                          <a:rPr lang="es-CR" i="1">
                                            <a:latin typeface="Cambria Math" panose="02040503050406030204" pitchFamily="18" charset="0"/>
                                          </a:rPr>
                                        </m:ctrlPr>
                                      </m:dPr>
                                      <m:e>
                                        <m:sSub>
                                          <m:sSubPr>
                                            <m:ctrlPr>
                                              <a:rPr lang="es-CR" i="1">
                                                <a:latin typeface="Cambria Math" panose="02040503050406030204" pitchFamily="18" charset="0"/>
                                              </a:rPr>
                                            </m:ctrlPr>
                                          </m:sSubPr>
                                          <m:e>
                                            <m:r>
                                              <a:rPr lang="es-CR" i="1">
                                                <a:latin typeface="Cambria Math" panose="02040503050406030204" pitchFamily="18" charset="0"/>
                                              </a:rPr>
                                              <m:t>𝑂</m:t>
                                            </m:r>
                                          </m:e>
                                          <m:sub>
                                            <m:r>
                                              <a:rPr lang="es-CR" i="1">
                                                <a:latin typeface="Cambria Math" panose="02040503050406030204" pitchFamily="18" charset="0"/>
                                              </a:rPr>
                                              <m:t>𝑖</m:t>
                                            </m:r>
                                          </m:sub>
                                        </m:sSub>
                                        <m:r>
                                          <a:rPr lang="es-CR" i="1">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e>
                                    </m:d>
                                  </m:e>
                                  <m:sup>
                                    <m:r>
                                      <a:rPr lang="es-CR" i="1">
                                        <a:latin typeface="Cambria Math" panose="02040503050406030204" pitchFamily="18" charset="0"/>
                                      </a:rPr>
                                      <m:t>2</m:t>
                                    </m:r>
                                  </m:sup>
                                </m:sSup>
                              </m:num>
                              <m:den>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den>
                            </m:f>
                          </m:e>
                        </m:d>
                      </m:e>
                    </m:nary>
                  </m:oMath>
                </a14:m>
                <a:endParaRPr lang="es-CR" dirty="0"/>
              </a:p>
              <a:p>
                <a:pPr marL="0" indent="0" algn="just">
                  <a:buNone/>
                </a:pPr>
                <a:endParaRPr lang="es-CR" dirty="0"/>
              </a:p>
              <a:p>
                <a:pPr algn="just"/>
                <a:r>
                  <a:rPr lang="es-CR" dirty="0"/>
                  <a:t> Si dicho estadístico es pequeño si </a:t>
                </a:r>
                <a:r>
                  <a:rPr lang="es-ES" dirty="0"/>
                  <a:t>las frecuencias </a:t>
                </a:r>
                <a:r>
                  <a:rPr lang="es-CR" dirty="0"/>
                  <a:t>observadas y esperadas están muy cerca y será muy grande si las diferencias son </a:t>
                </a:r>
                <a:r>
                  <a:rPr lang="es-ES" dirty="0"/>
                  <a:t>muy grandes.</a:t>
                </a:r>
              </a:p>
              <a:p>
                <a:pPr marL="0" indent="0" algn="just">
                  <a:buNone/>
                </a:pPr>
                <a:endParaRPr lang="es-ES" dirty="0"/>
              </a:p>
              <a:p>
                <a:pPr algn="just"/>
                <a:r>
                  <a:rPr lang="es-CR" dirty="0"/>
                  <a:t>EI valor calculado de </a:t>
                </a:r>
                <a14:m>
                  <m:oMath xmlns:m="http://schemas.openxmlformats.org/officeDocument/2006/math">
                    <m:r>
                      <a:rPr lang="es-CR" i="1" dirty="0" smtClean="0">
                        <a:latin typeface="Cambria Math" panose="02040503050406030204" pitchFamily="18" charset="0"/>
                      </a:rPr>
                      <m:t>𝑋</m:t>
                    </m:r>
                    <m:r>
                      <a:rPr lang="es-CR" i="1" baseline="30000" dirty="0">
                        <a:latin typeface="Cambria Math" panose="02040503050406030204" pitchFamily="18" charset="0"/>
                      </a:rPr>
                      <m:t>2</m:t>
                    </m:r>
                  </m:oMath>
                </a14:m>
                <a:r>
                  <a:rPr lang="es-CR" dirty="0"/>
                  <a:t> se compara contra el valor tabulado de </a:t>
                </a:r>
                <a14:m>
                  <m:oMath xmlns:m="http://schemas.openxmlformats.org/officeDocument/2006/math">
                    <m:r>
                      <a:rPr lang="es-CR" i="1" dirty="0" smtClean="0">
                        <a:latin typeface="Cambria Math" panose="02040503050406030204" pitchFamily="18" charset="0"/>
                      </a:rPr>
                      <m:t>𝑋</m:t>
                    </m:r>
                    <m:r>
                      <a:rPr lang="es-CR" i="1" baseline="30000" dirty="0">
                        <a:latin typeface="Cambria Math" panose="02040503050406030204" pitchFamily="18" charset="0"/>
                      </a:rPr>
                      <m:t>2</m:t>
                    </m:r>
                  </m:oMath>
                </a14:m>
                <a:r>
                  <a:rPr lang="es-CR" i="1" dirty="0"/>
                  <a:t> </a:t>
                </a:r>
                <a:r>
                  <a:rPr lang="es-CR" dirty="0"/>
                  <a:t>con </a:t>
                </a:r>
                <a14:m>
                  <m:oMath xmlns:m="http://schemas.openxmlformats.org/officeDocument/2006/math">
                    <m:r>
                      <a:rPr lang="es-CR" i="1" dirty="0" smtClean="0">
                        <a:latin typeface="Cambria Math" panose="02040503050406030204" pitchFamily="18" charset="0"/>
                      </a:rPr>
                      <m:t>𝑘</m:t>
                    </m:r>
                    <m:r>
                      <a:rPr lang="es-CR" i="1" dirty="0" smtClean="0">
                        <a:latin typeface="Cambria Math" panose="02040503050406030204" pitchFamily="18" charset="0"/>
                      </a:rPr>
                      <m:t>−</m:t>
                    </m:r>
                    <m:r>
                      <a:rPr lang="es-CR" i="1" dirty="0" smtClean="0">
                        <a:latin typeface="Cambria Math" panose="02040503050406030204" pitchFamily="18" charset="0"/>
                      </a:rPr>
                      <m:t>𝑟</m:t>
                    </m:r>
                  </m:oMath>
                </a14:m>
                <a:r>
                  <a:rPr lang="es-CR" i="1" dirty="0"/>
                  <a:t> </a:t>
                </a:r>
                <a:r>
                  <a:rPr lang="es-CR" dirty="0"/>
                  <a:t>grados de libertad. La regla de decisión, entonces, es: rechazar </a:t>
                </a:r>
                <a:r>
                  <a:rPr lang="es-CR" i="1" dirty="0"/>
                  <a:t>Ho </a:t>
                </a:r>
                <a:r>
                  <a:rPr lang="es-CR" dirty="0"/>
                  <a:t>si </a:t>
                </a:r>
                <a14:m>
                  <m:oMath xmlns:m="http://schemas.openxmlformats.org/officeDocument/2006/math">
                    <m:r>
                      <a:rPr lang="es-CR" i="1" dirty="0">
                        <a:latin typeface="Cambria Math" panose="02040503050406030204" pitchFamily="18" charset="0"/>
                      </a:rPr>
                      <m:t>𝑋</m:t>
                    </m:r>
                    <m:r>
                      <a:rPr lang="es-CR" i="1" baseline="30000" dirty="0">
                        <a:latin typeface="Cambria Math" panose="02040503050406030204" pitchFamily="18" charset="0"/>
                      </a:rPr>
                      <m:t>2</m:t>
                    </m:r>
                  </m:oMath>
                </a14:m>
                <a:r>
                  <a:rPr lang="es-CR" dirty="0"/>
                  <a:t> es mayor o igual que el valor tabulado de </a:t>
                </a:r>
                <a14:m>
                  <m:oMath xmlns:m="http://schemas.openxmlformats.org/officeDocument/2006/math">
                    <m:r>
                      <a:rPr lang="es-CR" i="1" dirty="0">
                        <a:latin typeface="Cambria Math" panose="02040503050406030204" pitchFamily="18" charset="0"/>
                      </a:rPr>
                      <m:t>𝑋</m:t>
                    </m:r>
                    <m:r>
                      <a:rPr lang="es-CR" i="1" baseline="30000" dirty="0">
                        <a:latin typeface="Cambria Math" panose="02040503050406030204" pitchFamily="18" charset="0"/>
                      </a:rPr>
                      <m:t>2</m:t>
                    </m:r>
                  </m:oMath>
                </a14:m>
                <a:r>
                  <a:rPr lang="es-CR" dirty="0"/>
                  <a:t> para el valor seleccionado de </a:t>
                </a:r>
                <a:r>
                  <a:rPr lang="es-CR" dirty="0">
                    <a:latin typeface="Times New Roman" panose="02020603050405020304" pitchFamily="18" charset="0"/>
                    <a:cs typeface="Times New Roman" panose="02020603050405020304" pitchFamily="18" charset="0"/>
                  </a:rPr>
                  <a:t>α</a:t>
                </a:r>
                <a:r>
                  <a:rPr lang="es-CR" dirty="0"/>
                  <a:t>.  Bajo la prueba de independencia es un tanto distinto.</a:t>
                </a:r>
                <a:r>
                  <a:rPr lang="es-ES" dirty="0"/>
                  <a:t> </a:t>
                </a:r>
              </a:p>
            </p:txBody>
          </p:sp>
        </mc:Choice>
        <mc:Fallback xmlns="">
          <p:sp>
            <p:nvSpPr>
              <p:cNvPr id="3" name="Marcador de contenido 2"/>
              <p:cNvSpPr>
                <a:spLocks noGrp="1" noRot="1" noChangeAspect="1" noMove="1" noResize="1" noEditPoints="1" noAdjustHandles="1" noChangeArrowheads="1" noChangeShapeType="1" noTextEdit="1"/>
              </p:cNvSpPr>
              <p:nvPr>
                <p:ph idx="1"/>
              </p:nvPr>
            </p:nvSpPr>
            <p:spPr>
              <a:xfrm>
                <a:off x="107630" y="1073344"/>
                <a:ext cx="9313461" cy="5535274"/>
              </a:xfrm>
              <a:blipFill>
                <a:blip r:embed="rId2"/>
                <a:stretch>
                  <a:fillRect l="-1179" r="-1375"/>
                </a:stretch>
              </a:blipFill>
            </p:spPr>
            <p:txBody>
              <a:bodyPr/>
              <a:lstStyle/>
              <a:p>
                <a:r>
                  <a:rPr lang="en-US">
                    <a:noFill/>
                  </a:rPr>
                  <a:t> </a:t>
                </a:r>
              </a:p>
            </p:txBody>
          </p:sp>
        </mc:Fallback>
      </mc:AlternateContent>
      <p:sp>
        <p:nvSpPr>
          <p:cNvPr id="4" name="Título 1"/>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pic>
        <p:nvPicPr>
          <p:cNvPr id="7170" name="Picture 2" descr="Image result for expect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7327" y="3990108"/>
            <a:ext cx="2191797" cy="242454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Image result for expected"/>
          <p:cNvPicPr>
            <a:picLocks noChangeAspect="1" noChangeArrowheads="1"/>
          </p:cNvPicPr>
          <p:nvPr/>
        </p:nvPicPr>
        <p:blipFill rotWithShape="1">
          <a:blip r:embed="rId4">
            <a:extLst>
              <a:ext uri="{28A0092B-C50C-407E-A947-70E740481C1C}">
                <a14:useLocalDpi xmlns:a14="http://schemas.microsoft.com/office/drawing/2010/main" val="0"/>
              </a:ext>
            </a:extLst>
          </a:blip>
          <a:srcRect t="26667" b="23879"/>
          <a:stretch/>
        </p:blipFill>
        <p:spPr bwMode="auto">
          <a:xfrm>
            <a:off x="9878227" y="1187395"/>
            <a:ext cx="1969996" cy="1490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55228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67BA3FB7-91C0-493A-838F-F971E96D0BAC}"/>
                  </a:ext>
                </a:extLst>
              </p:cNvPr>
              <p:cNvSpPr>
                <a:spLocks noGrp="1"/>
              </p:cNvSpPr>
              <p:nvPr>
                <p:ph idx="1"/>
              </p:nvPr>
            </p:nvSpPr>
            <p:spPr>
              <a:xfrm>
                <a:off x="124287" y="1133167"/>
                <a:ext cx="11922711" cy="4351338"/>
              </a:xfrm>
            </p:spPr>
            <p:txBody>
              <a:bodyPr/>
              <a:lstStyle/>
              <a:p>
                <a:r>
                  <a:rPr lang="es-CR" dirty="0"/>
                  <a:t>Estamos en presencia de una prueba de hipótesis como las anteriores. ¿Qué entendemos entonces por el estadístico de </a:t>
                </a:r>
                <a14:m>
                  <m:oMath xmlns:m="http://schemas.openxmlformats.org/officeDocument/2006/math">
                    <m:sSubSup>
                      <m:sSubSupPr>
                        <m:ctrlPr>
                          <a:rPr lang="es-CR" i="1">
                            <a:latin typeface="Cambria Math" panose="02040503050406030204" pitchFamily="18" charset="0"/>
                          </a:rPr>
                        </m:ctrlPr>
                      </m:sSubSupPr>
                      <m:e>
                        <m:r>
                          <a:rPr lang="es-CR" i="1">
                            <a:latin typeface="Cambria Math" panose="02040503050406030204" pitchFamily="18" charset="0"/>
                            <a:ea typeface="Cambria Math" panose="02040503050406030204" pitchFamily="18" charset="0"/>
                          </a:rPr>
                          <m:t>𝜒</m:t>
                        </m:r>
                      </m:e>
                      <m:sub>
                        <m:r>
                          <a:rPr lang="es-CR" i="1">
                            <a:latin typeface="Cambria Math" panose="02040503050406030204" pitchFamily="18" charset="0"/>
                          </a:rPr>
                          <m:t>(1)</m:t>
                        </m:r>
                      </m:sub>
                      <m:sup>
                        <m:r>
                          <a:rPr lang="es-CR" i="1">
                            <a:latin typeface="Cambria Math" panose="02040503050406030204" pitchFamily="18" charset="0"/>
                          </a:rPr>
                          <m:t>2</m:t>
                        </m:r>
                      </m:sup>
                    </m:sSubSup>
                  </m:oMath>
                </a14:m>
                <a:r>
                  <a:rPr lang="es-CR" dirty="0"/>
                  <a:t> ? </a:t>
                </a:r>
                <a:endParaRPr lang="en-US" dirty="0"/>
              </a:p>
            </p:txBody>
          </p:sp>
        </mc:Choice>
        <mc:Fallback>
          <p:sp>
            <p:nvSpPr>
              <p:cNvPr id="3" name="Marcador de contenido 2">
                <a:extLst>
                  <a:ext uri="{FF2B5EF4-FFF2-40B4-BE49-F238E27FC236}">
                    <a16:creationId xmlns:a16="http://schemas.microsoft.com/office/drawing/2014/main" id="{67BA3FB7-91C0-493A-838F-F971E96D0BAC}"/>
                  </a:ext>
                </a:extLst>
              </p:cNvPr>
              <p:cNvSpPr>
                <a:spLocks noGrp="1" noRot="1" noChangeAspect="1" noMove="1" noResize="1" noEditPoints="1" noAdjustHandles="1" noChangeArrowheads="1" noChangeShapeType="1" noTextEdit="1"/>
              </p:cNvSpPr>
              <p:nvPr>
                <p:ph idx="1"/>
              </p:nvPr>
            </p:nvSpPr>
            <p:spPr>
              <a:xfrm>
                <a:off x="124287" y="1133167"/>
                <a:ext cx="11922711" cy="4351338"/>
              </a:xfrm>
              <a:blipFill>
                <a:blip r:embed="rId2"/>
                <a:stretch>
                  <a:fillRect l="-920" t="-2381"/>
                </a:stretch>
              </a:blipFill>
            </p:spPr>
            <p:txBody>
              <a:bodyPr/>
              <a:lstStyle/>
              <a:p>
                <a:r>
                  <a:rPr lang="en-US">
                    <a:noFill/>
                  </a:rPr>
                  <a:t> </a:t>
                </a:r>
              </a:p>
            </p:txBody>
          </p:sp>
        </mc:Fallback>
      </mc:AlternateContent>
      <p:sp>
        <p:nvSpPr>
          <p:cNvPr id="4" name="Título 1">
            <a:extLst>
              <a:ext uri="{FF2B5EF4-FFF2-40B4-BE49-F238E27FC236}">
                <a16:creationId xmlns:a16="http://schemas.microsoft.com/office/drawing/2014/main" id="{5FD13CE6-286C-4DE7-A006-DEC671FB4B3F}"/>
              </a:ext>
            </a:extLst>
          </p:cNvPr>
          <p:cNvSpPr>
            <a:spLocks noGrp="1"/>
          </p:cNvSpPr>
          <p:nvPr>
            <p:ph type="title"/>
          </p:nvPr>
        </p:nvSpPr>
        <p:spPr>
          <a:xfrm>
            <a:off x="846909" y="95161"/>
            <a:ext cx="10515600" cy="827948"/>
          </a:xfrm>
        </p:spPr>
        <p:txBody>
          <a:bodyPr/>
          <a:lstStyle/>
          <a:p>
            <a:pPr algn="ctr"/>
            <a:r>
              <a:rPr lang="es-CR" dirty="0"/>
              <a:t>Propiedades de la Chi-Cuadrado</a:t>
            </a:r>
            <a:endParaRPr lang="es-ES" dirty="0"/>
          </a:p>
        </p:txBody>
      </p:sp>
      <p:pic>
        <p:nvPicPr>
          <p:cNvPr id="1026" name="Picture 2" descr="Resultado de imagen para question">
            <a:extLst>
              <a:ext uri="{FF2B5EF4-FFF2-40B4-BE49-F238E27FC236}">
                <a16:creationId xmlns:a16="http://schemas.microsoft.com/office/drawing/2014/main" id="{36FA1AAF-0C9D-4916-9893-D5397390CE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9522" y="2403628"/>
            <a:ext cx="7332955" cy="4124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2441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690155" y="112578"/>
            <a:ext cx="10515600" cy="819239"/>
          </a:xfrm>
        </p:spPr>
        <p:txBody>
          <a:bodyPr/>
          <a:lstStyle/>
          <a:p>
            <a:pPr algn="ctr"/>
            <a:r>
              <a:rPr lang="es-CR" dirty="0"/>
              <a:t>Chi- cuadrada</a:t>
            </a:r>
            <a:endParaRPr lang="es-ES" dirty="0"/>
          </a:p>
        </p:txBody>
      </p:sp>
      <p:pic>
        <p:nvPicPr>
          <p:cNvPr id="2050" name="Picture 2" descr="Resultado de imagen para CHi squa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241" y="1454331"/>
            <a:ext cx="10038805" cy="4988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37050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endParaRPr lang="es-ES"/>
          </a:p>
        </p:txBody>
      </p:sp>
      <p:pic>
        <p:nvPicPr>
          <p:cNvPr id="4" name="Picture 2" descr="https://faculty.elgin.edu/dkernler/statistics/ch09/images/chi-square-table.gif"/>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p:spPr>
      </p:pic>
    </p:spTree>
    <p:extLst>
      <p:ext uri="{BB962C8B-B14F-4D97-AF65-F5344CB8AC3E}">
        <p14:creationId xmlns:p14="http://schemas.microsoft.com/office/powerpoint/2010/main" val="177739626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Tree>
    <p:extLst>
      <p:ext uri="{BB962C8B-B14F-4D97-AF65-F5344CB8AC3E}">
        <p14:creationId xmlns:p14="http://schemas.microsoft.com/office/powerpoint/2010/main" val="28581132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sp>
        <p:nvSpPr>
          <p:cNvPr id="3" name="Marcador de contenido 2"/>
          <p:cNvSpPr>
            <a:spLocks noGrp="1"/>
          </p:cNvSpPr>
          <p:nvPr>
            <p:ph idx="1"/>
          </p:nvPr>
        </p:nvSpPr>
        <p:spPr>
          <a:xfrm>
            <a:off x="195312" y="1231554"/>
            <a:ext cx="9447451" cy="5450600"/>
          </a:xfrm>
        </p:spPr>
        <p:txBody>
          <a:bodyPr>
            <a:normAutofit lnSpcReduction="10000"/>
          </a:bodyPr>
          <a:lstStyle/>
          <a:p>
            <a:pPr algn="just"/>
            <a:r>
              <a:rPr lang="es-CR" dirty="0"/>
              <a:t>Otro uso, quizá el mas frecuente, de la distribución ji-cuadrada es el de probar la </a:t>
            </a:r>
            <a:r>
              <a:rPr lang="es-ES" dirty="0"/>
              <a:t>hipótesis nula que indica que dos criterios de clasificación son independientes cuando </a:t>
            </a:r>
            <a:r>
              <a:rPr lang="es-CR" dirty="0"/>
              <a:t>se aplican al mismo conjunto de entidades.</a:t>
            </a:r>
          </a:p>
          <a:p>
            <a:pPr marL="0" indent="0" algn="just">
              <a:buNone/>
            </a:pPr>
            <a:endParaRPr lang="es-CR" dirty="0"/>
          </a:p>
          <a:p>
            <a:pPr algn="just"/>
            <a:r>
              <a:rPr lang="es-CR" dirty="0"/>
              <a:t>Se dice que dos criterios de clasificación son independientes si la distribución de un criterio es la misma, sin importar cómo sea la distribución del otro. </a:t>
            </a:r>
          </a:p>
          <a:p>
            <a:pPr algn="just"/>
            <a:endParaRPr lang="es-CR" dirty="0"/>
          </a:p>
          <a:p>
            <a:pPr algn="just"/>
            <a:r>
              <a:rPr lang="es-CR" dirty="0"/>
              <a:t>Por ejemplo, si el estado socioeconómico y el área de residencia de los habitantes de cierta ciudad son independientes, se esperaría encontrar </a:t>
            </a:r>
            <a:r>
              <a:rPr lang="es-CR" dirty="0" err="1"/>
              <a:t>Ia</a:t>
            </a:r>
            <a:r>
              <a:rPr lang="es-CR" dirty="0"/>
              <a:t> misma proporción de familias en los grupos socioeconómicos bajo, medio y alto en todas las áreas de </a:t>
            </a:r>
            <a:r>
              <a:rPr lang="es-CR" dirty="0" err="1"/>
              <a:t>Ia</a:t>
            </a:r>
            <a:r>
              <a:rPr lang="es-CR" dirty="0"/>
              <a:t> ciudad.</a:t>
            </a:r>
            <a:endParaRPr lang="es-ES" dirty="0"/>
          </a:p>
        </p:txBody>
      </p:sp>
      <p:sp>
        <p:nvSpPr>
          <p:cNvPr id="4" name="AutoShape 2" descr="Image result for tes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5" name="AutoShape 4" descr="Image result for test"/>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sp>
        <p:nvSpPr>
          <p:cNvPr id="6" name="AutoShape 6" descr="Image result for test"/>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CR"/>
          </a:p>
        </p:txBody>
      </p:sp>
      <p:pic>
        <p:nvPicPr>
          <p:cNvPr id="8200" name="Picture 8"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64392" y="1175473"/>
            <a:ext cx="1663988" cy="1663988"/>
          </a:xfrm>
          <a:prstGeom prst="rect">
            <a:avLst/>
          </a:prstGeom>
          <a:noFill/>
          <a:extLst>
            <a:ext uri="{909E8E84-426E-40DD-AFC4-6F175D3DCCD1}">
              <a14:hiddenFill xmlns:a14="http://schemas.microsoft.com/office/drawing/2010/main">
                <a:solidFill>
                  <a:srgbClr val="FFFFFF"/>
                </a:solidFill>
              </a14:hiddenFill>
            </a:ext>
          </a:extLst>
        </p:spPr>
      </p:pic>
      <p:pic>
        <p:nvPicPr>
          <p:cNvPr id="8202" name="Picture 10" descr="Image result for tes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1726" y="4315258"/>
            <a:ext cx="2289319" cy="2012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25420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77731" y="1043505"/>
            <a:ext cx="11695613" cy="4351338"/>
          </a:xfrm>
        </p:spPr>
        <p:txBody>
          <a:bodyPr>
            <a:normAutofit/>
          </a:bodyPr>
          <a:lstStyle/>
          <a:p>
            <a:pPr algn="just"/>
            <a:r>
              <a:rPr lang="es-ES" sz="2400" b="1" i="1" dirty="0"/>
              <a:t>Tabla de contingencia</a:t>
            </a:r>
            <a:r>
              <a:rPr lang="es-ES" sz="2400" i="1" dirty="0"/>
              <a:t>: </a:t>
            </a:r>
            <a:r>
              <a:rPr lang="es-CR" sz="2400" dirty="0"/>
              <a:t>La clasificación de un conjunto de entidades, de acuerdo con dos criterios, por ejemplo personas, se representa mediante una tabla en la que los </a:t>
            </a:r>
            <a:r>
              <a:rPr lang="es-CR" sz="2400" b="1" i="1" dirty="0"/>
              <a:t>r</a:t>
            </a:r>
            <a:r>
              <a:rPr lang="es-CR" sz="2400" i="1" dirty="0"/>
              <a:t> </a:t>
            </a:r>
            <a:r>
              <a:rPr lang="es-CR" sz="2400" dirty="0"/>
              <a:t>reglones representan los diversos niveles de uno de los criterio de clasificación, y las </a:t>
            </a:r>
            <a:r>
              <a:rPr lang="es-CR" sz="2400" b="1" i="1" dirty="0"/>
              <a:t>c</a:t>
            </a:r>
            <a:r>
              <a:rPr lang="es-CR" sz="2400" i="1" dirty="0"/>
              <a:t> </a:t>
            </a:r>
            <a:r>
              <a:rPr lang="es-CR" sz="2400" dirty="0"/>
              <a:t>columnas representan los diversos niveles del segundo criterio. Dicha tabla se conoce generalmente como </a:t>
            </a:r>
            <a:r>
              <a:rPr lang="es-CR" sz="2400" i="1" dirty="0"/>
              <a:t>tabla de contingencia.</a:t>
            </a:r>
            <a:endParaRPr lang="es-ES" sz="2400"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pic>
        <p:nvPicPr>
          <p:cNvPr id="5" name="Imagen 4"/>
          <p:cNvPicPr>
            <a:picLocks noChangeAspect="1"/>
          </p:cNvPicPr>
          <p:nvPr/>
        </p:nvPicPr>
        <p:blipFill>
          <a:blip r:embed="rId2"/>
          <a:stretch>
            <a:fillRect/>
          </a:stretch>
        </p:blipFill>
        <p:spPr>
          <a:xfrm>
            <a:off x="2340197" y="3219172"/>
            <a:ext cx="7732057" cy="3298983"/>
          </a:xfrm>
          <a:prstGeom prst="rect">
            <a:avLst/>
          </a:prstGeom>
        </p:spPr>
      </p:pic>
    </p:spTree>
    <p:extLst>
      <p:ext uri="{BB962C8B-B14F-4D97-AF65-F5344CB8AC3E}">
        <p14:creationId xmlns:p14="http://schemas.microsoft.com/office/powerpoint/2010/main" val="7917384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80109" y="1211476"/>
            <a:ext cx="11707091" cy="4351338"/>
          </a:xfrm>
        </p:spPr>
        <p:txBody>
          <a:bodyPr>
            <a:normAutofit/>
          </a:bodyPr>
          <a:lstStyle/>
          <a:p>
            <a:pPr algn="just"/>
            <a:r>
              <a:rPr lang="es-CR" sz="2400" dirty="0"/>
              <a:t>Se tiene interés en probar la hipótesis nula según la cual, en la población, los dos criterios de dosificación son independientes. Si la hipótesis es rechazada, se podrá conducir que los dos criterios de clasificación no son independientes. Se extrae una muestra de tamaño </a:t>
            </a:r>
            <a:r>
              <a:rPr lang="es-CR" sz="2400" i="1" dirty="0"/>
              <a:t>n </a:t>
            </a:r>
            <a:r>
              <a:rPr lang="es-CR" sz="2400" dirty="0"/>
              <a:t>de la población de entidades, y la frecuencia de ocurrencia de las entidades en la muestra, </a:t>
            </a:r>
            <a:r>
              <a:rPr lang="es-ES" sz="2400" dirty="0"/>
              <a:t>que corresponden a las casillas formadas </a:t>
            </a:r>
            <a:r>
              <a:rPr lang="es-CR" sz="2400" dirty="0"/>
              <a:t>por la intersección de los renglones y columnas de la tabla anterior. </a:t>
            </a:r>
            <a:endParaRPr lang="es-ES" sz="2400"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pic>
        <p:nvPicPr>
          <p:cNvPr id="5" name="Imagen 4"/>
          <p:cNvPicPr>
            <a:picLocks noChangeAspect="1"/>
          </p:cNvPicPr>
          <p:nvPr/>
        </p:nvPicPr>
        <p:blipFill>
          <a:blip r:embed="rId2"/>
          <a:stretch>
            <a:fillRect/>
          </a:stretch>
        </p:blipFill>
        <p:spPr>
          <a:xfrm>
            <a:off x="2995915" y="3510184"/>
            <a:ext cx="6435904" cy="3087447"/>
          </a:xfrm>
          <a:prstGeom prst="rect">
            <a:avLst/>
          </a:prstGeom>
        </p:spPr>
      </p:pic>
    </p:spTree>
    <p:extLst>
      <p:ext uri="{BB962C8B-B14F-4D97-AF65-F5344CB8AC3E}">
        <p14:creationId xmlns:p14="http://schemas.microsoft.com/office/powerpoint/2010/main" val="40242143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80109" y="1825625"/>
            <a:ext cx="11831782" cy="3813175"/>
          </a:xfrm>
        </p:spPr>
        <p:txBody>
          <a:bodyPr>
            <a:normAutofit/>
          </a:bodyPr>
          <a:lstStyle/>
          <a:p>
            <a:pPr marL="0" indent="0" algn="ctr">
              <a:buNone/>
            </a:pPr>
            <a:r>
              <a:rPr lang="es-CR" sz="8800" b="1" dirty="0"/>
              <a:t>¡Lo importante es trabajar con los marginales!</a:t>
            </a:r>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spTree>
    <p:extLst>
      <p:ext uri="{BB962C8B-B14F-4D97-AF65-F5344CB8AC3E}">
        <p14:creationId xmlns:p14="http://schemas.microsoft.com/office/powerpoint/2010/main" val="25485937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21983" y="961266"/>
            <a:ext cx="11194162" cy="4902721"/>
          </a:xfrm>
        </p:spPr>
        <p:txBody>
          <a:bodyPr>
            <a:normAutofit/>
          </a:bodyPr>
          <a:lstStyle/>
          <a:p>
            <a:pPr algn="just"/>
            <a:r>
              <a:rPr lang="es-CR" sz="2400" b="1" i="1" dirty="0"/>
              <a:t>Cálculo de las frecuencias esperadas </a:t>
            </a:r>
            <a:r>
              <a:rPr lang="es-CR" sz="2400" dirty="0"/>
              <a:t>Para cada celda se calculan las frecuencias esperadas, bajo la hipótesis nula de que los dos criterios de clasificación </a:t>
            </a:r>
            <a:r>
              <a:rPr lang="es-ES" sz="2400" dirty="0"/>
              <a:t>son independientes.</a:t>
            </a:r>
          </a:p>
          <a:p>
            <a:pPr algn="just"/>
            <a:endParaRPr lang="es-CR" sz="2400" dirty="0"/>
          </a:p>
          <a:p>
            <a:pPr algn="just"/>
            <a:r>
              <a:rPr lang="es-CR" sz="2400" dirty="0"/>
              <a:t>Bajo la suposición de independencia, por ejemplo, se calcula la probabilidad de que uno de los </a:t>
            </a:r>
            <a:r>
              <a:rPr lang="es-CR" sz="2400" i="1" dirty="0"/>
              <a:t>n </a:t>
            </a:r>
            <a:r>
              <a:rPr lang="es-CR" sz="2400" dirty="0"/>
              <a:t>individuos representados en el reglón 1 y columna 1 de </a:t>
            </a:r>
            <a:r>
              <a:rPr lang="es-CR" sz="2400" dirty="0" err="1"/>
              <a:t>Ia</a:t>
            </a:r>
            <a:r>
              <a:rPr lang="es-CR" sz="2400" dirty="0"/>
              <a:t> tabla (es decir, casilla </a:t>
            </a:r>
            <a:r>
              <a:rPr lang="es-CR" sz="2400" b="1" dirty="0"/>
              <a:t>11) </a:t>
            </a:r>
            <a:r>
              <a:rPr lang="es-CR" sz="2400" dirty="0"/>
              <a:t>mediante la multiplicación de la probabilidad de que el individuo sea contabilizado en el renglón 1 por la probabilidad de que el individuo sea contabilizado </a:t>
            </a:r>
            <a:r>
              <a:rPr lang="es-ES" sz="2400" dirty="0"/>
              <a:t>en </a:t>
            </a:r>
            <a:r>
              <a:rPr lang="es-ES" sz="2400" dirty="0" err="1"/>
              <a:t>Ia</a:t>
            </a:r>
            <a:r>
              <a:rPr lang="es-ES" sz="2400" dirty="0"/>
              <a:t> columna 1.</a:t>
            </a:r>
          </a:p>
          <a:p>
            <a:pPr algn="just"/>
            <a:endParaRPr lang="es-CR" sz="2400" dirty="0"/>
          </a:p>
          <a:p>
            <a:pPr algn="just"/>
            <a:r>
              <a:rPr lang="es-CR" sz="2400" dirty="0"/>
              <a:t>Esto es la obtención del número esperado por la marginal, y se denota como:</a:t>
            </a:r>
            <a:endParaRPr lang="es-ES" sz="2400" dirty="0"/>
          </a:p>
        </p:txBody>
      </p:sp>
      <p:sp>
        <p:nvSpPr>
          <p:cNvPr id="4" name="Título 1"/>
          <p:cNvSpPr>
            <a:spLocks noGrp="1"/>
          </p:cNvSpPr>
          <p:nvPr>
            <p:ph type="title"/>
          </p:nvPr>
        </p:nvSpPr>
        <p:spPr>
          <a:xfrm>
            <a:off x="879144" y="49362"/>
            <a:ext cx="10515600" cy="781287"/>
          </a:xfrm>
        </p:spPr>
        <p:txBody>
          <a:bodyPr/>
          <a:lstStyle/>
          <a:p>
            <a:pPr algn="ctr"/>
            <a:r>
              <a:rPr lang="es-CR" dirty="0"/>
              <a:t>Prueba de independencia</a:t>
            </a:r>
            <a:endParaRPr lang="es-ES" dirty="0"/>
          </a:p>
        </p:txBody>
      </p:sp>
      <mc:AlternateContent xmlns:mc="http://schemas.openxmlformats.org/markup-compatibility/2006" xmlns:a14="http://schemas.microsoft.com/office/drawing/2010/main">
        <mc:Choice Requires="a14">
          <p:sp>
            <p:nvSpPr>
              <p:cNvPr id="2" name="1 CuadroTexto"/>
              <p:cNvSpPr txBox="1"/>
              <p:nvPr/>
            </p:nvSpPr>
            <p:spPr>
              <a:xfrm>
                <a:off x="5056909" y="5410225"/>
                <a:ext cx="2369127" cy="11474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s-CR" sz="3600" b="1" i="1" smtClean="0">
                              <a:latin typeface="Cambria Math" panose="02040503050406030204" pitchFamily="18" charset="0"/>
                            </a:rPr>
                          </m:ctrlPr>
                        </m:fPr>
                        <m:num>
                          <m:r>
                            <a:rPr lang="es-CR" sz="3600" b="1" i="1" smtClean="0">
                              <a:latin typeface="Cambria Math"/>
                            </a:rPr>
                            <m:t>(</m:t>
                          </m:r>
                          <m:sSub>
                            <m:sSubPr>
                              <m:ctrlPr>
                                <a:rPr lang="es-CR" sz="3600" b="1" i="1" smtClean="0">
                                  <a:latin typeface="Cambria Math" panose="02040503050406030204" pitchFamily="18" charset="0"/>
                                </a:rPr>
                              </m:ctrlPr>
                            </m:sSubPr>
                            <m:e>
                              <m:r>
                                <a:rPr lang="es-CR" sz="3600" b="1" i="1" smtClean="0">
                                  <a:latin typeface="Cambria Math"/>
                                </a:rPr>
                                <m:t>𝒏</m:t>
                              </m:r>
                            </m:e>
                            <m:sub>
                              <m:r>
                                <a:rPr lang="es-CR" sz="3600" b="1" i="1" smtClean="0">
                                  <a:latin typeface="Cambria Math"/>
                                </a:rPr>
                                <m:t>𝟏</m:t>
                              </m:r>
                              <m:r>
                                <a:rPr lang="es-CR" sz="3600" b="1" i="1" smtClean="0">
                                  <a:latin typeface="Cambria Math"/>
                                </a:rPr>
                                <m:t>.</m:t>
                              </m:r>
                            </m:sub>
                          </m:sSub>
                          <m:sSub>
                            <m:sSubPr>
                              <m:ctrlPr>
                                <a:rPr lang="es-CR" sz="3600" b="1" i="1" smtClean="0">
                                  <a:latin typeface="Cambria Math" panose="02040503050406030204" pitchFamily="18" charset="0"/>
                                </a:rPr>
                              </m:ctrlPr>
                            </m:sSubPr>
                            <m:e>
                              <m:r>
                                <a:rPr lang="es-CR" sz="3600" b="1" i="1" smtClean="0">
                                  <a:latin typeface="Cambria Math"/>
                                </a:rPr>
                                <m:t>𝒏</m:t>
                              </m:r>
                            </m:e>
                            <m:sub>
                              <m:r>
                                <a:rPr lang="es-CR" sz="3600" b="1" i="1" smtClean="0">
                                  <a:latin typeface="Cambria Math"/>
                                </a:rPr>
                                <m:t>.</m:t>
                              </m:r>
                              <m:r>
                                <a:rPr lang="es-CR" sz="3600" b="1" i="1" smtClean="0">
                                  <a:latin typeface="Cambria Math"/>
                                </a:rPr>
                                <m:t>𝟏</m:t>
                              </m:r>
                            </m:sub>
                          </m:sSub>
                          <m:r>
                            <a:rPr lang="es-CR" sz="3600" b="1" i="1" smtClean="0">
                              <a:latin typeface="Cambria Math"/>
                            </a:rPr>
                            <m:t>)</m:t>
                          </m:r>
                        </m:num>
                        <m:den>
                          <m:r>
                            <a:rPr lang="es-CR" sz="3600" b="1" i="1" smtClean="0">
                              <a:latin typeface="Cambria Math"/>
                            </a:rPr>
                            <m:t>𝒏</m:t>
                          </m:r>
                        </m:den>
                      </m:f>
                    </m:oMath>
                  </m:oMathPara>
                </a14:m>
                <a:endParaRPr lang="es-CR" sz="3600" b="1" dirty="0"/>
              </a:p>
            </p:txBody>
          </p:sp>
        </mc:Choice>
        <mc:Fallback xmlns="">
          <p:sp>
            <p:nvSpPr>
              <p:cNvPr id="2" name="1 CuadroTexto"/>
              <p:cNvSpPr txBox="1">
                <a:spLocks noRot="1" noChangeAspect="1" noMove="1" noResize="1" noEditPoints="1" noAdjustHandles="1" noChangeArrowheads="1" noChangeShapeType="1" noTextEdit="1"/>
              </p:cNvSpPr>
              <p:nvPr/>
            </p:nvSpPr>
            <p:spPr>
              <a:xfrm>
                <a:off x="5056909" y="5410225"/>
                <a:ext cx="2369127" cy="1147494"/>
              </a:xfrm>
              <a:prstGeom prst="rect">
                <a:avLst/>
              </a:prstGeom>
              <a:blipFill rotWithShape="1">
                <a:blip r:embed="rId2"/>
                <a:stretch>
                  <a:fillRect/>
                </a:stretch>
              </a:blipFill>
            </p:spPr>
            <p:txBody>
              <a:bodyPr/>
              <a:lstStyle/>
              <a:p>
                <a:r>
                  <a:rPr lang="es-CR">
                    <a:noFill/>
                  </a:rPr>
                  <a:t> </a:t>
                </a:r>
              </a:p>
            </p:txBody>
          </p:sp>
        </mc:Fallback>
      </mc:AlternateContent>
    </p:spTree>
    <p:extLst>
      <p:ext uri="{BB962C8B-B14F-4D97-AF65-F5344CB8AC3E}">
        <p14:creationId xmlns:p14="http://schemas.microsoft.com/office/powerpoint/2010/main" val="28063985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05937" y="1252419"/>
            <a:ext cx="11308308" cy="5312154"/>
          </a:xfrm>
        </p:spPr>
        <p:txBody>
          <a:bodyPr>
            <a:normAutofit/>
          </a:bodyPr>
          <a:lstStyle/>
          <a:p>
            <a:pPr algn="just"/>
            <a:r>
              <a:rPr lang="es-CR" sz="2400" dirty="0"/>
              <a:t>Se puede ver que para obtener la frecuencia esperada para una casilla dada, se multiplica el total del renglón en el que la casilla está localizada por el total de la columna en donde está la casilla, y se divide el producto entre el gran total.</a:t>
            </a:r>
          </a:p>
          <a:p>
            <a:pPr algn="just"/>
            <a:endParaRPr lang="es-CR" sz="2400" dirty="0"/>
          </a:p>
          <a:p>
            <a:pPr algn="just"/>
            <a:r>
              <a:rPr lang="es-CR" sz="2400" dirty="0"/>
              <a:t>La comparación entre las frecuencias observadas y esperadas se llevan a cabo mediante el estadístico de la </a:t>
            </a:r>
            <a:r>
              <a:rPr lang="es-CR" sz="2400" i="1" dirty="0"/>
              <a:t>X</a:t>
            </a:r>
            <a:r>
              <a:rPr lang="es-CR" sz="2400" i="1" baseline="30000" dirty="0"/>
              <a:t>2</a:t>
            </a:r>
          </a:p>
          <a:p>
            <a:pPr algn="just"/>
            <a:endParaRPr lang="es-CR" sz="2400" i="1" baseline="30000" dirty="0"/>
          </a:p>
          <a:p>
            <a:pPr algn="just"/>
            <a:endParaRPr lang="es-CR" sz="2400" i="1" baseline="30000" dirty="0"/>
          </a:p>
          <a:p>
            <a:endParaRPr lang="es-ES" sz="2400" dirty="0"/>
          </a:p>
          <a:p>
            <a:pPr algn="just"/>
            <a:r>
              <a:rPr lang="es-ES" sz="2400" dirty="0"/>
              <a:t>Si la discrepancia </a:t>
            </a:r>
            <a:r>
              <a:rPr lang="es-CR" sz="2400" dirty="0"/>
              <a:t>es suficientemente "pequeña", puede sostenerse la hipótesis nula. Si la discrepancia es suficientemente "grande", se rechaza la hipótesis nula y se concluye que los dos criterios de clasificación no son independientes.</a:t>
            </a:r>
            <a:endParaRPr lang="es-CR" sz="2400" i="1" baseline="30000" dirty="0"/>
          </a:p>
          <a:p>
            <a:pPr algn="just"/>
            <a:endParaRPr lang="es-CR" sz="2400" i="1" baseline="30000" dirty="0"/>
          </a:p>
          <a:p>
            <a:pPr algn="just"/>
            <a:endParaRPr lang="es-ES" sz="2400"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mc:AlternateContent xmlns:mc="http://schemas.openxmlformats.org/markup-compatibility/2006">
        <mc:Choice xmlns:a14="http://schemas.microsoft.com/office/drawing/2010/main" Requires="a14">
          <p:sp>
            <p:nvSpPr>
              <p:cNvPr id="2" name="Rectángulo 1">
                <a:extLst>
                  <a:ext uri="{FF2B5EF4-FFF2-40B4-BE49-F238E27FC236}">
                    <a16:creationId xmlns:a16="http://schemas.microsoft.com/office/drawing/2014/main" id="{C923A229-CF37-4D8F-8CCA-10BA8C5906C6}"/>
                  </a:ext>
                </a:extLst>
              </p:cNvPr>
              <p:cNvSpPr/>
              <p:nvPr/>
            </p:nvSpPr>
            <p:spPr>
              <a:xfrm>
                <a:off x="4538474" y="3639562"/>
                <a:ext cx="2440347" cy="78624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Sup>
                        <m:sSubSupPr>
                          <m:ctrlPr>
                            <a:rPr lang="es-CR" i="1">
                              <a:latin typeface="Cambria Math" panose="02040503050406030204" pitchFamily="18" charset="0"/>
                            </a:rPr>
                          </m:ctrlPr>
                        </m:sSubSupPr>
                        <m:e>
                          <m:r>
                            <a:rPr lang="es-CR" i="1">
                              <a:latin typeface="Cambria Math" panose="02040503050406030204" pitchFamily="18" charset="0"/>
                              <a:ea typeface="Cambria Math" panose="02040503050406030204" pitchFamily="18" charset="0"/>
                            </a:rPr>
                            <m:t>𝜒</m:t>
                          </m:r>
                        </m:e>
                        <m:sub>
                          <m:r>
                            <a:rPr lang="es-CR" i="1">
                              <a:latin typeface="Cambria Math" panose="02040503050406030204" pitchFamily="18" charset="0"/>
                            </a:rPr>
                            <m:t>(1)</m:t>
                          </m:r>
                        </m:sub>
                        <m:sup>
                          <m:r>
                            <a:rPr lang="es-CR" i="1">
                              <a:latin typeface="Cambria Math" panose="02040503050406030204" pitchFamily="18" charset="0"/>
                            </a:rPr>
                            <m:t>2</m:t>
                          </m:r>
                        </m:sup>
                      </m:sSubSup>
                      <m:r>
                        <a:rPr lang="es-CR" i="1">
                          <a:latin typeface="Cambria Math" panose="02040503050406030204" pitchFamily="18" charset="0"/>
                        </a:rPr>
                        <m:t>=</m:t>
                      </m:r>
                      <m:nary>
                        <m:naryPr>
                          <m:chr m:val="∑"/>
                          <m:subHide m:val="on"/>
                          <m:supHide m:val="on"/>
                          <m:ctrlPr>
                            <a:rPr lang="es-CR" i="1">
                              <a:latin typeface="Cambria Math" panose="02040503050406030204" pitchFamily="18" charset="0"/>
                            </a:rPr>
                          </m:ctrlPr>
                        </m:naryPr>
                        <m:sub/>
                        <m:sup/>
                        <m:e>
                          <m:d>
                            <m:dPr>
                              <m:begChr m:val="["/>
                              <m:endChr m:val="]"/>
                              <m:ctrlPr>
                                <a:rPr lang="es-CR" i="1">
                                  <a:latin typeface="Cambria Math" panose="02040503050406030204" pitchFamily="18" charset="0"/>
                                </a:rPr>
                              </m:ctrlPr>
                            </m:dPr>
                            <m:e>
                              <m:f>
                                <m:fPr>
                                  <m:ctrlPr>
                                    <a:rPr lang="es-CR" i="1">
                                      <a:latin typeface="Cambria Math" panose="02040503050406030204" pitchFamily="18" charset="0"/>
                                    </a:rPr>
                                  </m:ctrlPr>
                                </m:fPr>
                                <m:num>
                                  <m:sSup>
                                    <m:sSupPr>
                                      <m:ctrlPr>
                                        <a:rPr lang="es-CR" i="1">
                                          <a:latin typeface="Cambria Math" panose="02040503050406030204" pitchFamily="18" charset="0"/>
                                        </a:rPr>
                                      </m:ctrlPr>
                                    </m:sSupPr>
                                    <m:e>
                                      <m:d>
                                        <m:dPr>
                                          <m:ctrlPr>
                                            <a:rPr lang="es-CR" i="1">
                                              <a:latin typeface="Cambria Math" panose="02040503050406030204" pitchFamily="18" charset="0"/>
                                            </a:rPr>
                                          </m:ctrlPr>
                                        </m:dPr>
                                        <m:e>
                                          <m:sSub>
                                            <m:sSubPr>
                                              <m:ctrlPr>
                                                <a:rPr lang="es-CR" i="1">
                                                  <a:latin typeface="Cambria Math" panose="02040503050406030204" pitchFamily="18" charset="0"/>
                                                </a:rPr>
                                              </m:ctrlPr>
                                            </m:sSubPr>
                                            <m:e>
                                              <m:r>
                                                <a:rPr lang="es-CR" i="1">
                                                  <a:latin typeface="Cambria Math" panose="02040503050406030204" pitchFamily="18" charset="0"/>
                                                </a:rPr>
                                                <m:t>𝑂</m:t>
                                              </m:r>
                                            </m:e>
                                            <m:sub>
                                              <m:r>
                                                <a:rPr lang="es-CR" i="1">
                                                  <a:latin typeface="Cambria Math" panose="02040503050406030204" pitchFamily="18" charset="0"/>
                                                </a:rPr>
                                                <m:t>𝑖</m:t>
                                              </m:r>
                                            </m:sub>
                                          </m:sSub>
                                          <m:r>
                                            <a:rPr lang="es-CR" i="1">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e>
                                      </m:d>
                                    </m:e>
                                    <m:sup>
                                      <m:r>
                                        <a:rPr lang="es-CR" i="1">
                                          <a:latin typeface="Cambria Math" panose="02040503050406030204" pitchFamily="18" charset="0"/>
                                        </a:rPr>
                                        <m:t>2</m:t>
                                      </m:r>
                                    </m:sup>
                                  </m:sSup>
                                </m:num>
                                <m:den>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den>
                              </m:f>
                            </m:e>
                          </m:d>
                        </m:e>
                      </m:nary>
                    </m:oMath>
                  </m:oMathPara>
                </a14:m>
                <a:endParaRPr lang="en-US" dirty="0"/>
              </a:p>
            </p:txBody>
          </p:sp>
        </mc:Choice>
        <mc:Fallback>
          <p:sp>
            <p:nvSpPr>
              <p:cNvPr id="2" name="Rectángulo 1">
                <a:extLst>
                  <a:ext uri="{FF2B5EF4-FFF2-40B4-BE49-F238E27FC236}">
                    <a16:creationId xmlns:a16="http://schemas.microsoft.com/office/drawing/2014/main" id="{C923A229-CF37-4D8F-8CCA-10BA8C5906C6}"/>
                  </a:ext>
                </a:extLst>
              </p:cNvPr>
              <p:cNvSpPr>
                <a:spLocks noRot="1" noChangeAspect="1" noMove="1" noResize="1" noEditPoints="1" noAdjustHandles="1" noChangeArrowheads="1" noChangeShapeType="1" noTextEdit="1"/>
              </p:cNvSpPr>
              <p:nvPr/>
            </p:nvSpPr>
            <p:spPr>
              <a:xfrm>
                <a:off x="4538474" y="3639562"/>
                <a:ext cx="2440347" cy="786241"/>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055549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12844" y="1381125"/>
            <a:ext cx="11224974" cy="4984608"/>
          </a:xfrm>
        </p:spPr>
        <p:txBody>
          <a:bodyPr>
            <a:normAutofit/>
          </a:bodyPr>
          <a:lstStyle/>
          <a:p>
            <a:pPr algn="just"/>
            <a:r>
              <a:rPr lang="es-CR" sz="2400" dirty="0"/>
              <a:t>Es posible demostrar que la </a:t>
            </a:r>
            <a:r>
              <a:rPr lang="es-CR" sz="2400" i="1" dirty="0"/>
              <a:t>X</a:t>
            </a:r>
            <a:r>
              <a:rPr lang="es-CR" sz="2400" i="1" baseline="30000" dirty="0"/>
              <a:t>2</a:t>
            </a:r>
            <a:r>
              <a:rPr lang="es-CR" sz="2400" i="1" dirty="0"/>
              <a:t> </a:t>
            </a:r>
            <a:r>
              <a:rPr lang="es-CR" sz="2400" dirty="0"/>
              <a:t>definida de esta forma </a:t>
            </a:r>
            <a:r>
              <a:rPr lang="es-ES" sz="2400" dirty="0"/>
              <a:t>esta distribuida aproximadamente como una </a:t>
            </a:r>
            <a:r>
              <a:rPr lang="es-CR" sz="2400" i="1" dirty="0"/>
              <a:t>X</a:t>
            </a:r>
            <a:r>
              <a:rPr lang="es-CR" sz="2400" i="1" baseline="30000" dirty="0"/>
              <a:t>2</a:t>
            </a:r>
            <a:r>
              <a:rPr lang="es-ES" sz="2400" dirty="0"/>
              <a:t> con </a:t>
            </a:r>
            <a:r>
              <a:rPr lang="es-ES" sz="2400" i="1" dirty="0"/>
              <a:t>(r </a:t>
            </a:r>
            <a:r>
              <a:rPr lang="es-ES" sz="2400" dirty="0"/>
              <a:t>- 1) </a:t>
            </a:r>
            <a:r>
              <a:rPr lang="es-ES" sz="2400" i="1" dirty="0"/>
              <a:t>(c </a:t>
            </a:r>
            <a:r>
              <a:rPr lang="es-ES" sz="2400" dirty="0"/>
              <a:t>- 1) grados de libertad </a:t>
            </a:r>
            <a:r>
              <a:rPr lang="es-CR" sz="2400" dirty="0"/>
              <a:t>cuando la hipótesis nula es verdadera. Si el valor calculado </a:t>
            </a:r>
            <a:r>
              <a:rPr lang="es-CR" sz="2400" i="1" dirty="0"/>
              <a:t>X</a:t>
            </a:r>
            <a:r>
              <a:rPr lang="es-CR" sz="2400" i="1" baseline="30000" dirty="0"/>
              <a:t>2</a:t>
            </a:r>
            <a:r>
              <a:rPr lang="es-CR" sz="2400" dirty="0"/>
              <a:t> es mayor que el valor tabulado de </a:t>
            </a:r>
            <a:r>
              <a:rPr lang="es-CR" sz="2400" i="1" dirty="0"/>
              <a:t>X2 </a:t>
            </a:r>
            <a:r>
              <a:rPr lang="es-CR" sz="2400" dirty="0"/>
              <a:t>para alguna </a:t>
            </a:r>
            <a:r>
              <a:rPr lang="el-GR" sz="2400" dirty="0">
                <a:latin typeface="Times New Roman" panose="02020603050405020304" pitchFamily="18" charset="0"/>
                <a:cs typeface="Times New Roman" panose="02020603050405020304" pitchFamily="18" charset="0"/>
              </a:rPr>
              <a:t>α</a:t>
            </a:r>
            <a:r>
              <a:rPr lang="es-CR" sz="2400" dirty="0"/>
              <a:t>, se rechaza la hipótesis nula en el nivel de significación. El procedimiento se ilustra con el ejemplo siguiente</a:t>
            </a:r>
          </a:p>
          <a:p>
            <a:pPr algn="just"/>
            <a:endParaRPr lang="es-CR" sz="2400"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pic>
        <p:nvPicPr>
          <p:cNvPr id="9218"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7102" y="3770720"/>
            <a:ext cx="6896388" cy="27197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70855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60485" y="189279"/>
            <a:ext cx="10993315" cy="909759"/>
          </a:xfrm>
        </p:spPr>
        <p:txBody>
          <a:bodyPr/>
          <a:lstStyle/>
          <a:p>
            <a:pPr algn="ctr"/>
            <a:r>
              <a:rPr lang="es-CR" dirty="0"/>
              <a:t>En resumen…</a:t>
            </a:r>
          </a:p>
        </p:txBody>
      </p:sp>
      <p:pic>
        <p:nvPicPr>
          <p:cNvPr id="1026" name="Picture 2" descr="Image result for tablas de contingencia"/>
          <p:cNvPicPr>
            <a:picLocks noChangeAspect="1" noChangeArrowheads="1"/>
          </p:cNvPicPr>
          <p:nvPr/>
        </p:nvPicPr>
        <p:blipFill rotWithShape="1">
          <a:blip r:embed="rId2">
            <a:extLst>
              <a:ext uri="{28A0092B-C50C-407E-A947-70E740481C1C}">
                <a14:useLocalDpi xmlns:a14="http://schemas.microsoft.com/office/drawing/2010/main" val="0"/>
              </a:ext>
            </a:extLst>
          </a:blip>
          <a:srcRect l="13518" t="12328" r="6461" b="5433"/>
          <a:stretch/>
        </p:blipFill>
        <p:spPr bwMode="auto">
          <a:xfrm>
            <a:off x="360485" y="1429116"/>
            <a:ext cx="3753474" cy="4584821"/>
          </a:xfrm>
          <a:prstGeom prst="rect">
            <a:avLst/>
          </a:prstGeom>
          <a:noFill/>
          <a:extLst>
            <a:ext uri="{909E8E84-426E-40DD-AFC4-6F175D3DCCD1}">
              <a14:hiddenFill xmlns:a14="http://schemas.microsoft.com/office/drawing/2010/main">
                <a:solidFill>
                  <a:srgbClr val="FFFFFF"/>
                </a:solidFill>
              </a14:hiddenFill>
            </a:ext>
          </a:extLst>
        </p:spPr>
      </p:pic>
      <p:sp>
        <p:nvSpPr>
          <p:cNvPr id="4" name="Flecha derecha 3"/>
          <p:cNvSpPr/>
          <p:nvPr/>
        </p:nvSpPr>
        <p:spPr>
          <a:xfrm>
            <a:off x="4987474" y="2005465"/>
            <a:ext cx="694592" cy="2813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sp>
        <p:nvSpPr>
          <p:cNvPr id="7" name="Flecha derecha 6"/>
          <p:cNvSpPr/>
          <p:nvPr/>
        </p:nvSpPr>
        <p:spPr>
          <a:xfrm rot="5400000">
            <a:off x="9092018" y="3399866"/>
            <a:ext cx="694592" cy="28135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R"/>
          </a:p>
        </p:txBody>
      </p:sp>
      <p:pic>
        <p:nvPicPr>
          <p:cNvPr id="1028" name="Picture 4" descr="The Chi-Square Distribution: Test Of Independence with regard to Chi Square Distribution Tabl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3841" y="4235499"/>
            <a:ext cx="3970945" cy="237734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8" name="Rectángulo 7">
                <a:extLst>
                  <a:ext uri="{FF2B5EF4-FFF2-40B4-BE49-F238E27FC236}">
                    <a16:creationId xmlns:a16="http://schemas.microsoft.com/office/drawing/2014/main" id="{D02A7064-4F1F-42F5-BC45-FD7C531A25E9}"/>
                  </a:ext>
                </a:extLst>
              </p:cNvPr>
              <p:cNvSpPr/>
              <p:nvPr/>
            </p:nvSpPr>
            <p:spPr>
              <a:xfrm>
                <a:off x="8078043" y="1753022"/>
                <a:ext cx="2440347" cy="78624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Sup>
                        <m:sSubSupPr>
                          <m:ctrlPr>
                            <a:rPr lang="es-CR" i="1">
                              <a:latin typeface="Cambria Math" panose="02040503050406030204" pitchFamily="18" charset="0"/>
                            </a:rPr>
                          </m:ctrlPr>
                        </m:sSubSupPr>
                        <m:e>
                          <m:r>
                            <a:rPr lang="es-CR" i="1">
                              <a:latin typeface="Cambria Math" panose="02040503050406030204" pitchFamily="18" charset="0"/>
                              <a:ea typeface="Cambria Math" panose="02040503050406030204" pitchFamily="18" charset="0"/>
                            </a:rPr>
                            <m:t>𝜒</m:t>
                          </m:r>
                        </m:e>
                        <m:sub>
                          <m:r>
                            <a:rPr lang="es-CR" i="1">
                              <a:latin typeface="Cambria Math" panose="02040503050406030204" pitchFamily="18" charset="0"/>
                            </a:rPr>
                            <m:t>(1)</m:t>
                          </m:r>
                        </m:sub>
                        <m:sup>
                          <m:r>
                            <a:rPr lang="es-CR" i="1">
                              <a:latin typeface="Cambria Math" panose="02040503050406030204" pitchFamily="18" charset="0"/>
                            </a:rPr>
                            <m:t>2</m:t>
                          </m:r>
                        </m:sup>
                      </m:sSubSup>
                      <m:r>
                        <a:rPr lang="es-CR" i="1">
                          <a:latin typeface="Cambria Math" panose="02040503050406030204" pitchFamily="18" charset="0"/>
                        </a:rPr>
                        <m:t>=</m:t>
                      </m:r>
                      <m:nary>
                        <m:naryPr>
                          <m:chr m:val="∑"/>
                          <m:subHide m:val="on"/>
                          <m:supHide m:val="on"/>
                          <m:ctrlPr>
                            <a:rPr lang="es-CR" i="1">
                              <a:latin typeface="Cambria Math" panose="02040503050406030204" pitchFamily="18" charset="0"/>
                            </a:rPr>
                          </m:ctrlPr>
                        </m:naryPr>
                        <m:sub/>
                        <m:sup/>
                        <m:e>
                          <m:d>
                            <m:dPr>
                              <m:begChr m:val="["/>
                              <m:endChr m:val="]"/>
                              <m:ctrlPr>
                                <a:rPr lang="es-CR" i="1">
                                  <a:latin typeface="Cambria Math" panose="02040503050406030204" pitchFamily="18" charset="0"/>
                                </a:rPr>
                              </m:ctrlPr>
                            </m:dPr>
                            <m:e>
                              <m:f>
                                <m:fPr>
                                  <m:ctrlPr>
                                    <a:rPr lang="es-CR" i="1">
                                      <a:latin typeface="Cambria Math" panose="02040503050406030204" pitchFamily="18" charset="0"/>
                                    </a:rPr>
                                  </m:ctrlPr>
                                </m:fPr>
                                <m:num>
                                  <m:sSup>
                                    <m:sSupPr>
                                      <m:ctrlPr>
                                        <a:rPr lang="es-CR" i="1">
                                          <a:latin typeface="Cambria Math" panose="02040503050406030204" pitchFamily="18" charset="0"/>
                                        </a:rPr>
                                      </m:ctrlPr>
                                    </m:sSupPr>
                                    <m:e>
                                      <m:d>
                                        <m:dPr>
                                          <m:ctrlPr>
                                            <a:rPr lang="es-CR" i="1">
                                              <a:latin typeface="Cambria Math" panose="02040503050406030204" pitchFamily="18" charset="0"/>
                                            </a:rPr>
                                          </m:ctrlPr>
                                        </m:dPr>
                                        <m:e>
                                          <m:sSub>
                                            <m:sSubPr>
                                              <m:ctrlPr>
                                                <a:rPr lang="es-CR" i="1">
                                                  <a:latin typeface="Cambria Math" panose="02040503050406030204" pitchFamily="18" charset="0"/>
                                                </a:rPr>
                                              </m:ctrlPr>
                                            </m:sSubPr>
                                            <m:e>
                                              <m:r>
                                                <a:rPr lang="es-CR" i="1">
                                                  <a:latin typeface="Cambria Math" panose="02040503050406030204" pitchFamily="18" charset="0"/>
                                                </a:rPr>
                                                <m:t>𝑂</m:t>
                                              </m:r>
                                            </m:e>
                                            <m:sub>
                                              <m:r>
                                                <a:rPr lang="es-CR" i="1">
                                                  <a:latin typeface="Cambria Math" panose="02040503050406030204" pitchFamily="18" charset="0"/>
                                                </a:rPr>
                                                <m:t>𝑖</m:t>
                                              </m:r>
                                            </m:sub>
                                          </m:sSub>
                                          <m:r>
                                            <a:rPr lang="es-CR" i="1">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e>
                                      </m:d>
                                    </m:e>
                                    <m:sup>
                                      <m:r>
                                        <a:rPr lang="es-CR" i="1">
                                          <a:latin typeface="Cambria Math" panose="02040503050406030204" pitchFamily="18" charset="0"/>
                                        </a:rPr>
                                        <m:t>2</m:t>
                                      </m:r>
                                    </m:sup>
                                  </m:sSup>
                                </m:num>
                                <m:den>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den>
                              </m:f>
                            </m:e>
                          </m:d>
                        </m:e>
                      </m:nary>
                    </m:oMath>
                  </m:oMathPara>
                </a14:m>
                <a:endParaRPr lang="en-US" dirty="0"/>
              </a:p>
            </p:txBody>
          </p:sp>
        </mc:Choice>
        <mc:Fallback>
          <p:sp>
            <p:nvSpPr>
              <p:cNvPr id="8" name="Rectángulo 7">
                <a:extLst>
                  <a:ext uri="{FF2B5EF4-FFF2-40B4-BE49-F238E27FC236}">
                    <a16:creationId xmlns:a16="http://schemas.microsoft.com/office/drawing/2014/main" id="{D02A7064-4F1F-42F5-BC45-FD7C531A25E9}"/>
                  </a:ext>
                </a:extLst>
              </p:cNvPr>
              <p:cNvSpPr>
                <a:spLocks noRot="1" noChangeAspect="1" noMove="1" noResize="1" noEditPoints="1" noAdjustHandles="1" noChangeArrowheads="1" noChangeShapeType="1" noTextEdit="1"/>
              </p:cNvSpPr>
              <p:nvPr/>
            </p:nvSpPr>
            <p:spPr>
              <a:xfrm>
                <a:off x="8078043" y="1753022"/>
                <a:ext cx="2440347" cy="786241"/>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4366326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22206" y="1400663"/>
            <a:ext cx="11471030" cy="4351338"/>
          </a:xfrm>
        </p:spPr>
        <p:txBody>
          <a:bodyPr/>
          <a:lstStyle/>
          <a:p>
            <a:pPr algn="just"/>
            <a:r>
              <a:rPr lang="es-ES" dirty="0"/>
              <a:t>EI propósito de un estudio realizado por </a:t>
            </a:r>
            <a:r>
              <a:rPr lang="es-ES" dirty="0" err="1"/>
              <a:t>Vermund</a:t>
            </a:r>
            <a:r>
              <a:rPr lang="es-ES" dirty="0"/>
              <a:t> era investigar la hipótesis </a:t>
            </a:r>
            <a:r>
              <a:rPr lang="es-CR" dirty="0"/>
              <a:t>de que las mujeres infectadas con VIH que también están infectadas con el </a:t>
            </a:r>
            <a:r>
              <a:rPr lang="es-ES" dirty="0" err="1"/>
              <a:t>papilomavirus</a:t>
            </a:r>
            <a:r>
              <a:rPr lang="es-ES" dirty="0"/>
              <a:t> humano (PVR) detectado mediante hibridación molecular, tienen </a:t>
            </a:r>
            <a:r>
              <a:rPr lang="es-CR" dirty="0"/>
              <a:t>mas probabilidad de tener anormalidades citológicas cervicales que las mujeres con uno de los dos virus mencionados. Los datos que se muestran en la tabla siguiente tabla. Se pretende saber si es posible concluir </a:t>
            </a:r>
            <a:r>
              <a:rPr lang="es-ES" dirty="0"/>
              <a:t>que existe relación entre el estadio de PVR y la etapa de infección por VIH.</a:t>
            </a:r>
          </a:p>
          <a:p>
            <a:pPr marL="0" indent="0">
              <a:buNone/>
            </a:pPr>
            <a:endParaRPr lang="es-CR"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 ejemplo</a:t>
            </a:r>
            <a:endParaRPr lang="es-ES" dirty="0"/>
          </a:p>
        </p:txBody>
      </p:sp>
      <p:pic>
        <p:nvPicPr>
          <p:cNvPr id="10242" name="Picture 2" descr="Image result for infe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4557" y="4455823"/>
            <a:ext cx="4083916" cy="2041958"/>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Image result for infect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48569" y="4379623"/>
            <a:ext cx="3539321" cy="2194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68980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483358" y="1402544"/>
            <a:ext cx="10515600" cy="4351338"/>
          </a:xfrm>
        </p:spPr>
        <p:txBody>
          <a:bodyPr/>
          <a:lstStyle/>
          <a:p>
            <a:r>
              <a:rPr lang="es-CR" dirty="0"/>
              <a:t>1. Datos: la siguiente tabla</a:t>
            </a:r>
          </a:p>
          <a:p>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pic>
        <p:nvPicPr>
          <p:cNvPr id="5" name="Imagen 4"/>
          <p:cNvPicPr>
            <a:picLocks noChangeAspect="1"/>
          </p:cNvPicPr>
          <p:nvPr/>
        </p:nvPicPr>
        <p:blipFill rotWithShape="1">
          <a:blip r:embed="rId2"/>
          <a:srcRect t="6087"/>
          <a:stretch/>
        </p:blipFill>
        <p:spPr>
          <a:xfrm>
            <a:off x="713382" y="2827850"/>
            <a:ext cx="10847123" cy="2926032"/>
          </a:xfrm>
          <a:prstGeom prst="rect">
            <a:avLst/>
          </a:prstGeom>
        </p:spPr>
      </p:pic>
    </p:spTree>
    <p:extLst>
      <p:ext uri="{BB962C8B-B14F-4D97-AF65-F5344CB8AC3E}">
        <p14:creationId xmlns:p14="http://schemas.microsoft.com/office/powerpoint/2010/main" val="307806141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46312" y="1156883"/>
            <a:ext cx="11581263" cy="4861779"/>
          </a:xfrm>
        </p:spPr>
        <p:txBody>
          <a:bodyPr/>
          <a:lstStyle/>
          <a:p>
            <a:pPr algn="just"/>
            <a:r>
              <a:rPr lang="es-CR" dirty="0"/>
              <a:t>2. Supuestos: Se considera que la muestra disponible para el análisis es equivalente a una muestra aleatoria extraída de la población de interés.</a:t>
            </a:r>
          </a:p>
          <a:p>
            <a:pPr algn="just"/>
            <a:endParaRPr lang="es-CR" dirty="0"/>
          </a:p>
          <a:p>
            <a:pPr algn="just"/>
            <a:r>
              <a:rPr lang="es-CR" dirty="0"/>
              <a:t>3.  Ho: el estadio del PVH y la etapa de infección por VIH son independientes</a:t>
            </a:r>
          </a:p>
          <a:p>
            <a:pPr marL="0" indent="0" algn="just">
              <a:buNone/>
            </a:pPr>
            <a:r>
              <a:rPr lang="es-CR" dirty="0"/>
              <a:t>        Ha: las dos variables son independientes.</a:t>
            </a:r>
          </a:p>
          <a:p>
            <a:pPr marL="0" indent="0" algn="just">
              <a:buNone/>
            </a:pPr>
            <a:endParaRPr lang="es-CR" dirty="0"/>
          </a:p>
          <a:p>
            <a:pPr algn="just"/>
            <a:r>
              <a:rPr lang="es-CR" dirty="0"/>
              <a:t>4. La prueba de hipótesis:</a:t>
            </a:r>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mc:AlternateContent xmlns:mc="http://schemas.openxmlformats.org/markup-compatibility/2006">
        <mc:Choice xmlns:a14="http://schemas.microsoft.com/office/drawing/2010/main" Requires="a14">
          <p:sp>
            <p:nvSpPr>
              <p:cNvPr id="6" name="Rectángulo 5">
                <a:extLst>
                  <a:ext uri="{FF2B5EF4-FFF2-40B4-BE49-F238E27FC236}">
                    <a16:creationId xmlns:a16="http://schemas.microsoft.com/office/drawing/2014/main" id="{24D0499C-924C-4407-BD09-0E0119D8C864}"/>
                  </a:ext>
                </a:extLst>
              </p:cNvPr>
              <p:cNvSpPr/>
              <p:nvPr/>
            </p:nvSpPr>
            <p:spPr>
              <a:xfrm>
                <a:off x="4875826" y="5117659"/>
                <a:ext cx="2440347" cy="786241"/>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Sup>
                        <m:sSubSupPr>
                          <m:ctrlPr>
                            <a:rPr lang="es-CR" i="1">
                              <a:latin typeface="Cambria Math" panose="02040503050406030204" pitchFamily="18" charset="0"/>
                            </a:rPr>
                          </m:ctrlPr>
                        </m:sSubSupPr>
                        <m:e>
                          <m:r>
                            <a:rPr lang="es-CR" i="1">
                              <a:latin typeface="Cambria Math" panose="02040503050406030204" pitchFamily="18" charset="0"/>
                              <a:ea typeface="Cambria Math" panose="02040503050406030204" pitchFamily="18" charset="0"/>
                            </a:rPr>
                            <m:t>𝜒</m:t>
                          </m:r>
                        </m:e>
                        <m:sub>
                          <m:r>
                            <a:rPr lang="es-CR" i="1">
                              <a:latin typeface="Cambria Math" panose="02040503050406030204" pitchFamily="18" charset="0"/>
                            </a:rPr>
                            <m:t>(1)</m:t>
                          </m:r>
                        </m:sub>
                        <m:sup>
                          <m:r>
                            <a:rPr lang="es-CR" i="1">
                              <a:latin typeface="Cambria Math" panose="02040503050406030204" pitchFamily="18" charset="0"/>
                            </a:rPr>
                            <m:t>2</m:t>
                          </m:r>
                        </m:sup>
                      </m:sSubSup>
                      <m:r>
                        <a:rPr lang="es-CR" i="1">
                          <a:latin typeface="Cambria Math" panose="02040503050406030204" pitchFamily="18" charset="0"/>
                        </a:rPr>
                        <m:t>=</m:t>
                      </m:r>
                      <m:nary>
                        <m:naryPr>
                          <m:chr m:val="∑"/>
                          <m:subHide m:val="on"/>
                          <m:supHide m:val="on"/>
                          <m:ctrlPr>
                            <a:rPr lang="es-CR" i="1">
                              <a:latin typeface="Cambria Math" panose="02040503050406030204" pitchFamily="18" charset="0"/>
                            </a:rPr>
                          </m:ctrlPr>
                        </m:naryPr>
                        <m:sub/>
                        <m:sup/>
                        <m:e>
                          <m:d>
                            <m:dPr>
                              <m:begChr m:val="["/>
                              <m:endChr m:val="]"/>
                              <m:ctrlPr>
                                <a:rPr lang="es-CR" i="1">
                                  <a:latin typeface="Cambria Math" panose="02040503050406030204" pitchFamily="18" charset="0"/>
                                </a:rPr>
                              </m:ctrlPr>
                            </m:dPr>
                            <m:e>
                              <m:f>
                                <m:fPr>
                                  <m:ctrlPr>
                                    <a:rPr lang="es-CR" i="1">
                                      <a:latin typeface="Cambria Math" panose="02040503050406030204" pitchFamily="18" charset="0"/>
                                    </a:rPr>
                                  </m:ctrlPr>
                                </m:fPr>
                                <m:num>
                                  <m:sSup>
                                    <m:sSupPr>
                                      <m:ctrlPr>
                                        <a:rPr lang="es-CR" i="1">
                                          <a:latin typeface="Cambria Math" panose="02040503050406030204" pitchFamily="18" charset="0"/>
                                        </a:rPr>
                                      </m:ctrlPr>
                                    </m:sSupPr>
                                    <m:e>
                                      <m:d>
                                        <m:dPr>
                                          <m:ctrlPr>
                                            <a:rPr lang="es-CR" i="1">
                                              <a:latin typeface="Cambria Math" panose="02040503050406030204" pitchFamily="18" charset="0"/>
                                            </a:rPr>
                                          </m:ctrlPr>
                                        </m:dPr>
                                        <m:e>
                                          <m:sSub>
                                            <m:sSubPr>
                                              <m:ctrlPr>
                                                <a:rPr lang="es-CR" i="1">
                                                  <a:latin typeface="Cambria Math" panose="02040503050406030204" pitchFamily="18" charset="0"/>
                                                </a:rPr>
                                              </m:ctrlPr>
                                            </m:sSubPr>
                                            <m:e>
                                              <m:r>
                                                <a:rPr lang="es-CR" i="1">
                                                  <a:latin typeface="Cambria Math" panose="02040503050406030204" pitchFamily="18" charset="0"/>
                                                </a:rPr>
                                                <m:t>𝑂</m:t>
                                              </m:r>
                                            </m:e>
                                            <m:sub>
                                              <m:r>
                                                <a:rPr lang="es-CR" i="1">
                                                  <a:latin typeface="Cambria Math" panose="02040503050406030204" pitchFamily="18" charset="0"/>
                                                </a:rPr>
                                                <m:t>𝑖</m:t>
                                              </m:r>
                                            </m:sub>
                                          </m:sSub>
                                          <m:r>
                                            <a:rPr lang="es-CR" i="1">
                                              <a:latin typeface="Cambria Math" panose="02040503050406030204" pitchFamily="18" charset="0"/>
                                            </a:rPr>
                                            <m:t>−</m:t>
                                          </m:r>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e>
                                      </m:d>
                                    </m:e>
                                    <m:sup>
                                      <m:r>
                                        <a:rPr lang="es-CR" i="1">
                                          <a:latin typeface="Cambria Math" panose="02040503050406030204" pitchFamily="18" charset="0"/>
                                        </a:rPr>
                                        <m:t>2</m:t>
                                      </m:r>
                                    </m:sup>
                                  </m:sSup>
                                </m:num>
                                <m:den>
                                  <m:sSub>
                                    <m:sSubPr>
                                      <m:ctrlPr>
                                        <a:rPr lang="es-CR" i="1">
                                          <a:latin typeface="Cambria Math" panose="02040503050406030204" pitchFamily="18" charset="0"/>
                                        </a:rPr>
                                      </m:ctrlPr>
                                    </m:sSubPr>
                                    <m:e>
                                      <m:r>
                                        <a:rPr lang="es-CR" i="1">
                                          <a:latin typeface="Cambria Math" panose="02040503050406030204" pitchFamily="18" charset="0"/>
                                        </a:rPr>
                                        <m:t>𝐸</m:t>
                                      </m:r>
                                    </m:e>
                                    <m:sub>
                                      <m:r>
                                        <a:rPr lang="es-CR" i="1">
                                          <a:latin typeface="Cambria Math" panose="02040503050406030204" pitchFamily="18" charset="0"/>
                                        </a:rPr>
                                        <m:t>𝑖</m:t>
                                      </m:r>
                                    </m:sub>
                                  </m:sSub>
                                </m:den>
                              </m:f>
                            </m:e>
                          </m:d>
                        </m:e>
                      </m:nary>
                    </m:oMath>
                  </m:oMathPara>
                </a14:m>
                <a:endParaRPr lang="en-US" dirty="0"/>
              </a:p>
            </p:txBody>
          </p:sp>
        </mc:Choice>
        <mc:Fallback>
          <p:sp>
            <p:nvSpPr>
              <p:cNvPr id="6" name="Rectángulo 5">
                <a:extLst>
                  <a:ext uri="{FF2B5EF4-FFF2-40B4-BE49-F238E27FC236}">
                    <a16:creationId xmlns:a16="http://schemas.microsoft.com/office/drawing/2014/main" id="{24D0499C-924C-4407-BD09-0E0119D8C864}"/>
                  </a:ext>
                </a:extLst>
              </p:cNvPr>
              <p:cNvSpPr>
                <a:spLocks noRot="1" noChangeAspect="1" noMove="1" noResize="1" noEditPoints="1" noAdjustHandles="1" noChangeArrowheads="1" noChangeShapeType="1" noTextEdit="1"/>
              </p:cNvSpPr>
              <p:nvPr/>
            </p:nvSpPr>
            <p:spPr>
              <a:xfrm>
                <a:off x="4875826" y="5117659"/>
                <a:ext cx="2440347" cy="786241"/>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049942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87824" y="1279714"/>
            <a:ext cx="10515600" cy="5257564"/>
          </a:xfrm>
        </p:spPr>
        <p:txBody>
          <a:bodyPr>
            <a:normAutofit/>
          </a:bodyPr>
          <a:lstStyle/>
          <a:p>
            <a:r>
              <a:rPr lang="es-CR" sz="2400" dirty="0"/>
              <a:t>Distribución de la prueba estadística: cuando Ho es verdadera, la </a:t>
            </a:r>
            <a:r>
              <a:rPr lang="es-CR" sz="2400" i="1" dirty="0"/>
              <a:t>X</a:t>
            </a:r>
            <a:r>
              <a:rPr lang="es-CR" sz="2400" i="1" baseline="30000" dirty="0"/>
              <a:t>2</a:t>
            </a:r>
            <a:r>
              <a:rPr lang="es-ES" sz="2400" dirty="0"/>
              <a:t> con </a:t>
            </a:r>
            <a:r>
              <a:rPr lang="es-ES" sz="2400" i="1" dirty="0"/>
              <a:t>(r </a:t>
            </a:r>
            <a:r>
              <a:rPr lang="es-ES" sz="2400" dirty="0"/>
              <a:t>- 1) </a:t>
            </a:r>
          </a:p>
          <a:p>
            <a:pPr marL="0" indent="0">
              <a:buNone/>
            </a:pPr>
            <a:r>
              <a:rPr lang="es-ES" sz="2400" i="1" dirty="0"/>
              <a:t>(c </a:t>
            </a:r>
            <a:r>
              <a:rPr lang="es-ES" sz="2400" dirty="0"/>
              <a:t>- 1)</a:t>
            </a:r>
            <a:r>
              <a:rPr lang="es-CR" sz="2400" dirty="0"/>
              <a:t> , para el presente caso </a:t>
            </a:r>
            <a:r>
              <a:rPr lang="es-CR" sz="2400" i="1" dirty="0"/>
              <a:t>X</a:t>
            </a:r>
            <a:r>
              <a:rPr lang="es-CR" sz="2400" i="1" baseline="30000" dirty="0"/>
              <a:t>2</a:t>
            </a:r>
            <a:r>
              <a:rPr lang="es-ES" sz="2400" dirty="0"/>
              <a:t> con (2-1)(3-1) = (1)(2)= grados de libertad.</a:t>
            </a:r>
          </a:p>
          <a:p>
            <a:pPr marL="0" indent="0">
              <a:buNone/>
            </a:pPr>
            <a:endParaRPr lang="es-CR" sz="2400" dirty="0"/>
          </a:p>
          <a:p>
            <a:r>
              <a:rPr lang="es-CR" sz="2400" b="1" dirty="0"/>
              <a:t>Regla de decisión</a:t>
            </a:r>
            <a:r>
              <a:rPr lang="es-CR" sz="2400" dirty="0"/>
              <a:t>: se rechaza Ho si </a:t>
            </a:r>
            <a:r>
              <a:rPr lang="es-ES" sz="2400" dirty="0"/>
              <a:t>el valor </a:t>
            </a:r>
            <a:r>
              <a:rPr lang="es-ES" sz="2400" dirty="0" err="1"/>
              <a:t>ealculado</a:t>
            </a:r>
            <a:r>
              <a:rPr lang="es-ES" sz="2400" dirty="0"/>
              <a:t> de  es</a:t>
            </a:r>
            <a:r>
              <a:rPr lang="es-CR" sz="2400" i="1" dirty="0"/>
              <a:t> X</a:t>
            </a:r>
            <a:r>
              <a:rPr lang="es-CR" sz="2400" i="1" baseline="30000" dirty="0"/>
              <a:t>2 </a:t>
            </a:r>
            <a:r>
              <a:rPr lang="es-CR" sz="2400" dirty="0"/>
              <a:t>es mayor que o igual que 5.991</a:t>
            </a:r>
            <a:r>
              <a:rPr lang="es-CR" sz="2400" i="1" dirty="0"/>
              <a:t>.</a:t>
            </a:r>
          </a:p>
          <a:p>
            <a:endParaRPr lang="es-CR" sz="2400" i="1" dirty="0"/>
          </a:p>
          <a:p>
            <a:r>
              <a:rPr lang="es-CR" sz="2400" b="1" dirty="0"/>
              <a:t>Cálculo de las estadísticas de prueba</a:t>
            </a:r>
            <a:r>
              <a:rPr lang="es-CR" sz="2400" dirty="0"/>
              <a:t>:</a:t>
            </a:r>
            <a:r>
              <a:rPr lang="es-CR" sz="2400" b="1" dirty="0"/>
              <a:t> </a:t>
            </a:r>
            <a:r>
              <a:rPr lang="es-ES" sz="2400" dirty="0"/>
              <a:t>La frecuencia esperada para la primera casilla es (33*37)/96=12,72. Las otras frecuencias esperadas se calculan de manera similar. Véase la siguiente tabla.</a:t>
            </a:r>
            <a:endParaRPr lang="es-ES" sz="2400" b="1"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spTree>
    <p:extLst>
      <p:ext uri="{BB962C8B-B14F-4D97-AF65-F5344CB8AC3E}">
        <p14:creationId xmlns:p14="http://schemas.microsoft.com/office/powerpoint/2010/main" val="3797270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pic>
        <p:nvPicPr>
          <p:cNvPr id="5" name="Imagen 4"/>
          <p:cNvPicPr>
            <a:picLocks noChangeAspect="1"/>
          </p:cNvPicPr>
          <p:nvPr/>
        </p:nvPicPr>
        <p:blipFill>
          <a:blip r:embed="rId2"/>
          <a:stretch>
            <a:fillRect/>
          </a:stretch>
        </p:blipFill>
        <p:spPr>
          <a:xfrm>
            <a:off x="649968" y="1815153"/>
            <a:ext cx="10619106" cy="4094328"/>
          </a:xfrm>
          <a:prstGeom prst="rect">
            <a:avLst/>
          </a:prstGeom>
        </p:spPr>
      </p:pic>
    </p:spTree>
    <p:extLst>
      <p:ext uri="{BB962C8B-B14F-4D97-AF65-F5344CB8AC3E}">
        <p14:creationId xmlns:p14="http://schemas.microsoft.com/office/powerpoint/2010/main" val="3187739467"/>
      </p:ext>
    </p:extLst>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78893" y="1266066"/>
            <a:ext cx="10515600" cy="5148382"/>
          </a:xfrm>
        </p:spPr>
        <p:txBody>
          <a:bodyPr/>
          <a:lstStyle/>
          <a:p>
            <a:r>
              <a:rPr lang="es-CR" dirty="0"/>
              <a:t>La estadística de prueba es</a:t>
            </a:r>
          </a:p>
          <a:p>
            <a:endParaRPr lang="es-CR" dirty="0"/>
          </a:p>
          <a:p>
            <a:endParaRPr lang="es-CR" dirty="0"/>
          </a:p>
          <a:p>
            <a:pPr marL="0" indent="0">
              <a:buNone/>
            </a:pPr>
            <a:r>
              <a:rPr lang="es-CR" dirty="0"/>
              <a:t>y esta se obtiene a partir de la ecuación</a:t>
            </a:r>
          </a:p>
          <a:p>
            <a:pPr marL="0" indent="0">
              <a:buNone/>
            </a:pPr>
            <a:endParaRPr lang="es-CR" dirty="0"/>
          </a:p>
          <a:p>
            <a:pPr marL="0" indent="0">
              <a:buNone/>
            </a:pPr>
            <a:endParaRPr lang="es-CR" dirty="0"/>
          </a:p>
          <a:p>
            <a:pPr marL="0" indent="0">
              <a:buNone/>
            </a:pPr>
            <a:endParaRPr lang="es-CR" dirty="0"/>
          </a:p>
          <a:p>
            <a:pPr marL="0" indent="0">
              <a:buNone/>
            </a:pPr>
            <a:endParaRPr lang="es-CR" dirty="0"/>
          </a:p>
          <a:p>
            <a:pPr marL="0" indent="0">
              <a:buNone/>
            </a:pPr>
            <a:endParaRPr lang="es-CR" dirty="0"/>
          </a:p>
          <a:p>
            <a:pPr marL="0" indent="0">
              <a:buNone/>
            </a:pPr>
            <a:endParaRPr lang="es-CR" dirty="0"/>
          </a:p>
          <a:p>
            <a:pPr marL="0" indent="0">
              <a:buNone/>
            </a:pPr>
            <a:endParaRPr lang="es-CR" dirty="0"/>
          </a:p>
          <a:p>
            <a:pPr marL="0" indent="0">
              <a:buNone/>
            </a:pPr>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pic>
        <p:nvPicPr>
          <p:cNvPr id="5" name="Imagen 4"/>
          <p:cNvPicPr>
            <a:picLocks noChangeAspect="1"/>
          </p:cNvPicPr>
          <p:nvPr/>
        </p:nvPicPr>
        <p:blipFill>
          <a:blip r:embed="rId2"/>
          <a:stretch>
            <a:fillRect/>
          </a:stretch>
        </p:blipFill>
        <p:spPr>
          <a:xfrm>
            <a:off x="1459801" y="3566333"/>
            <a:ext cx="7361711" cy="1117406"/>
          </a:xfrm>
          <a:prstGeom prst="rect">
            <a:avLst/>
          </a:prstGeom>
        </p:spPr>
      </p:pic>
      <p:pic>
        <p:nvPicPr>
          <p:cNvPr id="6" name="Imagen 5"/>
          <p:cNvPicPr>
            <a:picLocks noChangeAspect="1"/>
          </p:cNvPicPr>
          <p:nvPr/>
        </p:nvPicPr>
        <p:blipFill>
          <a:blip r:embed="rId3"/>
          <a:stretch>
            <a:fillRect/>
          </a:stretch>
        </p:blipFill>
        <p:spPr>
          <a:xfrm>
            <a:off x="1459801" y="5301893"/>
            <a:ext cx="7211948" cy="467771"/>
          </a:xfrm>
          <a:prstGeom prst="rect">
            <a:avLst/>
          </a:prstGeom>
        </p:spPr>
      </p:pic>
    </p:spTree>
    <p:extLst>
      <p:ext uri="{BB962C8B-B14F-4D97-AF65-F5344CB8AC3E}">
        <p14:creationId xmlns:p14="http://schemas.microsoft.com/office/powerpoint/2010/main" val="8938934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37949" y="1470784"/>
            <a:ext cx="10515600" cy="4351338"/>
          </a:xfrm>
        </p:spPr>
        <p:txBody>
          <a:bodyPr/>
          <a:lstStyle/>
          <a:p>
            <a:r>
              <a:rPr lang="es-CR" dirty="0"/>
              <a:t>8. </a:t>
            </a:r>
            <a:r>
              <a:rPr lang="es-CR" b="1" dirty="0"/>
              <a:t>Decisión estadística</a:t>
            </a:r>
            <a:r>
              <a:rPr lang="es-CR" dirty="0"/>
              <a:t>: Se rechaza Ho porque 20.60081 &gt; 5.991.</a:t>
            </a:r>
          </a:p>
          <a:p>
            <a:endParaRPr lang="es-CR" dirty="0"/>
          </a:p>
          <a:p>
            <a:r>
              <a:rPr lang="es-CR" dirty="0"/>
              <a:t>9. </a:t>
            </a:r>
            <a:r>
              <a:rPr lang="es-CR" b="1" dirty="0"/>
              <a:t>Conclusión</a:t>
            </a:r>
            <a:r>
              <a:rPr lang="es-CR" dirty="0"/>
              <a:t>: Se concluye que Ho es falsa y que sí hay relación entre el estadio de PVH y la </a:t>
            </a:r>
            <a:r>
              <a:rPr lang="es-CR" dirty="0" err="1"/>
              <a:t>estapa</a:t>
            </a:r>
            <a:r>
              <a:rPr lang="es-CR" dirty="0"/>
              <a:t> de infección por VIH.</a:t>
            </a:r>
          </a:p>
          <a:p>
            <a:endParaRPr lang="es-CR" dirty="0"/>
          </a:p>
          <a:p>
            <a:r>
              <a:rPr lang="es-CR" dirty="0"/>
              <a:t>10. </a:t>
            </a:r>
            <a:r>
              <a:rPr lang="es-CR" b="1" dirty="0"/>
              <a:t>Valor de </a:t>
            </a:r>
            <a:r>
              <a:rPr lang="es-CR" b="1" i="1" dirty="0"/>
              <a:t>p</a:t>
            </a:r>
            <a:r>
              <a:rPr lang="es-CR" b="1" dirty="0"/>
              <a:t>: no se muestra por tablas.</a:t>
            </a:r>
            <a:endParaRPr lang="es-ES" dirty="0"/>
          </a:p>
        </p:txBody>
      </p:sp>
      <p:sp>
        <p:nvSpPr>
          <p:cNvPr id="4" name="Título 1"/>
          <p:cNvSpPr>
            <a:spLocks noGrp="1"/>
          </p:cNvSpPr>
          <p:nvPr>
            <p:ph type="title"/>
          </p:nvPr>
        </p:nvSpPr>
        <p:spPr>
          <a:xfrm>
            <a:off x="879144" y="174057"/>
            <a:ext cx="10515600" cy="781287"/>
          </a:xfrm>
        </p:spPr>
        <p:txBody>
          <a:bodyPr/>
          <a:lstStyle/>
          <a:p>
            <a:pPr algn="ctr"/>
            <a:r>
              <a:rPr lang="es-CR" dirty="0"/>
              <a:t>Prueba de independencia</a:t>
            </a:r>
            <a:endParaRPr lang="es-ES" dirty="0"/>
          </a:p>
        </p:txBody>
      </p:sp>
    </p:spTree>
    <p:extLst>
      <p:ext uri="{BB962C8B-B14F-4D97-AF65-F5344CB8AC3E}">
        <p14:creationId xmlns:p14="http://schemas.microsoft.com/office/powerpoint/2010/main" val="1918942540"/>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332665" y="1102293"/>
            <a:ext cx="11608558" cy="4351338"/>
          </a:xfrm>
        </p:spPr>
        <p:txBody>
          <a:bodyPr>
            <a:normAutofit/>
          </a:bodyPr>
          <a:lstStyle/>
          <a:p>
            <a:r>
              <a:rPr lang="es-CR" sz="2400" dirty="0"/>
              <a:t>Ejemplo 1: </a:t>
            </a:r>
            <a:r>
              <a:rPr lang="es-ES" sz="2400" dirty="0"/>
              <a:t>Como </a:t>
            </a:r>
            <a:r>
              <a:rPr lang="es-CR" sz="2400" dirty="0"/>
              <a:t>parte de su estudio, los investigadores reunieron información respecto al uso de agujas intercambiables por parte de adictos a drogas inyectables. Obtuvieron información para localizarlos a través de los archivos de instituciones de tratamiento para drogadictos y a </a:t>
            </a:r>
            <a:r>
              <a:rPr lang="es-CR" sz="2400" dirty="0" err="1"/>
              <a:t>traves</a:t>
            </a:r>
            <a:r>
              <a:rPr lang="es-CR" sz="2400" dirty="0"/>
              <a:t> de investigaciones </a:t>
            </a:r>
            <a:r>
              <a:rPr lang="es-CR" sz="2400" dirty="0" err="1"/>
              <a:t>diseftadas</a:t>
            </a:r>
            <a:r>
              <a:rPr lang="es-CR" sz="2400" dirty="0"/>
              <a:t> para hacer participar a individuos que no reciben </a:t>
            </a:r>
            <a:r>
              <a:rPr lang="es-CR" sz="2400" dirty="0" err="1"/>
              <a:t>asesorfas</a:t>
            </a:r>
            <a:r>
              <a:rPr lang="es-CR" sz="2400" dirty="0"/>
              <a:t>.  ¿Es posible concluir, a partir de estos datos, que hay relación entre el uso de agujas intercambiables y el ser asesorados por la institución?</a:t>
            </a:r>
            <a:endParaRPr lang="es-ES" sz="2400" dirty="0"/>
          </a:p>
        </p:txBody>
      </p:sp>
      <p:sp>
        <p:nvSpPr>
          <p:cNvPr id="4" name="Título 1"/>
          <p:cNvSpPr>
            <a:spLocks noGrp="1"/>
          </p:cNvSpPr>
          <p:nvPr>
            <p:ph type="title"/>
          </p:nvPr>
        </p:nvSpPr>
        <p:spPr>
          <a:xfrm>
            <a:off x="879144" y="105817"/>
            <a:ext cx="10515600" cy="781287"/>
          </a:xfrm>
        </p:spPr>
        <p:txBody>
          <a:bodyPr/>
          <a:lstStyle/>
          <a:p>
            <a:pPr algn="ctr"/>
            <a:r>
              <a:rPr lang="es-CR" dirty="0"/>
              <a:t>Prueba de independencia</a:t>
            </a:r>
            <a:endParaRPr lang="es-ES" dirty="0"/>
          </a:p>
        </p:txBody>
      </p:sp>
      <p:pic>
        <p:nvPicPr>
          <p:cNvPr id="5" name="Imagen 4"/>
          <p:cNvPicPr>
            <a:picLocks noChangeAspect="1"/>
          </p:cNvPicPr>
          <p:nvPr/>
        </p:nvPicPr>
        <p:blipFill>
          <a:blip r:embed="rId2"/>
          <a:stretch>
            <a:fillRect/>
          </a:stretch>
        </p:blipFill>
        <p:spPr>
          <a:xfrm>
            <a:off x="993763" y="3712191"/>
            <a:ext cx="9814688" cy="2107370"/>
          </a:xfrm>
          <a:prstGeom prst="rect">
            <a:avLst/>
          </a:prstGeom>
        </p:spPr>
      </p:pic>
    </p:spTree>
    <p:extLst>
      <p:ext uri="{BB962C8B-B14F-4D97-AF65-F5344CB8AC3E}">
        <p14:creationId xmlns:p14="http://schemas.microsoft.com/office/powerpoint/2010/main" val="2071573565"/>
      </p:ext>
    </p:extLst>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218365" y="870278"/>
            <a:ext cx="11778018" cy="4351338"/>
          </a:xfrm>
        </p:spPr>
        <p:txBody>
          <a:bodyPr>
            <a:normAutofit/>
          </a:bodyPr>
          <a:lstStyle/>
          <a:p>
            <a:pPr algn="just"/>
            <a:r>
              <a:rPr lang="es-CR" sz="2400" dirty="0"/>
              <a:t>Ejemplo 2: una muestra de 500 estudiantes universitarios participaron en un estudio para evaluar el nivel de conocimientos respecto a determinado grupo de enfermedades comunes. La tabla siguiente presenta la clasificación de los estudiantes de acuerdo con su principal campo de estudio y el nivel de conocimientos sobre el grupo de enfermedades. ¿Sugieren estos datos que existe una relación entre el conocimiento del grupo de enfermedades y el principal campo de estudio de los estudiantes de nivel superior de los cuales se </a:t>
            </a:r>
            <a:r>
              <a:rPr lang="es-ES" sz="2400" dirty="0"/>
              <a:t>extrajo esta muestra?</a:t>
            </a:r>
          </a:p>
        </p:txBody>
      </p:sp>
      <p:sp>
        <p:nvSpPr>
          <p:cNvPr id="4" name="Título 1"/>
          <p:cNvSpPr>
            <a:spLocks noGrp="1"/>
          </p:cNvSpPr>
          <p:nvPr>
            <p:ph type="title"/>
          </p:nvPr>
        </p:nvSpPr>
        <p:spPr>
          <a:xfrm>
            <a:off x="879144" y="64873"/>
            <a:ext cx="10515600" cy="781287"/>
          </a:xfrm>
        </p:spPr>
        <p:txBody>
          <a:bodyPr/>
          <a:lstStyle/>
          <a:p>
            <a:pPr algn="ctr"/>
            <a:r>
              <a:rPr lang="es-CR" dirty="0"/>
              <a:t>Prueba de independencia</a:t>
            </a:r>
            <a:endParaRPr lang="es-ES" dirty="0"/>
          </a:p>
        </p:txBody>
      </p:sp>
      <p:pic>
        <p:nvPicPr>
          <p:cNvPr id="6" name="Imagen 5"/>
          <p:cNvPicPr>
            <a:picLocks noChangeAspect="1"/>
          </p:cNvPicPr>
          <p:nvPr/>
        </p:nvPicPr>
        <p:blipFill>
          <a:blip r:embed="rId2"/>
          <a:stretch>
            <a:fillRect/>
          </a:stretch>
        </p:blipFill>
        <p:spPr>
          <a:xfrm>
            <a:off x="2824373" y="3452883"/>
            <a:ext cx="6625141" cy="2906115"/>
          </a:xfrm>
          <a:prstGeom prst="rect">
            <a:avLst/>
          </a:prstGeom>
        </p:spPr>
      </p:pic>
    </p:spTree>
    <p:extLst>
      <p:ext uri="{BB962C8B-B14F-4D97-AF65-F5344CB8AC3E}">
        <p14:creationId xmlns:p14="http://schemas.microsoft.com/office/powerpoint/2010/main" val="2351851071"/>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6" name="Elipse 5"/>
          <p:cNvSpPr/>
          <p:nvPr/>
        </p:nvSpPr>
        <p:spPr>
          <a:xfrm>
            <a:off x="838199" y="5225144"/>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
        <p:nvSpPr>
          <p:cNvPr id="9" name="Rectángulo redondeado 8"/>
          <p:cNvSpPr/>
          <p:nvPr/>
        </p:nvSpPr>
        <p:spPr>
          <a:xfrm>
            <a:off x="3021874" y="5261066"/>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homogeneidad</a:t>
            </a:r>
            <a:endParaRPr lang="es-ES" dirty="0"/>
          </a:p>
        </p:txBody>
      </p:sp>
    </p:spTree>
    <p:extLst>
      <p:ext uri="{BB962C8B-B14F-4D97-AF65-F5344CB8AC3E}">
        <p14:creationId xmlns:p14="http://schemas.microsoft.com/office/powerpoint/2010/main" val="388326341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021" y="73864"/>
            <a:ext cx="12055876" cy="1325563"/>
          </a:xfrm>
        </p:spPr>
        <p:txBody>
          <a:bodyPr>
            <a:normAutofit/>
          </a:bodyPr>
          <a:lstStyle/>
          <a:p>
            <a:pPr algn="just"/>
            <a:r>
              <a:rPr lang="es-CR" sz="4000" b="1" dirty="0"/>
              <a:t>No lo veremos en este curso: si les interesa consultar el libro de “Bioestadística” de W. Daniel.</a:t>
            </a:r>
          </a:p>
        </p:txBody>
      </p:sp>
      <p:pic>
        <p:nvPicPr>
          <p:cNvPr id="3" name="Imagen 2">
            <a:extLst>
              <a:ext uri="{FF2B5EF4-FFF2-40B4-BE49-F238E27FC236}">
                <a16:creationId xmlns:a16="http://schemas.microsoft.com/office/drawing/2014/main" id="{0E726C08-35BE-40FE-9E9D-1B6B2DCBE535}"/>
              </a:ext>
            </a:extLst>
          </p:cNvPr>
          <p:cNvPicPr>
            <a:picLocks noChangeAspect="1"/>
          </p:cNvPicPr>
          <p:nvPr/>
        </p:nvPicPr>
        <p:blipFill>
          <a:blip r:embed="rId2"/>
          <a:stretch>
            <a:fillRect/>
          </a:stretch>
        </p:blipFill>
        <p:spPr>
          <a:xfrm>
            <a:off x="1389355" y="1550353"/>
            <a:ext cx="9413289" cy="5003460"/>
          </a:xfrm>
          <a:prstGeom prst="rect">
            <a:avLst/>
          </a:prstGeom>
        </p:spPr>
      </p:pic>
    </p:spTree>
    <p:extLst>
      <p:ext uri="{BB962C8B-B14F-4D97-AF65-F5344CB8AC3E}">
        <p14:creationId xmlns:p14="http://schemas.microsoft.com/office/powerpoint/2010/main" val="110697858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199" y="156120"/>
            <a:ext cx="10515600" cy="810532"/>
          </a:xfrm>
        </p:spPr>
        <p:txBody>
          <a:bodyPr/>
          <a:lstStyle/>
          <a:p>
            <a:pPr algn="ctr"/>
            <a:r>
              <a:rPr lang="es-CR" dirty="0"/>
              <a:t>Índice</a:t>
            </a:r>
            <a:endParaRPr lang="es-ES" dirty="0"/>
          </a:p>
        </p:txBody>
      </p:sp>
      <p:sp>
        <p:nvSpPr>
          <p:cNvPr id="4" name="Elipse 3"/>
          <p:cNvSpPr/>
          <p:nvPr/>
        </p:nvSpPr>
        <p:spPr>
          <a:xfrm>
            <a:off x="838200"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1</a:t>
            </a:r>
            <a:endParaRPr lang="es-ES" dirty="0"/>
          </a:p>
        </p:txBody>
      </p:sp>
      <p:sp>
        <p:nvSpPr>
          <p:cNvPr id="5" name="Elipse 4"/>
          <p:cNvSpPr/>
          <p:nvPr/>
        </p:nvSpPr>
        <p:spPr>
          <a:xfrm>
            <a:off x="838199" y="3383281"/>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2</a:t>
            </a:r>
            <a:endParaRPr lang="es-ES" dirty="0"/>
          </a:p>
        </p:txBody>
      </p:sp>
      <p:sp>
        <p:nvSpPr>
          <p:cNvPr id="6" name="Elipse 5"/>
          <p:cNvSpPr/>
          <p:nvPr/>
        </p:nvSpPr>
        <p:spPr>
          <a:xfrm>
            <a:off x="838199" y="5225144"/>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3</a:t>
            </a:r>
            <a:endParaRPr lang="es-ES" dirty="0"/>
          </a:p>
        </p:txBody>
      </p:sp>
      <p:sp>
        <p:nvSpPr>
          <p:cNvPr id="7" name="Rectángulo redondeado 6"/>
          <p:cNvSpPr/>
          <p:nvPr/>
        </p:nvSpPr>
        <p:spPr>
          <a:xfrm>
            <a:off x="3021874"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La Chi Cuadrada</a:t>
            </a:r>
            <a:endParaRPr lang="es-ES" dirty="0"/>
          </a:p>
        </p:txBody>
      </p:sp>
      <p:sp>
        <p:nvSpPr>
          <p:cNvPr id="8" name="Rectángulo redondeado 7"/>
          <p:cNvSpPr/>
          <p:nvPr/>
        </p:nvSpPr>
        <p:spPr>
          <a:xfrm>
            <a:off x="3021874" y="3419203"/>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independencia</a:t>
            </a:r>
            <a:endParaRPr lang="es-ES" dirty="0"/>
          </a:p>
        </p:txBody>
      </p:sp>
      <p:sp>
        <p:nvSpPr>
          <p:cNvPr id="9" name="Rectángulo redondeado 8"/>
          <p:cNvSpPr/>
          <p:nvPr/>
        </p:nvSpPr>
        <p:spPr>
          <a:xfrm>
            <a:off x="3021874" y="5261066"/>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Prueba de homogeneidad</a:t>
            </a:r>
            <a:endParaRPr lang="es-ES" dirty="0"/>
          </a:p>
        </p:txBody>
      </p:sp>
      <p:sp>
        <p:nvSpPr>
          <p:cNvPr id="12" name="Elipse 11"/>
          <p:cNvSpPr/>
          <p:nvPr/>
        </p:nvSpPr>
        <p:spPr>
          <a:xfrm>
            <a:off x="6709012" y="1541418"/>
            <a:ext cx="1166949" cy="992777"/>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s-CR" dirty="0"/>
              <a:t>4</a:t>
            </a:r>
            <a:endParaRPr lang="es-ES" dirty="0"/>
          </a:p>
        </p:txBody>
      </p:sp>
      <p:sp>
        <p:nvSpPr>
          <p:cNvPr id="13" name="Rectángulo redondeado 12"/>
          <p:cNvSpPr/>
          <p:nvPr/>
        </p:nvSpPr>
        <p:spPr>
          <a:xfrm>
            <a:off x="8892686" y="1577340"/>
            <a:ext cx="2159726" cy="920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R" dirty="0"/>
              <a:t>Otros análisis de frecuencias: prueba exacta de Fischer</a:t>
            </a:r>
            <a:endParaRPr lang="es-ES" dirty="0"/>
          </a:p>
        </p:txBody>
      </p:sp>
    </p:spTree>
    <p:extLst>
      <p:ext uri="{BB962C8B-B14F-4D97-AF65-F5344CB8AC3E}">
        <p14:creationId xmlns:p14="http://schemas.microsoft.com/office/powerpoint/2010/main" val="20696993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DF4F1172-6693-44C2-A814-E0BA9350C488}"/>
              </a:ext>
            </a:extLst>
          </p:cNvPr>
          <p:cNvSpPr>
            <a:spLocks noGrp="1"/>
          </p:cNvSpPr>
          <p:nvPr>
            <p:ph type="title"/>
          </p:nvPr>
        </p:nvSpPr>
        <p:spPr>
          <a:xfrm>
            <a:off x="71021" y="73864"/>
            <a:ext cx="12055876" cy="1325563"/>
          </a:xfrm>
        </p:spPr>
        <p:txBody>
          <a:bodyPr>
            <a:normAutofit/>
          </a:bodyPr>
          <a:lstStyle/>
          <a:p>
            <a:pPr algn="just"/>
            <a:r>
              <a:rPr lang="es-CR" sz="4000" b="1" dirty="0"/>
              <a:t>No lo veremos en este curso: si les interesa consultar el libro de “Bioestadística” de W. Daniel.</a:t>
            </a:r>
          </a:p>
        </p:txBody>
      </p:sp>
      <p:pic>
        <p:nvPicPr>
          <p:cNvPr id="6" name="Imagen 5">
            <a:extLst>
              <a:ext uri="{FF2B5EF4-FFF2-40B4-BE49-F238E27FC236}">
                <a16:creationId xmlns:a16="http://schemas.microsoft.com/office/drawing/2014/main" id="{EAAC1682-FD79-4C9F-AE20-54FB5658FEF6}"/>
              </a:ext>
            </a:extLst>
          </p:cNvPr>
          <p:cNvPicPr>
            <a:picLocks noChangeAspect="1"/>
          </p:cNvPicPr>
          <p:nvPr/>
        </p:nvPicPr>
        <p:blipFill>
          <a:blip r:embed="rId2"/>
          <a:stretch>
            <a:fillRect/>
          </a:stretch>
        </p:blipFill>
        <p:spPr>
          <a:xfrm>
            <a:off x="187910" y="1552575"/>
            <a:ext cx="11816179" cy="3752850"/>
          </a:xfrm>
          <a:prstGeom prst="rect">
            <a:avLst/>
          </a:prstGeom>
        </p:spPr>
      </p:pic>
    </p:spTree>
    <p:extLst>
      <p:ext uri="{BB962C8B-B14F-4D97-AF65-F5344CB8AC3E}">
        <p14:creationId xmlns:p14="http://schemas.microsoft.com/office/powerpoint/2010/main" val="1110211199"/>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4769" y="82828"/>
            <a:ext cx="10515600" cy="744305"/>
          </a:xfrm>
        </p:spPr>
        <p:txBody>
          <a:bodyPr/>
          <a:lstStyle/>
          <a:p>
            <a:pPr algn="ctr"/>
            <a:r>
              <a:rPr lang="es-CR" dirty="0"/>
              <a:t>Conclusión</a:t>
            </a:r>
          </a:p>
        </p:txBody>
      </p:sp>
      <p:sp>
        <p:nvSpPr>
          <p:cNvPr id="3" name="Marcador de contenido 2"/>
          <p:cNvSpPr>
            <a:spLocks noGrp="1"/>
          </p:cNvSpPr>
          <p:nvPr>
            <p:ph idx="1"/>
          </p:nvPr>
        </p:nvSpPr>
        <p:spPr>
          <a:xfrm>
            <a:off x="71021" y="924791"/>
            <a:ext cx="8993080" cy="5850381"/>
          </a:xfrm>
        </p:spPr>
        <p:txBody>
          <a:bodyPr>
            <a:normAutofit/>
          </a:bodyPr>
          <a:lstStyle/>
          <a:p>
            <a:pPr algn="just"/>
            <a:r>
              <a:rPr lang="es-CR" dirty="0"/>
              <a:t>El presente  capítulo presenta una técnica analítica para analizar datos cualitativos.</a:t>
            </a:r>
          </a:p>
          <a:p>
            <a:pPr algn="just"/>
            <a:endParaRPr lang="es-CR" dirty="0"/>
          </a:p>
          <a:p>
            <a:pPr algn="just"/>
            <a:r>
              <a:rPr lang="es-CR" dirty="0"/>
              <a:t>Se presenta la distribución de Chi-cuadrado, y su fundamento en el análisis de la información.</a:t>
            </a:r>
          </a:p>
          <a:p>
            <a:pPr algn="just"/>
            <a:endParaRPr lang="es-CR" dirty="0"/>
          </a:p>
          <a:p>
            <a:pPr algn="just"/>
            <a:r>
              <a:rPr lang="es-CR" dirty="0"/>
              <a:t>La prueba de bondad de ajuste, prueba de independencia y prueba de homogeneidad son algunas herramientas para datos cualitativos que se quieren analizar mediante técnicas estadísticas.</a:t>
            </a:r>
          </a:p>
          <a:p>
            <a:pPr algn="just"/>
            <a:endParaRPr lang="es-CR" dirty="0"/>
          </a:p>
          <a:p>
            <a:pPr algn="just"/>
            <a:r>
              <a:rPr lang="es-CR" dirty="0"/>
              <a:t>La prueba de independencia fue la estudiada en el presente curso.</a:t>
            </a:r>
          </a:p>
        </p:txBody>
      </p:sp>
      <p:pic>
        <p:nvPicPr>
          <p:cNvPr id="11266" name="Picture 2" descr="Image result for conclus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26679" y="924791"/>
            <a:ext cx="2857500" cy="2466975"/>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Image result for conclusi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666748" y="4253345"/>
            <a:ext cx="1977362" cy="2216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7775480"/>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3" name="Marcador de contenido 2"/>
          <p:cNvSpPr>
            <a:spLocks noGrp="1"/>
          </p:cNvSpPr>
          <p:nvPr>
            <p:ph idx="1"/>
          </p:nvPr>
        </p:nvSpPr>
        <p:spPr/>
        <p:txBody>
          <a:bodyPr/>
          <a:lstStyle/>
          <a:p>
            <a:endParaRPr lang="es-ES"/>
          </a:p>
        </p:txBody>
      </p:sp>
      <p:pic>
        <p:nvPicPr>
          <p:cNvPr id="3074" name="Picture 2" descr="Resultado de imagen para the 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35982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2646</TotalTime>
  <Words>2308</Words>
  <Application>Microsoft Office PowerPoint</Application>
  <PresentationFormat>Panorámica</PresentationFormat>
  <Paragraphs>195</Paragraphs>
  <Slides>42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42</vt:i4>
      </vt:variant>
    </vt:vector>
  </HeadingPairs>
  <TitlesOfParts>
    <vt:vector size="48" baseType="lpstr">
      <vt:lpstr>Arial</vt:lpstr>
      <vt:lpstr>Calibri</vt:lpstr>
      <vt:lpstr>Calibri Light</vt:lpstr>
      <vt:lpstr>Cambria Math</vt:lpstr>
      <vt:lpstr>Times New Roman</vt:lpstr>
      <vt:lpstr>Tema de Office</vt:lpstr>
      <vt:lpstr>Análisis de frecuencia: las tablas de contingencia </vt:lpstr>
      <vt:lpstr>Preámbulo</vt:lpstr>
      <vt:lpstr>Preámbulo</vt:lpstr>
      <vt:lpstr>Preámbulo</vt:lpstr>
      <vt:lpstr>Índice</vt:lpstr>
      <vt:lpstr>Índice</vt:lpstr>
      <vt:lpstr>Propiedades de la Chi-Cuadrado</vt:lpstr>
      <vt:lpstr>Propiedades de la Chi-Cuadrado</vt:lpstr>
      <vt:lpstr>Propiedades de la Chi-Cuadrado</vt:lpstr>
      <vt:lpstr>Chi- cuadrada</vt:lpstr>
      <vt:lpstr>Propiedades de la Chi-Cuadrado</vt:lpstr>
      <vt:lpstr>Propiedades de la Chi-Cuadrado</vt:lpstr>
      <vt:lpstr>Propiedades de la Chi-Cuadrado</vt:lpstr>
      <vt:lpstr>Propiedades de la Chi-Cuadrado</vt:lpstr>
      <vt:lpstr>Propiedades de la Chi-Cuadrado</vt:lpstr>
      <vt:lpstr>Propiedades de la Chi-Cuadrado</vt:lpstr>
      <vt:lpstr>Chi- cuadrada</vt:lpstr>
      <vt:lpstr>Presentación de PowerPoint</vt:lpstr>
      <vt:lpstr>Índice</vt:lpstr>
      <vt:lpstr>Prueba de independencia</vt:lpstr>
      <vt:lpstr>Prueba de independencia</vt:lpstr>
      <vt:lpstr>Prueba de independencia</vt:lpstr>
      <vt:lpstr>Prueba de independencia</vt:lpstr>
      <vt:lpstr>Prueba de independencia</vt:lpstr>
      <vt:lpstr>Prueba de independencia</vt:lpstr>
      <vt:lpstr>Prueba de independencia</vt:lpstr>
      <vt:lpstr>En resumen…</vt:lpstr>
      <vt:lpstr>Prueba de independencia: ejemplo</vt:lpstr>
      <vt:lpstr>Prueba de independencia</vt:lpstr>
      <vt:lpstr>Prueba de independencia</vt:lpstr>
      <vt:lpstr>Prueba de independencia</vt:lpstr>
      <vt:lpstr>Prueba de independencia</vt:lpstr>
      <vt:lpstr>Prueba de independencia</vt:lpstr>
      <vt:lpstr>Prueba de independencia</vt:lpstr>
      <vt:lpstr>Prueba de independencia</vt:lpstr>
      <vt:lpstr>Prueba de independencia</vt:lpstr>
      <vt:lpstr>Índice</vt:lpstr>
      <vt:lpstr>No lo veremos en este curso: si les interesa consultar el libro de “Bioestadística” de W. Daniel.</vt:lpstr>
      <vt:lpstr>Índice</vt:lpstr>
      <vt:lpstr>No lo veremos en este curso: si les interesa consultar el libro de “Bioestadística” de W. Daniel.</vt:lpstr>
      <vt:lpstr>Conclusión</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 frecuencia: las tablas de contingencia</dc:title>
  <dc:creator>Oscar</dc:creator>
  <cp:lastModifiedBy>Oscar Centeno Mora</cp:lastModifiedBy>
  <cp:revision>65</cp:revision>
  <dcterms:created xsi:type="dcterms:W3CDTF">2017-05-18T17:39:41Z</dcterms:created>
  <dcterms:modified xsi:type="dcterms:W3CDTF">2020-03-23T16:35:38Z</dcterms:modified>
</cp:coreProperties>
</file>